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notesSlide+xml" PartName="/ppt/notesSlides/notesSlide30.xml"/>
  <Override ContentType="application/vnd.openxmlformats-officedocument.presentationml.notesSlide+xml" PartName="/ppt/notesSlides/notesSlide31.xml"/>
  <Override ContentType="application/vnd.openxmlformats-officedocument.presentationml.notesSlide+xml" PartName="/ppt/notesSlides/notesSlide32.xml"/>
  <Override ContentType="application/vnd.openxmlformats-officedocument.presentationml.notesSlide+xml" PartName="/ppt/notesSlides/notesSlide33.xml"/>
  <Override ContentType="application/vnd.openxmlformats-officedocument.presentationml.notesSlide+xml" PartName="/ppt/notesSlides/notesSlide34.xml"/>
  <Override ContentType="application/vnd.openxmlformats-officedocument.presentationml.notesSlide+xml" PartName="/ppt/notesSlides/notesSlide35.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41"/>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Lst>
  <p:sldSz cx="18288000" cy="10287000"/>
  <p:notesSz cx="6858000" cy="9144000"/>
  <p:embeddedFontLst>
    <p:embeddedFont>
      <p:font typeface="Bernoru" charset="1" panose="00000A00000000000000"/>
      <p:regular r:id="rId44"/>
    </p:embeddedFont>
    <p:embeddedFont>
      <p:font typeface="Calibri (MS) Bold" charset="1" panose="020F0702030404030204"/>
      <p:regular r:id="rId45"/>
    </p:embeddedFont>
    <p:embeddedFont>
      <p:font typeface="Calibri (MS) Italics" charset="1" panose="020F05020202040A0204"/>
      <p:regular r:id="rId48"/>
    </p:embeddedFont>
    <p:embeddedFont>
      <p:font typeface="Calibri (MS)" charset="1" panose="020F0502020204030204"/>
      <p:regular r:id="rId4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notesMasters/notesMaster1.xml" Type="http://schemas.openxmlformats.org/officeDocument/2006/relationships/notesMaster"/><Relationship Id="rId42" Target="theme/theme2.xml" Type="http://schemas.openxmlformats.org/officeDocument/2006/relationships/theme"/><Relationship Id="rId43" Target="notesSlides/notesSlide1.xml" Type="http://schemas.openxmlformats.org/officeDocument/2006/relationships/notesSlide"/><Relationship Id="rId44" Target="fonts/font44.fntdata" Type="http://schemas.openxmlformats.org/officeDocument/2006/relationships/font"/><Relationship Id="rId45" Target="fonts/font45.fntdata" Type="http://schemas.openxmlformats.org/officeDocument/2006/relationships/font"/><Relationship Id="rId46" Target="notesSlides/notesSlide2.xml" Type="http://schemas.openxmlformats.org/officeDocument/2006/relationships/notesSlide"/><Relationship Id="rId47" Target="notesSlides/notesSlide3.xml" Type="http://schemas.openxmlformats.org/officeDocument/2006/relationships/notesSlide"/><Relationship Id="rId48" Target="fonts/font48.fntdata" Type="http://schemas.openxmlformats.org/officeDocument/2006/relationships/font"/><Relationship Id="rId49" Target="fonts/font49.fntdata" Type="http://schemas.openxmlformats.org/officeDocument/2006/relationships/font"/><Relationship Id="rId5" Target="tableStyles.xml" Type="http://schemas.openxmlformats.org/officeDocument/2006/relationships/tableStyles"/><Relationship Id="rId50" Target="notesSlides/notesSlide4.xml" Type="http://schemas.openxmlformats.org/officeDocument/2006/relationships/notesSlide"/><Relationship Id="rId51" Target="notesSlides/notesSlide5.xml" Type="http://schemas.openxmlformats.org/officeDocument/2006/relationships/notesSlide"/><Relationship Id="rId52" Target="notesSlides/notesSlide6.xml" Type="http://schemas.openxmlformats.org/officeDocument/2006/relationships/notesSlide"/><Relationship Id="rId53" Target="notesSlides/notesSlide7.xml" Type="http://schemas.openxmlformats.org/officeDocument/2006/relationships/notesSlide"/><Relationship Id="rId54" Target="notesSlides/notesSlide8.xml" Type="http://schemas.openxmlformats.org/officeDocument/2006/relationships/notesSlide"/><Relationship Id="rId55" Target="notesSlides/notesSlide9.xml" Type="http://schemas.openxmlformats.org/officeDocument/2006/relationships/notesSlide"/><Relationship Id="rId56" Target="notesSlides/notesSlide10.xml" Type="http://schemas.openxmlformats.org/officeDocument/2006/relationships/notesSlide"/><Relationship Id="rId57" Target="notesSlides/notesSlide11.xml" Type="http://schemas.openxmlformats.org/officeDocument/2006/relationships/notesSlide"/><Relationship Id="rId58" Target="notesSlides/notesSlide12.xml" Type="http://schemas.openxmlformats.org/officeDocument/2006/relationships/notesSlide"/><Relationship Id="rId59" Target="notesSlides/notesSlide13.xml" Type="http://schemas.openxmlformats.org/officeDocument/2006/relationships/notesSlide"/><Relationship Id="rId6" Target="slides/slide1.xml" Type="http://schemas.openxmlformats.org/officeDocument/2006/relationships/slide"/><Relationship Id="rId60" Target="notesSlides/notesSlide14.xml" Type="http://schemas.openxmlformats.org/officeDocument/2006/relationships/notesSlide"/><Relationship Id="rId61" Target="notesSlides/notesSlide15.xml" Type="http://schemas.openxmlformats.org/officeDocument/2006/relationships/notesSlide"/><Relationship Id="rId62" Target="notesSlides/notesSlide16.xml" Type="http://schemas.openxmlformats.org/officeDocument/2006/relationships/notesSlide"/><Relationship Id="rId63" Target="notesSlides/notesSlide17.xml" Type="http://schemas.openxmlformats.org/officeDocument/2006/relationships/notesSlide"/><Relationship Id="rId64" Target="notesSlides/notesSlide18.xml" Type="http://schemas.openxmlformats.org/officeDocument/2006/relationships/notesSlide"/><Relationship Id="rId65" Target="notesSlides/notesSlide19.xml" Type="http://schemas.openxmlformats.org/officeDocument/2006/relationships/notesSlide"/><Relationship Id="rId66" Target="notesSlides/notesSlide20.xml" Type="http://schemas.openxmlformats.org/officeDocument/2006/relationships/notesSlide"/><Relationship Id="rId67" Target="notesSlides/notesSlide21.xml" Type="http://schemas.openxmlformats.org/officeDocument/2006/relationships/notesSlide"/><Relationship Id="rId68" Target="notesSlides/notesSlide22.xml" Type="http://schemas.openxmlformats.org/officeDocument/2006/relationships/notesSlide"/><Relationship Id="rId69" Target="notesSlides/notesSlide23.xml" Type="http://schemas.openxmlformats.org/officeDocument/2006/relationships/notesSlide"/><Relationship Id="rId7" Target="slides/slide2.xml" Type="http://schemas.openxmlformats.org/officeDocument/2006/relationships/slide"/><Relationship Id="rId70" Target="notesSlides/notesSlide24.xml" Type="http://schemas.openxmlformats.org/officeDocument/2006/relationships/notesSlide"/><Relationship Id="rId71" Target="notesSlides/notesSlide25.xml" Type="http://schemas.openxmlformats.org/officeDocument/2006/relationships/notesSlide"/><Relationship Id="rId72" Target="notesSlides/notesSlide26.xml" Type="http://schemas.openxmlformats.org/officeDocument/2006/relationships/notesSlide"/><Relationship Id="rId73" Target="notesSlides/notesSlide27.xml" Type="http://schemas.openxmlformats.org/officeDocument/2006/relationships/notesSlide"/><Relationship Id="rId74" Target="notesSlides/notesSlide28.xml" Type="http://schemas.openxmlformats.org/officeDocument/2006/relationships/notesSlide"/><Relationship Id="rId75" Target="notesSlides/notesSlide29.xml" Type="http://schemas.openxmlformats.org/officeDocument/2006/relationships/notesSlide"/><Relationship Id="rId76" Target="notesSlides/notesSlide30.xml" Type="http://schemas.openxmlformats.org/officeDocument/2006/relationships/notesSlide"/><Relationship Id="rId77" Target="notesSlides/notesSlide31.xml" Type="http://schemas.openxmlformats.org/officeDocument/2006/relationships/notesSlide"/><Relationship Id="rId78" Target="notesSlides/notesSlide32.xml" Type="http://schemas.openxmlformats.org/officeDocument/2006/relationships/notesSlide"/><Relationship Id="rId79" Target="notesSlides/notesSlide33.xml" Type="http://schemas.openxmlformats.org/officeDocument/2006/relationships/notesSlide"/><Relationship Id="rId8" Target="slides/slide3.xml" Type="http://schemas.openxmlformats.org/officeDocument/2006/relationships/slide"/><Relationship Id="rId80" Target="notesSlides/notesSlide34.xml" Type="http://schemas.openxmlformats.org/officeDocument/2006/relationships/notesSlide"/><Relationship Id="rId81" Target="notesSlides/notesSlide35.xml" Type="http://schemas.openxmlformats.org/officeDocument/2006/relationships/note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3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_rels/notesSlide3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1.xml" Type="http://schemas.openxmlformats.org/officeDocument/2006/relationships/slide"/></Relationships>
</file>

<file path=ppt/notesSlides/_rels/notesSlide3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2.xml" Type="http://schemas.openxmlformats.org/officeDocument/2006/relationships/slide"/></Relationships>
</file>

<file path=ppt/notesSlides/_rels/notesSlide3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3.xml" Type="http://schemas.openxmlformats.org/officeDocument/2006/relationships/slide"/></Relationships>
</file>

<file path=ppt/notesSlides/_rels/notesSlide3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4.xml" Type="http://schemas.openxmlformats.org/officeDocument/2006/relationships/slide"/></Relationships>
</file>

<file path=ppt/notesSlides/_rels/notesSlide3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5.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4.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4.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4.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4.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4.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4.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4.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4.jpeg" Type="http://schemas.openxmlformats.org/officeDocument/2006/relationships/image"/><Relationship Id="rId4" Target="../media/image5.png" Type="http://schemas.openxmlformats.org/officeDocument/2006/relationships/image"/><Relationship Id="rId5" Target="../media/image6.png" Type="http://schemas.openxmlformats.org/officeDocument/2006/relationships/image"/><Relationship Id="rId6" Target="../media/image7.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4.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4.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4.jpe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4.jpeg" Type="http://schemas.openxmlformats.org/officeDocument/2006/relationships/image"/><Relationship Id="rId4" Target="../media/image10.png" Type="http://schemas.openxmlformats.org/officeDocument/2006/relationships/image"/><Relationship Id="rId5" Target="../media/image11.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4.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4.jpe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media/image4.jpeg" Type="http://schemas.openxmlformats.org/officeDocument/2006/relationships/image"/><Relationship Id="rId4" Target="../media/image14.png" Type="http://schemas.openxmlformats.org/officeDocument/2006/relationships/image"/><Relationship Id="rId5" Target="../media/image15.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 Id="rId3" Target="../media/image1.jpeg" Type="http://schemas.openxmlformats.org/officeDocument/2006/relationships/image"/><Relationship Id="rId4" Target="../media/image4.jpe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2.xml" Type="http://schemas.openxmlformats.org/officeDocument/2006/relationships/notesSlide"/><Relationship Id="rId3" Target="../media/image4.jpeg" Type="http://schemas.openxmlformats.org/officeDocument/2006/relationships/image"/><Relationship Id="rId4" Target="../media/image16.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3.xml" Type="http://schemas.openxmlformats.org/officeDocument/2006/relationships/notesSlide"/><Relationship Id="rId3" Target="../media/image4.jpeg" Type="http://schemas.openxmlformats.org/officeDocument/2006/relationships/image"/><Relationship Id="rId4" Target="../media/image17.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4.xml" Type="http://schemas.openxmlformats.org/officeDocument/2006/relationships/notesSlide"/><Relationship Id="rId3" Target="../media/image4.jpeg" Type="http://schemas.openxmlformats.org/officeDocument/2006/relationships/image"/><Relationship Id="rId4" Target="../media/image18.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5.xml" Type="http://schemas.openxmlformats.org/officeDocument/2006/relationships/notesSlide"/><Relationship Id="rId3" Target="../media/image4.jpeg" Type="http://schemas.openxmlformats.org/officeDocument/2006/relationships/image"/><Relationship Id="rId4" Target="../media/image19.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6.xml" Type="http://schemas.openxmlformats.org/officeDocument/2006/relationships/notesSlide"/><Relationship Id="rId3" Target="../media/image4.jpeg" Type="http://schemas.openxmlformats.org/officeDocument/2006/relationships/image"/><Relationship Id="rId4" Target="../media/image20.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7.xml" Type="http://schemas.openxmlformats.org/officeDocument/2006/relationships/notesSlide"/><Relationship Id="rId3" Target="../media/image4.jpeg" Type="http://schemas.openxmlformats.org/officeDocument/2006/relationships/image"/><Relationship Id="rId4" Target="../media/image21.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8.xml" Type="http://schemas.openxmlformats.org/officeDocument/2006/relationships/notesSlide"/><Relationship Id="rId3" Target="../media/image4.jpeg" Type="http://schemas.openxmlformats.org/officeDocument/2006/relationships/image"/><Relationship Id="rId4" Target="../media/image22.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9.xml" Type="http://schemas.openxmlformats.org/officeDocument/2006/relationships/notesSlide"/><Relationship Id="rId3" Target="../media/image4.jpeg" Type="http://schemas.openxmlformats.org/officeDocument/2006/relationships/image"/><Relationship Id="rId4" Target="../media/image23.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0.xml" Type="http://schemas.openxmlformats.org/officeDocument/2006/relationships/notesSlide"/><Relationship Id="rId3" Target="../media/image4.jpeg" Type="http://schemas.openxmlformats.org/officeDocument/2006/relationships/image"/><Relationship Id="rId4" Target="../media/image24.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1.xml" Type="http://schemas.openxmlformats.org/officeDocument/2006/relationships/notesSlide"/><Relationship Id="rId3" Target="../media/image4.jpeg" Type="http://schemas.openxmlformats.org/officeDocument/2006/relationships/image"/><Relationship Id="rId4" Target="../media/image25.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2.xml" Type="http://schemas.openxmlformats.org/officeDocument/2006/relationships/notesSlide"/><Relationship Id="rId3" Target="../media/image4.jpeg" Type="http://schemas.openxmlformats.org/officeDocument/2006/relationships/image"/><Relationship Id="rId4" Target="../media/image26.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3.xml" Type="http://schemas.openxmlformats.org/officeDocument/2006/relationships/notesSlide"/><Relationship Id="rId3" Target="../media/image4.jpe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4.xml" Type="http://schemas.openxmlformats.org/officeDocument/2006/relationships/notesSlide"/><Relationship Id="rId3" Target="../media/image4.jpe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5.xml" Type="http://schemas.openxmlformats.org/officeDocument/2006/relationships/notesSlide"/><Relationship Id="rId3" Target="../media/image1.jpeg" Type="http://schemas.openxmlformats.org/officeDocument/2006/relationships/image"/><Relationship Id="rId4" Target="../media/image4.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9222" r="0" b="-9222"/>
            </a:stretch>
          </a:blipFill>
        </p:spPr>
      </p:sp>
      <p:sp>
        <p:nvSpPr>
          <p:cNvPr name="Freeform 3" id="3"/>
          <p:cNvSpPr/>
          <p:nvPr/>
        </p:nvSpPr>
        <p:spPr>
          <a:xfrm flipH="false" flipV="false" rot="-10800000">
            <a:off x="5903308" y="7568017"/>
            <a:ext cx="5474602" cy="1690283"/>
          </a:xfrm>
          <a:custGeom>
            <a:avLst/>
            <a:gdLst/>
            <a:ahLst/>
            <a:cxnLst/>
            <a:rect r="r" b="b" t="t" l="l"/>
            <a:pathLst>
              <a:path h="1690283" w="5474602">
                <a:moveTo>
                  <a:pt x="0" y="0"/>
                </a:moveTo>
                <a:lnTo>
                  <a:pt x="5474602" y="0"/>
                </a:lnTo>
                <a:lnTo>
                  <a:pt x="5474602" y="1690283"/>
                </a:lnTo>
                <a:lnTo>
                  <a:pt x="0" y="16902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2052018" y="1539269"/>
            <a:ext cx="14138217" cy="1660224"/>
          </a:xfrm>
          <a:prstGeom prst="rect">
            <a:avLst/>
          </a:prstGeom>
        </p:spPr>
        <p:txBody>
          <a:bodyPr anchor="t" rtlCol="false" tIns="0" lIns="0" bIns="0" rIns="0">
            <a:spAutoFit/>
          </a:bodyPr>
          <a:lstStyle/>
          <a:p>
            <a:pPr algn="ctr">
              <a:lnSpc>
                <a:spcPts val="6699"/>
              </a:lnSpc>
              <a:spcBef>
                <a:spcPct val="0"/>
              </a:spcBef>
            </a:pPr>
            <a:r>
              <a:rPr lang="en-US" sz="4785">
                <a:solidFill>
                  <a:srgbClr val="FFFFFF"/>
                </a:solidFill>
                <a:latin typeface="Bernoru"/>
                <a:ea typeface="Bernoru"/>
                <a:cs typeface="Bernoru"/>
                <a:sym typeface="Bernoru"/>
              </a:rPr>
              <a:t>PROBABLISTIC FORECASTING OF SEA LEVEL ANAMOLY(SLA) AND SEA WAVE HEIGHT(SWH)</a:t>
            </a:r>
          </a:p>
        </p:txBody>
      </p:sp>
      <p:sp>
        <p:nvSpPr>
          <p:cNvPr name="TextBox 5" id="5"/>
          <p:cNvSpPr txBox="true"/>
          <p:nvPr/>
        </p:nvSpPr>
        <p:spPr>
          <a:xfrm rot="0">
            <a:off x="4755256" y="4001033"/>
            <a:ext cx="7122543" cy="3047365"/>
          </a:xfrm>
          <a:prstGeom prst="rect">
            <a:avLst/>
          </a:prstGeom>
        </p:spPr>
        <p:txBody>
          <a:bodyPr anchor="t" rtlCol="false" tIns="0" lIns="0" bIns="0" rIns="0">
            <a:spAutoFit/>
          </a:bodyPr>
          <a:lstStyle/>
          <a:p>
            <a:pPr algn="ctr">
              <a:lnSpc>
                <a:spcPts val="4759"/>
              </a:lnSpc>
            </a:pPr>
            <a:r>
              <a:rPr lang="en-US" sz="3399" b="true">
                <a:solidFill>
                  <a:srgbClr val="FFFFFF"/>
                </a:solidFill>
                <a:latin typeface="Calibri (MS) Bold"/>
                <a:ea typeface="Calibri (MS) Bold"/>
                <a:cs typeface="Calibri (MS) Bold"/>
                <a:sym typeface="Calibri (MS) Bold"/>
              </a:rPr>
              <a:t>Bhavya Boda         Tirth Gandhi</a:t>
            </a:r>
          </a:p>
          <a:p>
            <a:pPr algn="ctr">
              <a:lnSpc>
                <a:spcPts val="4759"/>
              </a:lnSpc>
            </a:pPr>
            <a:r>
              <a:rPr lang="en-US" sz="3399" b="true">
                <a:solidFill>
                  <a:srgbClr val="FFFFFF"/>
                </a:solidFill>
                <a:latin typeface="Calibri (MS) Bold"/>
                <a:ea typeface="Calibri (MS) Bold"/>
                <a:cs typeface="Calibri (MS) Bold"/>
                <a:sym typeface="Calibri (MS) Bold"/>
              </a:rPr>
              <a:t>202301037           202301016</a:t>
            </a:r>
          </a:p>
          <a:p>
            <a:pPr algn="ctr">
              <a:lnSpc>
                <a:spcPts val="4759"/>
              </a:lnSpc>
            </a:pPr>
            <a:r>
              <a:rPr lang="en-US" sz="3399" b="true">
                <a:solidFill>
                  <a:srgbClr val="FFFFFF"/>
                </a:solidFill>
                <a:latin typeface="Calibri (MS) Bold"/>
                <a:ea typeface="Calibri (MS) Bold"/>
                <a:cs typeface="Calibri (MS) Bold"/>
                <a:sym typeface="Calibri (MS) Bold"/>
              </a:rPr>
              <a:t>BTech ICT</a:t>
            </a:r>
          </a:p>
          <a:p>
            <a:pPr algn="ctr">
              <a:lnSpc>
                <a:spcPts val="4759"/>
              </a:lnSpc>
            </a:pPr>
          </a:p>
          <a:p>
            <a:pPr algn="ctr">
              <a:lnSpc>
                <a:spcPts val="4759"/>
              </a:lnSpc>
              <a:spcBef>
                <a:spcPct val="0"/>
              </a:spcBef>
            </a:pPr>
            <a:r>
              <a:rPr lang="en-US" b="true" sz="3399">
                <a:solidFill>
                  <a:srgbClr val="FFFFFF"/>
                </a:solidFill>
                <a:latin typeface="Calibri (MS) Bold"/>
                <a:ea typeface="Calibri (MS) Bold"/>
                <a:cs typeface="Calibri (MS) Bold"/>
                <a:sym typeface="Calibri (MS) Bold"/>
              </a:rPr>
              <a:t>Faculty Mentor : Prof. Pritam Anand</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9222" r="0" b="-9222"/>
            </a:stretch>
          </a:blipFill>
        </p:spPr>
      </p:sp>
      <p:grpSp>
        <p:nvGrpSpPr>
          <p:cNvPr name="Group 3" id="3"/>
          <p:cNvGrpSpPr/>
          <p:nvPr/>
        </p:nvGrpSpPr>
        <p:grpSpPr>
          <a:xfrm rot="0">
            <a:off x="5056112" y="4428120"/>
            <a:ext cx="8175775" cy="1430761"/>
            <a:chOff x="0" y="0"/>
            <a:chExt cx="3901440" cy="682752"/>
          </a:xfrm>
        </p:grpSpPr>
        <p:sp>
          <p:nvSpPr>
            <p:cNvPr name="Freeform 4" id="4"/>
            <p:cNvSpPr/>
            <p:nvPr/>
          </p:nvSpPr>
          <p:spPr>
            <a:xfrm flipH="false" flipV="false" rot="0">
              <a:off x="0" y="0"/>
              <a:ext cx="3901440" cy="682752"/>
            </a:xfrm>
            <a:custGeom>
              <a:avLst/>
              <a:gdLst/>
              <a:ahLst/>
              <a:cxnLst/>
              <a:rect r="r" b="b" t="t" l="l"/>
              <a:pathLst>
                <a:path h="682752" w="3901440">
                  <a:moveTo>
                    <a:pt x="0" y="341376"/>
                  </a:moveTo>
                  <a:cubicBezTo>
                    <a:pt x="0" y="152781"/>
                    <a:pt x="152781" y="0"/>
                    <a:pt x="341376" y="0"/>
                  </a:cubicBezTo>
                  <a:lnTo>
                    <a:pt x="3560064" y="0"/>
                  </a:lnTo>
                  <a:cubicBezTo>
                    <a:pt x="3748659" y="0"/>
                    <a:pt x="3901440" y="152781"/>
                    <a:pt x="3901440" y="341376"/>
                  </a:cubicBezTo>
                  <a:cubicBezTo>
                    <a:pt x="3901440" y="529971"/>
                    <a:pt x="3748659" y="682752"/>
                    <a:pt x="3560064" y="682752"/>
                  </a:cubicBezTo>
                  <a:lnTo>
                    <a:pt x="341376" y="682752"/>
                  </a:lnTo>
                  <a:cubicBezTo>
                    <a:pt x="152781" y="682752"/>
                    <a:pt x="0" y="529971"/>
                    <a:pt x="0" y="341376"/>
                  </a:cubicBezTo>
                  <a:close/>
                </a:path>
              </a:pathLst>
            </a:custGeom>
            <a:solidFill>
              <a:srgbClr val="3B82F6"/>
            </a:solidFill>
          </p:spPr>
        </p:sp>
      </p:grpSp>
      <p:sp>
        <p:nvSpPr>
          <p:cNvPr name="TextBox 5" id="5"/>
          <p:cNvSpPr txBox="true"/>
          <p:nvPr/>
        </p:nvSpPr>
        <p:spPr>
          <a:xfrm rot="0">
            <a:off x="5056112" y="4757737"/>
            <a:ext cx="8175775" cy="685800"/>
          </a:xfrm>
          <a:prstGeom prst="rect">
            <a:avLst/>
          </a:prstGeom>
        </p:spPr>
        <p:txBody>
          <a:bodyPr anchor="t" rtlCol="false" tIns="0" lIns="0" bIns="0" rIns="0">
            <a:spAutoFit/>
          </a:bodyPr>
          <a:lstStyle/>
          <a:p>
            <a:pPr algn="ctr">
              <a:lnSpc>
                <a:spcPts val="4799"/>
              </a:lnSpc>
              <a:spcBef>
                <a:spcPct val="0"/>
              </a:spcBef>
            </a:pPr>
            <a:r>
              <a:rPr lang="en-US" b="true" sz="3999">
                <a:solidFill>
                  <a:srgbClr val="EFF6FF"/>
                </a:solidFill>
                <a:latin typeface="Calibri (MS) Bold"/>
                <a:ea typeface="Calibri (MS) Bold"/>
                <a:cs typeface="Calibri (MS) Bold"/>
                <a:sym typeface="Calibri (MS) Bold"/>
              </a:rPr>
              <a:t>MOTIVATION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73152"/>
            <a:chOff x="0" y="0"/>
            <a:chExt cx="24384000" cy="97536"/>
          </a:xfrm>
        </p:grpSpPr>
        <p:sp>
          <p:nvSpPr>
            <p:cNvPr name="Freeform 3" id="3"/>
            <p:cNvSpPr/>
            <p:nvPr/>
          </p:nvSpPr>
          <p:spPr>
            <a:xfrm flipH="false" flipV="false" rot="0">
              <a:off x="0" y="0"/>
              <a:ext cx="24384000" cy="97536"/>
            </a:xfrm>
            <a:custGeom>
              <a:avLst/>
              <a:gdLst/>
              <a:ahLst/>
              <a:cxnLst/>
              <a:rect r="r" b="b" t="t" l="l"/>
              <a:pathLst>
                <a:path h="97536" w="24384000">
                  <a:moveTo>
                    <a:pt x="0" y="0"/>
                  </a:moveTo>
                  <a:lnTo>
                    <a:pt x="24384000" y="0"/>
                  </a:lnTo>
                  <a:lnTo>
                    <a:pt x="24384000" y="97536"/>
                  </a:lnTo>
                  <a:lnTo>
                    <a:pt x="0" y="97536"/>
                  </a:lnTo>
                  <a:close/>
                </a:path>
              </a:pathLst>
            </a:custGeom>
            <a:solidFill>
              <a:srgbClr val="3B82F6"/>
            </a:solidFill>
          </p:spPr>
        </p:sp>
      </p:grpSp>
      <p:grpSp>
        <p:nvGrpSpPr>
          <p:cNvPr name="Group 4" id="4"/>
          <p:cNvGrpSpPr/>
          <p:nvPr/>
        </p:nvGrpSpPr>
        <p:grpSpPr>
          <a:xfrm rot="0">
            <a:off x="1005840" y="585216"/>
            <a:ext cx="2926080" cy="512064"/>
            <a:chOff x="0" y="0"/>
            <a:chExt cx="3901440" cy="682752"/>
          </a:xfrm>
        </p:grpSpPr>
        <p:sp>
          <p:nvSpPr>
            <p:cNvPr name="Freeform 5" id="5"/>
            <p:cNvSpPr/>
            <p:nvPr/>
          </p:nvSpPr>
          <p:spPr>
            <a:xfrm flipH="false" flipV="false" rot="0">
              <a:off x="0" y="0"/>
              <a:ext cx="3901440" cy="682752"/>
            </a:xfrm>
            <a:custGeom>
              <a:avLst/>
              <a:gdLst/>
              <a:ahLst/>
              <a:cxnLst/>
              <a:rect r="r" b="b" t="t" l="l"/>
              <a:pathLst>
                <a:path h="682752" w="3901440">
                  <a:moveTo>
                    <a:pt x="0" y="341376"/>
                  </a:moveTo>
                  <a:cubicBezTo>
                    <a:pt x="0" y="152781"/>
                    <a:pt x="152781" y="0"/>
                    <a:pt x="341376" y="0"/>
                  </a:cubicBezTo>
                  <a:lnTo>
                    <a:pt x="3560064" y="0"/>
                  </a:lnTo>
                  <a:cubicBezTo>
                    <a:pt x="3748659" y="0"/>
                    <a:pt x="3901440" y="152781"/>
                    <a:pt x="3901440" y="341376"/>
                  </a:cubicBezTo>
                  <a:cubicBezTo>
                    <a:pt x="3901440" y="529971"/>
                    <a:pt x="3748659" y="682752"/>
                    <a:pt x="3560064" y="682752"/>
                  </a:cubicBezTo>
                  <a:lnTo>
                    <a:pt x="341376" y="682752"/>
                  </a:lnTo>
                  <a:cubicBezTo>
                    <a:pt x="152781" y="682752"/>
                    <a:pt x="0" y="529971"/>
                    <a:pt x="0" y="341376"/>
                  </a:cubicBezTo>
                  <a:close/>
                </a:path>
              </a:pathLst>
            </a:custGeom>
            <a:solidFill>
              <a:srgbClr val="3B82F6"/>
            </a:solidFill>
          </p:spPr>
        </p:sp>
      </p:grpSp>
      <p:grpSp>
        <p:nvGrpSpPr>
          <p:cNvPr name="Group 6" id="6"/>
          <p:cNvGrpSpPr/>
          <p:nvPr/>
        </p:nvGrpSpPr>
        <p:grpSpPr>
          <a:xfrm rot="0">
            <a:off x="1005840" y="585216"/>
            <a:ext cx="2926080" cy="512064"/>
            <a:chOff x="0" y="0"/>
            <a:chExt cx="3901440" cy="682752"/>
          </a:xfrm>
        </p:grpSpPr>
        <p:sp>
          <p:nvSpPr>
            <p:cNvPr name="Freeform 7" id="7"/>
            <p:cNvSpPr/>
            <p:nvPr/>
          </p:nvSpPr>
          <p:spPr>
            <a:xfrm flipH="false" flipV="false" rot="0">
              <a:off x="0" y="0"/>
              <a:ext cx="3901440" cy="682752"/>
            </a:xfrm>
            <a:custGeom>
              <a:avLst/>
              <a:gdLst/>
              <a:ahLst/>
              <a:cxnLst/>
              <a:rect r="r" b="b" t="t" l="l"/>
              <a:pathLst>
                <a:path h="682752" w="3901440">
                  <a:moveTo>
                    <a:pt x="0" y="0"/>
                  </a:moveTo>
                  <a:lnTo>
                    <a:pt x="3901440" y="0"/>
                  </a:lnTo>
                  <a:lnTo>
                    <a:pt x="3901440" y="682752"/>
                  </a:lnTo>
                  <a:lnTo>
                    <a:pt x="0" y="682752"/>
                  </a:lnTo>
                  <a:close/>
                </a:path>
              </a:pathLst>
            </a:custGeom>
            <a:blipFill>
              <a:blip r:embed="rId3">
                <a:alphaModFix amt="0"/>
              </a:blip>
              <a:stretch>
                <a:fillRect l="0" t="-61343" r="0" b="-61343"/>
              </a:stretch>
            </a:blipFill>
          </p:spPr>
        </p:sp>
        <p:sp>
          <p:nvSpPr>
            <p:cNvPr name="TextBox 8" id="8"/>
            <p:cNvSpPr txBox="true"/>
            <p:nvPr/>
          </p:nvSpPr>
          <p:spPr>
            <a:xfrm>
              <a:off x="0" y="-38100"/>
              <a:ext cx="3901440" cy="72085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MOTIVATION</a:t>
              </a:r>
            </a:p>
          </p:txBody>
        </p:sp>
      </p:grpSp>
      <p:grpSp>
        <p:nvGrpSpPr>
          <p:cNvPr name="Group 9" id="9"/>
          <p:cNvGrpSpPr/>
          <p:nvPr/>
        </p:nvGrpSpPr>
        <p:grpSpPr>
          <a:xfrm rot="0">
            <a:off x="1005840" y="1060704"/>
            <a:ext cx="16276320" cy="877824"/>
            <a:chOff x="0" y="0"/>
            <a:chExt cx="21701760" cy="1170432"/>
          </a:xfrm>
        </p:grpSpPr>
        <p:sp>
          <p:nvSpPr>
            <p:cNvPr name="Freeform 10" id="10"/>
            <p:cNvSpPr/>
            <p:nvPr/>
          </p:nvSpPr>
          <p:spPr>
            <a:xfrm flipH="false" flipV="false" rot="0">
              <a:off x="0" y="0"/>
              <a:ext cx="21701761" cy="1170432"/>
            </a:xfrm>
            <a:custGeom>
              <a:avLst/>
              <a:gdLst/>
              <a:ahLst/>
              <a:cxnLst/>
              <a:rect r="r" b="b" t="t" l="l"/>
              <a:pathLst>
                <a:path h="1170432" w="21701761">
                  <a:moveTo>
                    <a:pt x="0" y="0"/>
                  </a:moveTo>
                  <a:lnTo>
                    <a:pt x="21701761" y="0"/>
                  </a:lnTo>
                  <a:lnTo>
                    <a:pt x="21701761" y="1170432"/>
                  </a:lnTo>
                  <a:lnTo>
                    <a:pt x="0" y="1170432"/>
                  </a:lnTo>
                  <a:close/>
                </a:path>
              </a:pathLst>
            </a:custGeom>
            <a:blipFill>
              <a:blip r:embed="rId3">
                <a:alphaModFix amt="0"/>
              </a:blip>
              <a:stretch>
                <a:fillRect l="0" t="-311285" r="0" b="-311285"/>
              </a:stretch>
            </a:blipFill>
          </p:spPr>
        </p:sp>
        <p:sp>
          <p:nvSpPr>
            <p:cNvPr name="TextBox 11" id="11"/>
            <p:cNvSpPr txBox="true"/>
            <p:nvPr/>
          </p:nvSpPr>
          <p:spPr>
            <a:xfrm>
              <a:off x="0" y="-76200"/>
              <a:ext cx="21701760" cy="1246632"/>
            </a:xfrm>
            <a:prstGeom prst="rect">
              <a:avLst/>
            </a:prstGeom>
          </p:spPr>
          <p:txBody>
            <a:bodyPr anchor="ctr" rtlCol="false" tIns="0" lIns="0" bIns="0" rIns="0"/>
            <a:lstStyle/>
            <a:p>
              <a:pPr algn="l">
                <a:lnSpc>
                  <a:spcPts val="5280"/>
                </a:lnSpc>
              </a:pPr>
              <a:r>
                <a:rPr lang="en-US" sz="4400" b="true">
                  <a:solidFill>
                    <a:srgbClr val="1A2744"/>
                  </a:solidFill>
                  <a:latin typeface="Calibri (MS) Bold"/>
                  <a:ea typeface="Calibri (MS) Bold"/>
                  <a:cs typeface="Calibri (MS) Bold"/>
                  <a:sym typeface="Calibri (MS) Bold"/>
                </a:rPr>
                <a:t>Why Probabilistic Ocean Forecasting?</a:t>
              </a:r>
            </a:p>
          </p:txBody>
        </p:sp>
      </p:grpSp>
      <p:grpSp>
        <p:nvGrpSpPr>
          <p:cNvPr name="Group 12" id="12"/>
          <p:cNvGrpSpPr/>
          <p:nvPr/>
        </p:nvGrpSpPr>
        <p:grpSpPr>
          <a:xfrm rot="0">
            <a:off x="1005840" y="1938528"/>
            <a:ext cx="16276320" cy="457200"/>
            <a:chOff x="0" y="0"/>
            <a:chExt cx="21701760" cy="609600"/>
          </a:xfrm>
        </p:grpSpPr>
        <p:sp>
          <p:nvSpPr>
            <p:cNvPr name="Freeform 13" id="13"/>
            <p:cNvSpPr/>
            <p:nvPr/>
          </p:nvSpPr>
          <p:spPr>
            <a:xfrm flipH="false" flipV="false" rot="0">
              <a:off x="0" y="0"/>
              <a:ext cx="21701761" cy="609600"/>
            </a:xfrm>
            <a:custGeom>
              <a:avLst/>
              <a:gdLst/>
              <a:ahLst/>
              <a:cxnLst/>
              <a:rect r="r" b="b" t="t" l="l"/>
              <a:pathLst>
                <a:path h="609600" w="21701761">
                  <a:moveTo>
                    <a:pt x="0" y="0"/>
                  </a:moveTo>
                  <a:lnTo>
                    <a:pt x="21701761" y="0"/>
                  </a:lnTo>
                  <a:lnTo>
                    <a:pt x="21701761" y="609600"/>
                  </a:lnTo>
                  <a:lnTo>
                    <a:pt x="0" y="609600"/>
                  </a:lnTo>
                  <a:close/>
                </a:path>
              </a:pathLst>
            </a:custGeom>
            <a:blipFill>
              <a:blip r:embed="rId3">
                <a:alphaModFix amt="0"/>
              </a:blip>
              <a:stretch>
                <a:fillRect l="0" t="-643667" r="0" b="-643667"/>
              </a:stretch>
            </a:blipFill>
          </p:spPr>
        </p:sp>
        <p:sp>
          <p:nvSpPr>
            <p:cNvPr name="TextBox 14" id="14"/>
            <p:cNvSpPr txBox="true"/>
            <p:nvPr/>
          </p:nvSpPr>
          <p:spPr>
            <a:xfrm>
              <a:off x="0" y="-47625"/>
              <a:ext cx="21701760" cy="657225"/>
            </a:xfrm>
            <a:prstGeom prst="rect">
              <a:avLst/>
            </a:prstGeom>
          </p:spPr>
          <p:txBody>
            <a:bodyPr anchor="ctr" rtlCol="false" tIns="0" lIns="0" bIns="0" rIns="0"/>
            <a:lstStyle/>
            <a:p>
              <a:pPr algn="l">
                <a:lnSpc>
                  <a:spcPts val="2640"/>
                </a:lnSpc>
              </a:pPr>
              <a:r>
                <a:rPr lang="en-US" sz="2200" i="true">
                  <a:solidFill>
                    <a:srgbClr val="64748B"/>
                  </a:solidFill>
                  <a:latin typeface="Calibri (MS) Italics"/>
                  <a:ea typeface="Calibri (MS) Italics"/>
                  <a:cs typeface="Calibri (MS) Italics"/>
                  <a:sym typeface="Calibri (MS) Italics"/>
                </a:rPr>
                <a:t>The Indian Ocean supports vast amount of coastal inhabitants and drives the monsoon system</a:t>
              </a:r>
            </a:p>
          </p:txBody>
        </p:sp>
      </p:grpSp>
      <p:grpSp>
        <p:nvGrpSpPr>
          <p:cNvPr name="Group 15" id="15"/>
          <p:cNvGrpSpPr/>
          <p:nvPr/>
        </p:nvGrpSpPr>
        <p:grpSpPr>
          <a:xfrm rot="0">
            <a:off x="17190720" y="9646920"/>
            <a:ext cx="731520" cy="457200"/>
            <a:chOff x="0" y="0"/>
            <a:chExt cx="975360" cy="609600"/>
          </a:xfrm>
        </p:grpSpPr>
        <p:sp>
          <p:nvSpPr>
            <p:cNvPr name="Freeform 16" id="16"/>
            <p:cNvSpPr/>
            <p:nvPr/>
          </p:nvSpPr>
          <p:spPr>
            <a:xfrm flipH="false" flipV="false" rot="0">
              <a:off x="0" y="0"/>
              <a:ext cx="975360" cy="609600"/>
            </a:xfrm>
            <a:custGeom>
              <a:avLst/>
              <a:gdLst/>
              <a:ahLst/>
              <a:cxnLst/>
              <a:rect r="r" b="b" t="t" l="l"/>
              <a:pathLst>
                <a:path h="609600" w="975360">
                  <a:moveTo>
                    <a:pt x="0" y="0"/>
                  </a:moveTo>
                  <a:lnTo>
                    <a:pt x="975360" y="0"/>
                  </a:lnTo>
                  <a:lnTo>
                    <a:pt x="975360" y="609600"/>
                  </a:lnTo>
                  <a:lnTo>
                    <a:pt x="0" y="609600"/>
                  </a:lnTo>
                  <a:close/>
                </a:path>
              </a:pathLst>
            </a:custGeom>
            <a:blipFill>
              <a:blip r:embed="rId3">
                <a:alphaModFix amt="0"/>
              </a:blip>
              <a:stretch>
                <a:fillRect l="-30189" t="0" r="-30189" b="0"/>
              </a:stretch>
            </a:blipFill>
          </p:spPr>
        </p:sp>
        <p:sp>
          <p:nvSpPr>
            <p:cNvPr name="TextBox 17" id="17"/>
            <p:cNvSpPr txBox="true"/>
            <p:nvPr/>
          </p:nvSpPr>
          <p:spPr>
            <a:xfrm>
              <a:off x="0" y="-38100"/>
              <a:ext cx="975360" cy="647700"/>
            </a:xfrm>
            <a:prstGeom prst="rect">
              <a:avLst/>
            </a:prstGeom>
          </p:spPr>
          <p:txBody>
            <a:bodyPr anchor="ctr" rtlCol="false" tIns="0" lIns="0" bIns="0" rIns="0"/>
            <a:lstStyle/>
            <a:p>
              <a:pPr algn="r">
                <a:lnSpc>
                  <a:spcPts val="2160"/>
                </a:lnSpc>
              </a:pPr>
              <a:r>
                <a:rPr lang="en-US" sz="1800">
                  <a:solidFill>
                    <a:srgbClr val="64748B"/>
                  </a:solidFill>
                  <a:latin typeface="Calibri (MS)"/>
                  <a:ea typeface="Calibri (MS)"/>
                  <a:cs typeface="Calibri (MS)"/>
                  <a:sym typeface="Calibri (MS)"/>
                </a:rPr>
                <a:t>2</a:t>
              </a:r>
            </a:p>
          </p:txBody>
        </p:sp>
      </p:grpSp>
      <p:grpSp>
        <p:nvGrpSpPr>
          <p:cNvPr name="Group 18" id="18"/>
          <p:cNvGrpSpPr/>
          <p:nvPr/>
        </p:nvGrpSpPr>
        <p:grpSpPr>
          <a:xfrm rot="0">
            <a:off x="1005840" y="2468880"/>
            <a:ext cx="7680960" cy="7040880"/>
            <a:chOff x="0" y="0"/>
            <a:chExt cx="10241280" cy="9387840"/>
          </a:xfrm>
        </p:grpSpPr>
        <p:sp>
          <p:nvSpPr>
            <p:cNvPr name="Freeform 19" id="19"/>
            <p:cNvSpPr/>
            <p:nvPr/>
          </p:nvSpPr>
          <p:spPr>
            <a:xfrm flipH="false" flipV="false" rot="0">
              <a:off x="0" y="0"/>
              <a:ext cx="10241280" cy="9387839"/>
            </a:xfrm>
            <a:custGeom>
              <a:avLst/>
              <a:gdLst/>
              <a:ahLst/>
              <a:cxnLst/>
              <a:rect r="r" b="b" t="t" l="l"/>
              <a:pathLst>
                <a:path h="9387839" w="10241280">
                  <a:moveTo>
                    <a:pt x="0" y="292608"/>
                  </a:moveTo>
                  <a:cubicBezTo>
                    <a:pt x="0" y="131064"/>
                    <a:pt x="131064" y="0"/>
                    <a:pt x="292608" y="0"/>
                  </a:cubicBezTo>
                  <a:lnTo>
                    <a:pt x="9948672" y="0"/>
                  </a:lnTo>
                  <a:cubicBezTo>
                    <a:pt x="10110343" y="0"/>
                    <a:pt x="10241280" y="131064"/>
                    <a:pt x="10241280" y="292608"/>
                  </a:cubicBezTo>
                  <a:lnTo>
                    <a:pt x="10241280" y="9095232"/>
                  </a:lnTo>
                  <a:cubicBezTo>
                    <a:pt x="10241280" y="9256902"/>
                    <a:pt x="10110216" y="9387839"/>
                    <a:pt x="9948672" y="9387839"/>
                  </a:cubicBezTo>
                  <a:lnTo>
                    <a:pt x="292608" y="9387839"/>
                  </a:lnTo>
                  <a:cubicBezTo>
                    <a:pt x="131064" y="9387840"/>
                    <a:pt x="0" y="9256776"/>
                    <a:pt x="0" y="9095232"/>
                  </a:cubicBezTo>
                  <a:close/>
                </a:path>
              </a:pathLst>
            </a:custGeom>
            <a:solidFill>
              <a:srgbClr val="EFF6FF"/>
            </a:solidFill>
          </p:spPr>
        </p:sp>
      </p:grpSp>
      <p:grpSp>
        <p:nvGrpSpPr>
          <p:cNvPr name="Group 20" id="20"/>
          <p:cNvGrpSpPr/>
          <p:nvPr/>
        </p:nvGrpSpPr>
        <p:grpSpPr>
          <a:xfrm rot="0">
            <a:off x="1280160" y="2596896"/>
            <a:ext cx="7132320" cy="640080"/>
            <a:chOff x="0" y="0"/>
            <a:chExt cx="9509760" cy="853440"/>
          </a:xfrm>
        </p:grpSpPr>
        <p:sp>
          <p:nvSpPr>
            <p:cNvPr name="Freeform 21" id="21"/>
            <p:cNvSpPr/>
            <p:nvPr/>
          </p:nvSpPr>
          <p:spPr>
            <a:xfrm flipH="false" flipV="false" rot="0">
              <a:off x="0" y="0"/>
              <a:ext cx="9509760" cy="853440"/>
            </a:xfrm>
            <a:custGeom>
              <a:avLst/>
              <a:gdLst/>
              <a:ahLst/>
              <a:cxnLst/>
              <a:rect r="r" b="b" t="t" l="l"/>
              <a:pathLst>
                <a:path h="853440" w="9509760">
                  <a:moveTo>
                    <a:pt x="0" y="0"/>
                  </a:moveTo>
                  <a:lnTo>
                    <a:pt x="9509760" y="0"/>
                  </a:lnTo>
                  <a:lnTo>
                    <a:pt x="9509760" y="853440"/>
                  </a:lnTo>
                  <a:lnTo>
                    <a:pt x="0" y="853440"/>
                  </a:lnTo>
                  <a:close/>
                </a:path>
              </a:pathLst>
            </a:custGeom>
            <a:blipFill>
              <a:blip r:embed="rId3">
                <a:alphaModFix amt="0"/>
              </a:blip>
              <a:stretch>
                <a:fillRect l="0" t="-167118" r="0" b="-167118"/>
              </a:stretch>
            </a:blipFill>
          </p:spPr>
        </p:sp>
        <p:sp>
          <p:nvSpPr>
            <p:cNvPr name="TextBox 22" id="22"/>
            <p:cNvSpPr txBox="true"/>
            <p:nvPr/>
          </p:nvSpPr>
          <p:spPr>
            <a:xfrm>
              <a:off x="0" y="-57150"/>
              <a:ext cx="9509760" cy="910590"/>
            </a:xfrm>
            <a:prstGeom prst="rect">
              <a:avLst/>
            </a:prstGeom>
          </p:spPr>
          <p:txBody>
            <a:bodyPr anchor="ctr" rtlCol="false" tIns="0" lIns="0" bIns="0" rIns="0"/>
            <a:lstStyle/>
            <a:p>
              <a:pPr algn="l">
                <a:lnSpc>
                  <a:spcPts val="3120"/>
                </a:lnSpc>
              </a:pPr>
              <a:r>
                <a:rPr lang="en-US" sz="2600" b="true">
                  <a:solidFill>
                    <a:srgbClr val="3B82F6"/>
                  </a:solidFill>
                  <a:latin typeface="Calibri (MS) Bold"/>
                  <a:ea typeface="Calibri (MS) Bold"/>
                  <a:cs typeface="Calibri (MS) Bold"/>
                  <a:sym typeface="Calibri (MS) Bold"/>
                </a:rPr>
                <a:t>The Challenge</a:t>
              </a:r>
            </a:p>
          </p:txBody>
        </p:sp>
      </p:grpSp>
      <p:grpSp>
        <p:nvGrpSpPr>
          <p:cNvPr name="Group 23" id="23"/>
          <p:cNvGrpSpPr/>
          <p:nvPr/>
        </p:nvGrpSpPr>
        <p:grpSpPr>
          <a:xfrm rot="0">
            <a:off x="1335024" y="3474720"/>
            <a:ext cx="329184" cy="329184"/>
            <a:chOff x="0" y="0"/>
            <a:chExt cx="438912" cy="438912"/>
          </a:xfrm>
        </p:grpSpPr>
        <p:sp>
          <p:nvSpPr>
            <p:cNvPr name="Freeform 24" id="24"/>
            <p:cNvSpPr/>
            <p:nvPr/>
          </p:nvSpPr>
          <p:spPr>
            <a:xfrm flipH="false" flipV="false" rot="0">
              <a:off x="0" y="0"/>
              <a:ext cx="438912" cy="438912"/>
            </a:xfrm>
            <a:custGeom>
              <a:avLst/>
              <a:gdLst/>
              <a:ahLst/>
              <a:cxnLst/>
              <a:rect r="r" b="b" t="t" l="l"/>
              <a:pathLst>
                <a:path h="438912" w="438912">
                  <a:moveTo>
                    <a:pt x="0" y="219456"/>
                  </a:moveTo>
                  <a:cubicBezTo>
                    <a:pt x="0" y="98298"/>
                    <a:pt x="98298" y="0"/>
                    <a:pt x="219456" y="0"/>
                  </a:cubicBezTo>
                  <a:cubicBezTo>
                    <a:pt x="340614" y="0"/>
                    <a:pt x="438912" y="98298"/>
                    <a:pt x="438912" y="219456"/>
                  </a:cubicBezTo>
                  <a:cubicBezTo>
                    <a:pt x="438912" y="340614"/>
                    <a:pt x="340614" y="438912"/>
                    <a:pt x="219456" y="438912"/>
                  </a:cubicBezTo>
                  <a:cubicBezTo>
                    <a:pt x="98298" y="438912"/>
                    <a:pt x="0" y="340614"/>
                    <a:pt x="0" y="219456"/>
                  </a:cubicBezTo>
                  <a:close/>
                </a:path>
              </a:pathLst>
            </a:custGeom>
            <a:solidFill>
              <a:srgbClr val="3B82F6"/>
            </a:solidFill>
          </p:spPr>
        </p:sp>
      </p:grpSp>
      <p:grpSp>
        <p:nvGrpSpPr>
          <p:cNvPr name="Group 25" id="25"/>
          <p:cNvGrpSpPr/>
          <p:nvPr/>
        </p:nvGrpSpPr>
        <p:grpSpPr>
          <a:xfrm rot="0">
            <a:off x="1828800" y="3328416"/>
            <a:ext cx="6583680" cy="1316736"/>
            <a:chOff x="0" y="0"/>
            <a:chExt cx="8778240" cy="1755648"/>
          </a:xfrm>
        </p:grpSpPr>
        <p:sp>
          <p:nvSpPr>
            <p:cNvPr name="Freeform 26" id="26"/>
            <p:cNvSpPr/>
            <p:nvPr/>
          </p:nvSpPr>
          <p:spPr>
            <a:xfrm flipH="false" flipV="false" rot="0">
              <a:off x="0" y="0"/>
              <a:ext cx="8778240" cy="1755648"/>
            </a:xfrm>
            <a:custGeom>
              <a:avLst/>
              <a:gdLst/>
              <a:ahLst/>
              <a:cxnLst/>
              <a:rect r="r" b="b" t="t" l="l"/>
              <a:pathLst>
                <a:path h="1755648" w="8778240">
                  <a:moveTo>
                    <a:pt x="0" y="0"/>
                  </a:moveTo>
                  <a:lnTo>
                    <a:pt x="8778240" y="0"/>
                  </a:lnTo>
                  <a:lnTo>
                    <a:pt x="8778240" y="1755648"/>
                  </a:lnTo>
                  <a:lnTo>
                    <a:pt x="0" y="1755648"/>
                  </a:lnTo>
                  <a:close/>
                </a:path>
              </a:pathLst>
            </a:custGeom>
            <a:blipFill>
              <a:blip r:embed="rId3">
                <a:alphaModFix amt="0"/>
              </a:blip>
              <a:stretch>
                <a:fillRect l="0" t="-47425" r="0" b="-47425"/>
              </a:stretch>
            </a:blipFill>
          </p:spPr>
        </p:sp>
        <p:sp>
          <p:nvSpPr>
            <p:cNvPr name="TextBox 27" id="27"/>
            <p:cNvSpPr txBox="true"/>
            <p:nvPr/>
          </p:nvSpPr>
          <p:spPr>
            <a:xfrm>
              <a:off x="0" y="-47625"/>
              <a:ext cx="8778240" cy="1803273"/>
            </a:xfrm>
            <a:prstGeom prst="rect">
              <a:avLst/>
            </a:prstGeom>
          </p:spPr>
          <p:txBody>
            <a:bodyPr anchor="ctr" rtlCol="false" tIns="0" lIns="0" bIns="0" rIns="0"/>
            <a:lstStyle/>
            <a:p>
              <a:pPr algn="l">
                <a:lnSpc>
                  <a:spcPts val="2520"/>
                </a:lnSpc>
              </a:pPr>
              <a:r>
                <a:rPr lang="en-US" sz="2100">
                  <a:solidFill>
                    <a:srgbClr val="334155"/>
                  </a:solidFill>
                  <a:latin typeface="Calibri (MS)"/>
                  <a:ea typeface="Calibri (MS)"/>
                  <a:cs typeface="Calibri (MS)"/>
                  <a:sym typeface="Calibri (MS)"/>
                </a:rPr>
                <a:t>Sea level and wave height affect port operations, offshore energy, fisheries, and disaster response</a:t>
              </a:r>
            </a:p>
          </p:txBody>
        </p:sp>
      </p:grpSp>
      <p:grpSp>
        <p:nvGrpSpPr>
          <p:cNvPr name="Group 28" id="28"/>
          <p:cNvGrpSpPr/>
          <p:nvPr/>
        </p:nvGrpSpPr>
        <p:grpSpPr>
          <a:xfrm rot="0">
            <a:off x="1335024" y="4974336"/>
            <a:ext cx="329184" cy="329184"/>
            <a:chOff x="0" y="0"/>
            <a:chExt cx="438912" cy="438912"/>
          </a:xfrm>
        </p:grpSpPr>
        <p:sp>
          <p:nvSpPr>
            <p:cNvPr name="Freeform 29" id="29"/>
            <p:cNvSpPr/>
            <p:nvPr/>
          </p:nvSpPr>
          <p:spPr>
            <a:xfrm flipH="false" flipV="false" rot="0">
              <a:off x="0" y="0"/>
              <a:ext cx="438912" cy="438912"/>
            </a:xfrm>
            <a:custGeom>
              <a:avLst/>
              <a:gdLst/>
              <a:ahLst/>
              <a:cxnLst/>
              <a:rect r="r" b="b" t="t" l="l"/>
              <a:pathLst>
                <a:path h="438912" w="438912">
                  <a:moveTo>
                    <a:pt x="0" y="219456"/>
                  </a:moveTo>
                  <a:cubicBezTo>
                    <a:pt x="0" y="98298"/>
                    <a:pt x="98298" y="0"/>
                    <a:pt x="219456" y="0"/>
                  </a:cubicBezTo>
                  <a:cubicBezTo>
                    <a:pt x="340614" y="0"/>
                    <a:pt x="438912" y="98298"/>
                    <a:pt x="438912" y="219456"/>
                  </a:cubicBezTo>
                  <a:cubicBezTo>
                    <a:pt x="438912" y="340614"/>
                    <a:pt x="340614" y="438912"/>
                    <a:pt x="219456" y="438912"/>
                  </a:cubicBezTo>
                  <a:cubicBezTo>
                    <a:pt x="98298" y="438912"/>
                    <a:pt x="0" y="340614"/>
                    <a:pt x="0" y="219456"/>
                  </a:cubicBezTo>
                  <a:close/>
                </a:path>
              </a:pathLst>
            </a:custGeom>
            <a:solidFill>
              <a:srgbClr val="3B82F6"/>
            </a:solidFill>
          </p:spPr>
        </p:sp>
      </p:grpSp>
      <p:grpSp>
        <p:nvGrpSpPr>
          <p:cNvPr name="Group 30" id="30"/>
          <p:cNvGrpSpPr/>
          <p:nvPr/>
        </p:nvGrpSpPr>
        <p:grpSpPr>
          <a:xfrm rot="0">
            <a:off x="1828800" y="4828032"/>
            <a:ext cx="6583680" cy="1316736"/>
            <a:chOff x="0" y="0"/>
            <a:chExt cx="8778240" cy="1755648"/>
          </a:xfrm>
        </p:grpSpPr>
        <p:sp>
          <p:nvSpPr>
            <p:cNvPr name="Freeform 31" id="31"/>
            <p:cNvSpPr/>
            <p:nvPr/>
          </p:nvSpPr>
          <p:spPr>
            <a:xfrm flipH="false" flipV="false" rot="0">
              <a:off x="0" y="0"/>
              <a:ext cx="8778240" cy="1755648"/>
            </a:xfrm>
            <a:custGeom>
              <a:avLst/>
              <a:gdLst/>
              <a:ahLst/>
              <a:cxnLst/>
              <a:rect r="r" b="b" t="t" l="l"/>
              <a:pathLst>
                <a:path h="1755648" w="8778240">
                  <a:moveTo>
                    <a:pt x="0" y="0"/>
                  </a:moveTo>
                  <a:lnTo>
                    <a:pt x="8778240" y="0"/>
                  </a:lnTo>
                  <a:lnTo>
                    <a:pt x="8778240" y="1755648"/>
                  </a:lnTo>
                  <a:lnTo>
                    <a:pt x="0" y="1755648"/>
                  </a:lnTo>
                  <a:close/>
                </a:path>
              </a:pathLst>
            </a:custGeom>
            <a:blipFill>
              <a:blip r:embed="rId3">
                <a:alphaModFix amt="0"/>
              </a:blip>
              <a:stretch>
                <a:fillRect l="0" t="-47425" r="0" b="-47425"/>
              </a:stretch>
            </a:blipFill>
          </p:spPr>
        </p:sp>
        <p:sp>
          <p:nvSpPr>
            <p:cNvPr name="TextBox 32" id="32"/>
            <p:cNvSpPr txBox="true"/>
            <p:nvPr/>
          </p:nvSpPr>
          <p:spPr>
            <a:xfrm>
              <a:off x="0" y="-47625"/>
              <a:ext cx="8778240" cy="1803273"/>
            </a:xfrm>
            <a:prstGeom prst="rect">
              <a:avLst/>
            </a:prstGeom>
          </p:spPr>
          <p:txBody>
            <a:bodyPr anchor="ctr" rtlCol="false" tIns="0" lIns="0" bIns="0" rIns="0"/>
            <a:lstStyle/>
            <a:p>
              <a:pPr algn="l">
                <a:lnSpc>
                  <a:spcPts val="2520"/>
                </a:lnSpc>
              </a:pPr>
              <a:r>
                <a:rPr lang="en-US" sz="2100">
                  <a:solidFill>
                    <a:srgbClr val="334155"/>
                  </a:solidFill>
                  <a:latin typeface="Calibri (MS)"/>
                  <a:ea typeface="Calibri (MS)"/>
                  <a:cs typeface="Calibri (MS)"/>
                  <a:sym typeface="Calibri (MS)"/>
                </a:rPr>
                <a:t>Classical models give only a POINT ESTIMATE:</a:t>
              </a:r>
            </a:p>
            <a:p>
              <a:pPr algn="l">
                <a:lnSpc>
                  <a:spcPts val="2520"/>
                </a:lnSpc>
              </a:pPr>
              <a:r>
                <a:rPr lang="en-US" sz="2100">
                  <a:solidFill>
                    <a:srgbClr val="334155"/>
                  </a:solidFill>
                  <a:latin typeface="Calibri (MS)"/>
                  <a:ea typeface="Calibri (MS)"/>
                  <a:cs typeface="Calibri (MS)"/>
                  <a:sym typeface="Calibri (MS)"/>
                </a:rPr>
                <a:t>"Tomorrow's wave height = 2.3 m"</a:t>
              </a:r>
            </a:p>
          </p:txBody>
        </p:sp>
      </p:grpSp>
      <p:grpSp>
        <p:nvGrpSpPr>
          <p:cNvPr name="Group 33" id="33"/>
          <p:cNvGrpSpPr/>
          <p:nvPr/>
        </p:nvGrpSpPr>
        <p:grpSpPr>
          <a:xfrm rot="0">
            <a:off x="1335024" y="6473952"/>
            <a:ext cx="329184" cy="329184"/>
            <a:chOff x="0" y="0"/>
            <a:chExt cx="438912" cy="438912"/>
          </a:xfrm>
        </p:grpSpPr>
        <p:sp>
          <p:nvSpPr>
            <p:cNvPr name="Freeform 34" id="34"/>
            <p:cNvSpPr/>
            <p:nvPr/>
          </p:nvSpPr>
          <p:spPr>
            <a:xfrm flipH="false" flipV="false" rot="0">
              <a:off x="0" y="0"/>
              <a:ext cx="438912" cy="438912"/>
            </a:xfrm>
            <a:custGeom>
              <a:avLst/>
              <a:gdLst/>
              <a:ahLst/>
              <a:cxnLst/>
              <a:rect r="r" b="b" t="t" l="l"/>
              <a:pathLst>
                <a:path h="438912" w="438912">
                  <a:moveTo>
                    <a:pt x="0" y="219456"/>
                  </a:moveTo>
                  <a:cubicBezTo>
                    <a:pt x="0" y="98298"/>
                    <a:pt x="98298" y="0"/>
                    <a:pt x="219456" y="0"/>
                  </a:cubicBezTo>
                  <a:cubicBezTo>
                    <a:pt x="340614" y="0"/>
                    <a:pt x="438912" y="98298"/>
                    <a:pt x="438912" y="219456"/>
                  </a:cubicBezTo>
                  <a:cubicBezTo>
                    <a:pt x="438912" y="340614"/>
                    <a:pt x="340614" y="438912"/>
                    <a:pt x="219456" y="438912"/>
                  </a:cubicBezTo>
                  <a:cubicBezTo>
                    <a:pt x="98298" y="438912"/>
                    <a:pt x="0" y="340614"/>
                    <a:pt x="0" y="219456"/>
                  </a:cubicBezTo>
                  <a:close/>
                </a:path>
              </a:pathLst>
            </a:custGeom>
            <a:solidFill>
              <a:srgbClr val="3B82F6"/>
            </a:solidFill>
          </p:spPr>
        </p:sp>
      </p:grpSp>
      <p:grpSp>
        <p:nvGrpSpPr>
          <p:cNvPr name="Group 35" id="35"/>
          <p:cNvGrpSpPr/>
          <p:nvPr/>
        </p:nvGrpSpPr>
        <p:grpSpPr>
          <a:xfrm rot="0">
            <a:off x="1828800" y="6327648"/>
            <a:ext cx="6583680" cy="1316736"/>
            <a:chOff x="0" y="0"/>
            <a:chExt cx="8778240" cy="1755648"/>
          </a:xfrm>
        </p:grpSpPr>
        <p:sp>
          <p:nvSpPr>
            <p:cNvPr name="Freeform 36" id="36"/>
            <p:cNvSpPr/>
            <p:nvPr/>
          </p:nvSpPr>
          <p:spPr>
            <a:xfrm flipH="false" flipV="false" rot="0">
              <a:off x="0" y="0"/>
              <a:ext cx="8778240" cy="1755648"/>
            </a:xfrm>
            <a:custGeom>
              <a:avLst/>
              <a:gdLst/>
              <a:ahLst/>
              <a:cxnLst/>
              <a:rect r="r" b="b" t="t" l="l"/>
              <a:pathLst>
                <a:path h="1755648" w="8778240">
                  <a:moveTo>
                    <a:pt x="0" y="0"/>
                  </a:moveTo>
                  <a:lnTo>
                    <a:pt x="8778240" y="0"/>
                  </a:lnTo>
                  <a:lnTo>
                    <a:pt x="8778240" y="1755648"/>
                  </a:lnTo>
                  <a:lnTo>
                    <a:pt x="0" y="1755648"/>
                  </a:lnTo>
                  <a:close/>
                </a:path>
              </a:pathLst>
            </a:custGeom>
            <a:blipFill>
              <a:blip r:embed="rId3">
                <a:alphaModFix amt="0"/>
              </a:blip>
              <a:stretch>
                <a:fillRect l="0" t="-47425" r="0" b="-47425"/>
              </a:stretch>
            </a:blipFill>
          </p:spPr>
        </p:sp>
        <p:sp>
          <p:nvSpPr>
            <p:cNvPr name="TextBox 37" id="37"/>
            <p:cNvSpPr txBox="true"/>
            <p:nvPr/>
          </p:nvSpPr>
          <p:spPr>
            <a:xfrm>
              <a:off x="0" y="-47625"/>
              <a:ext cx="8778240" cy="1803273"/>
            </a:xfrm>
            <a:prstGeom prst="rect">
              <a:avLst/>
            </a:prstGeom>
          </p:spPr>
          <p:txBody>
            <a:bodyPr anchor="ctr" rtlCol="false" tIns="0" lIns="0" bIns="0" rIns="0"/>
            <a:lstStyle/>
            <a:p>
              <a:pPr algn="l">
                <a:lnSpc>
                  <a:spcPts val="2520"/>
                </a:lnSpc>
              </a:pPr>
              <a:r>
                <a:rPr lang="en-US" sz="2100">
                  <a:solidFill>
                    <a:srgbClr val="334155"/>
                  </a:solidFill>
                  <a:latin typeface="Calibri (MS)"/>
                  <a:ea typeface="Calibri (MS)"/>
                  <a:cs typeface="Calibri (MS)"/>
                  <a:sym typeface="Calibri (MS)"/>
                </a:rPr>
                <a:t>But operators need to know the UNCERTAINTY to make safe decisions</a:t>
              </a:r>
            </a:p>
          </p:txBody>
        </p:sp>
      </p:grpSp>
      <p:grpSp>
        <p:nvGrpSpPr>
          <p:cNvPr name="Group 38" id="38"/>
          <p:cNvGrpSpPr/>
          <p:nvPr/>
        </p:nvGrpSpPr>
        <p:grpSpPr>
          <a:xfrm rot="0">
            <a:off x="1335024" y="7973568"/>
            <a:ext cx="329184" cy="329184"/>
            <a:chOff x="0" y="0"/>
            <a:chExt cx="438912" cy="438912"/>
          </a:xfrm>
        </p:grpSpPr>
        <p:sp>
          <p:nvSpPr>
            <p:cNvPr name="Freeform 39" id="39"/>
            <p:cNvSpPr/>
            <p:nvPr/>
          </p:nvSpPr>
          <p:spPr>
            <a:xfrm flipH="false" flipV="false" rot="0">
              <a:off x="0" y="0"/>
              <a:ext cx="438912" cy="438912"/>
            </a:xfrm>
            <a:custGeom>
              <a:avLst/>
              <a:gdLst/>
              <a:ahLst/>
              <a:cxnLst/>
              <a:rect r="r" b="b" t="t" l="l"/>
              <a:pathLst>
                <a:path h="438912" w="438912">
                  <a:moveTo>
                    <a:pt x="0" y="219456"/>
                  </a:moveTo>
                  <a:cubicBezTo>
                    <a:pt x="0" y="98298"/>
                    <a:pt x="98298" y="0"/>
                    <a:pt x="219456" y="0"/>
                  </a:cubicBezTo>
                  <a:cubicBezTo>
                    <a:pt x="340614" y="0"/>
                    <a:pt x="438912" y="98298"/>
                    <a:pt x="438912" y="219456"/>
                  </a:cubicBezTo>
                  <a:cubicBezTo>
                    <a:pt x="438912" y="340614"/>
                    <a:pt x="340614" y="438912"/>
                    <a:pt x="219456" y="438912"/>
                  </a:cubicBezTo>
                  <a:cubicBezTo>
                    <a:pt x="98298" y="438912"/>
                    <a:pt x="0" y="340614"/>
                    <a:pt x="0" y="219456"/>
                  </a:cubicBezTo>
                  <a:close/>
                </a:path>
              </a:pathLst>
            </a:custGeom>
            <a:solidFill>
              <a:srgbClr val="3B82F6"/>
            </a:solidFill>
          </p:spPr>
        </p:sp>
      </p:grpSp>
      <p:grpSp>
        <p:nvGrpSpPr>
          <p:cNvPr name="Group 40" id="40"/>
          <p:cNvGrpSpPr/>
          <p:nvPr/>
        </p:nvGrpSpPr>
        <p:grpSpPr>
          <a:xfrm rot="0">
            <a:off x="1828800" y="7827264"/>
            <a:ext cx="6583680" cy="1316736"/>
            <a:chOff x="0" y="0"/>
            <a:chExt cx="8778240" cy="1755648"/>
          </a:xfrm>
        </p:grpSpPr>
        <p:sp>
          <p:nvSpPr>
            <p:cNvPr name="Freeform 41" id="41"/>
            <p:cNvSpPr/>
            <p:nvPr/>
          </p:nvSpPr>
          <p:spPr>
            <a:xfrm flipH="false" flipV="false" rot="0">
              <a:off x="0" y="0"/>
              <a:ext cx="8778240" cy="1755648"/>
            </a:xfrm>
            <a:custGeom>
              <a:avLst/>
              <a:gdLst/>
              <a:ahLst/>
              <a:cxnLst/>
              <a:rect r="r" b="b" t="t" l="l"/>
              <a:pathLst>
                <a:path h="1755648" w="8778240">
                  <a:moveTo>
                    <a:pt x="0" y="0"/>
                  </a:moveTo>
                  <a:lnTo>
                    <a:pt x="8778240" y="0"/>
                  </a:lnTo>
                  <a:lnTo>
                    <a:pt x="8778240" y="1755648"/>
                  </a:lnTo>
                  <a:lnTo>
                    <a:pt x="0" y="1755648"/>
                  </a:lnTo>
                  <a:close/>
                </a:path>
              </a:pathLst>
            </a:custGeom>
            <a:blipFill>
              <a:blip r:embed="rId3">
                <a:alphaModFix amt="0"/>
              </a:blip>
              <a:stretch>
                <a:fillRect l="0" t="-47425" r="0" b="-47425"/>
              </a:stretch>
            </a:blipFill>
          </p:spPr>
        </p:sp>
        <p:sp>
          <p:nvSpPr>
            <p:cNvPr name="TextBox 42" id="42"/>
            <p:cNvSpPr txBox="true"/>
            <p:nvPr/>
          </p:nvSpPr>
          <p:spPr>
            <a:xfrm>
              <a:off x="0" y="-47625"/>
              <a:ext cx="8778240" cy="1803273"/>
            </a:xfrm>
            <a:prstGeom prst="rect">
              <a:avLst/>
            </a:prstGeom>
          </p:spPr>
          <p:txBody>
            <a:bodyPr anchor="ctr" rtlCol="false" tIns="0" lIns="0" bIns="0" rIns="0"/>
            <a:lstStyle/>
            <a:p>
              <a:pPr algn="l">
                <a:lnSpc>
                  <a:spcPts val="2520"/>
                </a:lnSpc>
              </a:pPr>
              <a:r>
                <a:rPr lang="en-US" sz="2100">
                  <a:solidFill>
                    <a:srgbClr val="334155"/>
                  </a:solidFill>
                  <a:latin typeface="Calibri (MS)"/>
                  <a:ea typeface="Calibri (MS)"/>
                  <a:cs typeface="Calibri (MS)"/>
                  <a:sym typeface="Calibri (MS)"/>
                </a:rPr>
                <a:t>A wrong forecast can cost crores in port damage, equipment loss, or unnecessary evacuations</a:t>
              </a:r>
            </a:p>
          </p:txBody>
        </p:sp>
      </p:grpSp>
      <p:grpSp>
        <p:nvGrpSpPr>
          <p:cNvPr name="Group 43" id="43"/>
          <p:cNvGrpSpPr/>
          <p:nvPr/>
        </p:nvGrpSpPr>
        <p:grpSpPr>
          <a:xfrm rot="0">
            <a:off x="9418320" y="2468880"/>
            <a:ext cx="7863840" cy="7040880"/>
            <a:chOff x="0" y="0"/>
            <a:chExt cx="10485120" cy="9387840"/>
          </a:xfrm>
        </p:grpSpPr>
        <p:sp>
          <p:nvSpPr>
            <p:cNvPr name="Freeform 44" id="44"/>
            <p:cNvSpPr/>
            <p:nvPr/>
          </p:nvSpPr>
          <p:spPr>
            <a:xfrm flipH="false" flipV="false" rot="0">
              <a:off x="0" y="0"/>
              <a:ext cx="10485120" cy="9387839"/>
            </a:xfrm>
            <a:custGeom>
              <a:avLst/>
              <a:gdLst/>
              <a:ahLst/>
              <a:cxnLst/>
              <a:rect r="r" b="b" t="t" l="l"/>
              <a:pathLst>
                <a:path h="9387839" w="10485120">
                  <a:moveTo>
                    <a:pt x="0" y="292608"/>
                  </a:moveTo>
                  <a:cubicBezTo>
                    <a:pt x="0" y="131064"/>
                    <a:pt x="131064" y="0"/>
                    <a:pt x="292608" y="0"/>
                  </a:cubicBezTo>
                  <a:lnTo>
                    <a:pt x="10192512" y="0"/>
                  </a:lnTo>
                  <a:cubicBezTo>
                    <a:pt x="10354183" y="0"/>
                    <a:pt x="10485120" y="131064"/>
                    <a:pt x="10485120" y="292608"/>
                  </a:cubicBezTo>
                  <a:lnTo>
                    <a:pt x="10485120" y="9095232"/>
                  </a:lnTo>
                  <a:cubicBezTo>
                    <a:pt x="10485120" y="9256902"/>
                    <a:pt x="10354056" y="9387839"/>
                    <a:pt x="10192512" y="9387839"/>
                  </a:cubicBezTo>
                  <a:lnTo>
                    <a:pt x="292608" y="9387839"/>
                  </a:lnTo>
                  <a:cubicBezTo>
                    <a:pt x="131064" y="9387840"/>
                    <a:pt x="0" y="9256776"/>
                    <a:pt x="0" y="9095232"/>
                  </a:cubicBezTo>
                  <a:close/>
                </a:path>
              </a:pathLst>
            </a:custGeom>
            <a:solidFill>
              <a:srgbClr val="EFF6FF"/>
            </a:solidFill>
          </p:spPr>
        </p:sp>
      </p:grpSp>
      <p:grpSp>
        <p:nvGrpSpPr>
          <p:cNvPr name="Group 45" id="45"/>
          <p:cNvGrpSpPr/>
          <p:nvPr/>
        </p:nvGrpSpPr>
        <p:grpSpPr>
          <a:xfrm rot="0">
            <a:off x="9692640" y="2596896"/>
            <a:ext cx="7315200" cy="640080"/>
            <a:chOff x="0" y="0"/>
            <a:chExt cx="9753600" cy="853440"/>
          </a:xfrm>
        </p:grpSpPr>
        <p:sp>
          <p:nvSpPr>
            <p:cNvPr name="Freeform 46" id="46"/>
            <p:cNvSpPr/>
            <p:nvPr/>
          </p:nvSpPr>
          <p:spPr>
            <a:xfrm flipH="false" flipV="false" rot="0">
              <a:off x="0" y="0"/>
              <a:ext cx="9753600" cy="853440"/>
            </a:xfrm>
            <a:custGeom>
              <a:avLst/>
              <a:gdLst/>
              <a:ahLst/>
              <a:cxnLst/>
              <a:rect r="r" b="b" t="t" l="l"/>
              <a:pathLst>
                <a:path h="853440" w="9753600">
                  <a:moveTo>
                    <a:pt x="0" y="0"/>
                  </a:moveTo>
                  <a:lnTo>
                    <a:pt x="9753600" y="0"/>
                  </a:lnTo>
                  <a:lnTo>
                    <a:pt x="9753600" y="853440"/>
                  </a:lnTo>
                  <a:lnTo>
                    <a:pt x="0" y="853440"/>
                  </a:lnTo>
                  <a:close/>
                </a:path>
              </a:pathLst>
            </a:custGeom>
            <a:blipFill>
              <a:blip r:embed="rId3">
                <a:alphaModFix amt="0"/>
              </a:blip>
              <a:stretch>
                <a:fillRect l="0" t="-172686" r="0" b="-172686"/>
              </a:stretch>
            </a:blipFill>
          </p:spPr>
        </p:sp>
        <p:sp>
          <p:nvSpPr>
            <p:cNvPr name="TextBox 47" id="47"/>
            <p:cNvSpPr txBox="true"/>
            <p:nvPr/>
          </p:nvSpPr>
          <p:spPr>
            <a:xfrm>
              <a:off x="0" y="-57150"/>
              <a:ext cx="9753600" cy="910590"/>
            </a:xfrm>
            <a:prstGeom prst="rect">
              <a:avLst/>
            </a:prstGeom>
          </p:spPr>
          <p:txBody>
            <a:bodyPr anchor="ctr" rtlCol="false" tIns="0" lIns="0" bIns="0" rIns="0"/>
            <a:lstStyle/>
            <a:p>
              <a:pPr algn="l">
                <a:lnSpc>
                  <a:spcPts val="3120"/>
                </a:lnSpc>
              </a:pPr>
              <a:r>
                <a:rPr lang="en-US" sz="2600" b="true">
                  <a:solidFill>
                    <a:srgbClr val="3B82F6"/>
                  </a:solidFill>
                  <a:latin typeface="Calibri (MS) Bold"/>
                  <a:ea typeface="Calibri (MS) Bold"/>
                  <a:cs typeface="Calibri (MS) Bold"/>
                  <a:sym typeface="Calibri (MS) Bold"/>
                </a:rPr>
                <a:t>Our Approach</a:t>
              </a:r>
            </a:p>
          </p:txBody>
        </p:sp>
      </p:grpSp>
      <p:grpSp>
        <p:nvGrpSpPr>
          <p:cNvPr name="Group 48" id="48"/>
          <p:cNvGrpSpPr/>
          <p:nvPr/>
        </p:nvGrpSpPr>
        <p:grpSpPr>
          <a:xfrm rot="0">
            <a:off x="9692640" y="3474720"/>
            <a:ext cx="329184" cy="329184"/>
            <a:chOff x="0" y="0"/>
            <a:chExt cx="438912" cy="438912"/>
          </a:xfrm>
        </p:grpSpPr>
        <p:sp>
          <p:nvSpPr>
            <p:cNvPr name="Freeform 49" id="49"/>
            <p:cNvSpPr/>
            <p:nvPr/>
          </p:nvSpPr>
          <p:spPr>
            <a:xfrm flipH="false" flipV="false" rot="0">
              <a:off x="0" y="0"/>
              <a:ext cx="438912" cy="438912"/>
            </a:xfrm>
            <a:custGeom>
              <a:avLst/>
              <a:gdLst/>
              <a:ahLst/>
              <a:cxnLst/>
              <a:rect r="r" b="b" t="t" l="l"/>
              <a:pathLst>
                <a:path h="438912" w="438912">
                  <a:moveTo>
                    <a:pt x="0" y="219456"/>
                  </a:moveTo>
                  <a:cubicBezTo>
                    <a:pt x="0" y="98298"/>
                    <a:pt x="98298" y="0"/>
                    <a:pt x="219456" y="0"/>
                  </a:cubicBezTo>
                  <a:cubicBezTo>
                    <a:pt x="340614" y="0"/>
                    <a:pt x="438912" y="98298"/>
                    <a:pt x="438912" y="219456"/>
                  </a:cubicBezTo>
                  <a:cubicBezTo>
                    <a:pt x="438912" y="340614"/>
                    <a:pt x="340614" y="438912"/>
                    <a:pt x="219456" y="438912"/>
                  </a:cubicBezTo>
                  <a:cubicBezTo>
                    <a:pt x="98298" y="438912"/>
                    <a:pt x="0" y="340614"/>
                    <a:pt x="0" y="219456"/>
                  </a:cubicBezTo>
                  <a:close/>
                </a:path>
              </a:pathLst>
            </a:custGeom>
            <a:solidFill>
              <a:srgbClr val="059669"/>
            </a:solidFill>
          </p:spPr>
        </p:sp>
      </p:grpSp>
      <p:grpSp>
        <p:nvGrpSpPr>
          <p:cNvPr name="Group 50" id="50"/>
          <p:cNvGrpSpPr/>
          <p:nvPr/>
        </p:nvGrpSpPr>
        <p:grpSpPr>
          <a:xfrm rot="0">
            <a:off x="10204704" y="3328416"/>
            <a:ext cx="7040880" cy="1316736"/>
            <a:chOff x="0" y="0"/>
            <a:chExt cx="9387840" cy="1755648"/>
          </a:xfrm>
        </p:grpSpPr>
        <p:sp>
          <p:nvSpPr>
            <p:cNvPr name="Freeform 51" id="51"/>
            <p:cNvSpPr/>
            <p:nvPr/>
          </p:nvSpPr>
          <p:spPr>
            <a:xfrm flipH="false" flipV="false" rot="0">
              <a:off x="0" y="0"/>
              <a:ext cx="9387840" cy="1755648"/>
            </a:xfrm>
            <a:custGeom>
              <a:avLst/>
              <a:gdLst/>
              <a:ahLst/>
              <a:cxnLst/>
              <a:rect r="r" b="b" t="t" l="l"/>
              <a:pathLst>
                <a:path h="1755648" w="9387840">
                  <a:moveTo>
                    <a:pt x="0" y="0"/>
                  </a:moveTo>
                  <a:lnTo>
                    <a:pt x="9387840" y="0"/>
                  </a:lnTo>
                  <a:lnTo>
                    <a:pt x="9387840" y="1755648"/>
                  </a:lnTo>
                  <a:lnTo>
                    <a:pt x="0" y="1755648"/>
                  </a:lnTo>
                  <a:close/>
                </a:path>
              </a:pathLst>
            </a:custGeom>
            <a:blipFill>
              <a:blip r:embed="rId3">
                <a:alphaModFix amt="0"/>
              </a:blip>
              <a:stretch>
                <a:fillRect l="0" t="-54190" r="0" b="-54190"/>
              </a:stretch>
            </a:blipFill>
          </p:spPr>
        </p:sp>
        <p:sp>
          <p:nvSpPr>
            <p:cNvPr name="TextBox 52" id="52"/>
            <p:cNvSpPr txBox="true"/>
            <p:nvPr/>
          </p:nvSpPr>
          <p:spPr>
            <a:xfrm>
              <a:off x="0" y="-47625"/>
              <a:ext cx="9387840" cy="1803273"/>
            </a:xfrm>
            <a:prstGeom prst="rect">
              <a:avLst/>
            </a:prstGeom>
          </p:spPr>
          <p:txBody>
            <a:bodyPr anchor="ctr" rtlCol="false" tIns="0" lIns="0" bIns="0" rIns="0"/>
            <a:lstStyle/>
            <a:p>
              <a:pPr algn="l">
                <a:lnSpc>
                  <a:spcPts val="2520"/>
                </a:lnSpc>
              </a:pPr>
              <a:r>
                <a:rPr lang="en-US" sz="2100">
                  <a:solidFill>
                    <a:srgbClr val="334155"/>
                  </a:solidFill>
                  <a:latin typeface="Calibri (MS)"/>
                  <a:ea typeface="Calibri (MS)"/>
                  <a:cs typeface="Calibri (MS)"/>
                  <a:sym typeface="Calibri (MS)"/>
                </a:rPr>
                <a:t>Instead of one number, predict a RANGE:</a:t>
              </a:r>
            </a:p>
            <a:p>
              <a:pPr algn="l">
                <a:lnSpc>
                  <a:spcPts val="2520"/>
                </a:lnSpc>
              </a:pPr>
              <a:r>
                <a:rPr lang="en-US" sz="2100">
                  <a:solidFill>
                    <a:srgbClr val="334155"/>
                  </a:solidFill>
                  <a:latin typeface="Calibri (MS)"/>
                  <a:ea typeface="Calibri (MS)"/>
                  <a:cs typeface="Calibri (MS)"/>
                  <a:sym typeface="Calibri (MS)"/>
                </a:rPr>
                <a:t>"Wave height will be 1.9–2.7 m with 95% confidence"</a:t>
              </a:r>
            </a:p>
          </p:txBody>
        </p:sp>
      </p:grpSp>
      <p:grpSp>
        <p:nvGrpSpPr>
          <p:cNvPr name="Group 53" id="53"/>
          <p:cNvGrpSpPr/>
          <p:nvPr/>
        </p:nvGrpSpPr>
        <p:grpSpPr>
          <a:xfrm rot="0">
            <a:off x="9692640" y="4974336"/>
            <a:ext cx="329184" cy="329184"/>
            <a:chOff x="0" y="0"/>
            <a:chExt cx="438912" cy="438912"/>
          </a:xfrm>
        </p:grpSpPr>
        <p:sp>
          <p:nvSpPr>
            <p:cNvPr name="Freeform 54" id="54"/>
            <p:cNvSpPr/>
            <p:nvPr/>
          </p:nvSpPr>
          <p:spPr>
            <a:xfrm flipH="false" flipV="false" rot="0">
              <a:off x="0" y="0"/>
              <a:ext cx="438912" cy="438912"/>
            </a:xfrm>
            <a:custGeom>
              <a:avLst/>
              <a:gdLst/>
              <a:ahLst/>
              <a:cxnLst/>
              <a:rect r="r" b="b" t="t" l="l"/>
              <a:pathLst>
                <a:path h="438912" w="438912">
                  <a:moveTo>
                    <a:pt x="0" y="219456"/>
                  </a:moveTo>
                  <a:cubicBezTo>
                    <a:pt x="0" y="98298"/>
                    <a:pt x="98298" y="0"/>
                    <a:pt x="219456" y="0"/>
                  </a:cubicBezTo>
                  <a:cubicBezTo>
                    <a:pt x="340614" y="0"/>
                    <a:pt x="438912" y="98298"/>
                    <a:pt x="438912" y="219456"/>
                  </a:cubicBezTo>
                  <a:cubicBezTo>
                    <a:pt x="438912" y="340614"/>
                    <a:pt x="340614" y="438912"/>
                    <a:pt x="219456" y="438912"/>
                  </a:cubicBezTo>
                  <a:cubicBezTo>
                    <a:pt x="98298" y="438912"/>
                    <a:pt x="0" y="340614"/>
                    <a:pt x="0" y="219456"/>
                  </a:cubicBezTo>
                  <a:close/>
                </a:path>
              </a:pathLst>
            </a:custGeom>
            <a:solidFill>
              <a:srgbClr val="059669"/>
            </a:solidFill>
          </p:spPr>
        </p:sp>
      </p:grpSp>
      <p:grpSp>
        <p:nvGrpSpPr>
          <p:cNvPr name="Group 55" id="55"/>
          <p:cNvGrpSpPr/>
          <p:nvPr/>
        </p:nvGrpSpPr>
        <p:grpSpPr>
          <a:xfrm rot="0">
            <a:off x="10204704" y="4828032"/>
            <a:ext cx="7040880" cy="1316736"/>
            <a:chOff x="0" y="0"/>
            <a:chExt cx="9387840" cy="1755648"/>
          </a:xfrm>
        </p:grpSpPr>
        <p:sp>
          <p:nvSpPr>
            <p:cNvPr name="Freeform 56" id="56"/>
            <p:cNvSpPr/>
            <p:nvPr/>
          </p:nvSpPr>
          <p:spPr>
            <a:xfrm flipH="false" flipV="false" rot="0">
              <a:off x="0" y="0"/>
              <a:ext cx="9387840" cy="1755648"/>
            </a:xfrm>
            <a:custGeom>
              <a:avLst/>
              <a:gdLst/>
              <a:ahLst/>
              <a:cxnLst/>
              <a:rect r="r" b="b" t="t" l="l"/>
              <a:pathLst>
                <a:path h="1755648" w="9387840">
                  <a:moveTo>
                    <a:pt x="0" y="0"/>
                  </a:moveTo>
                  <a:lnTo>
                    <a:pt x="9387840" y="0"/>
                  </a:lnTo>
                  <a:lnTo>
                    <a:pt x="9387840" y="1755648"/>
                  </a:lnTo>
                  <a:lnTo>
                    <a:pt x="0" y="1755648"/>
                  </a:lnTo>
                  <a:close/>
                </a:path>
              </a:pathLst>
            </a:custGeom>
            <a:blipFill>
              <a:blip r:embed="rId3">
                <a:alphaModFix amt="0"/>
              </a:blip>
              <a:stretch>
                <a:fillRect l="0" t="-54190" r="0" b="-54190"/>
              </a:stretch>
            </a:blipFill>
          </p:spPr>
        </p:sp>
        <p:sp>
          <p:nvSpPr>
            <p:cNvPr name="TextBox 57" id="57"/>
            <p:cNvSpPr txBox="true"/>
            <p:nvPr/>
          </p:nvSpPr>
          <p:spPr>
            <a:xfrm>
              <a:off x="0" y="-47625"/>
              <a:ext cx="9387840" cy="1803273"/>
            </a:xfrm>
            <a:prstGeom prst="rect">
              <a:avLst/>
            </a:prstGeom>
          </p:spPr>
          <p:txBody>
            <a:bodyPr anchor="ctr" rtlCol="false" tIns="0" lIns="0" bIns="0" rIns="0"/>
            <a:lstStyle/>
            <a:p>
              <a:pPr algn="l">
                <a:lnSpc>
                  <a:spcPts val="2520"/>
                </a:lnSpc>
              </a:pPr>
              <a:r>
                <a:rPr lang="en-US" sz="2100">
                  <a:solidFill>
                    <a:srgbClr val="334155"/>
                  </a:solidFill>
                  <a:latin typeface="Calibri (MS)"/>
                  <a:ea typeface="Calibri (MS)"/>
                  <a:cs typeface="Calibri (MS)"/>
                  <a:sym typeface="Calibri (MS)"/>
                </a:rPr>
                <a:t>95% Prediction Interval means: in 100 days, the true value is inside the interval on ≥95 days</a:t>
              </a:r>
            </a:p>
          </p:txBody>
        </p:sp>
      </p:grpSp>
      <p:grpSp>
        <p:nvGrpSpPr>
          <p:cNvPr name="Group 58" id="58"/>
          <p:cNvGrpSpPr/>
          <p:nvPr/>
        </p:nvGrpSpPr>
        <p:grpSpPr>
          <a:xfrm rot="0">
            <a:off x="9692640" y="6473952"/>
            <a:ext cx="329184" cy="329184"/>
            <a:chOff x="0" y="0"/>
            <a:chExt cx="438912" cy="438912"/>
          </a:xfrm>
        </p:grpSpPr>
        <p:sp>
          <p:nvSpPr>
            <p:cNvPr name="Freeform 59" id="59"/>
            <p:cNvSpPr/>
            <p:nvPr/>
          </p:nvSpPr>
          <p:spPr>
            <a:xfrm flipH="false" flipV="false" rot="0">
              <a:off x="0" y="0"/>
              <a:ext cx="438912" cy="438912"/>
            </a:xfrm>
            <a:custGeom>
              <a:avLst/>
              <a:gdLst/>
              <a:ahLst/>
              <a:cxnLst/>
              <a:rect r="r" b="b" t="t" l="l"/>
              <a:pathLst>
                <a:path h="438912" w="438912">
                  <a:moveTo>
                    <a:pt x="0" y="219456"/>
                  </a:moveTo>
                  <a:cubicBezTo>
                    <a:pt x="0" y="98298"/>
                    <a:pt x="98298" y="0"/>
                    <a:pt x="219456" y="0"/>
                  </a:cubicBezTo>
                  <a:cubicBezTo>
                    <a:pt x="340614" y="0"/>
                    <a:pt x="438912" y="98298"/>
                    <a:pt x="438912" y="219456"/>
                  </a:cubicBezTo>
                  <a:cubicBezTo>
                    <a:pt x="438912" y="340614"/>
                    <a:pt x="340614" y="438912"/>
                    <a:pt x="219456" y="438912"/>
                  </a:cubicBezTo>
                  <a:cubicBezTo>
                    <a:pt x="98298" y="438912"/>
                    <a:pt x="0" y="340614"/>
                    <a:pt x="0" y="219456"/>
                  </a:cubicBezTo>
                  <a:close/>
                </a:path>
              </a:pathLst>
            </a:custGeom>
            <a:solidFill>
              <a:srgbClr val="059669"/>
            </a:solidFill>
          </p:spPr>
        </p:sp>
      </p:grpSp>
      <p:grpSp>
        <p:nvGrpSpPr>
          <p:cNvPr name="Group 60" id="60"/>
          <p:cNvGrpSpPr/>
          <p:nvPr/>
        </p:nvGrpSpPr>
        <p:grpSpPr>
          <a:xfrm rot="0">
            <a:off x="10204704" y="6327648"/>
            <a:ext cx="7040880" cy="1316736"/>
            <a:chOff x="0" y="0"/>
            <a:chExt cx="9387840" cy="1755648"/>
          </a:xfrm>
        </p:grpSpPr>
        <p:sp>
          <p:nvSpPr>
            <p:cNvPr name="Freeform 61" id="61"/>
            <p:cNvSpPr/>
            <p:nvPr/>
          </p:nvSpPr>
          <p:spPr>
            <a:xfrm flipH="false" flipV="false" rot="0">
              <a:off x="0" y="0"/>
              <a:ext cx="9387840" cy="1755648"/>
            </a:xfrm>
            <a:custGeom>
              <a:avLst/>
              <a:gdLst/>
              <a:ahLst/>
              <a:cxnLst/>
              <a:rect r="r" b="b" t="t" l="l"/>
              <a:pathLst>
                <a:path h="1755648" w="9387840">
                  <a:moveTo>
                    <a:pt x="0" y="0"/>
                  </a:moveTo>
                  <a:lnTo>
                    <a:pt x="9387840" y="0"/>
                  </a:lnTo>
                  <a:lnTo>
                    <a:pt x="9387840" y="1755648"/>
                  </a:lnTo>
                  <a:lnTo>
                    <a:pt x="0" y="1755648"/>
                  </a:lnTo>
                  <a:close/>
                </a:path>
              </a:pathLst>
            </a:custGeom>
            <a:blipFill>
              <a:blip r:embed="rId3">
                <a:alphaModFix amt="0"/>
              </a:blip>
              <a:stretch>
                <a:fillRect l="0" t="-54190" r="0" b="-54190"/>
              </a:stretch>
            </a:blipFill>
          </p:spPr>
        </p:sp>
        <p:sp>
          <p:nvSpPr>
            <p:cNvPr name="TextBox 62" id="62"/>
            <p:cNvSpPr txBox="true"/>
            <p:nvPr/>
          </p:nvSpPr>
          <p:spPr>
            <a:xfrm>
              <a:off x="0" y="-47625"/>
              <a:ext cx="9387840" cy="1803273"/>
            </a:xfrm>
            <a:prstGeom prst="rect">
              <a:avLst/>
            </a:prstGeom>
          </p:spPr>
          <p:txBody>
            <a:bodyPr anchor="ctr" rtlCol="false" tIns="0" lIns="0" bIns="0" rIns="0"/>
            <a:lstStyle/>
            <a:p>
              <a:pPr algn="l">
                <a:lnSpc>
                  <a:spcPts val="2520"/>
                </a:lnSpc>
              </a:pPr>
              <a:r>
                <a:rPr lang="en-US" sz="2100">
                  <a:solidFill>
                    <a:srgbClr val="334155"/>
                  </a:solidFill>
                  <a:latin typeface="Calibri (MS)"/>
                  <a:ea typeface="Calibri (MS)"/>
                  <a:cs typeface="Calibri (MS)"/>
                  <a:sym typeface="Calibri (MS)"/>
                </a:rPr>
                <a:t>Compare 9 deep learning architectures to find which produces the sharpest, best-calibrated intervals</a:t>
              </a:r>
            </a:p>
          </p:txBody>
        </p:sp>
      </p:grpSp>
      <p:grpSp>
        <p:nvGrpSpPr>
          <p:cNvPr name="Group 63" id="63"/>
          <p:cNvGrpSpPr/>
          <p:nvPr/>
        </p:nvGrpSpPr>
        <p:grpSpPr>
          <a:xfrm rot="0">
            <a:off x="9692640" y="7973568"/>
            <a:ext cx="329184" cy="329184"/>
            <a:chOff x="0" y="0"/>
            <a:chExt cx="438912" cy="438912"/>
          </a:xfrm>
        </p:grpSpPr>
        <p:sp>
          <p:nvSpPr>
            <p:cNvPr name="Freeform 64" id="64"/>
            <p:cNvSpPr/>
            <p:nvPr/>
          </p:nvSpPr>
          <p:spPr>
            <a:xfrm flipH="false" flipV="false" rot="0">
              <a:off x="0" y="0"/>
              <a:ext cx="438912" cy="438912"/>
            </a:xfrm>
            <a:custGeom>
              <a:avLst/>
              <a:gdLst/>
              <a:ahLst/>
              <a:cxnLst/>
              <a:rect r="r" b="b" t="t" l="l"/>
              <a:pathLst>
                <a:path h="438912" w="438912">
                  <a:moveTo>
                    <a:pt x="0" y="219456"/>
                  </a:moveTo>
                  <a:cubicBezTo>
                    <a:pt x="0" y="98298"/>
                    <a:pt x="98298" y="0"/>
                    <a:pt x="219456" y="0"/>
                  </a:cubicBezTo>
                  <a:cubicBezTo>
                    <a:pt x="340614" y="0"/>
                    <a:pt x="438912" y="98298"/>
                    <a:pt x="438912" y="219456"/>
                  </a:cubicBezTo>
                  <a:cubicBezTo>
                    <a:pt x="438912" y="340614"/>
                    <a:pt x="340614" y="438912"/>
                    <a:pt x="219456" y="438912"/>
                  </a:cubicBezTo>
                  <a:cubicBezTo>
                    <a:pt x="98298" y="438912"/>
                    <a:pt x="0" y="340614"/>
                    <a:pt x="0" y="219456"/>
                  </a:cubicBezTo>
                  <a:close/>
                </a:path>
              </a:pathLst>
            </a:custGeom>
            <a:solidFill>
              <a:srgbClr val="059669"/>
            </a:solidFill>
          </p:spPr>
        </p:sp>
      </p:grpSp>
      <p:grpSp>
        <p:nvGrpSpPr>
          <p:cNvPr name="Group 65" id="65"/>
          <p:cNvGrpSpPr/>
          <p:nvPr/>
        </p:nvGrpSpPr>
        <p:grpSpPr>
          <a:xfrm rot="0">
            <a:off x="10204704" y="7827264"/>
            <a:ext cx="7040880" cy="1316736"/>
            <a:chOff x="0" y="0"/>
            <a:chExt cx="9387840" cy="1755648"/>
          </a:xfrm>
        </p:grpSpPr>
        <p:sp>
          <p:nvSpPr>
            <p:cNvPr name="Freeform 66" id="66"/>
            <p:cNvSpPr/>
            <p:nvPr/>
          </p:nvSpPr>
          <p:spPr>
            <a:xfrm flipH="false" flipV="false" rot="0">
              <a:off x="0" y="0"/>
              <a:ext cx="9387840" cy="1755648"/>
            </a:xfrm>
            <a:custGeom>
              <a:avLst/>
              <a:gdLst/>
              <a:ahLst/>
              <a:cxnLst/>
              <a:rect r="r" b="b" t="t" l="l"/>
              <a:pathLst>
                <a:path h="1755648" w="9387840">
                  <a:moveTo>
                    <a:pt x="0" y="0"/>
                  </a:moveTo>
                  <a:lnTo>
                    <a:pt x="9387840" y="0"/>
                  </a:lnTo>
                  <a:lnTo>
                    <a:pt x="9387840" y="1755648"/>
                  </a:lnTo>
                  <a:lnTo>
                    <a:pt x="0" y="1755648"/>
                  </a:lnTo>
                  <a:close/>
                </a:path>
              </a:pathLst>
            </a:custGeom>
            <a:blipFill>
              <a:blip r:embed="rId3">
                <a:alphaModFix amt="0"/>
              </a:blip>
              <a:stretch>
                <a:fillRect l="0" t="-54190" r="0" b="-54190"/>
              </a:stretch>
            </a:blipFill>
          </p:spPr>
        </p:sp>
        <p:sp>
          <p:nvSpPr>
            <p:cNvPr name="TextBox 67" id="67"/>
            <p:cNvSpPr txBox="true"/>
            <p:nvPr/>
          </p:nvSpPr>
          <p:spPr>
            <a:xfrm>
              <a:off x="0" y="-47625"/>
              <a:ext cx="9387840" cy="1803273"/>
            </a:xfrm>
            <a:prstGeom prst="rect">
              <a:avLst/>
            </a:prstGeom>
          </p:spPr>
          <p:txBody>
            <a:bodyPr anchor="ctr" rtlCol="false" tIns="0" lIns="0" bIns="0" rIns="0"/>
            <a:lstStyle/>
            <a:p>
              <a:pPr algn="l">
                <a:lnSpc>
                  <a:spcPts val="2520"/>
                </a:lnSpc>
              </a:pPr>
              <a:r>
                <a:rPr lang="en-US" sz="2100">
                  <a:solidFill>
                    <a:srgbClr val="334155"/>
                  </a:solidFill>
                  <a:latin typeface="Calibri (MS)"/>
                  <a:ea typeface="Calibri (MS)"/>
                  <a:cs typeface="Calibri (MS)"/>
                  <a:sym typeface="Calibri (MS)"/>
                </a:rPr>
                <a:t>Translate model quality into operational monetary value using expected return calculations</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73152"/>
            <a:chOff x="0" y="0"/>
            <a:chExt cx="24384000" cy="97536"/>
          </a:xfrm>
        </p:grpSpPr>
        <p:sp>
          <p:nvSpPr>
            <p:cNvPr name="Freeform 3" id="3"/>
            <p:cNvSpPr/>
            <p:nvPr/>
          </p:nvSpPr>
          <p:spPr>
            <a:xfrm flipH="false" flipV="false" rot="0">
              <a:off x="0" y="0"/>
              <a:ext cx="24384000" cy="97536"/>
            </a:xfrm>
            <a:custGeom>
              <a:avLst/>
              <a:gdLst/>
              <a:ahLst/>
              <a:cxnLst/>
              <a:rect r="r" b="b" t="t" l="l"/>
              <a:pathLst>
                <a:path h="97536" w="24384000">
                  <a:moveTo>
                    <a:pt x="0" y="0"/>
                  </a:moveTo>
                  <a:lnTo>
                    <a:pt x="24384000" y="0"/>
                  </a:lnTo>
                  <a:lnTo>
                    <a:pt x="24384000" y="97536"/>
                  </a:lnTo>
                  <a:lnTo>
                    <a:pt x="0" y="97536"/>
                  </a:lnTo>
                  <a:close/>
                </a:path>
              </a:pathLst>
            </a:custGeom>
            <a:solidFill>
              <a:srgbClr val="3B82F6"/>
            </a:solidFill>
          </p:spPr>
        </p:sp>
      </p:grpSp>
      <p:grpSp>
        <p:nvGrpSpPr>
          <p:cNvPr name="Group 4" id="4"/>
          <p:cNvGrpSpPr/>
          <p:nvPr/>
        </p:nvGrpSpPr>
        <p:grpSpPr>
          <a:xfrm rot="0">
            <a:off x="1005840" y="585216"/>
            <a:ext cx="2926080" cy="512064"/>
            <a:chOff x="0" y="0"/>
            <a:chExt cx="3901440" cy="682752"/>
          </a:xfrm>
        </p:grpSpPr>
        <p:sp>
          <p:nvSpPr>
            <p:cNvPr name="Freeform 5" id="5"/>
            <p:cNvSpPr/>
            <p:nvPr/>
          </p:nvSpPr>
          <p:spPr>
            <a:xfrm flipH="false" flipV="false" rot="0">
              <a:off x="0" y="0"/>
              <a:ext cx="3901440" cy="682752"/>
            </a:xfrm>
            <a:custGeom>
              <a:avLst/>
              <a:gdLst/>
              <a:ahLst/>
              <a:cxnLst/>
              <a:rect r="r" b="b" t="t" l="l"/>
              <a:pathLst>
                <a:path h="682752" w="3901440">
                  <a:moveTo>
                    <a:pt x="0" y="341376"/>
                  </a:moveTo>
                  <a:cubicBezTo>
                    <a:pt x="0" y="152781"/>
                    <a:pt x="152781" y="0"/>
                    <a:pt x="341376" y="0"/>
                  </a:cubicBezTo>
                  <a:lnTo>
                    <a:pt x="3560064" y="0"/>
                  </a:lnTo>
                  <a:cubicBezTo>
                    <a:pt x="3748659" y="0"/>
                    <a:pt x="3901440" y="152781"/>
                    <a:pt x="3901440" y="341376"/>
                  </a:cubicBezTo>
                  <a:cubicBezTo>
                    <a:pt x="3901440" y="529971"/>
                    <a:pt x="3748659" y="682752"/>
                    <a:pt x="3560064" y="682752"/>
                  </a:cubicBezTo>
                  <a:lnTo>
                    <a:pt x="341376" y="682752"/>
                  </a:lnTo>
                  <a:cubicBezTo>
                    <a:pt x="152781" y="682752"/>
                    <a:pt x="0" y="529971"/>
                    <a:pt x="0" y="341376"/>
                  </a:cubicBezTo>
                  <a:close/>
                </a:path>
              </a:pathLst>
            </a:custGeom>
            <a:solidFill>
              <a:srgbClr val="3B82F6"/>
            </a:solidFill>
          </p:spPr>
        </p:sp>
      </p:grpSp>
      <p:grpSp>
        <p:nvGrpSpPr>
          <p:cNvPr name="Group 6" id="6"/>
          <p:cNvGrpSpPr/>
          <p:nvPr/>
        </p:nvGrpSpPr>
        <p:grpSpPr>
          <a:xfrm rot="0">
            <a:off x="1005840" y="585216"/>
            <a:ext cx="2926080" cy="512064"/>
            <a:chOff x="0" y="0"/>
            <a:chExt cx="3901440" cy="682752"/>
          </a:xfrm>
        </p:grpSpPr>
        <p:sp>
          <p:nvSpPr>
            <p:cNvPr name="Freeform 7" id="7"/>
            <p:cNvSpPr/>
            <p:nvPr/>
          </p:nvSpPr>
          <p:spPr>
            <a:xfrm flipH="false" flipV="false" rot="0">
              <a:off x="0" y="0"/>
              <a:ext cx="3901440" cy="682752"/>
            </a:xfrm>
            <a:custGeom>
              <a:avLst/>
              <a:gdLst/>
              <a:ahLst/>
              <a:cxnLst/>
              <a:rect r="r" b="b" t="t" l="l"/>
              <a:pathLst>
                <a:path h="682752" w="3901440">
                  <a:moveTo>
                    <a:pt x="0" y="0"/>
                  </a:moveTo>
                  <a:lnTo>
                    <a:pt x="3901440" y="0"/>
                  </a:lnTo>
                  <a:lnTo>
                    <a:pt x="3901440" y="682752"/>
                  </a:lnTo>
                  <a:lnTo>
                    <a:pt x="0" y="682752"/>
                  </a:lnTo>
                  <a:close/>
                </a:path>
              </a:pathLst>
            </a:custGeom>
            <a:blipFill>
              <a:blip r:embed="rId3">
                <a:alphaModFix amt="0"/>
              </a:blip>
              <a:stretch>
                <a:fillRect l="0" t="-61343" r="0" b="-61343"/>
              </a:stretch>
            </a:blipFill>
          </p:spPr>
        </p:sp>
        <p:sp>
          <p:nvSpPr>
            <p:cNvPr name="TextBox 8" id="8"/>
            <p:cNvSpPr txBox="true"/>
            <p:nvPr/>
          </p:nvSpPr>
          <p:spPr>
            <a:xfrm>
              <a:off x="0" y="-38100"/>
              <a:ext cx="3901440" cy="72085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MOTIVATION</a:t>
              </a:r>
            </a:p>
          </p:txBody>
        </p:sp>
      </p:grpSp>
      <p:grpSp>
        <p:nvGrpSpPr>
          <p:cNvPr name="Group 9" id="9"/>
          <p:cNvGrpSpPr/>
          <p:nvPr/>
        </p:nvGrpSpPr>
        <p:grpSpPr>
          <a:xfrm rot="0">
            <a:off x="1005840" y="1060704"/>
            <a:ext cx="16276320" cy="877824"/>
            <a:chOff x="0" y="0"/>
            <a:chExt cx="21701760" cy="1170432"/>
          </a:xfrm>
        </p:grpSpPr>
        <p:sp>
          <p:nvSpPr>
            <p:cNvPr name="Freeform 10" id="10"/>
            <p:cNvSpPr/>
            <p:nvPr/>
          </p:nvSpPr>
          <p:spPr>
            <a:xfrm flipH="false" flipV="false" rot="0">
              <a:off x="0" y="0"/>
              <a:ext cx="21701761" cy="1170432"/>
            </a:xfrm>
            <a:custGeom>
              <a:avLst/>
              <a:gdLst/>
              <a:ahLst/>
              <a:cxnLst/>
              <a:rect r="r" b="b" t="t" l="l"/>
              <a:pathLst>
                <a:path h="1170432" w="21701761">
                  <a:moveTo>
                    <a:pt x="0" y="0"/>
                  </a:moveTo>
                  <a:lnTo>
                    <a:pt x="21701761" y="0"/>
                  </a:lnTo>
                  <a:lnTo>
                    <a:pt x="21701761" y="1170432"/>
                  </a:lnTo>
                  <a:lnTo>
                    <a:pt x="0" y="1170432"/>
                  </a:lnTo>
                  <a:close/>
                </a:path>
              </a:pathLst>
            </a:custGeom>
            <a:blipFill>
              <a:blip r:embed="rId3">
                <a:alphaModFix amt="0"/>
              </a:blip>
              <a:stretch>
                <a:fillRect l="0" t="-311285" r="0" b="-311285"/>
              </a:stretch>
            </a:blipFill>
          </p:spPr>
        </p:sp>
        <p:sp>
          <p:nvSpPr>
            <p:cNvPr name="TextBox 11" id="11"/>
            <p:cNvSpPr txBox="true"/>
            <p:nvPr/>
          </p:nvSpPr>
          <p:spPr>
            <a:xfrm>
              <a:off x="0" y="-76200"/>
              <a:ext cx="21701760" cy="1246632"/>
            </a:xfrm>
            <a:prstGeom prst="rect">
              <a:avLst/>
            </a:prstGeom>
          </p:spPr>
          <p:txBody>
            <a:bodyPr anchor="ctr" rtlCol="false" tIns="0" lIns="0" bIns="0" rIns="0"/>
            <a:lstStyle/>
            <a:p>
              <a:pPr algn="l">
                <a:lnSpc>
                  <a:spcPts val="5280"/>
                </a:lnSpc>
              </a:pPr>
              <a:r>
                <a:rPr lang="en-US" sz="4400" b="true">
                  <a:solidFill>
                    <a:srgbClr val="1A2744"/>
                  </a:solidFill>
                  <a:latin typeface="Calibri (MS) Bold"/>
                  <a:ea typeface="Calibri (MS) Bold"/>
                  <a:cs typeface="Calibri (MS) Bold"/>
                  <a:sym typeface="Calibri (MS) Bold"/>
                </a:rPr>
                <a:t>The Flaw in Point Estimates</a:t>
              </a:r>
            </a:p>
          </p:txBody>
        </p:sp>
      </p:grpSp>
      <p:grpSp>
        <p:nvGrpSpPr>
          <p:cNvPr name="Group 12" id="12"/>
          <p:cNvGrpSpPr/>
          <p:nvPr/>
        </p:nvGrpSpPr>
        <p:grpSpPr>
          <a:xfrm rot="0">
            <a:off x="1005840" y="1938528"/>
            <a:ext cx="16276320" cy="457200"/>
            <a:chOff x="0" y="0"/>
            <a:chExt cx="21701760" cy="609600"/>
          </a:xfrm>
        </p:grpSpPr>
        <p:sp>
          <p:nvSpPr>
            <p:cNvPr name="Freeform 13" id="13"/>
            <p:cNvSpPr/>
            <p:nvPr/>
          </p:nvSpPr>
          <p:spPr>
            <a:xfrm flipH="false" flipV="false" rot="0">
              <a:off x="0" y="0"/>
              <a:ext cx="21701761" cy="609600"/>
            </a:xfrm>
            <a:custGeom>
              <a:avLst/>
              <a:gdLst/>
              <a:ahLst/>
              <a:cxnLst/>
              <a:rect r="r" b="b" t="t" l="l"/>
              <a:pathLst>
                <a:path h="609600" w="21701761">
                  <a:moveTo>
                    <a:pt x="0" y="0"/>
                  </a:moveTo>
                  <a:lnTo>
                    <a:pt x="21701761" y="0"/>
                  </a:lnTo>
                  <a:lnTo>
                    <a:pt x="21701761" y="609600"/>
                  </a:lnTo>
                  <a:lnTo>
                    <a:pt x="0" y="609600"/>
                  </a:lnTo>
                  <a:close/>
                </a:path>
              </a:pathLst>
            </a:custGeom>
            <a:blipFill>
              <a:blip r:embed="rId3">
                <a:alphaModFix amt="0"/>
              </a:blip>
              <a:stretch>
                <a:fillRect l="0" t="-643667" r="0" b="-643667"/>
              </a:stretch>
            </a:blipFill>
          </p:spPr>
        </p:sp>
        <p:sp>
          <p:nvSpPr>
            <p:cNvPr name="TextBox 14" id="14"/>
            <p:cNvSpPr txBox="true"/>
            <p:nvPr/>
          </p:nvSpPr>
          <p:spPr>
            <a:xfrm>
              <a:off x="0" y="-47625"/>
              <a:ext cx="21701760" cy="657225"/>
            </a:xfrm>
            <a:prstGeom prst="rect">
              <a:avLst/>
            </a:prstGeom>
          </p:spPr>
          <p:txBody>
            <a:bodyPr anchor="ctr" rtlCol="false" tIns="0" lIns="0" bIns="0" rIns="0"/>
            <a:lstStyle/>
            <a:p>
              <a:pPr algn="l">
                <a:lnSpc>
                  <a:spcPts val="2640"/>
                </a:lnSpc>
              </a:pPr>
              <a:r>
                <a:rPr lang="en-US" sz="2200" i="true">
                  <a:solidFill>
                    <a:srgbClr val="64748B"/>
                  </a:solidFill>
                  <a:latin typeface="Calibri (MS) Italics"/>
                  <a:ea typeface="Calibri (MS) Italics"/>
                  <a:cs typeface="Calibri (MS) Italics"/>
                  <a:sym typeface="Calibri (MS) Italics"/>
                </a:rPr>
                <a:t>A single number forecast hides the risk that decision-makers need to see</a:t>
              </a:r>
            </a:p>
          </p:txBody>
        </p:sp>
      </p:grpSp>
      <p:grpSp>
        <p:nvGrpSpPr>
          <p:cNvPr name="Group 15" id="15"/>
          <p:cNvGrpSpPr/>
          <p:nvPr/>
        </p:nvGrpSpPr>
        <p:grpSpPr>
          <a:xfrm rot="0">
            <a:off x="17190720" y="9646920"/>
            <a:ext cx="731520" cy="457200"/>
            <a:chOff x="0" y="0"/>
            <a:chExt cx="975360" cy="609600"/>
          </a:xfrm>
        </p:grpSpPr>
        <p:sp>
          <p:nvSpPr>
            <p:cNvPr name="Freeform 16" id="16"/>
            <p:cNvSpPr/>
            <p:nvPr/>
          </p:nvSpPr>
          <p:spPr>
            <a:xfrm flipH="false" flipV="false" rot="0">
              <a:off x="0" y="0"/>
              <a:ext cx="975360" cy="609600"/>
            </a:xfrm>
            <a:custGeom>
              <a:avLst/>
              <a:gdLst/>
              <a:ahLst/>
              <a:cxnLst/>
              <a:rect r="r" b="b" t="t" l="l"/>
              <a:pathLst>
                <a:path h="609600" w="975360">
                  <a:moveTo>
                    <a:pt x="0" y="0"/>
                  </a:moveTo>
                  <a:lnTo>
                    <a:pt x="975360" y="0"/>
                  </a:lnTo>
                  <a:lnTo>
                    <a:pt x="975360" y="609600"/>
                  </a:lnTo>
                  <a:lnTo>
                    <a:pt x="0" y="609600"/>
                  </a:lnTo>
                  <a:close/>
                </a:path>
              </a:pathLst>
            </a:custGeom>
            <a:blipFill>
              <a:blip r:embed="rId3">
                <a:alphaModFix amt="0"/>
              </a:blip>
              <a:stretch>
                <a:fillRect l="-30189" t="0" r="-30189" b="0"/>
              </a:stretch>
            </a:blipFill>
          </p:spPr>
        </p:sp>
        <p:sp>
          <p:nvSpPr>
            <p:cNvPr name="TextBox 17" id="17"/>
            <p:cNvSpPr txBox="true"/>
            <p:nvPr/>
          </p:nvSpPr>
          <p:spPr>
            <a:xfrm>
              <a:off x="0" y="-38100"/>
              <a:ext cx="975360" cy="647700"/>
            </a:xfrm>
            <a:prstGeom prst="rect">
              <a:avLst/>
            </a:prstGeom>
          </p:spPr>
          <p:txBody>
            <a:bodyPr anchor="ctr" rtlCol="false" tIns="0" lIns="0" bIns="0" rIns="0"/>
            <a:lstStyle/>
            <a:p>
              <a:pPr algn="r">
                <a:lnSpc>
                  <a:spcPts val="2160"/>
                </a:lnSpc>
              </a:pPr>
              <a:r>
                <a:rPr lang="en-US" sz="1800">
                  <a:solidFill>
                    <a:srgbClr val="64748B"/>
                  </a:solidFill>
                  <a:latin typeface="Calibri (MS)"/>
                  <a:ea typeface="Calibri (MS)"/>
                  <a:cs typeface="Calibri (MS)"/>
                  <a:sym typeface="Calibri (MS)"/>
                </a:rPr>
                <a:t>3</a:t>
              </a:r>
            </a:p>
          </p:txBody>
        </p:sp>
      </p:grpSp>
      <p:grpSp>
        <p:nvGrpSpPr>
          <p:cNvPr name="Group 18" id="18"/>
          <p:cNvGrpSpPr/>
          <p:nvPr/>
        </p:nvGrpSpPr>
        <p:grpSpPr>
          <a:xfrm rot="0">
            <a:off x="995677" y="2550157"/>
            <a:ext cx="5232397" cy="4592317"/>
            <a:chOff x="0" y="0"/>
            <a:chExt cx="6976529" cy="6123089"/>
          </a:xfrm>
        </p:grpSpPr>
        <p:sp>
          <p:nvSpPr>
            <p:cNvPr name="Freeform 19" id="19"/>
            <p:cNvSpPr/>
            <p:nvPr/>
          </p:nvSpPr>
          <p:spPr>
            <a:xfrm flipH="false" flipV="false" rot="0">
              <a:off x="13589" y="13589"/>
              <a:ext cx="6949313" cy="6096000"/>
            </a:xfrm>
            <a:custGeom>
              <a:avLst/>
              <a:gdLst/>
              <a:ahLst/>
              <a:cxnLst/>
              <a:rect r="r" b="b" t="t" l="l"/>
              <a:pathLst>
                <a:path h="6096000" w="6949313">
                  <a:moveTo>
                    <a:pt x="0" y="292608"/>
                  </a:moveTo>
                  <a:cubicBezTo>
                    <a:pt x="0" y="131064"/>
                    <a:pt x="131064" y="0"/>
                    <a:pt x="292735" y="0"/>
                  </a:cubicBezTo>
                  <a:lnTo>
                    <a:pt x="6656578" y="0"/>
                  </a:lnTo>
                  <a:cubicBezTo>
                    <a:pt x="6818249" y="0"/>
                    <a:pt x="6949313" y="131064"/>
                    <a:pt x="6949313" y="292608"/>
                  </a:cubicBezTo>
                  <a:lnTo>
                    <a:pt x="6949313" y="5803392"/>
                  </a:lnTo>
                  <a:cubicBezTo>
                    <a:pt x="6949313" y="5964936"/>
                    <a:pt x="6818249" y="6096000"/>
                    <a:pt x="6656578" y="6096000"/>
                  </a:cubicBezTo>
                  <a:lnTo>
                    <a:pt x="292735" y="6096000"/>
                  </a:lnTo>
                  <a:cubicBezTo>
                    <a:pt x="131064" y="6096000"/>
                    <a:pt x="0" y="5964936"/>
                    <a:pt x="0" y="5803392"/>
                  </a:cubicBezTo>
                  <a:close/>
                </a:path>
              </a:pathLst>
            </a:custGeom>
            <a:solidFill>
              <a:srgbClr val="EFF6FF"/>
            </a:solidFill>
          </p:spPr>
        </p:sp>
        <p:sp>
          <p:nvSpPr>
            <p:cNvPr name="Freeform 20" id="20"/>
            <p:cNvSpPr/>
            <p:nvPr/>
          </p:nvSpPr>
          <p:spPr>
            <a:xfrm flipH="false" flipV="false" rot="0">
              <a:off x="0" y="0"/>
              <a:ext cx="6976491" cy="6123178"/>
            </a:xfrm>
            <a:custGeom>
              <a:avLst/>
              <a:gdLst/>
              <a:ahLst/>
              <a:cxnLst/>
              <a:rect r="r" b="b" t="t" l="l"/>
              <a:pathLst>
                <a:path h="6123178" w="6976491">
                  <a:moveTo>
                    <a:pt x="0" y="306197"/>
                  </a:moveTo>
                  <a:cubicBezTo>
                    <a:pt x="0" y="137033"/>
                    <a:pt x="137160" y="0"/>
                    <a:pt x="306324" y="0"/>
                  </a:cubicBezTo>
                  <a:lnTo>
                    <a:pt x="6670167" y="0"/>
                  </a:lnTo>
                  <a:lnTo>
                    <a:pt x="6670167" y="13589"/>
                  </a:lnTo>
                  <a:lnTo>
                    <a:pt x="6670167" y="0"/>
                  </a:lnTo>
                  <a:cubicBezTo>
                    <a:pt x="6839331" y="0"/>
                    <a:pt x="6976491" y="137033"/>
                    <a:pt x="6976491" y="306197"/>
                  </a:cubicBezTo>
                  <a:lnTo>
                    <a:pt x="6962902" y="306197"/>
                  </a:lnTo>
                  <a:lnTo>
                    <a:pt x="6976491" y="306197"/>
                  </a:lnTo>
                  <a:lnTo>
                    <a:pt x="6976491" y="5816981"/>
                  </a:lnTo>
                  <a:lnTo>
                    <a:pt x="6962902" y="5816981"/>
                  </a:lnTo>
                  <a:lnTo>
                    <a:pt x="6976491" y="5816981"/>
                  </a:lnTo>
                  <a:cubicBezTo>
                    <a:pt x="6976491" y="5986018"/>
                    <a:pt x="6839331" y="6123178"/>
                    <a:pt x="6670167" y="6123178"/>
                  </a:cubicBezTo>
                  <a:lnTo>
                    <a:pt x="6670167" y="6109589"/>
                  </a:lnTo>
                  <a:lnTo>
                    <a:pt x="6670167" y="6123178"/>
                  </a:lnTo>
                  <a:lnTo>
                    <a:pt x="306324" y="6123178"/>
                  </a:lnTo>
                  <a:lnTo>
                    <a:pt x="306324" y="6109589"/>
                  </a:lnTo>
                  <a:lnTo>
                    <a:pt x="306324" y="6123178"/>
                  </a:lnTo>
                  <a:cubicBezTo>
                    <a:pt x="137160" y="6123051"/>
                    <a:pt x="0" y="5986018"/>
                    <a:pt x="0" y="5816981"/>
                  </a:cubicBezTo>
                  <a:lnTo>
                    <a:pt x="0" y="306197"/>
                  </a:lnTo>
                  <a:lnTo>
                    <a:pt x="13589" y="306197"/>
                  </a:lnTo>
                  <a:lnTo>
                    <a:pt x="0" y="306197"/>
                  </a:lnTo>
                  <a:moveTo>
                    <a:pt x="27051" y="306197"/>
                  </a:moveTo>
                  <a:lnTo>
                    <a:pt x="27051" y="5816981"/>
                  </a:lnTo>
                  <a:lnTo>
                    <a:pt x="13589" y="5816981"/>
                  </a:lnTo>
                  <a:lnTo>
                    <a:pt x="27051" y="5816981"/>
                  </a:lnTo>
                  <a:cubicBezTo>
                    <a:pt x="27051" y="5971032"/>
                    <a:pt x="152019" y="6096000"/>
                    <a:pt x="306324" y="6096000"/>
                  </a:cubicBezTo>
                  <a:lnTo>
                    <a:pt x="6670167" y="6096000"/>
                  </a:lnTo>
                  <a:cubicBezTo>
                    <a:pt x="6824345" y="6096000"/>
                    <a:pt x="6949440" y="5971032"/>
                    <a:pt x="6949440" y="5816981"/>
                  </a:cubicBezTo>
                  <a:lnTo>
                    <a:pt x="6949440" y="306197"/>
                  </a:lnTo>
                  <a:cubicBezTo>
                    <a:pt x="6949440" y="152146"/>
                    <a:pt x="6824473" y="27178"/>
                    <a:pt x="6670167" y="27178"/>
                  </a:cubicBezTo>
                  <a:lnTo>
                    <a:pt x="306324" y="27178"/>
                  </a:lnTo>
                  <a:lnTo>
                    <a:pt x="306324" y="13589"/>
                  </a:lnTo>
                  <a:lnTo>
                    <a:pt x="306324" y="27051"/>
                  </a:lnTo>
                  <a:cubicBezTo>
                    <a:pt x="152146" y="27051"/>
                    <a:pt x="27051" y="152019"/>
                    <a:pt x="27051" y="306070"/>
                  </a:cubicBezTo>
                  <a:close/>
                </a:path>
              </a:pathLst>
            </a:custGeom>
            <a:solidFill>
              <a:srgbClr val="1A2744"/>
            </a:solidFill>
          </p:spPr>
        </p:sp>
      </p:grpSp>
      <p:grpSp>
        <p:nvGrpSpPr>
          <p:cNvPr name="Group 21" id="21"/>
          <p:cNvGrpSpPr/>
          <p:nvPr/>
        </p:nvGrpSpPr>
        <p:grpSpPr>
          <a:xfrm rot="0">
            <a:off x="1225296" y="2706624"/>
            <a:ext cx="4754880" cy="548640"/>
            <a:chOff x="0" y="0"/>
            <a:chExt cx="6339840" cy="731520"/>
          </a:xfrm>
        </p:grpSpPr>
        <p:sp>
          <p:nvSpPr>
            <p:cNvPr name="Freeform 22" id="22"/>
            <p:cNvSpPr/>
            <p:nvPr/>
          </p:nvSpPr>
          <p:spPr>
            <a:xfrm flipH="false" flipV="false" rot="0">
              <a:off x="0" y="0"/>
              <a:ext cx="6339840" cy="731520"/>
            </a:xfrm>
            <a:custGeom>
              <a:avLst/>
              <a:gdLst/>
              <a:ahLst/>
              <a:cxnLst/>
              <a:rect r="r" b="b" t="t" l="l"/>
              <a:pathLst>
                <a:path h="731520" w="6339840">
                  <a:moveTo>
                    <a:pt x="0" y="0"/>
                  </a:moveTo>
                  <a:lnTo>
                    <a:pt x="6339840" y="0"/>
                  </a:lnTo>
                  <a:lnTo>
                    <a:pt x="6339840" y="731520"/>
                  </a:lnTo>
                  <a:lnTo>
                    <a:pt x="0" y="731520"/>
                  </a:lnTo>
                  <a:close/>
                </a:path>
              </a:pathLst>
            </a:custGeom>
            <a:blipFill>
              <a:blip r:embed="rId3">
                <a:alphaModFix amt="0"/>
              </a:blip>
              <a:stretch>
                <a:fillRect l="0" t="-118870" r="0" b="-118870"/>
              </a:stretch>
            </a:blipFill>
          </p:spPr>
        </p:sp>
        <p:sp>
          <p:nvSpPr>
            <p:cNvPr name="TextBox 23" id="23"/>
            <p:cNvSpPr txBox="true"/>
            <p:nvPr/>
          </p:nvSpPr>
          <p:spPr>
            <a:xfrm>
              <a:off x="0" y="-47625"/>
              <a:ext cx="6339840" cy="779145"/>
            </a:xfrm>
            <a:prstGeom prst="rect">
              <a:avLst/>
            </a:prstGeom>
          </p:spPr>
          <p:txBody>
            <a:bodyPr anchor="ctr" rtlCol="false" tIns="0" lIns="0" bIns="0" rIns="0"/>
            <a:lstStyle/>
            <a:p>
              <a:pPr algn="l">
                <a:lnSpc>
                  <a:spcPts val="2520"/>
                </a:lnSpc>
              </a:pPr>
              <a:r>
                <a:rPr lang="en-US" sz="2100" b="true">
                  <a:solidFill>
                    <a:srgbClr val="64748B"/>
                  </a:solidFill>
                  <a:latin typeface="Calibri (MS) Bold"/>
                  <a:ea typeface="Calibri (MS) Bold"/>
                  <a:cs typeface="Calibri (MS) Bold"/>
                  <a:sym typeface="Calibri (MS) Bold"/>
                </a:rPr>
                <a:t>Point Forecast Says:</a:t>
              </a:r>
            </a:p>
          </p:txBody>
        </p:sp>
      </p:grpSp>
      <p:grpSp>
        <p:nvGrpSpPr>
          <p:cNvPr name="Group 24" id="24"/>
          <p:cNvGrpSpPr/>
          <p:nvPr/>
        </p:nvGrpSpPr>
        <p:grpSpPr>
          <a:xfrm rot="0">
            <a:off x="1225296" y="3328416"/>
            <a:ext cx="4754880" cy="768096"/>
            <a:chOff x="0" y="0"/>
            <a:chExt cx="6339840" cy="1024128"/>
          </a:xfrm>
        </p:grpSpPr>
        <p:sp>
          <p:nvSpPr>
            <p:cNvPr name="Freeform 25" id="25"/>
            <p:cNvSpPr/>
            <p:nvPr/>
          </p:nvSpPr>
          <p:spPr>
            <a:xfrm flipH="false" flipV="false" rot="0">
              <a:off x="0" y="0"/>
              <a:ext cx="6339840" cy="1024128"/>
            </a:xfrm>
            <a:custGeom>
              <a:avLst/>
              <a:gdLst/>
              <a:ahLst/>
              <a:cxnLst/>
              <a:rect r="r" b="b" t="t" l="l"/>
              <a:pathLst>
                <a:path h="1024128" w="6339840">
                  <a:moveTo>
                    <a:pt x="0" y="0"/>
                  </a:moveTo>
                  <a:lnTo>
                    <a:pt x="6339840" y="0"/>
                  </a:lnTo>
                  <a:lnTo>
                    <a:pt x="6339840" y="1024128"/>
                  </a:lnTo>
                  <a:lnTo>
                    <a:pt x="0" y="1024128"/>
                  </a:lnTo>
                  <a:close/>
                </a:path>
              </a:pathLst>
            </a:custGeom>
            <a:blipFill>
              <a:blip r:embed="rId3">
                <a:alphaModFix amt="0"/>
              </a:blip>
              <a:stretch>
                <a:fillRect l="0" t="-70621" r="0" b="-70621"/>
              </a:stretch>
            </a:blipFill>
          </p:spPr>
        </p:sp>
        <p:sp>
          <p:nvSpPr>
            <p:cNvPr name="TextBox 26" id="26"/>
            <p:cNvSpPr txBox="true"/>
            <p:nvPr/>
          </p:nvSpPr>
          <p:spPr>
            <a:xfrm>
              <a:off x="0" y="-76200"/>
              <a:ext cx="6339840" cy="1100328"/>
            </a:xfrm>
            <a:prstGeom prst="rect">
              <a:avLst/>
            </a:prstGeom>
          </p:spPr>
          <p:txBody>
            <a:bodyPr anchor="ctr" rtlCol="false" tIns="0" lIns="0" bIns="0" rIns="0"/>
            <a:lstStyle/>
            <a:p>
              <a:pPr algn="ctr">
                <a:lnSpc>
                  <a:spcPts val="4800"/>
                </a:lnSpc>
              </a:pPr>
              <a:r>
                <a:rPr lang="en-US" sz="4000" b="true">
                  <a:solidFill>
                    <a:srgbClr val="1A2744"/>
                  </a:solidFill>
                  <a:latin typeface="Calibri (MS) Bold"/>
                  <a:ea typeface="Calibri (MS) Bold"/>
                  <a:cs typeface="Calibri (MS) Bold"/>
                  <a:sym typeface="Calibri (MS) Bold"/>
                </a:rPr>
                <a:t>SLA = +0.02 m</a:t>
              </a:r>
            </a:p>
          </p:txBody>
        </p:sp>
      </p:grpSp>
      <p:grpSp>
        <p:nvGrpSpPr>
          <p:cNvPr name="Group 27" id="27"/>
          <p:cNvGrpSpPr/>
          <p:nvPr/>
        </p:nvGrpSpPr>
        <p:grpSpPr>
          <a:xfrm rot="0">
            <a:off x="1225296" y="4297680"/>
            <a:ext cx="4754880" cy="2377440"/>
            <a:chOff x="0" y="0"/>
            <a:chExt cx="6339840" cy="3169920"/>
          </a:xfrm>
        </p:grpSpPr>
        <p:sp>
          <p:nvSpPr>
            <p:cNvPr name="Freeform 28" id="28"/>
            <p:cNvSpPr/>
            <p:nvPr/>
          </p:nvSpPr>
          <p:spPr>
            <a:xfrm flipH="false" flipV="false" rot="0">
              <a:off x="0" y="0"/>
              <a:ext cx="6339840" cy="3169920"/>
            </a:xfrm>
            <a:custGeom>
              <a:avLst/>
              <a:gdLst/>
              <a:ahLst/>
              <a:cxnLst/>
              <a:rect r="r" b="b" t="t" l="l"/>
              <a:pathLst>
                <a:path h="3169920" w="6339840">
                  <a:moveTo>
                    <a:pt x="0" y="0"/>
                  </a:moveTo>
                  <a:lnTo>
                    <a:pt x="6339840" y="0"/>
                  </a:lnTo>
                  <a:lnTo>
                    <a:pt x="6339840" y="3169920"/>
                  </a:lnTo>
                  <a:lnTo>
                    <a:pt x="0" y="3169920"/>
                  </a:lnTo>
                  <a:close/>
                </a:path>
              </a:pathLst>
            </a:custGeom>
            <a:blipFill>
              <a:blip r:embed="rId3">
                <a:alphaModFix amt="0"/>
              </a:blip>
              <a:stretch>
                <a:fillRect l="-14151" t="0" r="-14151" b="0"/>
              </a:stretch>
            </a:blipFill>
          </p:spPr>
        </p:sp>
        <p:sp>
          <p:nvSpPr>
            <p:cNvPr name="TextBox 29" id="29"/>
            <p:cNvSpPr txBox="true"/>
            <p:nvPr/>
          </p:nvSpPr>
          <p:spPr>
            <a:xfrm>
              <a:off x="0" y="-47625"/>
              <a:ext cx="6339840" cy="3217545"/>
            </a:xfrm>
            <a:prstGeom prst="rect">
              <a:avLst/>
            </a:prstGeom>
          </p:spPr>
          <p:txBody>
            <a:bodyPr anchor="ctr" rtlCol="false" tIns="0" lIns="0" bIns="0" rIns="0"/>
            <a:lstStyle/>
            <a:p>
              <a:pPr algn="l">
                <a:lnSpc>
                  <a:spcPts val="2520"/>
                </a:lnSpc>
              </a:pPr>
              <a:r>
                <a:rPr lang="en-US" sz="2100">
                  <a:solidFill>
                    <a:srgbClr val="334155"/>
                  </a:solidFill>
                  <a:latin typeface="Calibri (MS)"/>
                  <a:ea typeface="Calibri (MS)"/>
                  <a:cs typeface="Calibri (MS)"/>
                  <a:sym typeface="Calibri (MS)"/>
                </a:rPr>
                <a:t>Port operator grants entry to a deep-draft vessel based on this single estimate</a:t>
              </a:r>
            </a:p>
          </p:txBody>
        </p:sp>
      </p:grpSp>
      <p:grpSp>
        <p:nvGrpSpPr>
          <p:cNvPr name="Group 30" id="30"/>
          <p:cNvGrpSpPr/>
          <p:nvPr/>
        </p:nvGrpSpPr>
        <p:grpSpPr>
          <a:xfrm rot="0">
            <a:off x="6664957" y="2550157"/>
            <a:ext cx="5232397" cy="4592317"/>
            <a:chOff x="0" y="0"/>
            <a:chExt cx="6976529" cy="6123089"/>
          </a:xfrm>
        </p:grpSpPr>
        <p:sp>
          <p:nvSpPr>
            <p:cNvPr name="Freeform 31" id="31"/>
            <p:cNvSpPr/>
            <p:nvPr/>
          </p:nvSpPr>
          <p:spPr>
            <a:xfrm flipH="false" flipV="false" rot="0">
              <a:off x="13589" y="13589"/>
              <a:ext cx="6949313" cy="6096000"/>
            </a:xfrm>
            <a:custGeom>
              <a:avLst/>
              <a:gdLst/>
              <a:ahLst/>
              <a:cxnLst/>
              <a:rect r="r" b="b" t="t" l="l"/>
              <a:pathLst>
                <a:path h="6096000" w="6949313">
                  <a:moveTo>
                    <a:pt x="0" y="292608"/>
                  </a:moveTo>
                  <a:cubicBezTo>
                    <a:pt x="0" y="131064"/>
                    <a:pt x="131064" y="0"/>
                    <a:pt x="292735" y="0"/>
                  </a:cubicBezTo>
                  <a:lnTo>
                    <a:pt x="6656578" y="0"/>
                  </a:lnTo>
                  <a:cubicBezTo>
                    <a:pt x="6818249" y="0"/>
                    <a:pt x="6949313" y="131064"/>
                    <a:pt x="6949313" y="292608"/>
                  </a:cubicBezTo>
                  <a:lnTo>
                    <a:pt x="6949313" y="5803392"/>
                  </a:lnTo>
                  <a:cubicBezTo>
                    <a:pt x="6949313" y="5964936"/>
                    <a:pt x="6818249" y="6096000"/>
                    <a:pt x="6656578" y="6096000"/>
                  </a:cubicBezTo>
                  <a:lnTo>
                    <a:pt x="292735" y="6096000"/>
                  </a:lnTo>
                  <a:cubicBezTo>
                    <a:pt x="131064" y="6096000"/>
                    <a:pt x="0" y="5964936"/>
                    <a:pt x="0" y="5803392"/>
                  </a:cubicBezTo>
                  <a:close/>
                </a:path>
              </a:pathLst>
            </a:custGeom>
            <a:solidFill>
              <a:srgbClr val="EFF6FF"/>
            </a:solidFill>
          </p:spPr>
        </p:sp>
        <p:sp>
          <p:nvSpPr>
            <p:cNvPr name="Freeform 32" id="32"/>
            <p:cNvSpPr/>
            <p:nvPr/>
          </p:nvSpPr>
          <p:spPr>
            <a:xfrm flipH="false" flipV="false" rot="0">
              <a:off x="0" y="0"/>
              <a:ext cx="6976491" cy="6123178"/>
            </a:xfrm>
            <a:custGeom>
              <a:avLst/>
              <a:gdLst/>
              <a:ahLst/>
              <a:cxnLst/>
              <a:rect r="r" b="b" t="t" l="l"/>
              <a:pathLst>
                <a:path h="6123178" w="6976491">
                  <a:moveTo>
                    <a:pt x="0" y="306197"/>
                  </a:moveTo>
                  <a:cubicBezTo>
                    <a:pt x="0" y="137033"/>
                    <a:pt x="137160" y="0"/>
                    <a:pt x="306324" y="0"/>
                  </a:cubicBezTo>
                  <a:lnTo>
                    <a:pt x="6670167" y="0"/>
                  </a:lnTo>
                  <a:lnTo>
                    <a:pt x="6670167" y="13589"/>
                  </a:lnTo>
                  <a:lnTo>
                    <a:pt x="6670167" y="0"/>
                  </a:lnTo>
                  <a:cubicBezTo>
                    <a:pt x="6839331" y="0"/>
                    <a:pt x="6976491" y="137033"/>
                    <a:pt x="6976491" y="306197"/>
                  </a:cubicBezTo>
                  <a:lnTo>
                    <a:pt x="6962902" y="306197"/>
                  </a:lnTo>
                  <a:lnTo>
                    <a:pt x="6976491" y="306197"/>
                  </a:lnTo>
                  <a:lnTo>
                    <a:pt x="6976491" y="5816981"/>
                  </a:lnTo>
                  <a:lnTo>
                    <a:pt x="6962902" y="5816981"/>
                  </a:lnTo>
                  <a:lnTo>
                    <a:pt x="6976491" y="5816981"/>
                  </a:lnTo>
                  <a:cubicBezTo>
                    <a:pt x="6976491" y="5986018"/>
                    <a:pt x="6839331" y="6123178"/>
                    <a:pt x="6670167" y="6123178"/>
                  </a:cubicBezTo>
                  <a:lnTo>
                    <a:pt x="6670167" y="6109589"/>
                  </a:lnTo>
                  <a:lnTo>
                    <a:pt x="6670167" y="6123178"/>
                  </a:lnTo>
                  <a:lnTo>
                    <a:pt x="306324" y="6123178"/>
                  </a:lnTo>
                  <a:lnTo>
                    <a:pt x="306324" y="6109589"/>
                  </a:lnTo>
                  <a:lnTo>
                    <a:pt x="306324" y="6123178"/>
                  </a:lnTo>
                  <a:cubicBezTo>
                    <a:pt x="137160" y="6123051"/>
                    <a:pt x="0" y="5986018"/>
                    <a:pt x="0" y="5816981"/>
                  </a:cubicBezTo>
                  <a:lnTo>
                    <a:pt x="0" y="306197"/>
                  </a:lnTo>
                  <a:lnTo>
                    <a:pt x="13589" y="306197"/>
                  </a:lnTo>
                  <a:lnTo>
                    <a:pt x="0" y="306197"/>
                  </a:lnTo>
                  <a:moveTo>
                    <a:pt x="27051" y="306197"/>
                  </a:moveTo>
                  <a:lnTo>
                    <a:pt x="27051" y="5816981"/>
                  </a:lnTo>
                  <a:lnTo>
                    <a:pt x="13589" y="5816981"/>
                  </a:lnTo>
                  <a:lnTo>
                    <a:pt x="27051" y="5816981"/>
                  </a:lnTo>
                  <a:cubicBezTo>
                    <a:pt x="27051" y="5971032"/>
                    <a:pt x="152019" y="6096000"/>
                    <a:pt x="306324" y="6096000"/>
                  </a:cubicBezTo>
                  <a:lnTo>
                    <a:pt x="6670167" y="6096000"/>
                  </a:lnTo>
                  <a:cubicBezTo>
                    <a:pt x="6824345" y="6096000"/>
                    <a:pt x="6949440" y="5971032"/>
                    <a:pt x="6949440" y="5816981"/>
                  </a:cubicBezTo>
                  <a:lnTo>
                    <a:pt x="6949440" y="306197"/>
                  </a:lnTo>
                  <a:cubicBezTo>
                    <a:pt x="6949440" y="152146"/>
                    <a:pt x="6824473" y="27178"/>
                    <a:pt x="6670167" y="27178"/>
                  </a:cubicBezTo>
                  <a:lnTo>
                    <a:pt x="306324" y="27178"/>
                  </a:lnTo>
                  <a:lnTo>
                    <a:pt x="306324" y="13589"/>
                  </a:lnTo>
                  <a:lnTo>
                    <a:pt x="306324" y="27051"/>
                  </a:lnTo>
                  <a:cubicBezTo>
                    <a:pt x="152146" y="27051"/>
                    <a:pt x="27051" y="152019"/>
                    <a:pt x="27051" y="306070"/>
                  </a:cubicBezTo>
                  <a:close/>
                </a:path>
              </a:pathLst>
            </a:custGeom>
            <a:solidFill>
              <a:srgbClr val="059669"/>
            </a:solidFill>
          </p:spPr>
        </p:sp>
      </p:grpSp>
      <p:grpSp>
        <p:nvGrpSpPr>
          <p:cNvPr name="Group 33" id="33"/>
          <p:cNvGrpSpPr/>
          <p:nvPr/>
        </p:nvGrpSpPr>
        <p:grpSpPr>
          <a:xfrm rot="0">
            <a:off x="6894576" y="2706624"/>
            <a:ext cx="4754880" cy="548640"/>
            <a:chOff x="0" y="0"/>
            <a:chExt cx="6339840" cy="731520"/>
          </a:xfrm>
        </p:grpSpPr>
        <p:sp>
          <p:nvSpPr>
            <p:cNvPr name="Freeform 34" id="34"/>
            <p:cNvSpPr/>
            <p:nvPr/>
          </p:nvSpPr>
          <p:spPr>
            <a:xfrm flipH="false" flipV="false" rot="0">
              <a:off x="0" y="0"/>
              <a:ext cx="6339840" cy="731520"/>
            </a:xfrm>
            <a:custGeom>
              <a:avLst/>
              <a:gdLst/>
              <a:ahLst/>
              <a:cxnLst/>
              <a:rect r="r" b="b" t="t" l="l"/>
              <a:pathLst>
                <a:path h="731520" w="6339840">
                  <a:moveTo>
                    <a:pt x="0" y="0"/>
                  </a:moveTo>
                  <a:lnTo>
                    <a:pt x="6339840" y="0"/>
                  </a:lnTo>
                  <a:lnTo>
                    <a:pt x="6339840" y="731520"/>
                  </a:lnTo>
                  <a:lnTo>
                    <a:pt x="0" y="731520"/>
                  </a:lnTo>
                  <a:close/>
                </a:path>
              </a:pathLst>
            </a:custGeom>
            <a:blipFill>
              <a:blip r:embed="rId3">
                <a:alphaModFix amt="0"/>
              </a:blip>
              <a:stretch>
                <a:fillRect l="0" t="-118870" r="0" b="-118870"/>
              </a:stretch>
            </a:blipFill>
          </p:spPr>
        </p:sp>
        <p:sp>
          <p:nvSpPr>
            <p:cNvPr name="TextBox 35" id="35"/>
            <p:cNvSpPr txBox="true"/>
            <p:nvPr/>
          </p:nvSpPr>
          <p:spPr>
            <a:xfrm>
              <a:off x="0" y="-47625"/>
              <a:ext cx="6339840" cy="779145"/>
            </a:xfrm>
            <a:prstGeom prst="rect">
              <a:avLst/>
            </a:prstGeom>
          </p:spPr>
          <p:txBody>
            <a:bodyPr anchor="ctr" rtlCol="false" tIns="0" lIns="0" bIns="0" rIns="0"/>
            <a:lstStyle/>
            <a:p>
              <a:pPr algn="l">
                <a:lnSpc>
                  <a:spcPts val="2520"/>
                </a:lnSpc>
              </a:pPr>
              <a:r>
                <a:rPr lang="en-US" sz="2100" b="true">
                  <a:solidFill>
                    <a:srgbClr val="64748B"/>
                  </a:solidFill>
                  <a:latin typeface="Calibri (MS) Bold"/>
                  <a:ea typeface="Calibri (MS) Bold"/>
                  <a:cs typeface="Calibri (MS) Bold"/>
                  <a:sym typeface="Calibri (MS) Bold"/>
                </a:rPr>
                <a:t>Reality — Scenario A:</a:t>
              </a:r>
            </a:p>
          </p:txBody>
        </p:sp>
      </p:grpSp>
      <p:grpSp>
        <p:nvGrpSpPr>
          <p:cNvPr name="Group 36" id="36"/>
          <p:cNvGrpSpPr/>
          <p:nvPr/>
        </p:nvGrpSpPr>
        <p:grpSpPr>
          <a:xfrm rot="0">
            <a:off x="6894576" y="3328416"/>
            <a:ext cx="4754880" cy="768096"/>
            <a:chOff x="0" y="0"/>
            <a:chExt cx="6339840" cy="1024128"/>
          </a:xfrm>
        </p:grpSpPr>
        <p:sp>
          <p:nvSpPr>
            <p:cNvPr name="Freeform 37" id="37"/>
            <p:cNvSpPr/>
            <p:nvPr/>
          </p:nvSpPr>
          <p:spPr>
            <a:xfrm flipH="false" flipV="false" rot="0">
              <a:off x="0" y="0"/>
              <a:ext cx="6339840" cy="1024128"/>
            </a:xfrm>
            <a:custGeom>
              <a:avLst/>
              <a:gdLst/>
              <a:ahLst/>
              <a:cxnLst/>
              <a:rect r="r" b="b" t="t" l="l"/>
              <a:pathLst>
                <a:path h="1024128" w="6339840">
                  <a:moveTo>
                    <a:pt x="0" y="0"/>
                  </a:moveTo>
                  <a:lnTo>
                    <a:pt x="6339840" y="0"/>
                  </a:lnTo>
                  <a:lnTo>
                    <a:pt x="6339840" y="1024128"/>
                  </a:lnTo>
                  <a:lnTo>
                    <a:pt x="0" y="1024128"/>
                  </a:lnTo>
                  <a:close/>
                </a:path>
              </a:pathLst>
            </a:custGeom>
            <a:blipFill>
              <a:blip r:embed="rId3">
                <a:alphaModFix amt="0"/>
              </a:blip>
              <a:stretch>
                <a:fillRect l="0" t="-70621" r="0" b="-70621"/>
              </a:stretch>
            </a:blipFill>
          </p:spPr>
        </p:sp>
        <p:sp>
          <p:nvSpPr>
            <p:cNvPr name="TextBox 38" id="38"/>
            <p:cNvSpPr txBox="true"/>
            <p:nvPr/>
          </p:nvSpPr>
          <p:spPr>
            <a:xfrm>
              <a:off x="0" y="-76200"/>
              <a:ext cx="6339840" cy="1100328"/>
            </a:xfrm>
            <a:prstGeom prst="rect">
              <a:avLst/>
            </a:prstGeom>
          </p:spPr>
          <p:txBody>
            <a:bodyPr anchor="ctr" rtlCol="false" tIns="0" lIns="0" bIns="0" rIns="0"/>
            <a:lstStyle/>
            <a:p>
              <a:pPr algn="ctr">
                <a:lnSpc>
                  <a:spcPts val="4800"/>
                </a:lnSpc>
              </a:pPr>
              <a:r>
                <a:rPr lang="en-US" sz="4000" b="true">
                  <a:solidFill>
                    <a:srgbClr val="059669"/>
                  </a:solidFill>
                  <a:latin typeface="Calibri (MS) Bold"/>
                  <a:ea typeface="Calibri (MS) Bold"/>
                  <a:cs typeface="Calibri (MS) Bold"/>
                  <a:sym typeface="Calibri (MS) Bold"/>
                </a:rPr>
                <a:t>SLA = +0.025 m</a:t>
              </a:r>
            </a:p>
          </p:txBody>
        </p:sp>
      </p:grpSp>
      <p:grpSp>
        <p:nvGrpSpPr>
          <p:cNvPr name="Group 39" id="39"/>
          <p:cNvGrpSpPr/>
          <p:nvPr/>
        </p:nvGrpSpPr>
        <p:grpSpPr>
          <a:xfrm rot="0">
            <a:off x="6894576" y="4297680"/>
            <a:ext cx="4754880" cy="2377440"/>
            <a:chOff x="0" y="0"/>
            <a:chExt cx="6339840" cy="3169920"/>
          </a:xfrm>
        </p:grpSpPr>
        <p:sp>
          <p:nvSpPr>
            <p:cNvPr name="Freeform 40" id="40"/>
            <p:cNvSpPr/>
            <p:nvPr/>
          </p:nvSpPr>
          <p:spPr>
            <a:xfrm flipH="false" flipV="false" rot="0">
              <a:off x="0" y="0"/>
              <a:ext cx="6339840" cy="3169920"/>
            </a:xfrm>
            <a:custGeom>
              <a:avLst/>
              <a:gdLst/>
              <a:ahLst/>
              <a:cxnLst/>
              <a:rect r="r" b="b" t="t" l="l"/>
              <a:pathLst>
                <a:path h="3169920" w="6339840">
                  <a:moveTo>
                    <a:pt x="0" y="0"/>
                  </a:moveTo>
                  <a:lnTo>
                    <a:pt x="6339840" y="0"/>
                  </a:lnTo>
                  <a:lnTo>
                    <a:pt x="6339840" y="3169920"/>
                  </a:lnTo>
                  <a:lnTo>
                    <a:pt x="0" y="3169920"/>
                  </a:lnTo>
                  <a:close/>
                </a:path>
              </a:pathLst>
            </a:custGeom>
            <a:blipFill>
              <a:blip r:embed="rId3">
                <a:alphaModFix amt="0"/>
              </a:blip>
              <a:stretch>
                <a:fillRect l="-14151" t="0" r="-14151" b="0"/>
              </a:stretch>
            </a:blipFill>
          </p:spPr>
        </p:sp>
        <p:sp>
          <p:nvSpPr>
            <p:cNvPr name="TextBox 41" id="41"/>
            <p:cNvSpPr txBox="true"/>
            <p:nvPr/>
          </p:nvSpPr>
          <p:spPr>
            <a:xfrm>
              <a:off x="0" y="-47625"/>
              <a:ext cx="6339840" cy="3217545"/>
            </a:xfrm>
            <a:prstGeom prst="rect">
              <a:avLst/>
            </a:prstGeom>
          </p:spPr>
          <p:txBody>
            <a:bodyPr anchor="ctr" rtlCol="false" tIns="0" lIns="0" bIns="0" rIns="0"/>
            <a:lstStyle/>
            <a:p>
              <a:pPr algn="l">
                <a:lnSpc>
                  <a:spcPts val="2520"/>
                </a:lnSpc>
              </a:pPr>
              <a:r>
                <a:rPr lang="en-US" sz="2100">
                  <a:solidFill>
                    <a:srgbClr val="334155"/>
                  </a:solidFill>
                  <a:latin typeface="Calibri (MS)"/>
                  <a:ea typeface="Calibri (MS)"/>
                  <a:cs typeface="Calibri (MS)"/>
                  <a:sym typeface="Calibri (MS)"/>
                </a:rPr>
                <a:t>Actual SLA is close to forecast. Vessel enters safely. No problem.</a:t>
              </a:r>
            </a:p>
          </p:txBody>
        </p:sp>
      </p:grpSp>
      <p:grpSp>
        <p:nvGrpSpPr>
          <p:cNvPr name="Group 42" id="42"/>
          <p:cNvGrpSpPr/>
          <p:nvPr/>
        </p:nvGrpSpPr>
        <p:grpSpPr>
          <a:xfrm rot="0">
            <a:off x="12334237" y="2550157"/>
            <a:ext cx="5232397" cy="4592317"/>
            <a:chOff x="0" y="0"/>
            <a:chExt cx="6976529" cy="6123089"/>
          </a:xfrm>
        </p:grpSpPr>
        <p:sp>
          <p:nvSpPr>
            <p:cNvPr name="Freeform 43" id="43"/>
            <p:cNvSpPr/>
            <p:nvPr/>
          </p:nvSpPr>
          <p:spPr>
            <a:xfrm flipH="false" flipV="false" rot="0">
              <a:off x="13589" y="13589"/>
              <a:ext cx="6949313" cy="6096000"/>
            </a:xfrm>
            <a:custGeom>
              <a:avLst/>
              <a:gdLst/>
              <a:ahLst/>
              <a:cxnLst/>
              <a:rect r="r" b="b" t="t" l="l"/>
              <a:pathLst>
                <a:path h="6096000" w="6949313">
                  <a:moveTo>
                    <a:pt x="0" y="292608"/>
                  </a:moveTo>
                  <a:cubicBezTo>
                    <a:pt x="0" y="131064"/>
                    <a:pt x="131064" y="0"/>
                    <a:pt x="292735" y="0"/>
                  </a:cubicBezTo>
                  <a:lnTo>
                    <a:pt x="6656578" y="0"/>
                  </a:lnTo>
                  <a:cubicBezTo>
                    <a:pt x="6818249" y="0"/>
                    <a:pt x="6949313" y="131064"/>
                    <a:pt x="6949313" y="292608"/>
                  </a:cubicBezTo>
                  <a:lnTo>
                    <a:pt x="6949313" y="5803392"/>
                  </a:lnTo>
                  <a:cubicBezTo>
                    <a:pt x="6949313" y="5964936"/>
                    <a:pt x="6818249" y="6096000"/>
                    <a:pt x="6656578" y="6096000"/>
                  </a:cubicBezTo>
                  <a:lnTo>
                    <a:pt x="292735" y="6096000"/>
                  </a:lnTo>
                  <a:cubicBezTo>
                    <a:pt x="131064" y="6096000"/>
                    <a:pt x="0" y="5964936"/>
                    <a:pt x="0" y="5803392"/>
                  </a:cubicBezTo>
                  <a:close/>
                </a:path>
              </a:pathLst>
            </a:custGeom>
            <a:solidFill>
              <a:srgbClr val="EFF6FF"/>
            </a:solidFill>
          </p:spPr>
        </p:sp>
        <p:sp>
          <p:nvSpPr>
            <p:cNvPr name="Freeform 44" id="44"/>
            <p:cNvSpPr/>
            <p:nvPr/>
          </p:nvSpPr>
          <p:spPr>
            <a:xfrm flipH="false" flipV="false" rot="0">
              <a:off x="0" y="0"/>
              <a:ext cx="6976491" cy="6123178"/>
            </a:xfrm>
            <a:custGeom>
              <a:avLst/>
              <a:gdLst/>
              <a:ahLst/>
              <a:cxnLst/>
              <a:rect r="r" b="b" t="t" l="l"/>
              <a:pathLst>
                <a:path h="6123178" w="6976491">
                  <a:moveTo>
                    <a:pt x="0" y="306197"/>
                  </a:moveTo>
                  <a:cubicBezTo>
                    <a:pt x="0" y="137033"/>
                    <a:pt x="137160" y="0"/>
                    <a:pt x="306324" y="0"/>
                  </a:cubicBezTo>
                  <a:lnTo>
                    <a:pt x="6670167" y="0"/>
                  </a:lnTo>
                  <a:lnTo>
                    <a:pt x="6670167" y="13589"/>
                  </a:lnTo>
                  <a:lnTo>
                    <a:pt x="6670167" y="0"/>
                  </a:lnTo>
                  <a:cubicBezTo>
                    <a:pt x="6839331" y="0"/>
                    <a:pt x="6976491" y="137033"/>
                    <a:pt x="6976491" y="306197"/>
                  </a:cubicBezTo>
                  <a:lnTo>
                    <a:pt x="6962902" y="306197"/>
                  </a:lnTo>
                  <a:lnTo>
                    <a:pt x="6976491" y="306197"/>
                  </a:lnTo>
                  <a:lnTo>
                    <a:pt x="6976491" y="5816981"/>
                  </a:lnTo>
                  <a:lnTo>
                    <a:pt x="6962902" y="5816981"/>
                  </a:lnTo>
                  <a:lnTo>
                    <a:pt x="6976491" y="5816981"/>
                  </a:lnTo>
                  <a:cubicBezTo>
                    <a:pt x="6976491" y="5986018"/>
                    <a:pt x="6839331" y="6123178"/>
                    <a:pt x="6670167" y="6123178"/>
                  </a:cubicBezTo>
                  <a:lnTo>
                    <a:pt x="6670167" y="6109589"/>
                  </a:lnTo>
                  <a:lnTo>
                    <a:pt x="6670167" y="6123178"/>
                  </a:lnTo>
                  <a:lnTo>
                    <a:pt x="306324" y="6123178"/>
                  </a:lnTo>
                  <a:lnTo>
                    <a:pt x="306324" y="6109589"/>
                  </a:lnTo>
                  <a:lnTo>
                    <a:pt x="306324" y="6123178"/>
                  </a:lnTo>
                  <a:cubicBezTo>
                    <a:pt x="137160" y="6123051"/>
                    <a:pt x="0" y="5986018"/>
                    <a:pt x="0" y="5816981"/>
                  </a:cubicBezTo>
                  <a:lnTo>
                    <a:pt x="0" y="306197"/>
                  </a:lnTo>
                  <a:lnTo>
                    <a:pt x="13589" y="306197"/>
                  </a:lnTo>
                  <a:lnTo>
                    <a:pt x="0" y="306197"/>
                  </a:lnTo>
                  <a:moveTo>
                    <a:pt x="27051" y="306197"/>
                  </a:moveTo>
                  <a:lnTo>
                    <a:pt x="27051" y="5816981"/>
                  </a:lnTo>
                  <a:lnTo>
                    <a:pt x="13589" y="5816981"/>
                  </a:lnTo>
                  <a:lnTo>
                    <a:pt x="27051" y="5816981"/>
                  </a:lnTo>
                  <a:cubicBezTo>
                    <a:pt x="27051" y="5971032"/>
                    <a:pt x="152019" y="6096000"/>
                    <a:pt x="306324" y="6096000"/>
                  </a:cubicBezTo>
                  <a:lnTo>
                    <a:pt x="6670167" y="6096000"/>
                  </a:lnTo>
                  <a:cubicBezTo>
                    <a:pt x="6824345" y="6096000"/>
                    <a:pt x="6949440" y="5971032"/>
                    <a:pt x="6949440" y="5816981"/>
                  </a:cubicBezTo>
                  <a:lnTo>
                    <a:pt x="6949440" y="306197"/>
                  </a:lnTo>
                  <a:cubicBezTo>
                    <a:pt x="6949440" y="152146"/>
                    <a:pt x="6824473" y="27178"/>
                    <a:pt x="6670167" y="27178"/>
                  </a:cubicBezTo>
                  <a:lnTo>
                    <a:pt x="306324" y="27178"/>
                  </a:lnTo>
                  <a:lnTo>
                    <a:pt x="306324" y="13589"/>
                  </a:lnTo>
                  <a:lnTo>
                    <a:pt x="306324" y="27051"/>
                  </a:lnTo>
                  <a:cubicBezTo>
                    <a:pt x="152146" y="27051"/>
                    <a:pt x="27051" y="152019"/>
                    <a:pt x="27051" y="306070"/>
                  </a:cubicBezTo>
                  <a:close/>
                </a:path>
              </a:pathLst>
            </a:custGeom>
            <a:solidFill>
              <a:srgbClr val="DC2626"/>
            </a:solidFill>
          </p:spPr>
        </p:sp>
      </p:grpSp>
      <p:grpSp>
        <p:nvGrpSpPr>
          <p:cNvPr name="Group 45" id="45"/>
          <p:cNvGrpSpPr/>
          <p:nvPr/>
        </p:nvGrpSpPr>
        <p:grpSpPr>
          <a:xfrm rot="0">
            <a:off x="12563856" y="2706624"/>
            <a:ext cx="4754880" cy="548640"/>
            <a:chOff x="0" y="0"/>
            <a:chExt cx="6339840" cy="731520"/>
          </a:xfrm>
        </p:grpSpPr>
        <p:sp>
          <p:nvSpPr>
            <p:cNvPr name="Freeform 46" id="46"/>
            <p:cNvSpPr/>
            <p:nvPr/>
          </p:nvSpPr>
          <p:spPr>
            <a:xfrm flipH="false" flipV="false" rot="0">
              <a:off x="0" y="0"/>
              <a:ext cx="6339840" cy="731520"/>
            </a:xfrm>
            <a:custGeom>
              <a:avLst/>
              <a:gdLst/>
              <a:ahLst/>
              <a:cxnLst/>
              <a:rect r="r" b="b" t="t" l="l"/>
              <a:pathLst>
                <a:path h="731520" w="6339840">
                  <a:moveTo>
                    <a:pt x="0" y="0"/>
                  </a:moveTo>
                  <a:lnTo>
                    <a:pt x="6339840" y="0"/>
                  </a:lnTo>
                  <a:lnTo>
                    <a:pt x="6339840" y="731520"/>
                  </a:lnTo>
                  <a:lnTo>
                    <a:pt x="0" y="731520"/>
                  </a:lnTo>
                  <a:close/>
                </a:path>
              </a:pathLst>
            </a:custGeom>
            <a:blipFill>
              <a:blip r:embed="rId3">
                <a:alphaModFix amt="0"/>
              </a:blip>
              <a:stretch>
                <a:fillRect l="0" t="-118870" r="0" b="-118870"/>
              </a:stretch>
            </a:blipFill>
          </p:spPr>
        </p:sp>
        <p:sp>
          <p:nvSpPr>
            <p:cNvPr name="TextBox 47" id="47"/>
            <p:cNvSpPr txBox="true"/>
            <p:nvPr/>
          </p:nvSpPr>
          <p:spPr>
            <a:xfrm>
              <a:off x="0" y="-47625"/>
              <a:ext cx="6339840" cy="779145"/>
            </a:xfrm>
            <a:prstGeom prst="rect">
              <a:avLst/>
            </a:prstGeom>
          </p:spPr>
          <p:txBody>
            <a:bodyPr anchor="ctr" rtlCol="false" tIns="0" lIns="0" bIns="0" rIns="0"/>
            <a:lstStyle/>
            <a:p>
              <a:pPr algn="l">
                <a:lnSpc>
                  <a:spcPts val="2520"/>
                </a:lnSpc>
              </a:pPr>
              <a:r>
                <a:rPr lang="en-US" sz="2100" b="true">
                  <a:solidFill>
                    <a:srgbClr val="64748B"/>
                  </a:solidFill>
                  <a:latin typeface="Calibri (MS) Bold"/>
                  <a:ea typeface="Calibri (MS) Bold"/>
                  <a:cs typeface="Calibri (MS) Bold"/>
                  <a:sym typeface="Calibri (MS) Bold"/>
                </a:rPr>
                <a:t>Reality — Scenario B:</a:t>
              </a:r>
            </a:p>
          </p:txBody>
        </p:sp>
      </p:grpSp>
      <p:grpSp>
        <p:nvGrpSpPr>
          <p:cNvPr name="Group 48" id="48"/>
          <p:cNvGrpSpPr/>
          <p:nvPr/>
        </p:nvGrpSpPr>
        <p:grpSpPr>
          <a:xfrm rot="0">
            <a:off x="12563856" y="3328416"/>
            <a:ext cx="4754880" cy="768096"/>
            <a:chOff x="0" y="0"/>
            <a:chExt cx="6339840" cy="1024128"/>
          </a:xfrm>
        </p:grpSpPr>
        <p:sp>
          <p:nvSpPr>
            <p:cNvPr name="Freeform 49" id="49"/>
            <p:cNvSpPr/>
            <p:nvPr/>
          </p:nvSpPr>
          <p:spPr>
            <a:xfrm flipH="false" flipV="false" rot="0">
              <a:off x="0" y="0"/>
              <a:ext cx="6339840" cy="1024128"/>
            </a:xfrm>
            <a:custGeom>
              <a:avLst/>
              <a:gdLst/>
              <a:ahLst/>
              <a:cxnLst/>
              <a:rect r="r" b="b" t="t" l="l"/>
              <a:pathLst>
                <a:path h="1024128" w="6339840">
                  <a:moveTo>
                    <a:pt x="0" y="0"/>
                  </a:moveTo>
                  <a:lnTo>
                    <a:pt x="6339840" y="0"/>
                  </a:lnTo>
                  <a:lnTo>
                    <a:pt x="6339840" y="1024128"/>
                  </a:lnTo>
                  <a:lnTo>
                    <a:pt x="0" y="1024128"/>
                  </a:lnTo>
                  <a:close/>
                </a:path>
              </a:pathLst>
            </a:custGeom>
            <a:blipFill>
              <a:blip r:embed="rId3">
                <a:alphaModFix amt="0"/>
              </a:blip>
              <a:stretch>
                <a:fillRect l="0" t="-70621" r="0" b="-70621"/>
              </a:stretch>
            </a:blipFill>
          </p:spPr>
        </p:sp>
        <p:sp>
          <p:nvSpPr>
            <p:cNvPr name="TextBox 50" id="50"/>
            <p:cNvSpPr txBox="true"/>
            <p:nvPr/>
          </p:nvSpPr>
          <p:spPr>
            <a:xfrm>
              <a:off x="0" y="-76200"/>
              <a:ext cx="6339840" cy="1100328"/>
            </a:xfrm>
            <a:prstGeom prst="rect">
              <a:avLst/>
            </a:prstGeom>
          </p:spPr>
          <p:txBody>
            <a:bodyPr anchor="ctr" rtlCol="false" tIns="0" lIns="0" bIns="0" rIns="0"/>
            <a:lstStyle/>
            <a:p>
              <a:pPr algn="ctr">
                <a:lnSpc>
                  <a:spcPts val="4800"/>
                </a:lnSpc>
              </a:pPr>
              <a:r>
                <a:rPr lang="en-US" sz="4000" b="true">
                  <a:solidFill>
                    <a:srgbClr val="DC2626"/>
                  </a:solidFill>
                  <a:latin typeface="Calibri (MS) Bold"/>
                  <a:ea typeface="Calibri (MS) Bold"/>
                  <a:cs typeface="Calibri (MS) Bold"/>
                  <a:sym typeface="Calibri (MS) Bold"/>
                </a:rPr>
                <a:t>SLA = −0.03 m</a:t>
              </a:r>
            </a:p>
          </p:txBody>
        </p:sp>
      </p:grpSp>
      <p:grpSp>
        <p:nvGrpSpPr>
          <p:cNvPr name="Group 51" id="51"/>
          <p:cNvGrpSpPr/>
          <p:nvPr/>
        </p:nvGrpSpPr>
        <p:grpSpPr>
          <a:xfrm rot="0">
            <a:off x="12563856" y="4297680"/>
            <a:ext cx="4754880" cy="2377440"/>
            <a:chOff x="0" y="0"/>
            <a:chExt cx="6339840" cy="3169920"/>
          </a:xfrm>
        </p:grpSpPr>
        <p:sp>
          <p:nvSpPr>
            <p:cNvPr name="Freeform 52" id="52"/>
            <p:cNvSpPr/>
            <p:nvPr/>
          </p:nvSpPr>
          <p:spPr>
            <a:xfrm flipH="false" flipV="false" rot="0">
              <a:off x="0" y="0"/>
              <a:ext cx="6339840" cy="3169920"/>
            </a:xfrm>
            <a:custGeom>
              <a:avLst/>
              <a:gdLst/>
              <a:ahLst/>
              <a:cxnLst/>
              <a:rect r="r" b="b" t="t" l="l"/>
              <a:pathLst>
                <a:path h="3169920" w="6339840">
                  <a:moveTo>
                    <a:pt x="0" y="0"/>
                  </a:moveTo>
                  <a:lnTo>
                    <a:pt x="6339840" y="0"/>
                  </a:lnTo>
                  <a:lnTo>
                    <a:pt x="6339840" y="3169920"/>
                  </a:lnTo>
                  <a:lnTo>
                    <a:pt x="0" y="3169920"/>
                  </a:lnTo>
                  <a:close/>
                </a:path>
              </a:pathLst>
            </a:custGeom>
            <a:blipFill>
              <a:blip r:embed="rId3">
                <a:alphaModFix amt="0"/>
              </a:blip>
              <a:stretch>
                <a:fillRect l="-14151" t="0" r="-14151" b="0"/>
              </a:stretch>
            </a:blipFill>
          </p:spPr>
        </p:sp>
        <p:sp>
          <p:nvSpPr>
            <p:cNvPr name="TextBox 53" id="53"/>
            <p:cNvSpPr txBox="true"/>
            <p:nvPr/>
          </p:nvSpPr>
          <p:spPr>
            <a:xfrm>
              <a:off x="0" y="-47625"/>
              <a:ext cx="6339840" cy="3217545"/>
            </a:xfrm>
            <a:prstGeom prst="rect">
              <a:avLst/>
            </a:prstGeom>
          </p:spPr>
          <p:txBody>
            <a:bodyPr anchor="ctr" rtlCol="false" tIns="0" lIns="0" bIns="0" rIns="0"/>
            <a:lstStyle/>
            <a:p>
              <a:pPr algn="l">
                <a:lnSpc>
                  <a:spcPts val="2520"/>
                </a:lnSpc>
              </a:pPr>
              <a:r>
                <a:rPr lang="en-US" sz="2100">
                  <a:solidFill>
                    <a:srgbClr val="334155"/>
                  </a:solidFill>
                  <a:latin typeface="Calibri (MS)"/>
                  <a:ea typeface="Calibri (MS)"/>
                  <a:cs typeface="Calibri (MS)"/>
                  <a:sym typeface="Calibri (MS)"/>
                </a:rPr>
                <a:t>Actual SLA drops below safe draft clearance. Grounding risk. Salvage cost: ₹3.5 Crore</a:t>
              </a:r>
            </a:p>
          </p:txBody>
        </p:sp>
      </p:grpSp>
      <p:grpSp>
        <p:nvGrpSpPr>
          <p:cNvPr name="Group 54" id="54"/>
          <p:cNvGrpSpPr/>
          <p:nvPr/>
        </p:nvGrpSpPr>
        <p:grpSpPr>
          <a:xfrm rot="0">
            <a:off x="1005840" y="7589520"/>
            <a:ext cx="16276320" cy="2011680"/>
            <a:chOff x="0" y="0"/>
            <a:chExt cx="21701760" cy="2682240"/>
          </a:xfrm>
        </p:grpSpPr>
        <p:sp>
          <p:nvSpPr>
            <p:cNvPr name="Freeform 55" id="55"/>
            <p:cNvSpPr/>
            <p:nvPr/>
          </p:nvSpPr>
          <p:spPr>
            <a:xfrm flipH="false" flipV="false" rot="0">
              <a:off x="0" y="0"/>
              <a:ext cx="21701761" cy="2682240"/>
            </a:xfrm>
            <a:custGeom>
              <a:avLst/>
              <a:gdLst/>
              <a:ahLst/>
              <a:cxnLst/>
              <a:rect r="r" b="b" t="t" l="l"/>
              <a:pathLst>
                <a:path h="2682240" w="21701761">
                  <a:moveTo>
                    <a:pt x="0" y="292608"/>
                  </a:moveTo>
                  <a:cubicBezTo>
                    <a:pt x="0" y="131064"/>
                    <a:pt x="131064" y="0"/>
                    <a:pt x="292608" y="0"/>
                  </a:cubicBezTo>
                  <a:lnTo>
                    <a:pt x="21409152" y="0"/>
                  </a:lnTo>
                  <a:cubicBezTo>
                    <a:pt x="21570696" y="0"/>
                    <a:pt x="21701761" y="131064"/>
                    <a:pt x="21701761" y="292608"/>
                  </a:cubicBezTo>
                  <a:lnTo>
                    <a:pt x="21701761" y="2389632"/>
                  </a:lnTo>
                  <a:cubicBezTo>
                    <a:pt x="21701761" y="2551176"/>
                    <a:pt x="21570696" y="2682240"/>
                    <a:pt x="21409152" y="2682240"/>
                  </a:cubicBezTo>
                  <a:lnTo>
                    <a:pt x="292608" y="2682240"/>
                  </a:lnTo>
                  <a:cubicBezTo>
                    <a:pt x="131064" y="2682240"/>
                    <a:pt x="0" y="2551176"/>
                    <a:pt x="0" y="2389632"/>
                  </a:cubicBezTo>
                  <a:close/>
                </a:path>
              </a:pathLst>
            </a:custGeom>
            <a:solidFill>
              <a:srgbClr val="DBEAFE"/>
            </a:solidFill>
          </p:spPr>
        </p:sp>
      </p:grpSp>
      <p:grpSp>
        <p:nvGrpSpPr>
          <p:cNvPr name="Group 56" id="56"/>
          <p:cNvGrpSpPr/>
          <p:nvPr/>
        </p:nvGrpSpPr>
        <p:grpSpPr>
          <a:xfrm rot="0">
            <a:off x="1280160" y="7717536"/>
            <a:ext cx="15727680" cy="1737360"/>
            <a:chOff x="0" y="0"/>
            <a:chExt cx="20970240" cy="2316480"/>
          </a:xfrm>
        </p:grpSpPr>
        <p:sp>
          <p:nvSpPr>
            <p:cNvPr name="Freeform 57" id="57"/>
            <p:cNvSpPr/>
            <p:nvPr/>
          </p:nvSpPr>
          <p:spPr>
            <a:xfrm flipH="false" flipV="false" rot="0">
              <a:off x="0" y="0"/>
              <a:ext cx="20970239" cy="2316480"/>
            </a:xfrm>
            <a:custGeom>
              <a:avLst/>
              <a:gdLst/>
              <a:ahLst/>
              <a:cxnLst/>
              <a:rect r="r" b="b" t="t" l="l"/>
              <a:pathLst>
                <a:path h="2316480" w="20970239">
                  <a:moveTo>
                    <a:pt x="0" y="0"/>
                  </a:moveTo>
                  <a:lnTo>
                    <a:pt x="20970239" y="0"/>
                  </a:lnTo>
                  <a:lnTo>
                    <a:pt x="20970239" y="2316480"/>
                  </a:lnTo>
                  <a:lnTo>
                    <a:pt x="0" y="2316480"/>
                  </a:lnTo>
                  <a:close/>
                </a:path>
              </a:pathLst>
            </a:custGeom>
            <a:blipFill>
              <a:blip r:embed="rId3">
                <a:alphaModFix amt="0"/>
              </a:blip>
              <a:stretch>
                <a:fillRect l="0" t="-126390" r="0" b="-126390"/>
              </a:stretch>
            </a:blipFill>
          </p:spPr>
        </p:sp>
        <p:sp>
          <p:nvSpPr>
            <p:cNvPr name="TextBox 58" id="58"/>
            <p:cNvSpPr txBox="true"/>
            <p:nvPr/>
          </p:nvSpPr>
          <p:spPr>
            <a:xfrm>
              <a:off x="0" y="-38100"/>
              <a:ext cx="20970240" cy="2354580"/>
            </a:xfrm>
            <a:prstGeom prst="rect">
              <a:avLst/>
            </a:prstGeom>
          </p:spPr>
          <p:txBody>
            <a:bodyPr anchor="ctr" rtlCol="false" tIns="0" lIns="0" bIns="0" rIns="0"/>
            <a:lstStyle/>
            <a:p>
              <a:pPr algn="l">
                <a:lnSpc>
                  <a:spcPts val="2879"/>
                </a:lnSpc>
              </a:pPr>
              <a:r>
                <a:rPr lang="en-US" sz="2400" b="true">
                  <a:solidFill>
                    <a:srgbClr val="1A2744"/>
                  </a:solidFill>
                  <a:latin typeface="Calibri (MS) Bold"/>
                  <a:ea typeface="Calibri (MS) Bold"/>
                  <a:cs typeface="Calibri (MS) Bold"/>
                  <a:sym typeface="Calibri (MS) Bold"/>
                </a:rPr>
                <a:t>The point estimate cannot distinguish Scenario A from Scenario B. </a:t>
              </a:r>
              <a:r>
                <a:rPr lang="en-US" sz="2400">
                  <a:solidFill>
                    <a:srgbClr val="334155"/>
                  </a:solidFill>
                  <a:latin typeface="Calibri (MS)"/>
                  <a:ea typeface="Calibri (MS)"/>
                  <a:cs typeface="Calibri (MS)"/>
                  <a:sym typeface="Calibri (MS)"/>
                </a:rPr>
                <a:t>A probabilistic forecast would have given: [−0.01 m, +0.04 m] with 95% confidence — the lower bound (−0.01 m) immediately tells the operator there is a non-trivial chance of reduced draft clearance.</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73152"/>
            <a:chOff x="0" y="0"/>
            <a:chExt cx="24384000" cy="97536"/>
          </a:xfrm>
        </p:grpSpPr>
        <p:sp>
          <p:nvSpPr>
            <p:cNvPr name="Freeform 3" id="3"/>
            <p:cNvSpPr/>
            <p:nvPr/>
          </p:nvSpPr>
          <p:spPr>
            <a:xfrm flipH="false" flipV="false" rot="0">
              <a:off x="0" y="0"/>
              <a:ext cx="24384000" cy="97536"/>
            </a:xfrm>
            <a:custGeom>
              <a:avLst/>
              <a:gdLst/>
              <a:ahLst/>
              <a:cxnLst/>
              <a:rect r="r" b="b" t="t" l="l"/>
              <a:pathLst>
                <a:path h="97536" w="24384000">
                  <a:moveTo>
                    <a:pt x="0" y="0"/>
                  </a:moveTo>
                  <a:lnTo>
                    <a:pt x="24384000" y="0"/>
                  </a:lnTo>
                  <a:lnTo>
                    <a:pt x="24384000" y="97536"/>
                  </a:lnTo>
                  <a:lnTo>
                    <a:pt x="0" y="97536"/>
                  </a:lnTo>
                  <a:close/>
                </a:path>
              </a:pathLst>
            </a:custGeom>
            <a:solidFill>
              <a:srgbClr val="3B82F6"/>
            </a:solidFill>
          </p:spPr>
        </p:sp>
      </p:grpSp>
      <p:grpSp>
        <p:nvGrpSpPr>
          <p:cNvPr name="Group 4" id="4"/>
          <p:cNvGrpSpPr/>
          <p:nvPr/>
        </p:nvGrpSpPr>
        <p:grpSpPr>
          <a:xfrm rot="0">
            <a:off x="1005840" y="585216"/>
            <a:ext cx="2926080" cy="512064"/>
            <a:chOff x="0" y="0"/>
            <a:chExt cx="3901440" cy="682752"/>
          </a:xfrm>
        </p:grpSpPr>
        <p:sp>
          <p:nvSpPr>
            <p:cNvPr name="Freeform 5" id="5"/>
            <p:cNvSpPr/>
            <p:nvPr/>
          </p:nvSpPr>
          <p:spPr>
            <a:xfrm flipH="false" flipV="false" rot="0">
              <a:off x="0" y="0"/>
              <a:ext cx="3901440" cy="682752"/>
            </a:xfrm>
            <a:custGeom>
              <a:avLst/>
              <a:gdLst/>
              <a:ahLst/>
              <a:cxnLst/>
              <a:rect r="r" b="b" t="t" l="l"/>
              <a:pathLst>
                <a:path h="682752" w="3901440">
                  <a:moveTo>
                    <a:pt x="0" y="341376"/>
                  </a:moveTo>
                  <a:cubicBezTo>
                    <a:pt x="0" y="152781"/>
                    <a:pt x="152781" y="0"/>
                    <a:pt x="341376" y="0"/>
                  </a:cubicBezTo>
                  <a:lnTo>
                    <a:pt x="3560064" y="0"/>
                  </a:lnTo>
                  <a:cubicBezTo>
                    <a:pt x="3748659" y="0"/>
                    <a:pt x="3901440" y="152781"/>
                    <a:pt x="3901440" y="341376"/>
                  </a:cubicBezTo>
                  <a:cubicBezTo>
                    <a:pt x="3901440" y="529971"/>
                    <a:pt x="3748659" y="682752"/>
                    <a:pt x="3560064" y="682752"/>
                  </a:cubicBezTo>
                  <a:lnTo>
                    <a:pt x="341376" y="682752"/>
                  </a:lnTo>
                  <a:cubicBezTo>
                    <a:pt x="152781" y="682752"/>
                    <a:pt x="0" y="529971"/>
                    <a:pt x="0" y="341376"/>
                  </a:cubicBezTo>
                  <a:close/>
                </a:path>
              </a:pathLst>
            </a:custGeom>
            <a:solidFill>
              <a:srgbClr val="3B82F6"/>
            </a:solidFill>
          </p:spPr>
        </p:sp>
      </p:grpSp>
      <p:grpSp>
        <p:nvGrpSpPr>
          <p:cNvPr name="Group 6" id="6"/>
          <p:cNvGrpSpPr/>
          <p:nvPr/>
        </p:nvGrpSpPr>
        <p:grpSpPr>
          <a:xfrm rot="0">
            <a:off x="1005840" y="585216"/>
            <a:ext cx="2926080" cy="512064"/>
            <a:chOff x="0" y="0"/>
            <a:chExt cx="3901440" cy="682752"/>
          </a:xfrm>
        </p:grpSpPr>
        <p:sp>
          <p:nvSpPr>
            <p:cNvPr name="Freeform 7" id="7"/>
            <p:cNvSpPr/>
            <p:nvPr/>
          </p:nvSpPr>
          <p:spPr>
            <a:xfrm flipH="false" flipV="false" rot="0">
              <a:off x="0" y="0"/>
              <a:ext cx="3901440" cy="682752"/>
            </a:xfrm>
            <a:custGeom>
              <a:avLst/>
              <a:gdLst/>
              <a:ahLst/>
              <a:cxnLst/>
              <a:rect r="r" b="b" t="t" l="l"/>
              <a:pathLst>
                <a:path h="682752" w="3901440">
                  <a:moveTo>
                    <a:pt x="0" y="0"/>
                  </a:moveTo>
                  <a:lnTo>
                    <a:pt x="3901440" y="0"/>
                  </a:lnTo>
                  <a:lnTo>
                    <a:pt x="3901440" y="682752"/>
                  </a:lnTo>
                  <a:lnTo>
                    <a:pt x="0" y="682752"/>
                  </a:lnTo>
                  <a:close/>
                </a:path>
              </a:pathLst>
            </a:custGeom>
            <a:blipFill>
              <a:blip r:embed="rId3">
                <a:alphaModFix amt="0"/>
              </a:blip>
              <a:stretch>
                <a:fillRect l="0" t="-61343" r="0" b="-61343"/>
              </a:stretch>
            </a:blipFill>
          </p:spPr>
        </p:sp>
        <p:sp>
          <p:nvSpPr>
            <p:cNvPr name="TextBox 8" id="8"/>
            <p:cNvSpPr txBox="true"/>
            <p:nvPr/>
          </p:nvSpPr>
          <p:spPr>
            <a:xfrm>
              <a:off x="0" y="-38100"/>
              <a:ext cx="3901440" cy="72085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MOTIVATION</a:t>
              </a:r>
            </a:p>
          </p:txBody>
        </p:sp>
      </p:grpSp>
      <p:grpSp>
        <p:nvGrpSpPr>
          <p:cNvPr name="Group 9" id="9"/>
          <p:cNvGrpSpPr/>
          <p:nvPr/>
        </p:nvGrpSpPr>
        <p:grpSpPr>
          <a:xfrm rot="0">
            <a:off x="1005840" y="1060704"/>
            <a:ext cx="16276320" cy="877824"/>
            <a:chOff x="0" y="0"/>
            <a:chExt cx="21701760" cy="1170432"/>
          </a:xfrm>
        </p:grpSpPr>
        <p:sp>
          <p:nvSpPr>
            <p:cNvPr name="Freeform 10" id="10"/>
            <p:cNvSpPr/>
            <p:nvPr/>
          </p:nvSpPr>
          <p:spPr>
            <a:xfrm flipH="false" flipV="false" rot="0">
              <a:off x="0" y="0"/>
              <a:ext cx="21701761" cy="1170432"/>
            </a:xfrm>
            <a:custGeom>
              <a:avLst/>
              <a:gdLst/>
              <a:ahLst/>
              <a:cxnLst/>
              <a:rect r="r" b="b" t="t" l="l"/>
              <a:pathLst>
                <a:path h="1170432" w="21701761">
                  <a:moveTo>
                    <a:pt x="0" y="0"/>
                  </a:moveTo>
                  <a:lnTo>
                    <a:pt x="21701761" y="0"/>
                  </a:lnTo>
                  <a:lnTo>
                    <a:pt x="21701761" y="1170432"/>
                  </a:lnTo>
                  <a:lnTo>
                    <a:pt x="0" y="1170432"/>
                  </a:lnTo>
                  <a:close/>
                </a:path>
              </a:pathLst>
            </a:custGeom>
            <a:blipFill>
              <a:blip r:embed="rId3">
                <a:alphaModFix amt="0"/>
              </a:blip>
              <a:stretch>
                <a:fillRect l="0" t="-311285" r="0" b="-311285"/>
              </a:stretch>
            </a:blipFill>
          </p:spPr>
        </p:sp>
        <p:sp>
          <p:nvSpPr>
            <p:cNvPr name="TextBox 11" id="11"/>
            <p:cNvSpPr txBox="true"/>
            <p:nvPr/>
          </p:nvSpPr>
          <p:spPr>
            <a:xfrm>
              <a:off x="0" y="-76200"/>
              <a:ext cx="21701760" cy="1246632"/>
            </a:xfrm>
            <a:prstGeom prst="rect">
              <a:avLst/>
            </a:prstGeom>
          </p:spPr>
          <p:txBody>
            <a:bodyPr anchor="ctr" rtlCol="false" tIns="0" lIns="0" bIns="0" rIns="0"/>
            <a:lstStyle/>
            <a:p>
              <a:pPr algn="l">
                <a:lnSpc>
                  <a:spcPts val="5280"/>
                </a:lnSpc>
              </a:pPr>
              <a:r>
                <a:rPr lang="en-US" sz="4400" b="true">
                  <a:solidFill>
                    <a:srgbClr val="1A2744"/>
                  </a:solidFill>
                  <a:latin typeface="Calibri (MS) Bold"/>
                  <a:ea typeface="Calibri (MS) Bold"/>
                  <a:cs typeface="Calibri (MS) Bold"/>
                  <a:sym typeface="Calibri (MS) Bold"/>
                </a:rPr>
                <a:t>Why Probabilistic Forecasting?</a:t>
              </a:r>
            </a:p>
          </p:txBody>
        </p:sp>
      </p:grpSp>
      <p:grpSp>
        <p:nvGrpSpPr>
          <p:cNvPr name="Group 12" id="12"/>
          <p:cNvGrpSpPr/>
          <p:nvPr/>
        </p:nvGrpSpPr>
        <p:grpSpPr>
          <a:xfrm rot="0">
            <a:off x="1005840" y="1938528"/>
            <a:ext cx="16276320" cy="457200"/>
            <a:chOff x="0" y="0"/>
            <a:chExt cx="21701760" cy="609600"/>
          </a:xfrm>
        </p:grpSpPr>
        <p:sp>
          <p:nvSpPr>
            <p:cNvPr name="Freeform 13" id="13"/>
            <p:cNvSpPr/>
            <p:nvPr/>
          </p:nvSpPr>
          <p:spPr>
            <a:xfrm flipH="false" flipV="false" rot="0">
              <a:off x="0" y="0"/>
              <a:ext cx="21701761" cy="609600"/>
            </a:xfrm>
            <a:custGeom>
              <a:avLst/>
              <a:gdLst/>
              <a:ahLst/>
              <a:cxnLst/>
              <a:rect r="r" b="b" t="t" l="l"/>
              <a:pathLst>
                <a:path h="609600" w="21701761">
                  <a:moveTo>
                    <a:pt x="0" y="0"/>
                  </a:moveTo>
                  <a:lnTo>
                    <a:pt x="21701761" y="0"/>
                  </a:lnTo>
                  <a:lnTo>
                    <a:pt x="21701761" y="609600"/>
                  </a:lnTo>
                  <a:lnTo>
                    <a:pt x="0" y="609600"/>
                  </a:lnTo>
                  <a:close/>
                </a:path>
              </a:pathLst>
            </a:custGeom>
            <a:blipFill>
              <a:blip r:embed="rId3">
                <a:alphaModFix amt="0"/>
              </a:blip>
              <a:stretch>
                <a:fillRect l="0" t="-643667" r="0" b="-643667"/>
              </a:stretch>
            </a:blipFill>
          </p:spPr>
        </p:sp>
        <p:sp>
          <p:nvSpPr>
            <p:cNvPr name="TextBox 14" id="14"/>
            <p:cNvSpPr txBox="true"/>
            <p:nvPr/>
          </p:nvSpPr>
          <p:spPr>
            <a:xfrm>
              <a:off x="0" y="-47625"/>
              <a:ext cx="21701760" cy="657225"/>
            </a:xfrm>
            <a:prstGeom prst="rect">
              <a:avLst/>
            </a:prstGeom>
          </p:spPr>
          <p:txBody>
            <a:bodyPr anchor="ctr" rtlCol="false" tIns="0" lIns="0" bIns="0" rIns="0"/>
            <a:lstStyle/>
            <a:p>
              <a:pPr algn="l">
                <a:lnSpc>
                  <a:spcPts val="2640"/>
                </a:lnSpc>
              </a:pPr>
              <a:r>
                <a:rPr lang="en-US" sz="2200" i="true">
                  <a:solidFill>
                    <a:srgbClr val="64748B"/>
                  </a:solidFill>
                  <a:latin typeface="Calibri (MS) Italics"/>
                  <a:ea typeface="Calibri (MS) Italics"/>
                  <a:cs typeface="Calibri (MS) Italics"/>
                  <a:sym typeface="Calibri (MS) Italics"/>
                </a:rPr>
                <a:t>Calibrated prediction intervals enable risk-aware decision making</a:t>
              </a:r>
            </a:p>
          </p:txBody>
        </p:sp>
      </p:grpSp>
      <p:grpSp>
        <p:nvGrpSpPr>
          <p:cNvPr name="Group 15" id="15"/>
          <p:cNvGrpSpPr/>
          <p:nvPr/>
        </p:nvGrpSpPr>
        <p:grpSpPr>
          <a:xfrm rot="0">
            <a:off x="17190720" y="9646920"/>
            <a:ext cx="731520" cy="457200"/>
            <a:chOff x="0" y="0"/>
            <a:chExt cx="975360" cy="609600"/>
          </a:xfrm>
        </p:grpSpPr>
        <p:sp>
          <p:nvSpPr>
            <p:cNvPr name="Freeform 16" id="16"/>
            <p:cNvSpPr/>
            <p:nvPr/>
          </p:nvSpPr>
          <p:spPr>
            <a:xfrm flipH="false" flipV="false" rot="0">
              <a:off x="0" y="0"/>
              <a:ext cx="975360" cy="609600"/>
            </a:xfrm>
            <a:custGeom>
              <a:avLst/>
              <a:gdLst/>
              <a:ahLst/>
              <a:cxnLst/>
              <a:rect r="r" b="b" t="t" l="l"/>
              <a:pathLst>
                <a:path h="609600" w="975360">
                  <a:moveTo>
                    <a:pt x="0" y="0"/>
                  </a:moveTo>
                  <a:lnTo>
                    <a:pt x="975360" y="0"/>
                  </a:lnTo>
                  <a:lnTo>
                    <a:pt x="975360" y="609600"/>
                  </a:lnTo>
                  <a:lnTo>
                    <a:pt x="0" y="609600"/>
                  </a:lnTo>
                  <a:close/>
                </a:path>
              </a:pathLst>
            </a:custGeom>
            <a:blipFill>
              <a:blip r:embed="rId3">
                <a:alphaModFix amt="0"/>
              </a:blip>
              <a:stretch>
                <a:fillRect l="-30189" t="0" r="-30189" b="0"/>
              </a:stretch>
            </a:blipFill>
          </p:spPr>
        </p:sp>
        <p:sp>
          <p:nvSpPr>
            <p:cNvPr name="TextBox 17" id="17"/>
            <p:cNvSpPr txBox="true"/>
            <p:nvPr/>
          </p:nvSpPr>
          <p:spPr>
            <a:xfrm>
              <a:off x="0" y="-38100"/>
              <a:ext cx="975360" cy="647700"/>
            </a:xfrm>
            <a:prstGeom prst="rect">
              <a:avLst/>
            </a:prstGeom>
          </p:spPr>
          <p:txBody>
            <a:bodyPr anchor="ctr" rtlCol="false" tIns="0" lIns="0" bIns="0" rIns="0"/>
            <a:lstStyle/>
            <a:p>
              <a:pPr algn="r">
                <a:lnSpc>
                  <a:spcPts val="2160"/>
                </a:lnSpc>
              </a:pPr>
              <a:r>
                <a:rPr lang="en-US" sz="1800">
                  <a:solidFill>
                    <a:srgbClr val="64748B"/>
                  </a:solidFill>
                  <a:latin typeface="Calibri (MS)"/>
                  <a:ea typeface="Calibri (MS)"/>
                  <a:cs typeface="Calibri (MS)"/>
                  <a:sym typeface="Calibri (MS)"/>
                </a:rPr>
                <a:t>4</a:t>
              </a:r>
            </a:p>
          </p:txBody>
        </p:sp>
      </p:grpSp>
      <p:grpSp>
        <p:nvGrpSpPr>
          <p:cNvPr name="Group 18" id="18"/>
          <p:cNvGrpSpPr/>
          <p:nvPr/>
        </p:nvGrpSpPr>
        <p:grpSpPr>
          <a:xfrm rot="0">
            <a:off x="1005840" y="2560320"/>
            <a:ext cx="5212080" cy="6400800"/>
            <a:chOff x="0" y="0"/>
            <a:chExt cx="6949440" cy="8534400"/>
          </a:xfrm>
        </p:grpSpPr>
        <p:sp>
          <p:nvSpPr>
            <p:cNvPr name="Freeform 19" id="19"/>
            <p:cNvSpPr/>
            <p:nvPr/>
          </p:nvSpPr>
          <p:spPr>
            <a:xfrm flipH="false" flipV="false" rot="0">
              <a:off x="0" y="0"/>
              <a:ext cx="6949439" cy="8534400"/>
            </a:xfrm>
            <a:custGeom>
              <a:avLst/>
              <a:gdLst/>
              <a:ahLst/>
              <a:cxnLst/>
              <a:rect r="r" b="b" t="t" l="l"/>
              <a:pathLst>
                <a:path h="8534400" w="6949439">
                  <a:moveTo>
                    <a:pt x="0" y="292608"/>
                  </a:moveTo>
                  <a:cubicBezTo>
                    <a:pt x="0" y="131064"/>
                    <a:pt x="131064" y="0"/>
                    <a:pt x="292608" y="0"/>
                  </a:cubicBezTo>
                  <a:lnTo>
                    <a:pt x="6656832" y="0"/>
                  </a:lnTo>
                  <a:cubicBezTo>
                    <a:pt x="6818502" y="0"/>
                    <a:pt x="6949439" y="131064"/>
                    <a:pt x="6949439" y="292608"/>
                  </a:cubicBezTo>
                  <a:lnTo>
                    <a:pt x="6949439" y="8241792"/>
                  </a:lnTo>
                  <a:cubicBezTo>
                    <a:pt x="6949439" y="8403463"/>
                    <a:pt x="6818376" y="8534400"/>
                    <a:pt x="6656832" y="8534400"/>
                  </a:cubicBezTo>
                  <a:lnTo>
                    <a:pt x="292608" y="8534400"/>
                  </a:lnTo>
                  <a:cubicBezTo>
                    <a:pt x="131064" y="8534400"/>
                    <a:pt x="0" y="8403336"/>
                    <a:pt x="0" y="8241792"/>
                  </a:cubicBezTo>
                  <a:close/>
                </a:path>
              </a:pathLst>
            </a:custGeom>
            <a:solidFill>
              <a:srgbClr val="EFF6FF"/>
            </a:solidFill>
          </p:spPr>
        </p:sp>
      </p:grpSp>
      <p:grpSp>
        <p:nvGrpSpPr>
          <p:cNvPr name="Group 20" id="20"/>
          <p:cNvGrpSpPr/>
          <p:nvPr/>
        </p:nvGrpSpPr>
        <p:grpSpPr>
          <a:xfrm rot="0">
            <a:off x="1225296" y="2743200"/>
            <a:ext cx="4754880" cy="640080"/>
            <a:chOff x="0" y="0"/>
            <a:chExt cx="6339840" cy="853440"/>
          </a:xfrm>
        </p:grpSpPr>
        <p:sp>
          <p:nvSpPr>
            <p:cNvPr name="Freeform 21" id="21"/>
            <p:cNvSpPr/>
            <p:nvPr/>
          </p:nvSpPr>
          <p:spPr>
            <a:xfrm flipH="false" flipV="false" rot="0">
              <a:off x="0" y="0"/>
              <a:ext cx="6339840" cy="853440"/>
            </a:xfrm>
            <a:custGeom>
              <a:avLst/>
              <a:gdLst/>
              <a:ahLst/>
              <a:cxnLst/>
              <a:rect r="r" b="b" t="t" l="l"/>
              <a:pathLst>
                <a:path h="853440" w="6339840">
                  <a:moveTo>
                    <a:pt x="0" y="195072"/>
                  </a:moveTo>
                  <a:cubicBezTo>
                    <a:pt x="0" y="87376"/>
                    <a:pt x="87376" y="0"/>
                    <a:pt x="195072" y="0"/>
                  </a:cubicBezTo>
                  <a:lnTo>
                    <a:pt x="6144768" y="0"/>
                  </a:lnTo>
                  <a:cubicBezTo>
                    <a:pt x="6252464" y="0"/>
                    <a:pt x="6339840" y="87376"/>
                    <a:pt x="6339840" y="195072"/>
                  </a:cubicBezTo>
                  <a:lnTo>
                    <a:pt x="6339840" y="658368"/>
                  </a:lnTo>
                  <a:cubicBezTo>
                    <a:pt x="6339840" y="766064"/>
                    <a:pt x="6252464" y="853440"/>
                    <a:pt x="6144768" y="853440"/>
                  </a:cubicBezTo>
                  <a:lnTo>
                    <a:pt x="195072" y="853440"/>
                  </a:lnTo>
                  <a:cubicBezTo>
                    <a:pt x="87376" y="853440"/>
                    <a:pt x="0" y="766064"/>
                    <a:pt x="0" y="658368"/>
                  </a:cubicBezTo>
                  <a:close/>
                </a:path>
              </a:pathLst>
            </a:custGeom>
            <a:solidFill>
              <a:srgbClr val="3B82F6"/>
            </a:solidFill>
          </p:spPr>
        </p:sp>
      </p:grpSp>
      <p:grpSp>
        <p:nvGrpSpPr>
          <p:cNvPr name="Group 22" id="22"/>
          <p:cNvGrpSpPr/>
          <p:nvPr/>
        </p:nvGrpSpPr>
        <p:grpSpPr>
          <a:xfrm rot="0">
            <a:off x="1225296" y="2743200"/>
            <a:ext cx="4754880" cy="640080"/>
            <a:chOff x="0" y="0"/>
            <a:chExt cx="6339840" cy="853440"/>
          </a:xfrm>
        </p:grpSpPr>
        <p:sp>
          <p:nvSpPr>
            <p:cNvPr name="Freeform 23" id="23"/>
            <p:cNvSpPr/>
            <p:nvPr/>
          </p:nvSpPr>
          <p:spPr>
            <a:xfrm flipH="false" flipV="false" rot="0">
              <a:off x="0" y="0"/>
              <a:ext cx="6339840" cy="853440"/>
            </a:xfrm>
            <a:custGeom>
              <a:avLst/>
              <a:gdLst/>
              <a:ahLst/>
              <a:cxnLst/>
              <a:rect r="r" b="b" t="t" l="l"/>
              <a:pathLst>
                <a:path h="853440" w="6339840">
                  <a:moveTo>
                    <a:pt x="0" y="0"/>
                  </a:moveTo>
                  <a:lnTo>
                    <a:pt x="6339840" y="0"/>
                  </a:lnTo>
                  <a:lnTo>
                    <a:pt x="6339840" y="853440"/>
                  </a:lnTo>
                  <a:lnTo>
                    <a:pt x="0" y="853440"/>
                  </a:lnTo>
                  <a:close/>
                </a:path>
              </a:pathLst>
            </a:custGeom>
            <a:blipFill>
              <a:blip r:embed="rId3">
                <a:alphaModFix amt="0"/>
              </a:blip>
              <a:stretch>
                <a:fillRect l="0" t="-94745" r="0" b="-94745"/>
              </a:stretch>
            </a:blipFill>
          </p:spPr>
        </p:sp>
        <p:sp>
          <p:nvSpPr>
            <p:cNvPr name="TextBox 24" id="24"/>
            <p:cNvSpPr txBox="true"/>
            <p:nvPr/>
          </p:nvSpPr>
          <p:spPr>
            <a:xfrm>
              <a:off x="0" y="-47625"/>
              <a:ext cx="6339840" cy="901065"/>
            </a:xfrm>
            <a:prstGeom prst="rect">
              <a:avLst/>
            </a:prstGeom>
          </p:spPr>
          <p:txBody>
            <a:bodyPr anchor="ctr" rtlCol="false" tIns="0" lIns="0" bIns="0" rIns="0"/>
            <a:lstStyle/>
            <a:p>
              <a:pPr algn="ctr">
                <a:lnSpc>
                  <a:spcPts val="2640"/>
                </a:lnSpc>
              </a:pPr>
              <a:r>
                <a:rPr lang="en-US" sz="2200" b="true">
                  <a:solidFill>
                    <a:srgbClr val="FFFFFF"/>
                  </a:solidFill>
                  <a:latin typeface="Calibri (MS) Bold"/>
                  <a:ea typeface="Calibri (MS) Bold"/>
                  <a:cs typeface="Calibri (MS) Bold"/>
                  <a:sym typeface="Calibri (MS) Bold"/>
                </a:rPr>
                <a:t>Quantified Uncertainty</a:t>
              </a:r>
            </a:p>
          </p:txBody>
        </p:sp>
      </p:grpSp>
      <p:grpSp>
        <p:nvGrpSpPr>
          <p:cNvPr name="Group 25" id="25"/>
          <p:cNvGrpSpPr/>
          <p:nvPr/>
        </p:nvGrpSpPr>
        <p:grpSpPr>
          <a:xfrm rot="0">
            <a:off x="1335024" y="3657600"/>
            <a:ext cx="4572000" cy="4754880"/>
            <a:chOff x="0" y="0"/>
            <a:chExt cx="6096000" cy="6339840"/>
          </a:xfrm>
        </p:grpSpPr>
        <p:sp>
          <p:nvSpPr>
            <p:cNvPr name="Freeform 26" id="26"/>
            <p:cNvSpPr/>
            <p:nvPr/>
          </p:nvSpPr>
          <p:spPr>
            <a:xfrm flipH="false" flipV="false" rot="0">
              <a:off x="0" y="0"/>
              <a:ext cx="6096000" cy="6339840"/>
            </a:xfrm>
            <a:custGeom>
              <a:avLst/>
              <a:gdLst/>
              <a:ahLst/>
              <a:cxnLst/>
              <a:rect r="r" b="b" t="t" l="l"/>
              <a:pathLst>
                <a:path h="6339840" w="6096000">
                  <a:moveTo>
                    <a:pt x="0" y="0"/>
                  </a:moveTo>
                  <a:lnTo>
                    <a:pt x="6096000" y="0"/>
                  </a:lnTo>
                  <a:lnTo>
                    <a:pt x="6096000" y="6339840"/>
                  </a:lnTo>
                  <a:lnTo>
                    <a:pt x="0" y="6339840"/>
                  </a:lnTo>
                  <a:close/>
                </a:path>
              </a:pathLst>
            </a:custGeom>
            <a:blipFill>
              <a:blip r:embed="rId3">
                <a:alphaModFix amt="0"/>
              </a:blip>
              <a:stretch>
                <a:fillRect l="-83435" t="0" r="-83435" b="0"/>
              </a:stretch>
            </a:blipFill>
          </p:spPr>
        </p:sp>
        <p:sp>
          <p:nvSpPr>
            <p:cNvPr name="TextBox 27" id="27"/>
            <p:cNvSpPr txBox="true"/>
            <p:nvPr/>
          </p:nvSpPr>
          <p:spPr>
            <a:xfrm>
              <a:off x="0" y="-47625"/>
              <a:ext cx="6096000" cy="6387465"/>
            </a:xfrm>
            <a:prstGeom prst="rect">
              <a:avLst/>
            </a:prstGeom>
          </p:spPr>
          <p:txBody>
            <a:bodyPr anchor="ctr" rtlCol="false" tIns="0" lIns="0" bIns="0" rIns="0"/>
            <a:lstStyle/>
            <a:p>
              <a:pPr algn="l">
                <a:lnSpc>
                  <a:spcPts val="2640"/>
                </a:lnSpc>
              </a:pPr>
              <a:r>
                <a:rPr lang="en-US" sz="2200">
                  <a:solidFill>
                    <a:srgbClr val="334155"/>
                  </a:solidFill>
                  <a:latin typeface="Calibri (MS)"/>
                  <a:ea typeface="Calibri (MS)"/>
                  <a:cs typeface="Calibri (MS)"/>
                  <a:sym typeface="Calibri (MS)"/>
                </a:rPr>
                <a:t>Instead of trusting a single number, operators get a confidence-bounded range. A 95% interval that genuinely covers 95% of the time is called calibrated.</a:t>
              </a:r>
            </a:p>
          </p:txBody>
        </p:sp>
      </p:grpSp>
      <p:grpSp>
        <p:nvGrpSpPr>
          <p:cNvPr name="Group 28" id="28"/>
          <p:cNvGrpSpPr/>
          <p:nvPr/>
        </p:nvGrpSpPr>
        <p:grpSpPr>
          <a:xfrm rot="0">
            <a:off x="6675120" y="2560320"/>
            <a:ext cx="5212080" cy="6400800"/>
            <a:chOff x="0" y="0"/>
            <a:chExt cx="6949440" cy="8534400"/>
          </a:xfrm>
        </p:grpSpPr>
        <p:sp>
          <p:nvSpPr>
            <p:cNvPr name="Freeform 29" id="29"/>
            <p:cNvSpPr/>
            <p:nvPr/>
          </p:nvSpPr>
          <p:spPr>
            <a:xfrm flipH="false" flipV="false" rot="0">
              <a:off x="0" y="0"/>
              <a:ext cx="6949439" cy="8534400"/>
            </a:xfrm>
            <a:custGeom>
              <a:avLst/>
              <a:gdLst/>
              <a:ahLst/>
              <a:cxnLst/>
              <a:rect r="r" b="b" t="t" l="l"/>
              <a:pathLst>
                <a:path h="8534400" w="6949439">
                  <a:moveTo>
                    <a:pt x="0" y="292608"/>
                  </a:moveTo>
                  <a:cubicBezTo>
                    <a:pt x="0" y="131064"/>
                    <a:pt x="131064" y="0"/>
                    <a:pt x="292608" y="0"/>
                  </a:cubicBezTo>
                  <a:lnTo>
                    <a:pt x="6656832" y="0"/>
                  </a:lnTo>
                  <a:cubicBezTo>
                    <a:pt x="6818502" y="0"/>
                    <a:pt x="6949439" y="131064"/>
                    <a:pt x="6949439" y="292608"/>
                  </a:cubicBezTo>
                  <a:lnTo>
                    <a:pt x="6949439" y="8241792"/>
                  </a:lnTo>
                  <a:cubicBezTo>
                    <a:pt x="6949439" y="8403463"/>
                    <a:pt x="6818376" y="8534400"/>
                    <a:pt x="6656832" y="8534400"/>
                  </a:cubicBezTo>
                  <a:lnTo>
                    <a:pt x="292608" y="8534400"/>
                  </a:lnTo>
                  <a:cubicBezTo>
                    <a:pt x="131064" y="8534400"/>
                    <a:pt x="0" y="8403336"/>
                    <a:pt x="0" y="8241792"/>
                  </a:cubicBezTo>
                  <a:close/>
                </a:path>
              </a:pathLst>
            </a:custGeom>
            <a:solidFill>
              <a:srgbClr val="DBEAFE"/>
            </a:solidFill>
          </p:spPr>
        </p:sp>
      </p:grpSp>
      <p:grpSp>
        <p:nvGrpSpPr>
          <p:cNvPr name="Group 30" id="30"/>
          <p:cNvGrpSpPr/>
          <p:nvPr/>
        </p:nvGrpSpPr>
        <p:grpSpPr>
          <a:xfrm rot="0">
            <a:off x="6894576" y="2743200"/>
            <a:ext cx="4754880" cy="640080"/>
            <a:chOff x="0" y="0"/>
            <a:chExt cx="6339840" cy="853440"/>
          </a:xfrm>
        </p:grpSpPr>
        <p:sp>
          <p:nvSpPr>
            <p:cNvPr name="Freeform 31" id="31"/>
            <p:cNvSpPr/>
            <p:nvPr/>
          </p:nvSpPr>
          <p:spPr>
            <a:xfrm flipH="false" flipV="false" rot="0">
              <a:off x="0" y="0"/>
              <a:ext cx="6339840" cy="853440"/>
            </a:xfrm>
            <a:custGeom>
              <a:avLst/>
              <a:gdLst/>
              <a:ahLst/>
              <a:cxnLst/>
              <a:rect r="r" b="b" t="t" l="l"/>
              <a:pathLst>
                <a:path h="853440" w="6339840">
                  <a:moveTo>
                    <a:pt x="0" y="195072"/>
                  </a:moveTo>
                  <a:cubicBezTo>
                    <a:pt x="0" y="87376"/>
                    <a:pt x="87376" y="0"/>
                    <a:pt x="195072" y="0"/>
                  </a:cubicBezTo>
                  <a:lnTo>
                    <a:pt x="6144768" y="0"/>
                  </a:lnTo>
                  <a:cubicBezTo>
                    <a:pt x="6252464" y="0"/>
                    <a:pt x="6339840" y="87376"/>
                    <a:pt x="6339840" y="195072"/>
                  </a:cubicBezTo>
                  <a:lnTo>
                    <a:pt x="6339840" y="658368"/>
                  </a:lnTo>
                  <a:cubicBezTo>
                    <a:pt x="6339840" y="766064"/>
                    <a:pt x="6252464" y="853440"/>
                    <a:pt x="6144768" y="853440"/>
                  </a:cubicBezTo>
                  <a:lnTo>
                    <a:pt x="195072" y="853440"/>
                  </a:lnTo>
                  <a:cubicBezTo>
                    <a:pt x="87376" y="853440"/>
                    <a:pt x="0" y="766064"/>
                    <a:pt x="0" y="658368"/>
                  </a:cubicBezTo>
                  <a:close/>
                </a:path>
              </a:pathLst>
            </a:custGeom>
            <a:solidFill>
              <a:srgbClr val="3B82F6"/>
            </a:solidFill>
          </p:spPr>
        </p:sp>
      </p:grpSp>
      <p:grpSp>
        <p:nvGrpSpPr>
          <p:cNvPr name="Group 32" id="32"/>
          <p:cNvGrpSpPr/>
          <p:nvPr/>
        </p:nvGrpSpPr>
        <p:grpSpPr>
          <a:xfrm rot="0">
            <a:off x="6894576" y="2743200"/>
            <a:ext cx="4754880" cy="640080"/>
            <a:chOff x="0" y="0"/>
            <a:chExt cx="6339840" cy="853440"/>
          </a:xfrm>
        </p:grpSpPr>
        <p:sp>
          <p:nvSpPr>
            <p:cNvPr name="Freeform 33" id="33"/>
            <p:cNvSpPr/>
            <p:nvPr/>
          </p:nvSpPr>
          <p:spPr>
            <a:xfrm flipH="false" flipV="false" rot="0">
              <a:off x="0" y="0"/>
              <a:ext cx="6339840" cy="853440"/>
            </a:xfrm>
            <a:custGeom>
              <a:avLst/>
              <a:gdLst/>
              <a:ahLst/>
              <a:cxnLst/>
              <a:rect r="r" b="b" t="t" l="l"/>
              <a:pathLst>
                <a:path h="853440" w="6339840">
                  <a:moveTo>
                    <a:pt x="0" y="0"/>
                  </a:moveTo>
                  <a:lnTo>
                    <a:pt x="6339840" y="0"/>
                  </a:lnTo>
                  <a:lnTo>
                    <a:pt x="6339840" y="853440"/>
                  </a:lnTo>
                  <a:lnTo>
                    <a:pt x="0" y="853440"/>
                  </a:lnTo>
                  <a:close/>
                </a:path>
              </a:pathLst>
            </a:custGeom>
            <a:blipFill>
              <a:blip r:embed="rId3">
                <a:alphaModFix amt="0"/>
              </a:blip>
              <a:stretch>
                <a:fillRect l="0" t="-94745" r="0" b="-94745"/>
              </a:stretch>
            </a:blipFill>
          </p:spPr>
        </p:sp>
        <p:sp>
          <p:nvSpPr>
            <p:cNvPr name="TextBox 34" id="34"/>
            <p:cNvSpPr txBox="true"/>
            <p:nvPr/>
          </p:nvSpPr>
          <p:spPr>
            <a:xfrm>
              <a:off x="0" y="-47625"/>
              <a:ext cx="6339840" cy="901065"/>
            </a:xfrm>
            <a:prstGeom prst="rect">
              <a:avLst/>
            </a:prstGeom>
          </p:spPr>
          <p:txBody>
            <a:bodyPr anchor="ctr" rtlCol="false" tIns="0" lIns="0" bIns="0" rIns="0"/>
            <a:lstStyle/>
            <a:p>
              <a:pPr algn="ctr">
                <a:lnSpc>
                  <a:spcPts val="2640"/>
                </a:lnSpc>
              </a:pPr>
              <a:r>
                <a:rPr lang="en-US" sz="2200" b="true">
                  <a:solidFill>
                    <a:srgbClr val="FFFFFF"/>
                  </a:solidFill>
                  <a:latin typeface="Calibri (MS) Bold"/>
                  <a:ea typeface="Calibri (MS) Bold"/>
                  <a:cs typeface="Calibri (MS) Bold"/>
                  <a:sym typeface="Calibri (MS) Bold"/>
                </a:rPr>
                <a:t>Risk-Aware Decisions</a:t>
              </a:r>
            </a:p>
          </p:txBody>
        </p:sp>
      </p:grpSp>
      <p:grpSp>
        <p:nvGrpSpPr>
          <p:cNvPr name="Group 35" id="35"/>
          <p:cNvGrpSpPr/>
          <p:nvPr/>
        </p:nvGrpSpPr>
        <p:grpSpPr>
          <a:xfrm rot="0">
            <a:off x="7004304" y="3657600"/>
            <a:ext cx="4572000" cy="4754880"/>
            <a:chOff x="0" y="0"/>
            <a:chExt cx="6096000" cy="6339840"/>
          </a:xfrm>
        </p:grpSpPr>
        <p:sp>
          <p:nvSpPr>
            <p:cNvPr name="Freeform 36" id="36"/>
            <p:cNvSpPr/>
            <p:nvPr/>
          </p:nvSpPr>
          <p:spPr>
            <a:xfrm flipH="false" flipV="false" rot="0">
              <a:off x="0" y="0"/>
              <a:ext cx="6096000" cy="6339840"/>
            </a:xfrm>
            <a:custGeom>
              <a:avLst/>
              <a:gdLst/>
              <a:ahLst/>
              <a:cxnLst/>
              <a:rect r="r" b="b" t="t" l="l"/>
              <a:pathLst>
                <a:path h="6339840" w="6096000">
                  <a:moveTo>
                    <a:pt x="0" y="0"/>
                  </a:moveTo>
                  <a:lnTo>
                    <a:pt x="6096000" y="0"/>
                  </a:lnTo>
                  <a:lnTo>
                    <a:pt x="6096000" y="6339840"/>
                  </a:lnTo>
                  <a:lnTo>
                    <a:pt x="0" y="6339840"/>
                  </a:lnTo>
                  <a:close/>
                </a:path>
              </a:pathLst>
            </a:custGeom>
            <a:blipFill>
              <a:blip r:embed="rId3">
                <a:alphaModFix amt="0"/>
              </a:blip>
              <a:stretch>
                <a:fillRect l="-83435" t="0" r="-83435" b="0"/>
              </a:stretch>
            </a:blipFill>
          </p:spPr>
        </p:sp>
        <p:sp>
          <p:nvSpPr>
            <p:cNvPr name="TextBox 37" id="37"/>
            <p:cNvSpPr txBox="true"/>
            <p:nvPr/>
          </p:nvSpPr>
          <p:spPr>
            <a:xfrm>
              <a:off x="0" y="-47625"/>
              <a:ext cx="6096000" cy="6387465"/>
            </a:xfrm>
            <a:prstGeom prst="rect">
              <a:avLst/>
            </a:prstGeom>
          </p:spPr>
          <p:txBody>
            <a:bodyPr anchor="ctr" rtlCol="false" tIns="0" lIns="0" bIns="0" rIns="0"/>
            <a:lstStyle/>
            <a:p>
              <a:pPr algn="l">
                <a:lnSpc>
                  <a:spcPts val="2640"/>
                </a:lnSpc>
              </a:pPr>
              <a:r>
                <a:rPr lang="en-US" sz="2200">
                  <a:solidFill>
                    <a:srgbClr val="334155"/>
                  </a:solidFill>
                  <a:latin typeface="Calibri (MS)"/>
                  <a:ea typeface="Calibri (MS)"/>
                  <a:cs typeface="Calibri (MS)"/>
                  <a:sym typeface="Calibri (MS)"/>
                </a:rPr>
                <a:t>Port operators can use the LOWER BOUND for draft clearance. Wave energy operators can use the UPPER BOUND for structural safety limits. Each boundary has a specific meaning.</a:t>
              </a:r>
            </a:p>
          </p:txBody>
        </p:sp>
      </p:grpSp>
      <p:grpSp>
        <p:nvGrpSpPr>
          <p:cNvPr name="Group 38" id="38"/>
          <p:cNvGrpSpPr/>
          <p:nvPr/>
        </p:nvGrpSpPr>
        <p:grpSpPr>
          <a:xfrm rot="0">
            <a:off x="12344400" y="2560320"/>
            <a:ext cx="5212080" cy="6400800"/>
            <a:chOff x="0" y="0"/>
            <a:chExt cx="6949440" cy="8534400"/>
          </a:xfrm>
        </p:grpSpPr>
        <p:sp>
          <p:nvSpPr>
            <p:cNvPr name="Freeform 39" id="39"/>
            <p:cNvSpPr/>
            <p:nvPr/>
          </p:nvSpPr>
          <p:spPr>
            <a:xfrm flipH="false" flipV="false" rot="0">
              <a:off x="0" y="0"/>
              <a:ext cx="6949439" cy="8534400"/>
            </a:xfrm>
            <a:custGeom>
              <a:avLst/>
              <a:gdLst/>
              <a:ahLst/>
              <a:cxnLst/>
              <a:rect r="r" b="b" t="t" l="l"/>
              <a:pathLst>
                <a:path h="8534400" w="6949439">
                  <a:moveTo>
                    <a:pt x="0" y="292608"/>
                  </a:moveTo>
                  <a:cubicBezTo>
                    <a:pt x="0" y="131064"/>
                    <a:pt x="131064" y="0"/>
                    <a:pt x="292608" y="0"/>
                  </a:cubicBezTo>
                  <a:lnTo>
                    <a:pt x="6656832" y="0"/>
                  </a:lnTo>
                  <a:cubicBezTo>
                    <a:pt x="6818502" y="0"/>
                    <a:pt x="6949439" y="131064"/>
                    <a:pt x="6949439" y="292608"/>
                  </a:cubicBezTo>
                  <a:lnTo>
                    <a:pt x="6949439" y="8241792"/>
                  </a:lnTo>
                  <a:cubicBezTo>
                    <a:pt x="6949439" y="8403463"/>
                    <a:pt x="6818376" y="8534400"/>
                    <a:pt x="6656832" y="8534400"/>
                  </a:cubicBezTo>
                  <a:lnTo>
                    <a:pt x="292608" y="8534400"/>
                  </a:lnTo>
                  <a:cubicBezTo>
                    <a:pt x="131064" y="8534400"/>
                    <a:pt x="0" y="8403336"/>
                    <a:pt x="0" y="8241792"/>
                  </a:cubicBezTo>
                  <a:close/>
                </a:path>
              </a:pathLst>
            </a:custGeom>
            <a:solidFill>
              <a:srgbClr val="EFF6FF"/>
            </a:solidFill>
          </p:spPr>
        </p:sp>
      </p:grpSp>
      <p:grpSp>
        <p:nvGrpSpPr>
          <p:cNvPr name="Group 40" id="40"/>
          <p:cNvGrpSpPr/>
          <p:nvPr/>
        </p:nvGrpSpPr>
        <p:grpSpPr>
          <a:xfrm rot="0">
            <a:off x="12563856" y="2743200"/>
            <a:ext cx="4754880" cy="640080"/>
            <a:chOff x="0" y="0"/>
            <a:chExt cx="6339840" cy="853440"/>
          </a:xfrm>
        </p:grpSpPr>
        <p:sp>
          <p:nvSpPr>
            <p:cNvPr name="Freeform 41" id="41"/>
            <p:cNvSpPr/>
            <p:nvPr/>
          </p:nvSpPr>
          <p:spPr>
            <a:xfrm flipH="false" flipV="false" rot="0">
              <a:off x="0" y="0"/>
              <a:ext cx="6339840" cy="853440"/>
            </a:xfrm>
            <a:custGeom>
              <a:avLst/>
              <a:gdLst/>
              <a:ahLst/>
              <a:cxnLst/>
              <a:rect r="r" b="b" t="t" l="l"/>
              <a:pathLst>
                <a:path h="853440" w="6339840">
                  <a:moveTo>
                    <a:pt x="0" y="195072"/>
                  </a:moveTo>
                  <a:cubicBezTo>
                    <a:pt x="0" y="87376"/>
                    <a:pt x="87376" y="0"/>
                    <a:pt x="195072" y="0"/>
                  </a:cubicBezTo>
                  <a:lnTo>
                    <a:pt x="6144768" y="0"/>
                  </a:lnTo>
                  <a:cubicBezTo>
                    <a:pt x="6252464" y="0"/>
                    <a:pt x="6339840" y="87376"/>
                    <a:pt x="6339840" y="195072"/>
                  </a:cubicBezTo>
                  <a:lnTo>
                    <a:pt x="6339840" y="658368"/>
                  </a:lnTo>
                  <a:cubicBezTo>
                    <a:pt x="6339840" y="766064"/>
                    <a:pt x="6252464" y="853440"/>
                    <a:pt x="6144768" y="853440"/>
                  </a:cubicBezTo>
                  <a:lnTo>
                    <a:pt x="195072" y="853440"/>
                  </a:lnTo>
                  <a:cubicBezTo>
                    <a:pt x="87376" y="853440"/>
                    <a:pt x="0" y="766064"/>
                    <a:pt x="0" y="658368"/>
                  </a:cubicBezTo>
                  <a:close/>
                </a:path>
              </a:pathLst>
            </a:custGeom>
            <a:solidFill>
              <a:srgbClr val="3B82F6"/>
            </a:solidFill>
          </p:spPr>
        </p:sp>
      </p:grpSp>
      <p:grpSp>
        <p:nvGrpSpPr>
          <p:cNvPr name="Group 42" id="42"/>
          <p:cNvGrpSpPr/>
          <p:nvPr/>
        </p:nvGrpSpPr>
        <p:grpSpPr>
          <a:xfrm rot="0">
            <a:off x="12563856" y="2743200"/>
            <a:ext cx="4754880" cy="640080"/>
            <a:chOff x="0" y="0"/>
            <a:chExt cx="6339840" cy="853440"/>
          </a:xfrm>
        </p:grpSpPr>
        <p:sp>
          <p:nvSpPr>
            <p:cNvPr name="Freeform 43" id="43"/>
            <p:cNvSpPr/>
            <p:nvPr/>
          </p:nvSpPr>
          <p:spPr>
            <a:xfrm flipH="false" flipV="false" rot="0">
              <a:off x="0" y="0"/>
              <a:ext cx="6339840" cy="853440"/>
            </a:xfrm>
            <a:custGeom>
              <a:avLst/>
              <a:gdLst/>
              <a:ahLst/>
              <a:cxnLst/>
              <a:rect r="r" b="b" t="t" l="l"/>
              <a:pathLst>
                <a:path h="853440" w="6339840">
                  <a:moveTo>
                    <a:pt x="0" y="0"/>
                  </a:moveTo>
                  <a:lnTo>
                    <a:pt x="6339840" y="0"/>
                  </a:lnTo>
                  <a:lnTo>
                    <a:pt x="6339840" y="853440"/>
                  </a:lnTo>
                  <a:lnTo>
                    <a:pt x="0" y="853440"/>
                  </a:lnTo>
                  <a:close/>
                </a:path>
              </a:pathLst>
            </a:custGeom>
            <a:blipFill>
              <a:blip r:embed="rId3">
                <a:alphaModFix amt="0"/>
              </a:blip>
              <a:stretch>
                <a:fillRect l="0" t="-94745" r="0" b="-94745"/>
              </a:stretch>
            </a:blipFill>
          </p:spPr>
        </p:sp>
        <p:sp>
          <p:nvSpPr>
            <p:cNvPr name="TextBox 44" id="44"/>
            <p:cNvSpPr txBox="true"/>
            <p:nvPr/>
          </p:nvSpPr>
          <p:spPr>
            <a:xfrm>
              <a:off x="0" y="-47625"/>
              <a:ext cx="6339840" cy="901065"/>
            </a:xfrm>
            <a:prstGeom prst="rect">
              <a:avLst/>
            </a:prstGeom>
          </p:spPr>
          <p:txBody>
            <a:bodyPr anchor="ctr" rtlCol="false" tIns="0" lIns="0" bIns="0" rIns="0"/>
            <a:lstStyle/>
            <a:p>
              <a:pPr algn="ctr">
                <a:lnSpc>
                  <a:spcPts val="2640"/>
                </a:lnSpc>
              </a:pPr>
              <a:r>
                <a:rPr lang="en-US" sz="2200" b="true">
                  <a:solidFill>
                    <a:srgbClr val="FFFFFF"/>
                  </a:solidFill>
                  <a:latin typeface="Calibri (MS) Bold"/>
                  <a:ea typeface="Calibri (MS) Bold"/>
                  <a:cs typeface="Calibri (MS) Bold"/>
                  <a:sym typeface="Calibri (MS) Bold"/>
                </a:rPr>
                <a:t>Monetary Value of Accuracy</a:t>
              </a:r>
            </a:p>
          </p:txBody>
        </p:sp>
      </p:grpSp>
      <p:grpSp>
        <p:nvGrpSpPr>
          <p:cNvPr name="Group 45" id="45"/>
          <p:cNvGrpSpPr/>
          <p:nvPr/>
        </p:nvGrpSpPr>
        <p:grpSpPr>
          <a:xfrm rot="0">
            <a:off x="12673584" y="3657600"/>
            <a:ext cx="4572000" cy="4754880"/>
            <a:chOff x="0" y="0"/>
            <a:chExt cx="6096000" cy="6339840"/>
          </a:xfrm>
        </p:grpSpPr>
        <p:sp>
          <p:nvSpPr>
            <p:cNvPr name="Freeform 46" id="46"/>
            <p:cNvSpPr/>
            <p:nvPr/>
          </p:nvSpPr>
          <p:spPr>
            <a:xfrm flipH="false" flipV="false" rot="0">
              <a:off x="0" y="0"/>
              <a:ext cx="6096000" cy="6339840"/>
            </a:xfrm>
            <a:custGeom>
              <a:avLst/>
              <a:gdLst/>
              <a:ahLst/>
              <a:cxnLst/>
              <a:rect r="r" b="b" t="t" l="l"/>
              <a:pathLst>
                <a:path h="6339840" w="6096000">
                  <a:moveTo>
                    <a:pt x="0" y="0"/>
                  </a:moveTo>
                  <a:lnTo>
                    <a:pt x="6096000" y="0"/>
                  </a:lnTo>
                  <a:lnTo>
                    <a:pt x="6096000" y="6339840"/>
                  </a:lnTo>
                  <a:lnTo>
                    <a:pt x="0" y="6339840"/>
                  </a:lnTo>
                  <a:close/>
                </a:path>
              </a:pathLst>
            </a:custGeom>
            <a:blipFill>
              <a:blip r:embed="rId3">
                <a:alphaModFix amt="0"/>
              </a:blip>
              <a:stretch>
                <a:fillRect l="-83435" t="0" r="-83435" b="0"/>
              </a:stretch>
            </a:blipFill>
          </p:spPr>
        </p:sp>
        <p:sp>
          <p:nvSpPr>
            <p:cNvPr name="TextBox 47" id="47"/>
            <p:cNvSpPr txBox="true"/>
            <p:nvPr/>
          </p:nvSpPr>
          <p:spPr>
            <a:xfrm>
              <a:off x="0" y="-47625"/>
              <a:ext cx="6096000" cy="6387465"/>
            </a:xfrm>
            <a:prstGeom prst="rect">
              <a:avLst/>
            </a:prstGeom>
          </p:spPr>
          <p:txBody>
            <a:bodyPr anchor="ctr" rtlCol="false" tIns="0" lIns="0" bIns="0" rIns="0"/>
            <a:lstStyle/>
            <a:p>
              <a:pPr algn="l">
                <a:lnSpc>
                  <a:spcPts val="2640"/>
                </a:lnSpc>
              </a:pPr>
              <a:r>
                <a:rPr lang="en-US" sz="2200">
                  <a:solidFill>
                    <a:srgbClr val="334155"/>
                  </a:solidFill>
                  <a:latin typeface="Calibri (MS)"/>
                  <a:ea typeface="Calibri (MS)"/>
                  <a:cs typeface="Calibri (MS)"/>
                  <a:sym typeface="Calibri (MS)"/>
                </a:rPr>
                <a:t>We show that GRU-Quantile produces ₹4.5L more expected value PER BERTHING than ARIMA. Better calibration = better decisions = real money saved.</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73152"/>
            <a:chOff x="0" y="0"/>
            <a:chExt cx="24384000" cy="97536"/>
          </a:xfrm>
        </p:grpSpPr>
        <p:sp>
          <p:nvSpPr>
            <p:cNvPr name="Freeform 3" id="3"/>
            <p:cNvSpPr/>
            <p:nvPr/>
          </p:nvSpPr>
          <p:spPr>
            <a:xfrm flipH="false" flipV="false" rot="0">
              <a:off x="0" y="0"/>
              <a:ext cx="24384000" cy="97536"/>
            </a:xfrm>
            <a:custGeom>
              <a:avLst/>
              <a:gdLst/>
              <a:ahLst/>
              <a:cxnLst/>
              <a:rect r="r" b="b" t="t" l="l"/>
              <a:pathLst>
                <a:path h="97536" w="24384000">
                  <a:moveTo>
                    <a:pt x="0" y="0"/>
                  </a:moveTo>
                  <a:lnTo>
                    <a:pt x="24384000" y="0"/>
                  </a:lnTo>
                  <a:lnTo>
                    <a:pt x="24384000" y="97536"/>
                  </a:lnTo>
                  <a:lnTo>
                    <a:pt x="0" y="97536"/>
                  </a:lnTo>
                  <a:close/>
                </a:path>
              </a:pathLst>
            </a:custGeom>
            <a:solidFill>
              <a:srgbClr val="3B82F6"/>
            </a:solidFill>
          </p:spPr>
        </p:sp>
      </p:grpSp>
      <p:grpSp>
        <p:nvGrpSpPr>
          <p:cNvPr name="Group 4" id="4"/>
          <p:cNvGrpSpPr/>
          <p:nvPr/>
        </p:nvGrpSpPr>
        <p:grpSpPr>
          <a:xfrm rot="0">
            <a:off x="1005840" y="585216"/>
            <a:ext cx="2926080" cy="512064"/>
            <a:chOff x="0" y="0"/>
            <a:chExt cx="3901440" cy="682752"/>
          </a:xfrm>
        </p:grpSpPr>
        <p:sp>
          <p:nvSpPr>
            <p:cNvPr name="Freeform 5" id="5"/>
            <p:cNvSpPr/>
            <p:nvPr/>
          </p:nvSpPr>
          <p:spPr>
            <a:xfrm flipH="false" flipV="false" rot="0">
              <a:off x="0" y="0"/>
              <a:ext cx="3901440" cy="682752"/>
            </a:xfrm>
            <a:custGeom>
              <a:avLst/>
              <a:gdLst/>
              <a:ahLst/>
              <a:cxnLst/>
              <a:rect r="r" b="b" t="t" l="l"/>
              <a:pathLst>
                <a:path h="682752" w="3901440">
                  <a:moveTo>
                    <a:pt x="0" y="341376"/>
                  </a:moveTo>
                  <a:cubicBezTo>
                    <a:pt x="0" y="152781"/>
                    <a:pt x="152781" y="0"/>
                    <a:pt x="341376" y="0"/>
                  </a:cubicBezTo>
                  <a:lnTo>
                    <a:pt x="3560064" y="0"/>
                  </a:lnTo>
                  <a:cubicBezTo>
                    <a:pt x="3748659" y="0"/>
                    <a:pt x="3901440" y="152781"/>
                    <a:pt x="3901440" y="341376"/>
                  </a:cubicBezTo>
                  <a:cubicBezTo>
                    <a:pt x="3901440" y="529971"/>
                    <a:pt x="3748659" y="682752"/>
                    <a:pt x="3560064" y="682752"/>
                  </a:cubicBezTo>
                  <a:lnTo>
                    <a:pt x="341376" y="682752"/>
                  </a:lnTo>
                  <a:cubicBezTo>
                    <a:pt x="152781" y="682752"/>
                    <a:pt x="0" y="529971"/>
                    <a:pt x="0" y="341376"/>
                  </a:cubicBezTo>
                  <a:close/>
                </a:path>
              </a:pathLst>
            </a:custGeom>
            <a:solidFill>
              <a:srgbClr val="3B82F6"/>
            </a:solidFill>
          </p:spPr>
        </p:sp>
      </p:grpSp>
      <p:grpSp>
        <p:nvGrpSpPr>
          <p:cNvPr name="Group 6" id="6"/>
          <p:cNvGrpSpPr/>
          <p:nvPr/>
        </p:nvGrpSpPr>
        <p:grpSpPr>
          <a:xfrm rot="0">
            <a:off x="1005840" y="585216"/>
            <a:ext cx="2926080" cy="512064"/>
            <a:chOff x="0" y="0"/>
            <a:chExt cx="3901440" cy="682752"/>
          </a:xfrm>
        </p:grpSpPr>
        <p:sp>
          <p:nvSpPr>
            <p:cNvPr name="Freeform 7" id="7"/>
            <p:cNvSpPr/>
            <p:nvPr/>
          </p:nvSpPr>
          <p:spPr>
            <a:xfrm flipH="false" flipV="false" rot="0">
              <a:off x="0" y="0"/>
              <a:ext cx="3901440" cy="682752"/>
            </a:xfrm>
            <a:custGeom>
              <a:avLst/>
              <a:gdLst/>
              <a:ahLst/>
              <a:cxnLst/>
              <a:rect r="r" b="b" t="t" l="l"/>
              <a:pathLst>
                <a:path h="682752" w="3901440">
                  <a:moveTo>
                    <a:pt x="0" y="0"/>
                  </a:moveTo>
                  <a:lnTo>
                    <a:pt x="3901440" y="0"/>
                  </a:lnTo>
                  <a:lnTo>
                    <a:pt x="3901440" y="682752"/>
                  </a:lnTo>
                  <a:lnTo>
                    <a:pt x="0" y="682752"/>
                  </a:lnTo>
                  <a:close/>
                </a:path>
              </a:pathLst>
            </a:custGeom>
            <a:blipFill>
              <a:blip r:embed="rId3">
                <a:alphaModFix amt="0"/>
              </a:blip>
              <a:stretch>
                <a:fillRect l="0" t="-61343" r="0" b="-61343"/>
              </a:stretch>
            </a:blipFill>
          </p:spPr>
        </p:sp>
        <p:sp>
          <p:nvSpPr>
            <p:cNvPr name="TextBox 8" id="8"/>
            <p:cNvSpPr txBox="true"/>
            <p:nvPr/>
          </p:nvSpPr>
          <p:spPr>
            <a:xfrm>
              <a:off x="0" y="-38100"/>
              <a:ext cx="3901440" cy="72085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MOTIVATION</a:t>
              </a:r>
            </a:p>
          </p:txBody>
        </p:sp>
      </p:grpSp>
      <p:grpSp>
        <p:nvGrpSpPr>
          <p:cNvPr name="Group 9" id="9"/>
          <p:cNvGrpSpPr/>
          <p:nvPr/>
        </p:nvGrpSpPr>
        <p:grpSpPr>
          <a:xfrm rot="0">
            <a:off x="1005840" y="1060704"/>
            <a:ext cx="16276320" cy="877824"/>
            <a:chOff x="0" y="0"/>
            <a:chExt cx="21701760" cy="1170432"/>
          </a:xfrm>
        </p:grpSpPr>
        <p:sp>
          <p:nvSpPr>
            <p:cNvPr name="Freeform 10" id="10"/>
            <p:cNvSpPr/>
            <p:nvPr/>
          </p:nvSpPr>
          <p:spPr>
            <a:xfrm flipH="false" flipV="false" rot="0">
              <a:off x="0" y="0"/>
              <a:ext cx="21701761" cy="1170432"/>
            </a:xfrm>
            <a:custGeom>
              <a:avLst/>
              <a:gdLst/>
              <a:ahLst/>
              <a:cxnLst/>
              <a:rect r="r" b="b" t="t" l="l"/>
              <a:pathLst>
                <a:path h="1170432" w="21701761">
                  <a:moveTo>
                    <a:pt x="0" y="0"/>
                  </a:moveTo>
                  <a:lnTo>
                    <a:pt x="21701761" y="0"/>
                  </a:lnTo>
                  <a:lnTo>
                    <a:pt x="21701761" y="1170432"/>
                  </a:lnTo>
                  <a:lnTo>
                    <a:pt x="0" y="1170432"/>
                  </a:lnTo>
                  <a:close/>
                </a:path>
              </a:pathLst>
            </a:custGeom>
            <a:blipFill>
              <a:blip r:embed="rId3">
                <a:alphaModFix amt="0"/>
              </a:blip>
              <a:stretch>
                <a:fillRect l="0" t="-311285" r="0" b="-311285"/>
              </a:stretch>
            </a:blipFill>
          </p:spPr>
        </p:sp>
        <p:sp>
          <p:nvSpPr>
            <p:cNvPr name="TextBox 11" id="11"/>
            <p:cNvSpPr txBox="true"/>
            <p:nvPr/>
          </p:nvSpPr>
          <p:spPr>
            <a:xfrm>
              <a:off x="0" y="-76200"/>
              <a:ext cx="21701760" cy="1246632"/>
            </a:xfrm>
            <a:prstGeom prst="rect">
              <a:avLst/>
            </a:prstGeom>
          </p:spPr>
          <p:txBody>
            <a:bodyPr anchor="ctr" rtlCol="false" tIns="0" lIns="0" bIns="0" rIns="0"/>
            <a:lstStyle/>
            <a:p>
              <a:pPr algn="l">
                <a:lnSpc>
                  <a:spcPts val="5280"/>
                </a:lnSpc>
              </a:pPr>
              <a:r>
                <a:rPr lang="en-US" sz="4400" b="true">
                  <a:solidFill>
                    <a:srgbClr val="1A2744"/>
                  </a:solidFill>
                  <a:latin typeface="Calibri (MS) Bold"/>
                  <a:ea typeface="Calibri (MS) Bold"/>
                  <a:cs typeface="Calibri (MS) Bold"/>
                  <a:sym typeface="Calibri (MS) Bold"/>
                </a:rPr>
                <a:t>The Cost of Forecasting Error</a:t>
              </a:r>
            </a:p>
          </p:txBody>
        </p:sp>
      </p:grpSp>
      <p:grpSp>
        <p:nvGrpSpPr>
          <p:cNvPr name="Group 12" id="12"/>
          <p:cNvGrpSpPr/>
          <p:nvPr/>
        </p:nvGrpSpPr>
        <p:grpSpPr>
          <a:xfrm rot="0">
            <a:off x="1005840" y="1938528"/>
            <a:ext cx="16276320" cy="457200"/>
            <a:chOff x="0" y="0"/>
            <a:chExt cx="21701760" cy="609600"/>
          </a:xfrm>
        </p:grpSpPr>
        <p:sp>
          <p:nvSpPr>
            <p:cNvPr name="Freeform 13" id="13"/>
            <p:cNvSpPr/>
            <p:nvPr/>
          </p:nvSpPr>
          <p:spPr>
            <a:xfrm flipH="false" flipV="false" rot="0">
              <a:off x="0" y="0"/>
              <a:ext cx="21701761" cy="609600"/>
            </a:xfrm>
            <a:custGeom>
              <a:avLst/>
              <a:gdLst/>
              <a:ahLst/>
              <a:cxnLst/>
              <a:rect r="r" b="b" t="t" l="l"/>
              <a:pathLst>
                <a:path h="609600" w="21701761">
                  <a:moveTo>
                    <a:pt x="0" y="0"/>
                  </a:moveTo>
                  <a:lnTo>
                    <a:pt x="21701761" y="0"/>
                  </a:lnTo>
                  <a:lnTo>
                    <a:pt x="21701761" y="609600"/>
                  </a:lnTo>
                  <a:lnTo>
                    <a:pt x="0" y="609600"/>
                  </a:lnTo>
                  <a:close/>
                </a:path>
              </a:pathLst>
            </a:custGeom>
            <a:blipFill>
              <a:blip r:embed="rId3">
                <a:alphaModFix amt="0"/>
              </a:blip>
              <a:stretch>
                <a:fillRect l="0" t="-643667" r="0" b="-643667"/>
              </a:stretch>
            </a:blipFill>
          </p:spPr>
        </p:sp>
        <p:sp>
          <p:nvSpPr>
            <p:cNvPr name="TextBox 14" id="14"/>
            <p:cNvSpPr txBox="true"/>
            <p:nvPr/>
          </p:nvSpPr>
          <p:spPr>
            <a:xfrm>
              <a:off x="0" y="-47625"/>
              <a:ext cx="21701760" cy="657225"/>
            </a:xfrm>
            <a:prstGeom prst="rect">
              <a:avLst/>
            </a:prstGeom>
          </p:spPr>
          <p:txBody>
            <a:bodyPr anchor="ctr" rtlCol="false" tIns="0" lIns="0" bIns="0" rIns="0"/>
            <a:lstStyle/>
            <a:p>
              <a:pPr algn="l">
                <a:lnSpc>
                  <a:spcPts val="2640"/>
                </a:lnSpc>
              </a:pPr>
              <a:r>
                <a:rPr lang="en-US" sz="2200" i="true">
                  <a:solidFill>
                    <a:srgbClr val="64748B"/>
                  </a:solidFill>
                  <a:latin typeface="Calibri (MS) Italics"/>
                  <a:ea typeface="Calibri (MS) Italics"/>
                  <a:cs typeface="Calibri (MS) Italics"/>
                  <a:sym typeface="Calibri (MS) Italics"/>
                </a:rPr>
                <a:t>Model quality has direct monetary consequences</a:t>
              </a:r>
            </a:p>
          </p:txBody>
        </p:sp>
      </p:grpSp>
      <p:grpSp>
        <p:nvGrpSpPr>
          <p:cNvPr name="Group 15" id="15"/>
          <p:cNvGrpSpPr/>
          <p:nvPr/>
        </p:nvGrpSpPr>
        <p:grpSpPr>
          <a:xfrm rot="0">
            <a:off x="17190720" y="9646920"/>
            <a:ext cx="731520" cy="457200"/>
            <a:chOff x="0" y="0"/>
            <a:chExt cx="975360" cy="609600"/>
          </a:xfrm>
        </p:grpSpPr>
        <p:sp>
          <p:nvSpPr>
            <p:cNvPr name="Freeform 16" id="16"/>
            <p:cNvSpPr/>
            <p:nvPr/>
          </p:nvSpPr>
          <p:spPr>
            <a:xfrm flipH="false" flipV="false" rot="0">
              <a:off x="0" y="0"/>
              <a:ext cx="975360" cy="609600"/>
            </a:xfrm>
            <a:custGeom>
              <a:avLst/>
              <a:gdLst/>
              <a:ahLst/>
              <a:cxnLst/>
              <a:rect r="r" b="b" t="t" l="l"/>
              <a:pathLst>
                <a:path h="609600" w="975360">
                  <a:moveTo>
                    <a:pt x="0" y="0"/>
                  </a:moveTo>
                  <a:lnTo>
                    <a:pt x="975360" y="0"/>
                  </a:lnTo>
                  <a:lnTo>
                    <a:pt x="975360" y="609600"/>
                  </a:lnTo>
                  <a:lnTo>
                    <a:pt x="0" y="609600"/>
                  </a:lnTo>
                  <a:close/>
                </a:path>
              </a:pathLst>
            </a:custGeom>
            <a:blipFill>
              <a:blip r:embed="rId3">
                <a:alphaModFix amt="0"/>
              </a:blip>
              <a:stretch>
                <a:fillRect l="-30189" t="0" r="-30189" b="0"/>
              </a:stretch>
            </a:blipFill>
          </p:spPr>
        </p:sp>
        <p:sp>
          <p:nvSpPr>
            <p:cNvPr name="TextBox 17" id="17"/>
            <p:cNvSpPr txBox="true"/>
            <p:nvPr/>
          </p:nvSpPr>
          <p:spPr>
            <a:xfrm>
              <a:off x="0" y="-38100"/>
              <a:ext cx="975360" cy="647700"/>
            </a:xfrm>
            <a:prstGeom prst="rect">
              <a:avLst/>
            </a:prstGeom>
          </p:spPr>
          <p:txBody>
            <a:bodyPr anchor="ctr" rtlCol="false" tIns="0" lIns="0" bIns="0" rIns="0"/>
            <a:lstStyle/>
            <a:p>
              <a:pPr algn="r">
                <a:lnSpc>
                  <a:spcPts val="2160"/>
                </a:lnSpc>
              </a:pPr>
              <a:r>
                <a:rPr lang="en-US" sz="1800">
                  <a:solidFill>
                    <a:srgbClr val="64748B"/>
                  </a:solidFill>
                  <a:latin typeface="Calibri (MS)"/>
                  <a:ea typeface="Calibri (MS)"/>
                  <a:cs typeface="Calibri (MS)"/>
                  <a:sym typeface="Calibri (MS)"/>
                </a:rPr>
                <a:t>5</a:t>
              </a:r>
            </a:p>
          </p:txBody>
        </p:sp>
      </p:grpSp>
      <p:grpSp>
        <p:nvGrpSpPr>
          <p:cNvPr name="Group 18" id="18"/>
          <p:cNvGrpSpPr/>
          <p:nvPr/>
        </p:nvGrpSpPr>
        <p:grpSpPr>
          <a:xfrm rot="0">
            <a:off x="1005840" y="2560320"/>
            <a:ext cx="7680960" cy="7040880"/>
            <a:chOff x="0" y="0"/>
            <a:chExt cx="10241280" cy="9387840"/>
          </a:xfrm>
        </p:grpSpPr>
        <p:sp>
          <p:nvSpPr>
            <p:cNvPr name="Freeform 19" id="19"/>
            <p:cNvSpPr/>
            <p:nvPr/>
          </p:nvSpPr>
          <p:spPr>
            <a:xfrm flipH="false" flipV="false" rot="0">
              <a:off x="0" y="0"/>
              <a:ext cx="10241280" cy="9387839"/>
            </a:xfrm>
            <a:custGeom>
              <a:avLst/>
              <a:gdLst/>
              <a:ahLst/>
              <a:cxnLst/>
              <a:rect r="r" b="b" t="t" l="l"/>
              <a:pathLst>
                <a:path h="9387839" w="10241280">
                  <a:moveTo>
                    <a:pt x="0" y="292608"/>
                  </a:moveTo>
                  <a:cubicBezTo>
                    <a:pt x="0" y="131064"/>
                    <a:pt x="131064" y="0"/>
                    <a:pt x="292608" y="0"/>
                  </a:cubicBezTo>
                  <a:lnTo>
                    <a:pt x="9948672" y="0"/>
                  </a:lnTo>
                  <a:cubicBezTo>
                    <a:pt x="10110343" y="0"/>
                    <a:pt x="10241280" y="131064"/>
                    <a:pt x="10241280" y="292608"/>
                  </a:cubicBezTo>
                  <a:lnTo>
                    <a:pt x="10241280" y="9095232"/>
                  </a:lnTo>
                  <a:cubicBezTo>
                    <a:pt x="10241280" y="9256902"/>
                    <a:pt x="10110216" y="9387839"/>
                    <a:pt x="9948672" y="9387839"/>
                  </a:cubicBezTo>
                  <a:lnTo>
                    <a:pt x="292608" y="9387839"/>
                  </a:lnTo>
                  <a:cubicBezTo>
                    <a:pt x="131064" y="9387840"/>
                    <a:pt x="0" y="9256776"/>
                    <a:pt x="0" y="9095232"/>
                  </a:cubicBezTo>
                  <a:close/>
                </a:path>
              </a:pathLst>
            </a:custGeom>
            <a:solidFill>
              <a:srgbClr val="EFF6FF"/>
            </a:solidFill>
          </p:spPr>
        </p:sp>
      </p:grpSp>
      <p:grpSp>
        <p:nvGrpSpPr>
          <p:cNvPr name="Group 20" id="20"/>
          <p:cNvGrpSpPr/>
          <p:nvPr/>
        </p:nvGrpSpPr>
        <p:grpSpPr>
          <a:xfrm rot="0">
            <a:off x="1280160" y="2706624"/>
            <a:ext cx="7132320" cy="585216"/>
            <a:chOff x="0" y="0"/>
            <a:chExt cx="9509760" cy="780288"/>
          </a:xfrm>
        </p:grpSpPr>
        <p:sp>
          <p:nvSpPr>
            <p:cNvPr name="Freeform 21" id="21"/>
            <p:cNvSpPr/>
            <p:nvPr/>
          </p:nvSpPr>
          <p:spPr>
            <a:xfrm flipH="false" flipV="false" rot="0">
              <a:off x="0" y="0"/>
              <a:ext cx="9509760" cy="780288"/>
            </a:xfrm>
            <a:custGeom>
              <a:avLst/>
              <a:gdLst/>
              <a:ahLst/>
              <a:cxnLst/>
              <a:rect r="r" b="b" t="t" l="l"/>
              <a:pathLst>
                <a:path h="780288" w="9509760">
                  <a:moveTo>
                    <a:pt x="0" y="0"/>
                  </a:moveTo>
                  <a:lnTo>
                    <a:pt x="9509760" y="0"/>
                  </a:lnTo>
                  <a:lnTo>
                    <a:pt x="9509760" y="780288"/>
                  </a:lnTo>
                  <a:lnTo>
                    <a:pt x="0" y="780288"/>
                  </a:lnTo>
                  <a:close/>
                </a:path>
              </a:pathLst>
            </a:custGeom>
            <a:blipFill>
              <a:blip r:embed="rId3">
                <a:alphaModFix amt="0"/>
              </a:blip>
              <a:stretch>
                <a:fillRect l="0" t="-187473" r="0" b="-187473"/>
              </a:stretch>
            </a:blipFill>
          </p:spPr>
        </p:sp>
        <p:sp>
          <p:nvSpPr>
            <p:cNvPr name="TextBox 22" id="22"/>
            <p:cNvSpPr txBox="true"/>
            <p:nvPr/>
          </p:nvSpPr>
          <p:spPr>
            <a:xfrm>
              <a:off x="0" y="-47625"/>
              <a:ext cx="9509760" cy="827913"/>
            </a:xfrm>
            <a:prstGeom prst="rect">
              <a:avLst/>
            </a:prstGeom>
          </p:spPr>
          <p:txBody>
            <a:bodyPr anchor="ctr" rtlCol="false" tIns="0" lIns="0" bIns="0" rIns="0"/>
            <a:lstStyle/>
            <a:p>
              <a:pPr algn="l">
                <a:lnSpc>
                  <a:spcPts val="2640"/>
                </a:lnSpc>
              </a:pPr>
              <a:r>
                <a:rPr lang="en-US" sz="2200" b="true">
                  <a:solidFill>
                    <a:srgbClr val="1A2744"/>
                  </a:solidFill>
                  <a:latin typeface="Calibri (MS) Bold"/>
                  <a:ea typeface="Calibri (MS) Bold"/>
                  <a:cs typeface="Calibri (MS) Bold"/>
                  <a:sym typeface="Calibri (MS) Bold"/>
                </a:rPr>
                <a:t>SLA — Port Tidal Gate (Bay of Bengal)</a:t>
              </a:r>
            </a:p>
          </p:txBody>
        </p:sp>
      </p:grpSp>
      <p:grpSp>
        <p:nvGrpSpPr>
          <p:cNvPr name="Group 23" id="23"/>
          <p:cNvGrpSpPr/>
          <p:nvPr/>
        </p:nvGrpSpPr>
        <p:grpSpPr>
          <a:xfrm rot="0">
            <a:off x="1280160" y="3438144"/>
            <a:ext cx="7132320" cy="5852160"/>
            <a:chOff x="0" y="0"/>
            <a:chExt cx="9509760" cy="7802880"/>
          </a:xfrm>
        </p:grpSpPr>
        <p:sp>
          <p:nvSpPr>
            <p:cNvPr name="Freeform 24" id="24"/>
            <p:cNvSpPr/>
            <p:nvPr/>
          </p:nvSpPr>
          <p:spPr>
            <a:xfrm flipH="false" flipV="false" rot="0">
              <a:off x="0" y="0"/>
              <a:ext cx="9509760" cy="7802880"/>
            </a:xfrm>
            <a:custGeom>
              <a:avLst/>
              <a:gdLst/>
              <a:ahLst/>
              <a:cxnLst/>
              <a:rect r="r" b="b" t="t" l="l"/>
              <a:pathLst>
                <a:path h="7802880" w="9509760">
                  <a:moveTo>
                    <a:pt x="0" y="0"/>
                  </a:moveTo>
                  <a:lnTo>
                    <a:pt x="9509760" y="0"/>
                  </a:lnTo>
                  <a:lnTo>
                    <a:pt x="9509760" y="7802880"/>
                  </a:lnTo>
                  <a:lnTo>
                    <a:pt x="0" y="7802880"/>
                  </a:lnTo>
                  <a:close/>
                </a:path>
              </a:pathLst>
            </a:custGeom>
            <a:blipFill>
              <a:blip r:embed="rId3">
                <a:alphaModFix amt="0"/>
              </a:blip>
              <a:stretch>
                <a:fillRect l="-55274" t="0" r="-55274" b="0"/>
              </a:stretch>
            </a:blipFill>
          </p:spPr>
        </p:sp>
        <p:sp>
          <p:nvSpPr>
            <p:cNvPr name="TextBox 25" id="25"/>
            <p:cNvSpPr txBox="true"/>
            <p:nvPr/>
          </p:nvSpPr>
          <p:spPr>
            <a:xfrm>
              <a:off x="0" y="-47625"/>
              <a:ext cx="9509760" cy="7850505"/>
            </a:xfrm>
            <a:prstGeom prst="rect">
              <a:avLst/>
            </a:prstGeom>
          </p:spPr>
          <p:txBody>
            <a:bodyPr anchor="ctr" rtlCol="false" tIns="0" lIns="0" bIns="0" rIns="0"/>
            <a:lstStyle/>
            <a:p>
              <a:pPr algn="l">
                <a:lnSpc>
                  <a:spcPts val="2640"/>
                </a:lnSpc>
              </a:pPr>
              <a:r>
                <a:rPr lang="en-US" sz="2200" b="true">
                  <a:solidFill>
                    <a:srgbClr val="059669"/>
                  </a:solidFill>
                  <a:latin typeface="Calibri (MS) Bold"/>
                  <a:ea typeface="Calibri (MS) Bold"/>
                  <a:cs typeface="Calibri (MS) Bold"/>
                  <a:sym typeface="Calibri (MS) Bold"/>
                </a:rPr>
                <a:t>GRU-Quantile </a:t>
              </a:r>
              <a:r>
                <a:rPr lang="en-US" sz="2200">
                  <a:solidFill>
                    <a:srgbClr val="334155"/>
                  </a:solidFill>
                  <a:latin typeface="Calibri (MS)"/>
                  <a:ea typeface="Calibri (MS)"/>
                  <a:cs typeface="Calibri (MS)"/>
                  <a:sym typeface="Calibri (MS)"/>
                </a:rPr>
                <a:t>(PICP=95.07%, MPIW=1.01 cm):</a:t>
              </a:r>
            </a:p>
            <a:p>
              <a:pPr algn="l">
                <a:lnSpc>
                  <a:spcPts val="2640"/>
                </a:lnSpc>
              </a:pPr>
            </a:p>
            <a:p>
              <a:pPr algn="l">
                <a:lnSpc>
                  <a:spcPts val="2640"/>
                </a:lnSpc>
              </a:pPr>
              <a:r>
                <a:rPr lang="en-US" sz="2200" b="true">
                  <a:solidFill>
                    <a:srgbClr val="1A2744"/>
                  </a:solidFill>
                  <a:latin typeface="Calibri (MS) Bold"/>
                  <a:ea typeface="Calibri (MS) Bold"/>
                  <a:cs typeface="Calibri (MS) Bold"/>
                  <a:sym typeface="Calibri (MS) Bold"/>
                </a:rPr>
                <a:t>Expected Return = ₹4,54,945 per berthing</a:t>
              </a:r>
            </a:p>
            <a:p>
              <a:pPr algn="l">
                <a:lnSpc>
                  <a:spcPts val="2640"/>
                </a:lnSpc>
              </a:pPr>
            </a:p>
            <a:p>
              <a:pPr algn="l">
                <a:lnSpc>
                  <a:spcPts val="2640"/>
                </a:lnSpc>
              </a:pPr>
            </a:p>
            <a:p>
              <a:pPr algn="l">
                <a:lnSpc>
                  <a:spcPts val="2640"/>
                </a:lnSpc>
              </a:pPr>
              <a:r>
                <a:rPr lang="en-US" sz="2200" b="true">
                  <a:solidFill>
                    <a:srgbClr val="DC2626"/>
                  </a:solidFill>
                  <a:latin typeface="Calibri (MS) Bold"/>
                  <a:ea typeface="Calibri (MS) Bold"/>
                  <a:cs typeface="Calibri (MS) Bold"/>
                  <a:sym typeface="Calibri (MS) Bold"/>
                </a:rPr>
                <a:t>ARIMA Baseline </a:t>
              </a:r>
              <a:r>
                <a:rPr lang="en-US" sz="2200">
                  <a:solidFill>
                    <a:srgbClr val="334155"/>
                  </a:solidFill>
                  <a:latin typeface="Calibri (MS)"/>
                  <a:ea typeface="Calibri (MS)"/>
                  <a:cs typeface="Calibri (MS)"/>
                  <a:sym typeface="Calibri (MS)"/>
                </a:rPr>
                <a:t>(PICP=86.76%, MPIW=1.89 cm):</a:t>
              </a:r>
            </a:p>
            <a:p>
              <a:pPr algn="l">
                <a:lnSpc>
                  <a:spcPts val="2640"/>
                </a:lnSpc>
              </a:pPr>
            </a:p>
            <a:p>
              <a:pPr algn="l">
                <a:lnSpc>
                  <a:spcPts val="2640"/>
                </a:lnSpc>
              </a:pPr>
              <a:r>
                <a:rPr lang="en-US" sz="2200" b="true">
                  <a:solidFill>
                    <a:srgbClr val="1A2744"/>
                  </a:solidFill>
                  <a:latin typeface="Calibri (MS) Bold"/>
                  <a:ea typeface="Calibri (MS) Bold"/>
                  <a:cs typeface="Calibri (MS) Bold"/>
                  <a:sym typeface="Calibri (MS) Bold"/>
                </a:rPr>
                <a:t>Expected Return = ₹77,360 per berthing</a:t>
              </a:r>
            </a:p>
            <a:p>
              <a:pPr algn="l">
                <a:lnSpc>
                  <a:spcPts val="2640"/>
                </a:lnSpc>
              </a:pPr>
            </a:p>
            <a:p>
              <a:pPr algn="l">
                <a:lnSpc>
                  <a:spcPts val="2640"/>
                </a:lnSpc>
              </a:pPr>
            </a:p>
            <a:p>
              <a:pPr algn="l">
                <a:lnSpc>
                  <a:spcPts val="2640"/>
                </a:lnSpc>
              </a:pPr>
              <a:r>
                <a:rPr lang="en-US" sz="2200">
                  <a:solidFill>
                    <a:srgbClr val="334155"/>
                  </a:solidFill>
                  <a:latin typeface="Calibri (MS)"/>
                  <a:ea typeface="Calibri (MS)"/>
                  <a:cs typeface="Calibri (MS)"/>
                  <a:sym typeface="Calibri (MS)"/>
                </a:rPr>
                <a:t>Annual difference at JNPT scale:</a:t>
              </a:r>
            </a:p>
            <a:p>
              <a:pPr algn="l">
                <a:lnSpc>
                  <a:spcPts val="2640"/>
                </a:lnSpc>
              </a:pPr>
            </a:p>
            <a:p>
              <a:pPr algn="l">
                <a:lnSpc>
                  <a:spcPts val="4320"/>
                </a:lnSpc>
              </a:pPr>
              <a:r>
                <a:rPr lang="en-US" sz="3600" b="true">
                  <a:solidFill>
                    <a:srgbClr val="059669"/>
                  </a:solidFill>
                  <a:latin typeface="Calibri (MS) Bold"/>
                  <a:ea typeface="Calibri (MS) Bold"/>
                  <a:cs typeface="Calibri (MS) Bold"/>
                  <a:sym typeface="Calibri (MS) Bold"/>
                </a:rPr>
                <a:t>₹45.3 Crore / year</a:t>
              </a:r>
            </a:p>
          </p:txBody>
        </p:sp>
      </p:grpSp>
      <p:grpSp>
        <p:nvGrpSpPr>
          <p:cNvPr name="Group 26" id="26"/>
          <p:cNvGrpSpPr/>
          <p:nvPr/>
        </p:nvGrpSpPr>
        <p:grpSpPr>
          <a:xfrm rot="0">
            <a:off x="9418320" y="2560320"/>
            <a:ext cx="7863840" cy="7040880"/>
            <a:chOff x="0" y="0"/>
            <a:chExt cx="10485120" cy="9387840"/>
          </a:xfrm>
        </p:grpSpPr>
        <p:sp>
          <p:nvSpPr>
            <p:cNvPr name="Freeform 27" id="27"/>
            <p:cNvSpPr/>
            <p:nvPr/>
          </p:nvSpPr>
          <p:spPr>
            <a:xfrm flipH="false" flipV="false" rot="0">
              <a:off x="0" y="0"/>
              <a:ext cx="10485120" cy="9387839"/>
            </a:xfrm>
            <a:custGeom>
              <a:avLst/>
              <a:gdLst/>
              <a:ahLst/>
              <a:cxnLst/>
              <a:rect r="r" b="b" t="t" l="l"/>
              <a:pathLst>
                <a:path h="9387839" w="10485120">
                  <a:moveTo>
                    <a:pt x="0" y="292608"/>
                  </a:moveTo>
                  <a:cubicBezTo>
                    <a:pt x="0" y="131064"/>
                    <a:pt x="131064" y="0"/>
                    <a:pt x="292608" y="0"/>
                  </a:cubicBezTo>
                  <a:lnTo>
                    <a:pt x="10192512" y="0"/>
                  </a:lnTo>
                  <a:cubicBezTo>
                    <a:pt x="10354183" y="0"/>
                    <a:pt x="10485120" y="131064"/>
                    <a:pt x="10485120" y="292608"/>
                  </a:cubicBezTo>
                  <a:lnTo>
                    <a:pt x="10485120" y="9095232"/>
                  </a:lnTo>
                  <a:cubicBezTo>
                    <a:pt x="10485120" y="9256902"/>
                    <a:pt x="10354056" y="9387839"/>
                    <a:pt x="10192512" y="9387839"/>
                  </a:cubicBezTo>
                  <a:lnTo>
                    <a:pt x="292608" y="9387839"/>
                  </a:lnTo>
                  <a:cubicBezTo>
                    <a:pt x="131064" y="9387840"/>
                    <a:pt x="0" y="9256776"/>
                    <a:pt x="0" y="9095232"/>
                  </a:cubicBezTo>
                  <a:close/>
                </a:path>
              </a:pathLst>
            </a:custGeom>
            <a:solidFill>
              <a:srgbClr val="EFF6FF"/>
            </a:solidFill>
          </p:spPr>
        </p:sp>
      </p:grpSp>
      <p:grpSp>
        <p:nvGrpSpPr>
          <p:cNvPr name="Group 28" id="28"/>
          <p:cNvGrpSpPr/>
          <p:nvPr/>
        </p:nvGrpSpPr>
        <p:grpSpPr>
          <a:xfrm rot="0">
            <a:off x="9692640" y="2706624"/>
            <a:ext cx="7315200" cy="585216"/>
            <a:chOff x="0" y="0"/>
            <a:chExt cx="9753600" cy="780288"/>
          </a:xfrm>
        </p:grpSpPr>
        <p:sp>
          <p:nvSpPr>
            <p:cNvPr name="Freeform 29" id="29"/>
            <p:cNvSpPr/>
            <p:nvPr/>
          </p:nvSpPr>
          <p:spPr>
            <a:xfrm flipH="false" flipV="false" rot="0">
              <a:off x="0" y="0"/>
              <a:ext cx="9753600" cy="780288"/>
            </a:xfrm>
            <a:custGeom>
              <a:avLst/>
              <a:gdLst/>
              <a:ahLst/>
              <a:cxnLst/>
              <a:rect r="r" b="b" t="t" l="l"/>
              <a:pathLst>
                <a:path h="780288" w="9753600">
                  <a:moveTo>
                    <a:pt x="0" y="0"/>
                  </a:moveTo>
                  <a:lnTo>
                    <a:pt x="9753600" y="0"/>
                  </a:lnTo>
                  <a:lnTo>
                    <a:pt x="9753600" y="780288"/>
                  </a:lnTo>
                  <a:lnTo>
                    <a:pt x="0" y="780288"/>
                  </a:lnTo>
                  <a:close/>
                </a:path>
              </a:pathLst>
            </a:custGeom>
            <a:blipFill>
              <a:blip r:embed="rId3">
                <a:alphaModFix amt="0"/>
              </a:blip>
              <a:stretch>
                <a:fillRect l="0" t="-193562" r="0" b="-193562"/>
              </a:stretch>
            </a:blipFill>
          </p:spPr>
        </p:sp>
        <p:sp>
          <p:nvSpPr>
            <p:cNvPr name="TextBox 30" id="30"/>
            <p:cNvSpPr txBox="true"/>
            <p:nvPr/>
          </p:nvSpPr>
          <p:spPr>
            <a:xfrm>
              <a:off x="0" y="-47625"/>
              <a:ext cx="9753600" cy="827913"/>
            </a:xfrm>
            <a:prstGeom prst="rect">
              <a:avLst/>
            </a:prstGeom>
          </p:spPr>
          <p:txBody>
            <a:bodyPr anchor="ctr" rtlCol="false" tIns="0" lIns="0" bIns="0" rIns="0"/>
            <a:lstStyle/>
            <a:p>
              <a:pPr algn="l">
                <a:lnSpc>
                  <a:spcPts val="2640"/>
                </a:lnSpc>
              </a:pPr>
              <a:r>
                <a:rPr lang="en-US" sz="2200" b="true">
                  <a:solidFill>
                    <a:srgbClr val="1A2744"/>
                  </a:solidFill>
                  <a:latin typeface="Calibri (MS) Bold"/>
                  <a:ea typeface="Calibri (MS) Bold"/>
                  <a:cs typeface="Calibri (MS) Bold"/>
                  <a:sym typeface="Calibri (MS) Bold"/>
                </a:rPr>
                <a:t>SWH — Wave Energy Converter (Lakshadweep)</a:t>
              </a:r>
            </a:p>
          </p:txBody>
        </p:sp>
      </p:grpSp>
      <p:grpSp>
        <p:nvGrpSpPr>
          <p:cNvPr name="Group 31" id="31"/>
          <p:cNvGrpSpPr/>
          <p:nvPr/>
        </p:nvGrpSpPr>
        <p:grpSpPr>
          <a:xfrm rot="0">
            <a:off x="9692640" y="3438144"/>
            <a:ext cx="7315200" cy="5852160"/>
            <a:chOff x="0" y="0"/>
            <a:chExt cx="9753600" cy="7802880"/>
          </a:xfrm>
        </p:grpSpPr>
        <p:sp>
          <p:nvSpPr>
            <p:cNvPr name="Freeform 32" id="32"/>
            <p:cNvSpPr/>
            <p:nvPr/>
          </p:nvSpPr>
          <p:spPr>
            <a:xfrm flipH="false" flipV="false" rot="0">
              <a:off x="0" y="0"/>
              <a:ext cx="9753600" cy="7802880"/>
            </a:xfrm>
            <a:custGeom>
              <a:avLst/>
              <a:gdLst/>
              <a:ahLst/>
              <a:cxnLst/>
              <a:rect r="r" b="b" t="t" l="l"/>
              <a:pathLst>
                <a:path h="7802880" w="9753600">
                  <a:moveTo>
                    <a:pt x="0" y="0"/>
                  </a:moveTo>
                  <a:lnTo>
                    <a:pt x="9753600" y="0"/>
                  </a:lnTo>
                  <a:lnTo>
                    <a:pt x="9753600" y="7802880"/>
                  </a:lnTo>
                  <a:lnTo>
                    <a:pt x="0" y="7802880"/>
                  </a:lnTo>
                  <a:close/>
                </a:path>
              </a:pathLst>
            </a:custGeom>
            <a:blipFill>
              <a:blip r:embed="rId3">
                <a:alphaModFix amt="0"/>
              </a:blip>
              <a:stretch>
                <a:fillRect l="-52642" t="0" r="-52642" b="0"/>
              </a:stretch>
            </a:blipFill>
          </p:spPr>
        </p:sp>
        <p:sp>
          <p:nvSpPr>
            <p:cNvPr name="TextBox 33" id="33"/>
            <p:cNvSpPr txBox="true"/>
            <p:nvPr/>
          </p:nvSpPr>
          <p:spPr>
            <a:xfrm>
              <a:off x="0" y="-47625"/>
              <a:ext cx="9753600" cy="7850505"/>
            </a:xfrm>
            <a:prstGeom prst="rect">
              <a:avLst/>
            </a:prstGeom>
          </p:spPr>
          <p:txBody>
            <a:bodyPr anchor="ctr" rtlCol="false" tIns="0" lIns="0" bIns="0" rIns="0"/>
            <a:lstStyle/>
            <a:p>
              <a:pPr algn="l">
                <a:lnSpc>
                  <a:spcPts val="2640"/>
                </a:lnSpc>
              </a:pPr>
              <a:r>
                <a:rPr lang="en-US" sz="2200" b="true">
                  <a:solidFill>
                    <a:srgbClr val="059669"/>
                  </a:solidFill>
                  <a:latin typeface="Calibri (MS) Bold"/>
                  <a:ea typeface="Calibri (MS) Bold"/>
                  <a:cs typeface="Calibri (MS) Bold"/>
                  <a:sym typeface="Calibri (MS) Bold"/>
                </a:rPr>
                <a:t>MDN-GRU </a:t>
              </a:r>
              <a:r>
                <a:rPr lang="en-US" sz="2200">
                  <a:solidFill>
                    <a:srgbClr val="334155"/>
                  </a:solidFill>
                  <a:latin typeface="Calibri (MS)"/>
                  <a:ea typeface="Calibri (MS)"/>
                  <a:cs typeface="Calibri (MS)"/>
                  <a:sym typeface="Calibri (MS)"/>
                </a:rPr>
                <a:t>(PICP=95.62%, MPIW=0.556 m):</a:t>
              </a:r>
            </a:p>
            <a:p>
              <a:pPr algn="l">
                <a:lnSpc>
                  <a:spcPts val="2640"/>
                </a:lnSpc>
              </a:pPr>
            </a:p>
            <a:p>
              <a:pPr algn="l">
                <a:lnSpc>
                  <a:spcPts val="2640"/>
                </a:lnSpc>
              </a:pPr>
              <a:r>
                <a:rPr lang="en-US" sz="2200" b="true">
                  <a:solidFill>
                    <a:srgbClr val="1A2744"/>
                  </a:solidFill>
                  <a:latin typeface="Calibri (MS) Bold"/>
                  <a:ea typeface="Calibri (MS) Bold"/>
                  <a:cs typeface="Calibri (MS) Bold"/>
                  <a:sym typeface="Calibri (MS) Bold"/>
                </a:rPr>
                <a:t>Expected Return = ₹64,843 per day</a:t>
              </a:r>
            </a:p>
            <a:p>
              <a:pPr algn="l">
                <a:lnSpc>
                  <a:spcPts val="2640"/>
                </a:lnSpc>
              </a:pPr>
            </a:p>
            <a:p>
              <a:pPr algn="l">
                <a:lnSpc>
                  <a:spcPts val="2640"/>
                </a:lnSpc>
              </a:pPr>
            </a:p>
            <a:p>
              <a:pPr algn="l">
                <a:lnSpc>
                  <a:spcPts val="2640"/>
                </a:lnSpc>
              </a:pPr>
              <a:r>
                <a:rPr lang="en-US" sz="2200" b="true">
                  <a:solidFill>
                    <a:srgbClr val="DC2626"/>
                  </a:solidFill>
                  <a:latin typeface="Calibri (MS) Bold"/>
                  <a:ea typeface="Calibri (MS) Bold"/>
                  <a:cs typeface="Calibri (MS) Bold"/>
                  <a:sym typeface="Calibri (MS) Bold"/>
                </a:rPr>
                <a:t>Transformer-Tube </a:t>
              </a:r>
              <a:r>
                <a:rPr lang="en-US" sz="2200">
                  <a:solidFill>
                    <a:srgbClr val="334155"/>
                  </a:solidFill>
                  <a:latin typeface="Calibri (MS)"/>
                  <a:ea typeface="Calibri (MS)"/>
                  <a:cs typeface="Calibri (MS)"/>
                  <a:sym typeface="Calibri (MS)"/>
                </a:rPr>
                <a:t>(PICP=93.33%, MPIW=0.686 m):</a:t>
              </a:r>
            </a:p>
            <a:p>
              <a:pPr algn="l">
                <a:lnSpc>
                  <a:spcPts val="2640"/>
                </a:lnSpc>
              </a:pPr>
            </a:p>
            <a:p>
              <a:pPr algn="l">
                <a:lnSpc>
                  <a:spcPts val="2640"/>
                </a:lnSpc>
              </a:pPr>
              <a:r>
                <a:rPr lang="en-US" sz="2200" b="true">
                  <a:solidFill>
                    <a:srgbClr val="1A2744"/>
                  </a:solidFill>
                  <a:latin typeface="Calibri (MS) Bold"/>
                  <a:ea typeface="Calibri (MS) Bold"/>
                  <a:cs typeface="Calibri (MS) Bold"/>
                  <a:sym typeface="Calibri (MS) Bold"/>
                </a:rPr>
                <a:t>Expected Return = ₹62,259 per day</a:t>
              </a:r>
            </a:p>
            <a:p>
              <a:pPr algn="l">
                <a:lnSpc>
                  <a:spcPts val="2640"/>
                </a:lnSpc>
              </a:pPr>
            </a:p>
            <a:p>
              <a:pPr algn="l">
                <a:lnSpc>
                  <a:spcPts val="2640"/>
                </a:lnSpc>
              </a:pPr>
            </a:p>
            <a:p>
              <a:pPr algn="l">
                <a:lnSpc>
                  <a:spcPts val="2640"/>
                </a:lnSpc>
              </a:pPr>
              <a:r>
                <a:rPr lang="en-US" sz="2200">
                  <a:solidFill>
                    <a:srgbClr val="334155"/>
                  </a:solidFill>
                  <a:latin typeface="Calibri (MS)"/>
                  <a:ea typeface="Calibri (MS)"/>
                  <a:cs typeface="Calibri (MS)"/>
                  <a:sym typeface="Calibri (MS)"/>
                </a:rPr>
                <a:t>10-device array, 200-day season:</a:t>
              </a:r>
            </a:p>
            <a:p>
              <a:pPr algn="l">
                <a:lnSpc>
                  <a:spcPts val="2640"/>
                </a:lnSpc>
              </a:pPr>
            </a:p>
            <a:p>
              <a:pPr algn="l">
                <a:lnSpc>
                  <a:spcPts val="4320"/>
                </a:lnSpc>
              </a:pPr>
              <a:r>
                <a:rPr lang="en-US" sz="3600" b="true">
                  <a:solidFill>
                    <a:srgbClr val="059669"/>
                  </a:solidFill>
                  <a:latin typeface="Calibri (MS) Bold"/>
                  <a:ea typeface="Calibri (MS) Bold"/>
                  <a:cs typeface="Calibri (MS) Bold"/>
                  <a:sym typeface="Calibri (MS) Bold"/>
                </a:rPr>
                <a:t>₹51.7 Lakh / season</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9222" r="0" b="-9222"/>
            </a:stretch>
          </a:blipFill>
        </p:spPr>
      </p:sp>
      <p:grpSp>
        <p:nvGrpSpPr>
          <p:cNvPr name="Group 3" id="3"/>
          <p:cNvGrpSpPr/>
          <p:nvPr/>
        </p:nvGrpSpPr>
        <p:grpSpPr>
          <a:xfrm rot="0">
            <a:off x="5056112" y="4428120"/>
            <a:ext cx="8175775" cy="1430761"/>
            <a:chOff x="0" y="0"/>
            <a:chExt cx="3901440" cy="682752"/>
          </a:xfrm>
        </p:grpSpPr>
        <p:sp>
          <p:nvSpPr>
            <p:cNvPr name="Freeform 4" id="4"/>
            <p:cNvSpPr/>
            <p:nvPr/>
          </p:nvSpPr>
          <p:spPr>
            <a:xfrm flipH="false" flipV="false" rot="0">
              <a:off x="0" y="0"/>
              <a:ext cx="3901440" cy="682752"/>
            </a:xfrm>
            <a:custGeom>
              <a:avLst/>
              <a:gdLst/>
              <a:ahLst/>
              <a:cxnLst/>
              <a:rect r="r" b="b" t="t" l="l"/>
              <a:pathLst>
                <a:path h="682752" w="3901440">
                  <a:moveTo>
                    <a:pt x="0" y="341376"/>
                  </a:moveTo>
                  <a:cubicBezTo>
                    <a:pt x="0" y="152781"/>
                    <a:pt x="152781" y="0"/>
                    <a:pt x="341376" y="0"/>
                  </a:cubicBezTo>
                  <a:lnTo>
                    <a:pt x="3560064" y="0"/>
                  </a:lnTo>
                  <a:cubicBezTo>
                    <a:pt x="3748659" y="0"/>
                    <a:pt x="3901440" y="152781"/>
                    <a:pt x="3901440" y="341376"/>
                  </a:cubicBezTo>
                  <a:cubicBezTo>
                    <a:pt x="3901440" y="529971"/>
                    <a:pt x="3748659" y="682752"/>
                    <a:pt x="3560064" y="682752"/>
                  </a:cubicBezTo>
                  <a:lnTo>
                    <a:pt x="341376" y="682752"/>
                  </a:lnTo>
                  <a:cubicBezTo>
                    <a:pt x="152781" y="682752"/>
                    <a:pt x="0" y="529971"/>
                    <a:pt x="0" y="341376"/>
                  </a:cubicBezTo>
                  <a:close/>
                </a:path>
              </a:pathLst>
            </a:custGeom>
            <a:solidFill>
              <a:srgbClr val="3B82F6"/>
            </a:solidFill>
          </p:spPr>
        </p:sp>
      </p:grpSp>
      <p:sp>
        <p:nvSpPr>
          <p:cNvPr name="TextBox 5" id="5"/>
          <p:cNvSpPr txBox="true"/>
          <p:nvPr/>
        </p:nvSpPr>
        <p:spPr>
          <a:xfrm rot="0">
            <a:off x="5056112" y="4757737"/>
            <a:ext cx="8175775" cy="685800"/>
          </a:xfrm>
          <a:prstGeom prst="rect">
            <a:avLst/>
          </a:prstGeom>
        </p:spPr>
        <p:txBody>
          <a:bodyPr anchor="t" rtlCol="false" tIns="0" lIns="0" bIns="0" rIns="0">
            <a:spAutoFit/>
          </a:bodyPr>
          <a:lstStyle/>
          <a:p>
            <a:pPr algn="ctr">
              <a:lnSpc>
                <a:spcPts val="4799"/>
              </a:lnSpc>
              <a:spcBef>
                <a:spcPct val="0"/>
              </a:spcBef>
            </a:pPr>
            <a:r>
              <a:rPr lang="en-US" b="true" sz="3999">
                <a:solidFill>
                  <a:srgbClr val="EFF6FF"/>
                </a:solidFill>
                <a:latin typeface="Calibri (MS) Bold"/>
                <a:ea typeface="Calibri (MS) Bold"/>
                <a:cs typeface="Calibri (MS) Bold"/>
                <a:sym typeface="Calibri (MS) Bold"/>
              </a:rPr>
              <a:t>DATA</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73152"/>
            <a:chOff x="0" y="0"/>
            <a:chExt cx="24384000" cy="97536"/>
          </a:xfrm>
        </p:grpSpPr>
        <p:sp>
          <p:nvSpPr>
            <p:cNvPr name="Freeform 3" id="3"/>
            <p:cNvSpPr/>
            <p:nvPr/>
          </p:nvSpPr>
          <p:spPr>
            <a:xfrm flipH="false" flipV="false" rot="0">
              <a:off x="0" y="0"/>
              <a:ext cx="24384000" cy="97536"/>
            </a:xfrm>
            <a:custGeom>
              <a:avLst/>
              <a:gdLst/>
              <a:ahLst/>
              <a:cxnLst/>
              <a:rect r="r" b="b" t="t" l="l"/>
              <a:pathLst>
                <a:path h="97536" w="24384000">
                  <a:moveTo>
                    <a:pt x="0" y="0"/>
                  </a:moveTo>
                  <a:lnTo>
                    <a:pt x="24384000" y="0"/>
                  </a:lnTo>
                  <a:lnTo>
                    <a:pt x="24384000" y="97536"/>
                  </a:lnTo>
                  <a:lnTo>
                    <a:pt x="0" y="97536"/>
                  </a:lnTo>
                  <a:close/>
                </a:path>
              </a:pathLst>
            </a:custGeom>
            <a:solidFill>
              <a:srgbClr val="3B82F6"/>
            </a:solidFill>
          </p:spPr>
        </p:sp>
      </p:grpSp>
      <p:grpSp>
        <p:nvGrpSpPr>
          <p:cNvPr name="Group 4" id="4"/>
          <p:cNvGrpSpPr/>
          <p:nvPr/>
        </p:nvGrpSpPr>
        <p:grpSpPr>
          <a:xfrm rot="0">
            <a:off x="1005840" y="585216"/>
            <a:ext cx="2926080" cy="512064"/>
            <a:chOff x="0" y="0"/>
            <a:chExt cx="3901440" cy="682752"/>
          </a:xfrm>
        </p:grpSpPr>
        <p:sp>
          <p:nvSpPr>
            <p:cNvPr name="Freeform 5" id="5"/>
            <p:cNvSpPr/>
            <p:nvPr/>
          </p:nvSpPr>
          <p:spPr>
            <a:xfrm flipH="false" flipV="false" rot="0">
              <a:off x="0" y="0"/>
              <a:ext cx="3901440" cy="682752"/>
            </a:xfrm>
            <a:custGeom>
              <a:avLst/>
              <a:gdLst/>
              <a:ahLst/>
              <a:cxnLst/>
              <a:rect r="r" b="b" t="t" l="l"/>
              <a:pathLst>
                <a:path h="682752" w="3901440">
                  <a:moveTo>
                    <a:pt x="0" y="341376"/>
                  </a:moveTo>
                  <a:cubicBezTo>
                    <a:pt x="0" y="152781"/>
                    <a:pt x="152781" y="0"/>
                    <a:pt x="341376" y="0"/>
                  </a:cubicBezTo>
                  <a:lnTo>
                    <a:pt x="3560064" y="0"/>
                  </a:lnTo>
                  <a:cubicBezTo>
                    <a:pt x="3748659" y="0"/>
                    <a:pt x="3901440" y="152781"/>
                    <a:pt x="3901440" y="341376"/>
                  </a:cubicBezTo>
                  <a:cubicBezTo>
                    <a:pt x="3901440" y="529971"/>
                    <a:pt x="3748659" y="682752"/>
                    <a:pt x="3560064" y="682752"/>
                  </a:cubicBezTo>
                  <a:lnTo>
                    <a:pt x="341376" y="682752"/>
                  </a:lnTo>
                  <a:cubicBezTo>
                    <a:pt x="152781" y="682752"/>
                    <a:pt x="0" y="529971"/>
                    <a:pt x="0" y="341376"/>
                  </a:cubicBezTo>
                  <a:close/>
                </a:path>
              </a:pathLst>
            </a:custGeom>
            <a:solidFill>
              <a:srgbClr val="3B82F6"/>
            </a:solidFill>
          </p:spPr>
        </p:sp>
      </p:grpSp>
      <p:grpSp>
        <p:nvGrpSpPr>
          <p:cNvPr name="Group 6" id="6"/>
          <p:cNvGrpSpPr/>
          <p:nvPr/>
        </p:nvGrpSpPr>
        <p:grpSpPr>
          <a:xfrm rot="0">
            <a:off x="1005840" y="585216"/>
            <a:ext cx="2926080" cy="512064"/>
            <a:chOff x="0" y="0"/>
            <a:chExt cx="3901440" cy="682752"/>
          </a:xfrm>
        </p:grpSpPr>
        <p:sp>
          <p:nvSpPr>
            <p:cNvPr name="Freeform 7" id="7"/>
            <p:cNvSpPr/>
            <p:nvPr/>
          </p:nvSpPr>
          <p:spPr>
            <a:xfrm flipH="false" flipV="false" rot="0">
              <a:off x="0" y="0"/>
              <a:ext cx="3901440" cy="682752"/>
            </a:xfrm>
            <a:custGeom>
              <a:avLst/>
              <a:gdLst/>
              <a:ahLst/>
              <a:cxnLst/>
              <a:rect r="r" b="b" t="t" l="l"/>
              <a:pathLst>
                <a:path h="682752" w="3901440">
                  <a:moveTo>
                    <a:pt x="0" y="0"/>
                  </a:moveTo>
                  <a:lnTo>
                    <a:pt x="3901440" y="0"/>
                  </a:lnTo>
                  <a:lnTo>
                    <a:pt x="3901440" y="682752"/>
                  </a:lnTo>
                  <a:lnTo>
                    <a:pt x="0" y="682752"/>
                  </a:lnTo>
                  <a:close/>
                </a:path>
              </a:pathLst>
            </a:custGeom>
            <a:blipFill>
              <a:blip r:embed="rId3">
                <a:alphaModFix amt="0"/>
              </a:blip>
              <a:stretch>
                <a:fillRect l="0" t="-61343" r="0" b="-61343"/>
              </a:stretch>
            </a:blipFill>
          </p:spPr>
        </p:sp>
        <p:sp>
          <p:nvSpPr>
            <p:cNvPr name="TextBox 8" id="8"/>
            <p:cNvSpPr txBox="true"/>
            <p:nvPr/>
          </p:nvSpPr>
          <p:spPr>
            <a:xfrm>
              <a:off x="0" y="-38100"/>
              <a:ext cx="3901440" cy="72085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DATA</a:t>
              </a:r>
            </a:p>
          </p:txBody>
        </p:sp>
      </p:grpSp>
      <p:grpSp>
        <p:nvGrpSpPr>
          <p:cNvPr name="Group 9" id="9"/>
          <p:cNvGrpSpPr/>
          <p:nvPr/>
        </p:nvGrpSpPr>
        <p:grpSpPr>
          <a:xfrm rot="0">
            <a:off x="1005840" y="1060704"/>
            <a:ext cx="16276320" cy="877824"/>
            <a:chOff x="0" y="0"/>
            <a:chExt cx="21701760" cy="1170432"/>
          </a:xfrm>
        </p:grpSpPr>
        <p:sp>
          <p:nvSpPr>
            <p:cNvPr name="Freeform 10" id="10"/>
            <p:cNvSpPr/>
            <p:nvPr/>
          </p:nvSpPr>
          <p:spPr>
            <a:xfrm flipH="false" flipV="false" rot="0">
              <a:off x="0" y="0"/>
              <a:ext cx="21701761" cy="1170432"/>
            </a:xfrm>
            <a:custGeom>
              <a:avLst/>
              <a:gdLst/>
              <a:ahLst/>
              <a:cxnLst/>
              <a:rect r="r" b="b" t="t" l="l"/>
              <a:pathLst>
                <a:path h="1170432" w="21701761">
                  <a:moveTo>
                    <a:pt x="0" y="0"/>
                  </a:moveTo>
                  <a:lnTo>
                    <a:pt x="21701761" y="0"/>
                  </a:lnTo>
                  <a:lnTo>
                    <a:pt x="21701761" y="1170432"/>
                  </a:lnTo>
                  <a:lnTo>
                    <a:pt x="0" y="1170432"/>
                  </a:lnTo>
                  <a:close/>
                </a:path>
              </a:pathLst>
            </a:custGeom>
            <a:blipFill>
              <a:blip r:embed="rId3">
                <a:alphaModFix amt="0"/>
              </a:blip>
              <a:stretch>
                <a:fillRect l="0" t="-311285" r="0" b="-311285"/>
              </a:stretch>
            </a:blipFill>
          </p:spPr>
        </p:sp>
        <p:sp>
          <p:nvSpPr>
            <p:cNvPr name="TextBox 11" id="11"/>
            <p:cNvSpPr txBox="true"/>
            <p:nvPr/>
          </p:nvSpPr>
          <p:spPr>
            <a:xfrm>
              <a:off x="0" y="-76200"/>
              <a:ext cx="21701760" cy="1246632"/>
            </a:xfrm>
            <a:prstGeom prst="rect">
              <a:avLst/>
            </a:prstGeom>
          </p:spPr>
          <p:txBody>
            <a:bodyPr anchor="ctr" rtlCol="false" tIns="0" lIns="0" bIns="0" rIns="0"/>
            <a:lstStyle/>
            <a:p>
              <a:pPr algn="l">
                <a:lnSpc>
                  <a:spcPts val="5280"/>
                </a:lnSpc>
              </a:pPr>
              <a:r>
                <a:rPr lang="en-US" sz="4400" b="true">
                  <a:solidFill>
                    <a:srgbClr val="1A2744"/>
                  </a:solidFill>
                  <a:latin typeface="Calibri (MS) Bold"/>
                  <a:ea typeface="Calibri (MS) Bold"/>
                  <a:cs typeface="Calibri (MS) Bold"/>
                  <a:sym typeface="Calibri (MS) Bold"/>
                </a:rPr>
                <a:t>Data Sources &amp; Study Locations</a:t>
              </a:r>
            </a:p>
          </p:txBody>
        </p:sp>
      </p:grpSp>
      <p:grpSp>
        <p:nvGrpSpPr>
          <p:cNvPr name="Group 12" id="12"/>
          <p:cNvGrpSpPr/>
          <p:nvPr/>
        </p:nvGrpSpPr>
        <p:grpSpPr>
          <a:xfrm rot="0">
            <a:off x="1005840" y="1938528"/>
            <a:ext cx="16276320" cy="457200"/>
            <a:chOff x="0" y="0"/>
            <a:chExt cx="21701760" cy="609600"/>
          </a:xfrm>
        </p:grpSpPr>
        <p:sp>
          <p:nvSpPr>
            <p:cNvPr name="Freeform 13" id="13"/>
            <p:cNvSpPr/>
            <p:nvPr/>
          </p:nvSpPr>
          <p:spPr>
            <a:xfrm flipH="false" flipV="false" rot="0">
              <a:off x="0" y="0"/>
              <a:ext cx="21701761" cy="609600"/>
            </a:xfrm>
            <a:custGeom>
              <a:avLst/>
              <a:gdLst/>
              <a:ahLst/>
              <a:cxnLst/>
              <a:rect r="r" b="b" t="t" l="l"/>
              <a:pathLst>
                <a:path h="609600" w="21701761">
                  <a:moveTo>
                    <a:pt x="0" y="0"/>
                  </a:moveTo>
                  <a:lnTo>
                    <a:pt x="21701761" y="0"/>
                  </a:lnTo>
                  <a:lnTo>
                    <a:pt x="21701761" y="609600"/>
                  </a:lnTo>
                  <a:lnTo>
                    <a:pt x="0" y="609600"/>
                  </a:lnTo>
                  <a:close/>
                </a:path>
              </a:pathLst>
            </a:custGeom>
            <a:blipFill>
              <a:blip r:embed="rId3">
                <a:alphaModFix amt="0"/>
              </a:blip>
              <a:stretch>
                <a:fillRect l="0" t="-643667" r="0" b="-643667"/>
              </a:stretch>
            </a:blipFill>
          </p:spPr>
        </p:sp>
        <p:sp>
          <p:nvSpPr>
            <p:cNvPr name="TextBox 14" id="14"/>
            <p:cNvSpPr txBox="true"/>
            <p:nvPr/>
          </p:nvSpPr>
          <p:spPr>
            <a:xfrm>
              <a:off x="0" y="-47625"/>
              <a:ext cx="21701760" cy="657225"/>
            </a:xfrm>
            <a:prstGeom prst="rect">
              <a:avLst/>
            </a:prstGeom>
          </p:spPr>
          <p:txBody>
            <a:bodyPr anchor="ctr" rtlCol="false" tIns="0" lIns="0" bIns="0" rIns="0"/>
            <a:lstStyle/>
            <a:p>
              <a:pPr algn="l">
                <a:lnSpc>
                  <a:spcPts val="2640"/>
                </a:lnSpc>
              </a:pPr>
              <a:r>
                <a:rPr lang="en-US" sz="2200" i="true">
                  <a:solidFill>
                    <a:srgbClr val="64748B"/>
                  </a:solidFill>
                  <a:latin typeface="Calibri (MS) Italics"/>
                  <a:ea typeface="Calibri (MS) Italics"/>
                  <a:cs typeface="Calibri (MS) Italics"/>
                  <a:sym typeface="Calibri (MS) Italics"/>
                </a:rPr>
                <a:t>Copernicus Marine Service (CMEMS) satellite data  ·  January 2021 – December 2023</a:t>
              </a:r>
            </a:p>
          </p:txBody>
        </p:sp>
      </p:grpSp>
      <p:grpSp>
        <p:nvGrpSpPr>
          <p:cNvPr name="Group 15" id="15"/>
          <p:cNvGrpSpPr/>
          <p:nvPr/>
        </p:nvGrpSpPr>
        <p:grpSpPr>
          <a:xfrm rot="0">
            <a:off x="17190720" y="9646920"/>
            <a:ext cx="731520" cy="457200"/>
            <a:chOff x="0" y="0"/>
            <a:chExt cx="975360" cy="609600"/>
          </a:xfrm>
        </p:grpSpPr>
        <p:sp>
          <p:nvSpPr>
            <p:cNvPr name="Freeform 16" id="16"/>
            <p:cNvSpPr/>
            <p:nvPr/>
          </p:nvSpPr>
          <p:spPr>
            <a:xfrm flipH="false" flipV="false" rot="0">
              <a:off x="0" y="0"/>
              <a:ext cx="975360" cy="609600"/>
            </a:xfrm>
            <a:custGeom>
              <a:avLst/>
              <a:gdLst/>
              <a:ahLst/>
              <a:cxnLst/>
              <a:rect r="r" b="b" t="t" l="l"/>
              <a:pathLst>
                <a:path h="609600" w="975360">
                  <a:moveTo>
                    <a:pt x="0" y="0"/>
                  </a:moveTo>
                  <a:lnTo>
                    <a:pt x="975360" y="0"/>
                  </a:lnTo>
                  <a:lnTo>
                    <a:pt x="975360" y="609600"/>
                  </a:lnTo>
                  <a:lnTo>
                    <a:pt x="0" y="609600"/>
                  </a:lnTo>
                  <a:close/>
                </a:path>
              </a:pathLst>
            </a:custGeom>
            <a:blipFill>
              <a:blip r:embed="rId3">
                <a:alphaModFix amt="0"/>
              </a:blip>
              <a:stretch>
                <a:fillRect l="-30189" t="0" r="-30189" b="0"/>
              </a:stretch>
            </a:blipFill>
          </p:spPr>
        </p:sp>
        <p:sp>
          <p:nvSpPr>
            <p:cNvPr name="TextBox 17" id="17"/>
            <p:cNvSpPr txBox="true"/>
            <p:nvPr/>
          </p:nvSpPr>
          <p:spPr>
            <a:xfrm>
              <a:off x="0" y="-38100"/>
              <a:ext cx="975360" cy="647700"/>
            </a:xfrm>
            <a:prstGeom prst="rect">
              <a:avLst/>
            </a:prstGeom>
          </p:spPr>
          <p:txBody>
            <a:bodyPr anchor="ctr" rtlCol="false" tIns="0" lIns="0" bIns="0" rIns="0"/>
            <a:lstStyle/>
            <a:p>
              <a:pPr algn="r">
                <a:lnSpc>
                  <a:spcPts val="2160"/>
                </a:lnSpc>
              </a:pPr>
              <a:r>
                <a:rPr lang="en-US" sz="1800">
                  <a:solidFill>
                    <a:srgbClr val="64748B"/>
                  </a:solidFill>
                  <a:latin typeface="Calibri (MS)"/>
                  <a:ea typeface="Calibri (MS)"/>
                  <a:cs typeface="Calibri (MS)"/>
                  <a:sym typeface="Calibri (MS)"/>
                </a:rPr>
                <a:t>6</a:t>
              </a:r>
            </a:p>
          </p:txBody>
        </p:sp>
      </p:grpSp>
      <p:grpSp>
        <p:nvGrpSpPr>
          <p:cNvPr name="Group 18" id="18"/>
          <p:cNvGrpSpPr/>
          <p:nvPr/>
        </p:nvGrpSpPr>
        <p:grpSpPr>
          <a:xfrm rot="0">
            <a:off x="1005840" y="2468880"/>
            <a:ext cx="7680960" cy="4389120"/>
            <a:chOff x="0" y="0"/>
            <a:chExt cx="10241280" cy="5852160"/>
          </a:xfrm>
        </p:grpSpPr>
        <p:sp>
          <p:nvSpPr>
            <p:cNvPr name="Freeform 19" id="19"/>
            <p:cNvSpPr/>
            <p:nvPr/>
          </p:nvSpPr>
          <p:spPr>
            <a:xfrm flipH="false" flipV="false" rot="0">
              <a:off x="0" y="0"/>
              <a:ext cx="10241280" cy="5852160"/>
            </a:xfrm>
            <a:custGeom>
              <a:avLst/>
              <a:gdLst/>
              <a:ahLst/>
              <a:cxnLst/>
              <a:rect r="r" b="b" t="t" l="l"/>
              <a:pathLst>
                <a:path h="5852160" w="10241280">
                  <a:moveTo>
                    <a:pt x="0" y="292608"/>
                  </a:moveTo>
                  <a:cubicBezTo>
                    <a:pt x="0" y="131064"/>
                    <a:pt x="131064" y="0"/>
                    <a:pt x="292608" y="0"/>
                  </a:cubicBezTo>
                  <a:lnTo>
                    <a:pt x="9948672" y="0"/>
                  </a:lnTo>
                  <a:cubicBezTo>
                    <a:pt x="10110215" y="0"/>
                    <a:pt x="10241280" y="131064"/>
                    <a:pt x="10241280" y="292608"/>
                  </a:cubicBezTo>
                  <a:lnTo>
                    <a:pt x="10241280" y="5559552"/>
                  </a:lnTo>
                  <a:cubicBezTo>
                    <a:pt x="10241280" y="5721096"/>
                    <a:pt x="10110216" y="5852160"/>
                    <a:pt x="9948672" y="5852160"/>
                  </a:cubicBezTo>
                  <a:lnTo>
                    <a:pt x="292608" y="5852160"/>
                  </a:lnTo>
                  <a:cubicBezTo>
                    <a:pt x="131064" y="5852160"/>
                    <a:pt x="0" y="5721096"/>
                    <a:pt x="0" y="5559552"/>
                  </a:cubicBezTo>
                  <a:close/>
                </a:path>
              </a:pathLst>
            </a:custGeom>
            <a:solidFill>
              <a:srgbClr val="EFF6FF"/>
            </a:solidFill>
          </p:spPr>
        </p:sp>
      </p:grpSp>
      <p:grpSp>
        <p:nvGrpSpPr>
          <p:cNvPr name="Group 20" id="20"/>
          <p:cNvGrpSpPr/>
          <p:nvPr/>
        </p:nvGrpSpPr>
        <p:grpSpPr>
          <a:xfrm rot="0">
            <a:off x="1225296" y="2596896"/>
            <a:ext cx="2560320" cy="877824"/>
            <a:chOff x="0" y="0"/>
            <a:chExt cx="3413760" cy="1170432"/>
          </a:xfrm>
        </p:grpSpPr>
        <p:sp>
          <p:nvSpPr>
            <p:cNvPr name="Freeform 21" id="21"/>
            <p:cNvSpPr/>
            <p:nvPr/>
          </p:nvSpPr>
          <p:spPr>
            <a:xfrm flipH="false" flipV="false" rot="0">
              <a:off x="0" y="0"/>
              <a:ext cx="3413760" cy="1170432"/>
            </a:xfrm>
            <a:custGeom>
              <a:avLst/>
              <a:gdLst/>
              <a:ahLst/>
              <a:cxnLst/>
              <a:rect r="r" b="b" t="t" l="l"/>
              <a:pathLst>
                <a:path h="1170432" w="3413760">
                  <a:moveTo>
                    <a:pt x="0" y="0"/>
                  </a:moveTo>
                  <a:lnTo>
                    <a:pt x="3413760" y="0"/>
                  </a:lnTo>
                  <a:lnTo>
                    <a:pt x="3413760" y="1170432"/>
                  </a:lnTo>
                  <a:lnTo>
                    <a:pt x="0" y="1170432"/>
                  </a:lnTo>
                  <a:close/>
                </a:path>
              </a:pathLst>
            </a:custGeom>
            <a:blipFill>
              <a:blip r:embed="rId3">
                <a:alphaModFix amt="0"/>
              </a:blip>
              <a:stretch>
                <a:fillRect l="0" t="-6831" r="0" b="-6831"/>
              </a:stretch>
            </a:blipFill>
          </p:spPr>
        </p:sp>
        <p:sp>
          <p:nvSpPr>
            <p:cNvPr name="TextBox 22" id="22"/>
            <p:cNvSpPr txBox="true"/>
            <p:nvPr/>
          </p:nvSpPr>
          <p:spPr>
            <a:xfrm>
              <a:off x="0" y="-38100"/>
              <a:ext cx="3413760" cy="1208532"/>
            </a:xfrm>
            <a:prstGeom prst="rect">
              <a:avLst/>
            </a:prstGeom>
          </p:spPr>
          <p:txBody>
            <a:bodyPr anchor="ctr" rtlCol="false" tIns="0" lIns="0" bIns="0" rIns="0"/>
            <a:lstStyle/>
            <a:p>
              <a:pPr algn="l">
                <a:lnSpc>
                  <a:spcPts val="2400"/>
                </a:lnSpc>
              </a:pPr>
              <a:r>
                <a:rPr lang="en-US" sz="2000" b="true">
                  <a:solidFill>
                    <a:srgbClr val="3B82F6"/>
                  </a:solidFill>
                  <a:latin typeface="Calibri (MS) Bold"/>
                  <a:ea typeface="Calibri (MS) Bold"/>
                  <a:cs typeface="Calibri (MS) Bold"/>
                  <a:sym typeface="Calibri (MS) Bold"/>
                </a:rPr>
                <a:t>SLA Product:</a:t>
              </a:r>
            </a:p>
          </p:txBody>
        </p:sp>
      </p:grpSp>
      <p:grpSp>
        <p:nvGrpSpPr>
          <p:cNvPr name="Group 23" id="23"/>
          <p:cNvGrpSpPr/>
          <p:nvPr/>
        </p:nvGrpSpPr>
        <p:grpSpPr>
          <a:xfrm rot="0">
            <a:off x="3749040" y="2596896"/>
            <a:ext cx="4754880" cy="877824"/>
            <a:chOff x="0" y="0"/>
            <a:chExt cx="6339840" cy="1170432"/>
          </a:xfrm>
        </p:grpSpPr>
        <p:sp>
          <p:nvSpPr>
            <p:cNvPr name="Freeform 24" id="24"/>
            <p:cNvSpPr/>
            <p:nvPr/>
          </p:nvSpPr>
          <p:spPr>
            <a:xfrm flipH="false" flipV="false" rot="0">
              <a:off x="0" y="0"/>
              <a:ext cx="6339840" cy="1170432"/>
            </a:xfrm>
            <a:custGeom>
              <a:avLst/>
              <a:gdLst/>
              <a:ahLst/>
              <a:cxnLst/>
              <a:rect r="r" b="b" t="t" l="l"/>
              <a:pathLst>
                <a:path h="1170432" w="6339840">
                  <a:moveTo>
                    <a:pt x="0" y="0"/>
                  </a:moveTo>
                  <a:lnTo>
                    <a:pt x="6339840" y="0"/>
                  </a:lnTo>
                  <a:lnTo>
                    <a:pt x="6339840" y="1170432"/>
                  </a:lnTo>
                  <a:lnTo>
                    <a:pt x="0" y="1170432"/>
                  </a:lnTo>
                  <a:close/>
                </a:path>
              </a:pathLst>
            </a:custGeom>
            <a:blipFill>
              <a:blip r:embed="rId3">
                <a:alphaModFix amt="0"/>
              </a:blip>
              <a:stretch>
                <a:fillRect l="0" t="-55543" r="0" b="-55543"/>
              </a:stretch>
            </a:blipFill>
          </p:spPr>
        </p:sp>
        <p:sp>
          <p:nvSpPr>
            <p:cNvPr name="TextBox 25" id="25"/>
            <p:cNvSpPr txBox="true"/>
            <p:nvPr/>
          </p:nvSpPr>
          <p:spPr>
            <a:xfrm>
              <a:off x="0" y="-38100"/>
              <a:ext cx="6339840" cy="1208532"/>
            </a:xfrm>
            <a:prstGeom prst="rect">
              <a:avLst/>
            </a:prstGeom>
          </p:spPr>
          <p:txBody>
            <a:bodyPr anchor="ctr" rtlCol="false" tIns="0" lIns="0" bIns="0" rIns="0"/>
            <a:lstStyle/>
            <a:p>
              <a:pPr algn="l">
                <a:lnSpc>
                  <a:spcPts val="2280"/>
                </a:lnSpc>
              </a:pPr>
              <a:r>
                <a:rPr lang="en-US" sz="1900">
                  <a:solidFill>
                    <a:srgbClr val="334155"/>
                  </a:solidFill>
                  <a:latin typeface="Calibri (MS)"/>
                  <a:ea typeface="Calibri (MS)"/>
                  <a:cs typeface="Calibri (MS)"/>
                  <a:sym typeface="Calibri (MS)"/>
                </a:rPr>
                <a:t>CMEMS SEALEVEL_GLO_PHY_L4</a:t>
              </a:r>
            </a:p>
            <a:p>
              <a:pPr algn="l">
                <a:lnSpc>
                  <a:spcPts val="2280"/>
                </a:lnSpc>
              </a:pPr>
              <a:r>
                <a:rPr lang="en-US" sz="1900">
                  <a:solidFill>
                    <a:srgbClr val="334155"/>
                  </a:solidFill>
                  <a:latin typeface="Calibri (MS)"/>
                  <a:ea typeface="Calibri (MS)"/>
                  <a:cs typeface="Calibri (MS)"/>
                  <a:sym typeface="Calibri (MS)"/>
                </a:rPr>
                <a:t>0.125° grid  ·  Variable: sla</a:t>
              </a:r>
            </a:p>
          </p:txBody>
        </p:sp>
      </p:grpSp>
      <p:grpSp>
        <p:nvGrpSpPr>
          <p:cNvPr name="Group 26" id="26"/>
          <p:cNvGrpSpPr/>
          <p:nvPr/>
        </p:nvGrpSpPr>
        <p:grpSpPr>
          <a:xfrm rot="0">
            <a:off x="1225296" y="3602736"/>
            <a:ext cx="2560320" cy="877824"/>
            <a:chOff x="0" y="0"/>
            <a:chExt cx="3413760" cy="1170432"/>
          </a:xfrm>
        </p:grpSpPr>
        <p:sp>
          <p:nvSpPr>
            <p:cNvPr name="Freeform 27" id="27"/>
            <p:cNvSpPr/>
            <p:nvPr/>
          </p:nvSpPr>
          <p:spPr>
            <a:xfrm flipH="false" flipV="false" rot="0">
              <a:off x="0" y="0"/>
              <a:ext cx="3413760" cy="1170432"/>
            </a:xfrm>
            <a:custGeom>
              <a:avLst/>
              <a:gdLst/>
              <a:ahLst/>
              <a:cxnLst/>
              <a:rect r="r" b="b" t="t" l="l"/>
              <a:pathLst>
                <a:path h="1170432" w="3413760">
                  <a:moveTo>
                    <a:pt x="0" y="0"/>
                  </a:moveTo>
                  <a:lnTo>
                    <a:pt x="3413760" y="0"/>
                  </a:lnTo>
                  <a:lnTo>
                    <a:pt x="3413760" y="1170432"/>
                  </a:lnTo>
                  <a:lnTo>
                    <a:pt x="0" y="1170432"/>
                  </a:lnTo>
                  <a:close/>
                </a:path>
              </a:pathLst>
            </a:custGeom>
            <a:blipFill>
              <a:blip r:embed="rId3">
                <a:alphaModFix amt="0"/>
              </a:blip>
              <a:stretch>
                <a:fillRect l="0" t="-6831" r="0" b="-6831"/>
              </a:stretch>
            </a:blipFill>
          </p:spPr>
        </p:sp>
        <p:sp>
          <p:nvSpPr>
            <p:cNvPr name="TextBox 28" id="28"/>
            <p:cNvSpPr txBox="true"/>
            <p:nvPr/>
          </p:nvSpPr>
          <p:spPr>
            <a:xfrm>
              <a:off x="0" y="-38100"/>
              <a:ext cx="3413760" cy="1208532"/>
            </a:xfrm>
            <a:prstGeom prst="rect">
              <a:avLst/>
            </a:prstGeom>
          </p:spPr>
          <p:txBody>
            <a:bodyPr anchor="ctr" rtlCol="false" tIns="0" lIns="0" bIns="0" rIns="0"/>
            <a:lstStyle/>
            <a:p>
              <a:pPr algn="l">
                <a:lnSpc>
                  <a:spcPts val="2400"/>
                </a:lnSpc>
              </a:pPr>
              <a:r>
                <a:rPr lang="en-US" sz="2000" b="true">
                  <a:solidFill>
                    <a:srgbClr val="3B82F6"/>
                  </a:solidFill>
                  <a:latin typeface="Calibri (MS) Bold"/>
                  <a:ea typeface="Calibri (MS) Bold"/>
                  <a:cs typeface="Calibri (MS) Bold"/>
                  <a:sym typeface="Calibri (MS) Bold"/>
                </a:rPr>
                <a:t>SWH Product:</a:t>
              </a:r>
            </a:p>
          </p:txBody>
        </p:sp>
      </p:grpSp>
      <p:grpSp>
        <p:nvGrpSpPr>
          <p:cNvPr name="Group 29" id="29"/>
          <p:cNvGrpSpPr/>
          <p:nvPr/>
        </p:nvGrpSpPr>
        <p:grpSpPr>
          <a:xfrm rot="0">
            <a:off x="3749040" y="3602736"/>
            <a:ext cx="4754880" cy="877824"/>
            <a:chOff x="0" y="0"/>
            <a:chExt cx="6339840" cy="1170432"/>
          </a:xfrm>
        </p:grpSpPr>
        <p:sp>
          <p:nvSpPr>
            <p:cNvPr name="Freeform 30" id="30"/>
            <p:cNvSpPr/>
            <p:nvPr/>
          </p:nvSpPr>
          <p:spPr>
            <a:xfrm flipH="false" flipV="false" rot="0">
              <a:off x="0" y="0"/>
              <a:ext cx="6339840" cy="1170432"/>
            </a:xfrm>
            <a:custGeom>
              <a:avLst/>
              <a:gdLst/>
              <a:ahLst/>
              <a:cxnLst/>
              <a:rect r="r" b="b" t="t" l="l"/>
              <a:pathLst>
                <a:path h="1170432" w="6339840">
                  <a:moveTo>
                    <a:pt x="0" y="0"/>
                  </a:moveTo>
                  <a:lnTo>
                    <a:pt x="6339840" y="0"/>
                  </a:lnTo>
                  <a:lnTo>
                    <a:pt x="6339840" y="1170432"/>
                  </a:lnTo>
                  <a:lnTo>
                    <a:pt x="0" y="1170432"/>
                  </a:lnTo>
                  <a:close/>
                </a:path>
              </a:pathLst>
            </a:custGeom>
            <a:blipFill>
              <a:blip r:embed="rId3">
                <a:alphaModFix amt="0"/>
              </a:blip>
              <a:stretch>
                <a:fillRect l="0" t="-55543" r="0" b="-55543"/>
              </a:stretch>
            </a:blipFill>
          </p:spPr>
        </p:sp>
        <p:sp>
          <p:nvSpPr>
            <p:cNvPr name="TextBox 31" id="31"/>
            <p:cNvSpPr txBox="true"/>
            <p:nvPr/>
          </p:nvSpPr>
          <p:spPr>
            <a:xfrm>
              <a:off x="0" y="-38100"/>
              <a:ext cx="6339840" cy="1208532"/>
            </a:xfrm>
            <a:prstGeom prst="rect">
              <a:avLst/>
            </a:prstGeom>
          </p:spPr>
          <p:txBody>
            <a:bodyPr anchor="ctr" rtlCol="false" tIns="0" lIns="0" bIns="0" rIns="0"/>
            <a:lstStyle/>
            <a:p>
              <a:pPr algn="l">
                <a:lnSpc>
                  <a:spcPts val="2280"/>
                </a:lnSpc>
              </a:pPr>
              <a:r>
                <a:rPr lang="en-US" sz="1900">
                  <a:solidFill>
                    <a:srgbClr val="334155"/>
                  </a:solidFill>
                  <a:latin typeface="Calibri (MS)"/>
                  <a:ea typeface="Calibri (MS)"/>
                  <a:cs typeface="Calibri (MS)"/>
                  <a:sym typeface="Calibri (MS)"/>
                </a:rPr>
                <a:t>CMEMS Wave Model</a:t>
              </a:r>
            </a:p>
            <a:p>
              <a:pPr algn="l">
                <a:lnSpc>
                  <a:spcPts val="2280"/>
                </a:lnSpc>
              </a:pPr>
              <a:r>
                <a:rPr lang="en-US" sz="1900">
                  <a:solidFill>
                    <a:srgbClr val="334155"/>
                  </a:solidFill>
                  <a:latin typeface="Calibri (MS)"/>
                  <a:ea typeface="Calibri (MS)"/>
                  <a:cs typeface="Calibri (MS)"/>
                  <a:sym typeface="Calibri (MS)"/>
                </a:rPr>
                <a:t>0.2° grid  ·  Variable: VHM0</a:t>
              </a:r>
            </a:p>
          </p:txBody>
        </p:sp>
      </p:grpSp>
      <p:grpSp>
        <p:nvGrpSpPr>
          <p:cNvPr name="Group 32" id="32"/>
          <p:cNvGrpSpPr/>
          <p:nvPr/>
        </p:nvGrpSpPr>
        <p:grpSpPr>
          <a:xfrm rot="0">
            <a:off x="1225296" y="4608576"/>
            <a:ext cx="2560320" cy="877824"/>
            <a:chOff x="0" y="0"/>
            <a:chExt cx="3413760" cy="1170432"/>
          </a:xfrm>
        </p:grpSpPr>
        <p:sp>
          <p:nvSpPr>
            <p:cNvPr name="Freeform 33" id="33"/>
            <p:cNvSpPr/>
            <p:nvPr/>
          </p:nvSpPr>
          <p:spPr>
            <a:xfrm flipH="false" flipV="false" rot="0">
              <a:off x="0" y="0"/>
              <a:ext cx="3413760" cy="1170432"/>
            </a:xfrm>
            <a:custGeom>
              <a:avLst/>
              <a:gdLst/>
              <a:ahLst/>
              <a:cxnLst/>
              <a:rect r="r" b="b" t="t" l="l"/>
              <a:pathLst>
                <a:path h="1170432" w="3413760">
                  <a:moveTo>
                    <a:pt x="0" y="0"/>
                  </a:moveTo>
                  <a:lnTo>
                    <a:pt x="3413760" y="0"/>
                  </a:lnTo>
                  <a:lnTo>
                    <a:pt x="3413760" y="1170432"/>
                  </a:lnTo>
                  <a:lnTo>
                    <a:pt x="0" y="1170432"/>
                  </a:lnTo>
                  <a:close/>
                </a:path>
              </a:pathLst>
            </a:custGeom>
            <a:blipFill>
              <a:blip r:embed="rId3">
                <a:alphaModFix amt="0"/>
              </a:blip>
              <a:stretch>
                <a:fillRect l="0" t="-6831" r="0" b="-6831"/>
              </a:stretch>
            </a:blipFill>
          </p:spPr>
        </p:sp>
        <p:sp>
          <p:nvSpPr>
            <p:cNvPr name="TextBox 34" id="34"/>
            <p:cNvSpPr txBox="true"/>
            <p:nvPr/>
          </p:nvSpPr>
          <p:spPr>
            <a:xfrm>
              <a:off x="0" y="-38100"/>
              <a:ext cx="3413760" cy="1208532"/>
            </a:xfrm>
            <a:prstGeom prst="rect">
              <a:avLst/>
            </a:prstGeom>
          </p:spPr>
          <p:txBody>
            <a:bodyPr anchor="ctr" rtlCol="false" tIns="0" lIns="0" bIns="0" rIns="0"/>
            <a:lstStyle/>
            <a:p>
              <a:pPr algn="l">
                <a:lnSpc>
                  <a:spcPts val="2400"/>
                </a:lnSpc>
              </a:pPr>
              <a:r>
                <a:rPr lang="en-US" sz="2000" b="true">
                  <a:solidFill>
                    <a:srgbClr val="3B82F6"/>
                  </a:solidFill>
                  <a:latin typeface="Calibri (MS) Bold"/>
                  <a:ea typeface="Calibri (MS) Bold"/>
                  <a:cs typeface="Calibri (MS) Bold"/>
                  <a:sym typeface="Calibri (MS) Bold"/>
                </a:rPr>
                <a:t>Period:</a:t>
              </a:r>
            </a:p>
          </p:txBody>
        </p:sp>
      </p:grpSp>
      <p:grpSp>
        <p:nvGrpSpPr>
          <p:cNvPr name="Group 35" id="35"/>
          <p:cNvGrpSpPr/>
          <p:nvPr/>
        </p:nvGrpSpPr>
        <p:grpSpPr>
          <a:xfrm rot="0">
            <a:off x="3749040" y="4608576"/>
            <a:ext cx="4754880" cy="877824"/>
            <a:chOff x="0" y="0"/>
            <a:chExt cx="6339840" cy="1170432"/>
          </a:xfrm>
        </p:grpSpPr>
        <p:sp>
          <p:nvSpPr>
            <p:cNvPr name="Freeform 36" id="36"/>
            <p:cNvSpPr/>
            <p:nvPr/>
          </p:nvSpPr>
          <p:spPr>
            <a:xfrm flipH="false" flipV="false" rot="0">
              <a:off x="0" y="0"/>
              <a:ext cx="6339840" cy="1170432"/>
            </a:xfrm>
            <a:custGeom>
              <a:avLst/>
              <a:gdLst/>
              <a:ahLst/>
              <a:cxnLst/>
              <a:rect r="r" b="b" t="t" l="l"/>
              <a:pathLst>
                <a:path h="1170432" w="6339840">
                  <a:moveTo>
                    <a:pt x="0" y="0"/>
                  </a:moveTo>
                  <a:lnTo>
                    <a:pt x="6339840" y="0"/>
                  </a:lnTo>
                  <a:lnTo>
                    <a:pt x="6339840" y="1170432"/>
                  </a:lnTo>
                  <a:lnTo>
                    <a:pt x="0" y="1170432"/>
                  </a:lnTo>
                  <a:close/>
                </a:path>
              </a:pathLst>
            </a:custGeom>
            <a:blipFill>
              <a:blip r:embed="rId3">
                <a:alphaModFix amt="0"/>
              </a:blip>
              <a:stretch>
                <a:fillRect l="0" t="-55543" r="0" b="-55543"/>
              </a:stretch>
            </a:blipFill>
          </p:spPr>
        </p:sp>
        <p:sp>
          <p:nvSpPr>
            <p:cNvPr name="TextBox 37" id="37"/>
            <p:cNvSpPr txBox="true"/>
            <p:nvPr/>
          </p:nvSpPr>
          <p:spPr>
            <a:xfrm>
              <a:off x="0" y="-38100"/>
              <a:ext cx="6339840" cy="1208532"/>
            </a:xfrm>
            <a:prstGeom prst="rect">
              <a:avLst/>
            </a:prstGeom>
          </p:spPr>
          <p:txBody>
            <a:bodyPr anchor="ctr" rtlCol="false" tIns="0" lIns="0" bIns="0" rIns="0"/>
            <a:lstStyle/>
            <a:p>
              <a:pPr algn="l">
                <a:lnSpc>
                  <a:spcPts val="2280"/>
                </a:lnSpc>
              </a:pPr>
              <a:r>
                <a:rPr lang="en-US" sz="1900">
                  <a:solidFill>
                    <a:srgbClr val="334155"/>
                  </a:solidFill>
                  <a:latin typeface="Calibri (MS)"/>
                  <a:ea typeface="Calibri (MS)"/>
                  <a:cs typeface="Calibri (MS)"/>
                  <a:sym typeface="Calibri (MS)"/>
                </a:rPr>
                <a:t>1,096 daily observations</a:t>
              </a:r>
            </a:p>
            <a:p>
              <a:pPr algn="l">
                <a:lnSpc>
                  <a:spcPts val="2280"/>
                </a:lnSpc>
              </a:pPr>
              <a:r>
                <a:rPr lang="en-US" sz="1900">
                  <a:solidFill>
                    <a:srgbClr val="334155"/>
                  </a:solidFill>
                  <a:latin typeface="Calibri (MS)"/>
                  <a:ea typeface="Calibri (MS)"/>
                  <a:cs typeface="Calibri (MS)"/>
                  <a:sym typeface="Calibri (MS)"/>
                </a:rPr>
                <a:t>Train: 877 days  ·  Test: 219 days</a:t>
              </a:r>
            </a:p>
          </p:txBody>
        </p:sp>
      </p:grpSp>
      <p:grpSp>
        <p:nvGrpSpPr>
          <p:cNvPr name="Group 38" id="38"/>
          <p:cNvGrpSpPr/>
          <p:nvPr/>
        </p:nvGrpSpPr>
        <p:grpSpPr>
          <a:xfrm rot="0">
            <a:off x="1225296" y="5614416"/>
            <a:ext cx="2560320" cy="877824"/>
            <a:chOff x="0" y="0"/>
            <a:chExt cx="3413760" cy="1170432"/>
          </a:xfrm>
        </p:grpSpPr>
        <p:sp>
          <p:nvSpPr>
            <p:cNvPr name="Freeform 39" id="39"/>
            <p:cNvSpPr/>
            <p:nvPr/>
          </p:nvSpPr>
          <p:spPr>
            <a:xfrm flipH="false" flipV="false" rot="0">
              <a:off x="0" y="0"/>
              <a:ext cx="3413760" cy="1170432"/>
            </a:xfrm>
            <a:custGeom>
              <a:avLst/>
              <a:gdLst/>
              <a:ahLst/>
              <a:cxnLst/>
              <a:rect r="r" b="b" t="t" l="l"/>
              <a:pathLst>
                <a:path h="1170432" w="3413760">
                  <a:moveTo>
                    <a:pt x="0" y="0"/>
                  </a:moveTo>
                  <a:lnTo>
                    <a:pt x="3413760" y="0"/>
                  </a:lnTo>
                  <a:lnTo>
                    <a:pt x="3413760" y="1170432"/>
                  </a:lnTo>
                  <a:lnTo>
                    <a:pt x="0" y="1170432"/>
                  </a:lnTo>
                  <a:close/>
                </a:path>
              </a:pathLst>
            </a:custGeom>
            <a:blipFill>
              <a:blip r:embed="rId3">
                <a:alphaModFix amt="0"/>
              </a:blip>
              <a:stretch>
                <a:fillRect l="0" t="-6831" r="0" b="-6831"/>
              </a:stretch>
            </a:blipFill>
          </p:spPr>
        </p:sp>
        <p:sp>
          <p:nvSpPr>
            <p:cNvPr name="TextBox 40" id="40"/>
            <p:cNvSpPr txBox="true"/>
            <p:nvPr/>
          </p:nvSpPr>
          <p:spPr>
            <a:xfrm>
              <a:off x="0" y="-38100"/>
              <a:ext cx="3413760" cy="1208532"/>
            </a:xfrm>
            <a:prstGeom prst="rect">
              <a:avLst/>
            </a:prstGeom>
          </p:spPr>
          <p:txBody>
            <a:bodyPr anchor="ctr" rtlCol="false" tIns="0" lIns="0" bIns="0" rIns="0"/>
            <a:lstStyle/>
            <a:p>
              <a:pPr algn="l">
                <a:lnSpc>
                  <a:spcPts val="2400"/>
                </a:lnSpc>
              </a:pPr>
              <a:r>
                <a:rPr lang="en-US" sz="2000" b="true">
                  <a:solidFill>
                    <a:srgbClr val="3B82F6"/>
                  </a:solidFill>
                  <a:latin typeface="Calibri (MS) Bold"/>
                  <a:ea typeface="Calibri (MS) Bold"/>
                  <a:cs typeface="Calibri (MS) Bold"/>
                  <a:sym typeface="Calibri (MS) Bold"/>
                </a:rPr>
                <a:t>Preprocessing:</a:t>
              </a:r>
            </a:p>
          </p:txBody>
        </p:sp>
      </p:grpSp>
      <p:grpSp>
        <p:nvGrpSpPr>
          <p:cNvPr name="Group 41" id="41"/>
          <p:cNvGrpSpPr/>
          <p:nvPr/>
        </p:nvGrpSpPr>
        <p:grpSpPr>
          <a:xfrm rot="0">
            <a:off x="3749040" y="5614416"/>
            <a:ext cx="4754880" cy="877824"/>
            <a:chOff x="0" y="0"/>
            <a:chExt cx="6339840" cy="1170432"/>
          </a:xfrm>
        </p:grpSpPr>
        <p:sp>
          <p:nvSpPr>
            <p:cNvPr name="Freeform 42" id="42"/>
            <p:cNvSpPr/>
            <p:nvPr/>
          </p:nvSpPr>
          <p:spPr>
            <a:xfrm flipH="false" flipV="false" rot="0">
              <a:off x="0" y="0"/>
              <a:ext cx="6339840" cy="1170432"/>
            </a:xfrm>
            <a:custGeom>
              <a:avLst/>
              <a:gdLst/>
              <a:ahLst/>
              <a:cxnLst/>
              <a:rect r="r" b="b" t="t" l="l"/>
              <a:pathLst>
                <a:path h="1170432" w="6339840">
                  <a:moveTo>
                    <a:pt x="0" y="0"/>
                  </a:moveTo>
                  <a:lnTo>
                    <a:pt x="6339840" y="0"/>
                  </a:lnTo>
                  <a:lnTo>
                    <a:pt x="6339840" y="1170432"/>
                  </a:lnTo>
                  <a:lnTo>
                    <a:pt x="0" y="1170432"/>
                  </a:lnTo>
                  <a:close/>
                </a:path>
              </a:pathLst>
            </a:custGeom>
            <a:blipFill>
              <a:blip r:embed="rId3">
                <a:alphaModFix amt="0"/>
              </a:blip>
              <a:stretch>
                <a:fillRect l="0" t="-55543" r="0" b="-55543"/>
              </a:stretch>
            </a:blipFill>
          </p:spPr>
        </p:sp>
        <p:sp>
          <p:nvSpPr>
            <p:cNvPr name="TextBox 43" id="43"/>
            <p:cNvSpPr txBox="true"/>
            <p:nvPr/>
          </p:nvSpPr>
          <p:spPr>
            <a:xfrm>
              <a:off x="0" y="-38100"/>
              <a:ext cx="6339840" cy="1208532"/>
            </a:xfrm>
            <a:prstGeom prst="rect">
              <a:avLst/>
            </a:prstGeom>
          </p:spPr>
          <p:txBody>
            <a:bodyPr anchor="ctr" rtlCol="false" tIns="0" lIns="0" bIns="0" rIns="0"/>
            <a:lstStyle/>
            <a:p>
              <a:pPr algn="l">
                <a:lnSpc>
                  <a:spcPts val="2280"/>
                </a:lnSpc>
              </a:pPr>
              <a:r>
                <a:rPr lang="en-US" sz="1900">
                  <a:solidFill>
                    <a:srgbClr val="334155"/>
                  </a:solidFill>
                  <a:latin typeface="Calibri (MS)"/>
                  <a:ea typeface="Calibri (MS)"/>
                  <a:cs typeface="Calibri (MS)"/>
                  <a:sym typeface="Calibri (MS)"/>
                </a:rPr>
                <a:t>NaN interpolation (≤14 days)</a:t>
              </a:r>
            </a:p>
            <a:p>
              <a:pPr algn="l">
                <a:lnSpc>
                  <a:spcPts val="2280"/>
                </a:lnSpc>
              </a:pPr>
              <a:r>
                <a:rPr lang="en-US" sz="1900">
                  <a:solidFill>
                    <a:srgbClr val="334155"/>
                  </a:solidFill>
                  <a:latin typeface="Calibri (MS)"/>
                  <a:ea typeface="Calibri (MS)"/>
                  <a:cs typeface="Calibri (MS)"/>
                  <a:sym typeface="Calibri (MS)"/>
                </a:rPr>
                <a:t>RobustScaler (median + IQR)</a:t>
              </a:r>
            </a:p>
          </p:txBody>
        </p:sp>
      </p:grpSp>
      <p:grpSp>
        <p:nvGrpSpPr>
          <p:cNvPr name="Group 44" id="44"/>
          <p:cNvGrpSpPr/>
          <p:nvPr/>
        </p:nvGrpSpPr>
        <p:grpSpPr>
          <a:xfrm rot="0">
            <a:off x="9418320" y="2468880"/>
            <a:ext cx="7863840" cy="4389120"/>
            <a:chOff x="0" y="0"/>
            <a:chExt cx="10485120" cy="5852160"/>
          </a:xfrm>
        </p:grpSpPr>
        <p:sp>
          <p:nvSpPr>
            <p:cNvPr name="Freeform 45" id="45"/>
            <p:cNvSpPr/>
            <p:nvPr/>
          </p:nvSpPr>
          <p:spPr>
            <a:xfrm flipH="false" flipV="false" rot="0">
              <a:off x="0" y="0"/>
              <a:ext cx="10485120" cy="5852160"/>
            </a:xfrm>
            <a:custGeom>
              <a:avLst/>
              <a:gdLst/>
              <a:ahLst/>
              <a:cxnLst/>
              <a:rect r="r" b="b" t="t" l="l"/>
              <a:pathLst>
                <a:path h="5852160" w="10485120">
                  <a:moveTo>
                    <a:pt x="0" y="292608"/>
                  </a:moveTo>
                  <a:cubicBezTo>
                    <a:pt x="0" y="131064"/>
                    <a:pt x="131064" y="0"/>
                    <a:pt x="292608" y="0"/>
                  </a:cubicBezTo>
                  <a:lnTo>
                    <a:pt x="10192512" y="0"/>
                  </a:lnTo>
                  <a:cubicBezTo>
                    <a:pt x="10354056" y="0"/>
                    <a:pt x="10485120" y="131064"/>
                    <a:pt x="10485120" y="292608"/>
                  </a:cubicBezTo>
                  <a:lnTo>
                    <a:pt x="10485120" y="5559552"/>
                  </a:lnTo>
                  <a:cubicBezTo>
                    <a:pt x="10485120" y="5721096"/>
                    <a:pt x="10354056" y="5852160"/>
                    <a:pt x="10192512" y="5852160"/>
                  </a:cubicBezTo>
                  <a:lnTo>
                    <a:pt x="292608" y="5852160"/>
                  </a:lnTo>
                  <a:cubicBezTo>
                    <a:pt x="131064" y="5852160"/>
                    <a:pt x="0" y="5721096"/>
                    <a:pt x="0" y="5559552"/>
                  </a:cubicBezTo>
                  <a:close/>
                </a:path>
              </a:pathLst>
            </a:custGeom>
            <a:solidFill>
              <a:srgbClr val="EFF6FF"/>
            </a:solidFill>
          </p:spPr>
        </p:sp>
      </p:grpSp>
      <p:graphicFrame>
        <p:nvGraphicFramePr>
          <p:cNvPr name="Table 46" id="46"/>
          <p:cNvGraphicFramePr>
            <a:graphicFrameLocks noGrp="true"/>
          </p:cNvGraphicFramePr>
          <p:nvPr/>
        </p:nvGraphicFramePr>
        <p:xfrm>
          <a:off x="9546336" y="2596896"/>
          <a:ext cx="7569200" cy="3505200"/>
        </p:xfrm>
        <a:graphic>
          <a:graphicData uri="http://schemas.openxmlformats.org/drawingml/2006/table">
            <a:tbl>
              <a:tblPr/>
              <a:tblGrid>
                <a:gridCol w="2372586"/>
                <a:gridCol w="1830854"/>
                <a:gridCol w="3365761"/>
              </a:tblGrid>
              <a:tr h="584200">
                <a:tc>
                  <a:txBody>
                    <a:bodyPr anchor="t" rtlCol="false"/>
                    <a:lstStyle/>
                    <a:p>
                      <a:pPr algn="l">
                        <a:lnSpc>
                          <a:spcPts val="2160"/>
                        </a:lnSpc>
                        <a:defRPr/>
                      </a:pPr>
                      <a:r>
                        <a:rPr lang="en-US" sz="1800" b="true">
                          <a:solidFill>
                            <a:srgbClr val="FFFFFF"/>
                          </a:solidFill>
                          <a:latin typeface="Calibri (MS) Bold"/>
                          <a:ea typeface="Calibri (MS) Bold"/>
                          <a:cs typeface="Calibri (MS) Bold"/>
                          <a:sym typeface="Calibri (MS) Bold"/>
                        </a:rPr>
                        <a:t>Location</a:t>
                      </a:r>
                      <a:endParaRPr lang="en-US" sz="1100"/>
                    </a:p>
                  </a:txBody>
                  <a:tcPr marL="91440" marR="91440" marT="91440" marB="91440" anchor="ctr">
                    <a:lnL cmpd="sng" algn="ctr" cap="flat" w="6350">
                      <a:solidFill>
                        <a:srgbClr val="CCCCCC"/>
                      </a:solidFill>
                      <a:prstDash val="solid"/>
                      <a:round/>
                      <a:headEnd type="none" w="med" len="med"/>
                      <a:tailEnd type="none" w="med" len="med"/>
                    </a:lnL>
                    <a:lnR cmpd="sng" algn="ctr" cap="flat" w="6350">
                      <a:solidFill>
                        <a:srgbClr val="CCCCCC"/>
                      </a:solidFill>
                      <a:prstDash val="solid"/>
                      <a:round/>
                      <a:headEnd type="none" w="med" len="med"/>
                      <a:tailEnd type="none" w="med" len="med"/>
                    </a:lnR>
                    <a:lnT cmpd="sng" algn="ctr" cap="flat" w="6350">
                      <a:solidFill>
                        <a:srgbClr val="CCCCCC"/>
                      </a:solidFill>
                      <a:prstDash val="solid"/>
                      <a:round/>
                      <a:headEnd type="none" w="med" len="med"/>
                      <a:tailEnd type="none" w="med" len="med"/>
                    </a:lnT>
                    <a:lnB cmpd="sng" algn="ctr" cap="flat" w="6350">
                      <a:solidFill>
                        <a:srgbClr val="CCCCCC"/>
                      </a:solidFill>
                      <a:prstDash val="solid"/>
                      <a:round/>
                      <a:headEnd type="none" w="med" len="med"/>
                      <a:tailEnd type="none" w="med" len="med"/>
                    </a:lnB>
                    <a:solidFill>
                      <a:srgbClr val="1A2744"/>
                    </a:solidFill>
                  </a:tcPr>
                </a:tc>
                <a:tc>
                  <a:txBody>
                    <a:bodyPr anchor="t" rtlCol="false"/>
                    <a:lstStyle/>
                    <a:p>
                      <a:pPr algn="l">
                        <a:lnSpc>
                          <a:spcPts val="2160"/>
                        </a:lnSpc>
                        <a:defRPr/>
                      </a:pPr>
                      <a:r>
                        <a:rPr lang="en-US" sz="1800" b="true">
                          <a:solidFill>
                            <a:srgbClr val="FFFFFF"/>
                          </a:solidFill>
                          <a:latin typeface="Calibri (MS) Bold"/>
                          <a:ea typeface="Calibri (MS) Bold"/>
                          <a:cs typeface="Calibri (MS) Bold"/>
                          <a:sym typeface="Calibri (MS) Bold"/>
                        </a:rPr>
                        <a:t>Coords</a:t>
                      </a:r>
                      <a:endParaRPr lang="en-US" sz="1100"/>
                    </a:p>
                  </a:txBody>
                  <a:tcPr marL="91440" marR="91440" marT="91440" marB="91440" anchor="ctr">
                    <a:lnL cmpd="sng" algn="ctr" cap="flat" w="6350">
                      <a:solidFill>
                        <a:srgbClr val="CCCCCC"/>
                      </a:solidFill>
                      <a:prstDash val="solid"/>
                      <a:round/>
                      <a:headEnd type="none" w="med" len="med"/>
                      <a:tailEnd type="none" w="med" len="med"/>
                    </a:lnL>
                    <a:lnR cmpd="sng" algn="ctr" cap="flat" w="6350">
                      <a:solidFill>
                        <a:srgbClr val="CCCCCC"/>
                      </a:solidFill>
                      <a:prstDash val="solid"/>
                      <a:round/>
                      <a:headEnd type="none" w="med" len="med"/>
                      <a:tailEnd type="none" w="med" len="med"/>
                    </a:lnR>
                    <a:lnT cmpd="sng" algn="ctr" cap="flat" w="6350">
                      <a:solidFill>
                        <a:srgbClr val="CCCCCC"/>
                      </a:solidFill>
                      <a:prstDash val="solid"/>
                      <a:round/>
                      <a:headEnd type="none" w="med" len="med"/>
                      <a:tailEnd type="none" w="med" len="med"/>
                    </a:lnT>
                    <a:lnB cmpd="sng" algn="ctr" cap="flat" w="6350">
                      <a:solidFill>
                        <a:srgbClr val="CCCCCC"/>
                      </a:solidFill>
                      <a:prstDash val="solid"/>
                      <a:round/>
                      <a:headEnd type="none" w="med" len="med"/>
                      <a:tailEnd type="none" w="med" len="med"/>
                    </a:lnB>
                    <a:solidFill>
                      <a:srgbClr val="1A2744"/>
                    </a:solidFill>
                  </a:tcPr>
                </a:tc>
                <a:tc>
                  <a:txBody>
                    <a:bodyPr anchor="t" rtlCol="false"/>
                    <a:lstStyle/>
                    <a:p>
                      <a:pPr algn="l">
                        <a:lnSpc>
                          <a:spcPts val="2160"/>
                        </a:lnSpc>
                        <a:defRPr/>
                      </a:pPr>
                      <a:r>
                        <a:rPr lang="en-US" sz="1800" b="true">
                          <a:solidFill>
                            <a:srgbClr val="FFFFFF"/>
                          </a:solidFill>
                          <a:latin typeface="Calibri (MS) Bold"/>
                          <a:ea typeface="Calibri (MS) Bold"/>
                          <a:cs typeface="Calibri (MS) Bold"/>
                          <a:sym typeface="Calibri (MS) Bold"/>
                        </a:rPr>
                        <a:t>Key Forcing</a:t>
                      </a:r>
                      <a:endParaRPr lang="en-US" sz="1100"/>
                    </a:p>
                  </a:txBody>
                  <a:tcPr marL="91440" marR="91440" marT="91440" marB="91440" anchor="ctr">
                    <a:lnL cmpd="sng" algn="ctr" cap="flat" w="6350">
                      <a:solidFill>
                        <a:srgbClr val="CCCCCC"/>
                      </a:solidFill>
                      <a:prstDash val="solid"/>
                      <a:round/>
                      <a:headEnd type="none" w="med" len="med"/>
                      <a:tailEnd type="none" w="med" len="med"/>
                    </a:lnL>
                    <a:lnR cmpd="sng" algn="ctr" cap="flat" w="6350">
                      <a:solidFill>
                        <a:srgbClr val="CCCCCC"/>
                      </a:solidFill>
                      <a:prstDash val="solid"/>
                      <a:round/>
                      <a:headEnd type="none" w="med" len="med"/>
                      <a:tailEnd type="none" w="med" len="med"/>
                    </a:lnR>
                    <a:lnT cmpd="sng" algn="ctr" cap="flat" w="6350">
                      <a:solidFill>
                        <a:srgbClr val="CCCCCC"/>
                      </a:solidFill>
                      <a:prstDash val="solid"/>
                      <a:round/>
                      <a:headEnd type="none" w="med" len="med"/>
                      <a:tailEnd type="none" w="med" len="med"/>
                    </a:lnT>
                    <a:lnB cmpd="sng" algn="ctr" cap="flat" w="6350">
                      <a:solidFill>
                        <a:srgbClr val="CCCCCC"/>
                      </a:solidFill>
                      <a:prstDash val="solid"/>
                      <a:round/>
                      <a:headEnd type="none" w="med" len="med"/>
                      <a:tailEnd type="none" w="med" len="med"/>
                    </a:lnB>
                    <a:solidFill>
                      <a:srgbClr val="1A2744"/>
                    </a:solidFill>
                  </a:tcPr>
                </a:tc>
              </a:tr>
              <a:tr h="584200">
                <a:tc>
                  <a:txBody>
                    <a:bodyPr anchor="t" rtlCol="false"/>
                    <a:lstStyle/>
                    <a:p>
                      <a:pPr algn="l">
                        <a:lnSpc>
                          <a:spcPts val="2160"/>
                        </a:lnSpc>
                        <a:defRPr/>
                      </a:pPr>
                      <a:r>
                        <a:rPr lang="en-US" sz="1800">
                          <a:solidFill>
                            <a:srgbClr val="000000"/>
                          </a:solidFill>
                          <a:latin typeface="Calibri (MS)"/>
                          <a:ea typeface="Calibri (MS)"/>
                          <a:cs typeface="Calibri (MS)"/>
                          <a:sym typeface="Calibri (MS)"/>
                        </a:rPr>
                        <a:t>Arabian Sea</a:t>
                      </a:r>
                      <a:endParaRPr lang="en-US" sz="1100"/>
                    </a:p>
                  </a:txBody>
                  <a:tcPr marL="91440" marR="91440" marT="91440" marB="91440" anchor="ctr">
                    <a:lnL cmpd="sng" algn="ctr" cap="flat" w="6350">
                      <a:solidFill>
                        <a:srgbClr val="CCCCCC"/>
                      </a:solidFill>
                      <a:prstDash val="solid"/>
                      <a:round/>
                      <a:headEnd type="none" w="med" len="med"/>
                      <a:tailEnd type="none" w="med" len="med"/>
                    </a:lnL>
                    <a:lnR cmpd="sng" algn="ctr" cap="flat" w="6350">
                      <a:solidFill>
                        <a:srgbClr val="CCCCCC"/>
                      </a:solidFill>
                      <a:prstDash val="solid"/>
                      <a:round/>
                      <a:headEnd type="none" w="med" len="med"/>
                      <a:tailEnd type="none" w="med" len="med"/>
                    </a:lnR>
                    <a:lnT cmpd="sng" algn="ctr" cap="flat" w="6350">
                      <a:solidFill>
                        <a:srgbClr val="CCCCCC"/>
                      </a:solidFill>
                      <a:prstDash val="solid"/>
                      <a:round/>
                      <a:headEnd type="none" w="med" len="med"/>
                      <a:tailEnd type="none" w="med" len="med"/>
                    </a:lnT>
                    <a:lnB cmpd="sng" algn="ctr" cap="flat" w="6350">
                      <a:solidFill>
                        <a:srgbClr val="CCCCCC"/>
                      </a:solidFill>
                      <a:prstDash val="solid"/>
                      <a:round/>
                      <a:headEnd type="none" w="med" len="med"/>
                      <a:tailEnd type="none" w="med" len="med"/>
                    </a:lnB>
                  </a:tcPr>
                </a:tc>
                <a:tc>
                  <a:txBody>
                    <a:bodyPr anchor="t" rtlCol="false"/>
                    <a:lstStyle/>
                    <a:p>
                      <a:pPr algn="l">
                        <a:lnSpc>
                          <a:spcPts val="2160"/>
                        </a:lnSpc>
                        <a:defRPr/>
                      </a:pPr>
                      <a:r>
                        <a:rPr lang="en-US" sz="1800">
                          <a:solidFill>
                            <a:srgbClr val="000000"/>
                          </a:solidFill>
                          <a:latin typeface="Calibri (MS)"/>
                          <a:ea typeface="Calibri (MS)"/>
                          <a:cs typeface="Calibri (MS)"/>
                          <a:sym typeface="Calibri (MS)"/>
                        </a:rPr>
                        <a:t>15°N 65°E</a:t>
                      </a:r>
                      <a:endParaRPr lang="en-US" sz="1100"/>
                    </a:p>
                  </a:txBody>
                  <a:tcPr marL="91440" marR="91440" marT="91440" marB="91440" anchor="ctr">
                    <a:lnL cmpd="sng" algn="ctr" cap="flat" w="6350">
                      <a:solidFill>
                        <a:srgbClr val="CCCCCC"/>
                      </a:solidFill>
                      <a:prstDash val="solid"/>
                      <a:round/>
                      <a:headEnd type="none" w="med" len="med"/>
                      <a:tailEnd type="none" w="med" len="med"/>
                    </a:lnL>
                    <a:lnR cmpd="sng" algn="ctr" cap="flat" w="6350">
                      <a:solidFill>
                        <a:srgbClr val="CCCCCC"/>
                      </a:solidFill>
                      <a:prstDash val="solid"/>
                      <a:round/>
                      <a:headEnd type="none" w="med" len="med"/>
                      <a:tailEnd type="none" w="med" len="med"/>
                    </a:lnR>
                    <a:lnT cmpd="sng" algn="ctr" cap="flat" w="6350">
                      <a:solidFill>
                        <a:srgbClr val="CCCCCC"/>
                      </a:solidFill>
                      <a:prstDash val="solid"/>
                      <a:round/>
                      <a:headEnd type="none" w="med" len="med"/>
                      <a:tailEnd type="none" w="med" len="med"/>
                    </a:lnT>
                    <a:lnB cmpd="sng" algn="ctr" cap="flat" w="6350">
                      <a:solidFill>
                        <a:srgbClr val="CCCCCC"/>
                      </a:solidFill>
                      <a:prstDash val="solid"/>
                      <a:round/>
                      <a:headEnd type="none" w="med" len="med"/>
                      <a:tailEnd type="none" w="med" len="med"/>
                    </a:lnB>
                  </a:tcPr>
                </a:tc>
                <a:tc>
                  <a:txBody>
                    <a:bodyPr anchor="t" rtlCol="false"/>
                    <a:lstStyle/>
                    <a:p>
                      <a:pPr algn="l">
                        <a:lnSpc>
                          <a:spcPts val="2160"/>
                        </a:lnSpc>
                        <a:defRPr/>
                      </a:pPr>
                      <a:r>
                        <a:rPr lang="en-US" sz="1800">
                          <a:solidFill>
                            <a:srgbClr val="000000"/>
                          </a:solidFill>
                          <a:latin typeface="Calibri (MS)"/>
                          <a:ea typeface="Calibri (MS)"/>
                          <a:cs typeface="Calibri (MS)"/>
                          <a:sym typeface="Calibri (MS)"/>
                        </a:rPr>
                        <a:t>Somali Current reversal</a:t>
                      </a:r>
                      <a:endParaRPr lang="en-US" sz="1100"/>
                    </a:p>
                  </a:txBody>
                  <a:tcPr marL="91440" marR="91440" marT="91440" marB="91440" anchor="ctr">
                    <a:lnL cmpd="sng" algn="ctr" cap="flat" w="6350">
                      <a:solidFill>
                        <a:srgbClr val="CCCCCC"/>
                      </a:solidFill>
                      <a:prstDash val="solid"/>
                      <a:round/>
                      <a:headEnd type="none" w="med" len="med"/>
                      <a:tailEnd type="none" w="med" len="med"/>
                    </a:lnL>
                    <a:lnR cmpd="sng" algn="ctr" cap="flat" w="6350">
                      <a:solidFill>
                        <a:srgbClr val="CCCCCC"/>
                      </a:solidFill>
                      <a:prstDash val="solid"/>
                      <a:round/>
                      <a:headEnd type="none" w="med" len="med"/>
                      <a:tailEnd type="none" w="med" len="med"/>
                    </a:lnR>
                    <a:lnT cmpd="sng" algn="ctr" cap="flat" w="6350">
                      <a:solidFill>
                        <a:srgbClr val="CCCCCC"/>
                      </a:solidFill>
                      <a:prstDash val="solid"/>
                      <a:round/>
                      <a:headEnd type="none" w="med" len="med"/>
                      <a:tailEnd type="none" w="med" len="med"/>
                    </a:lnT>
                    <a:lnB cmpd="sng" algn="ctr" cap="flat" w="6350">
                      <a:solidFill>
                        <a:srgbClr val="CCCCCC"/>
                      </a:solidFill>
                      <a:prstDash val="solid"/>
                      <a:round/>
                      <a:headEnd type="none" w="med" len="med"/>
                      <a:tailEnd type="none" w="med" len="med"/>
                    </a:lnB>
                  </a:tcPr>
                </a:tc>
              </a:tr>
              <a:tr h="584200">
                <a:tc>
                  <a:txBody>
                    <a:bodyPr anchor="t" rtlCol="false"/>
                    <a:lstStyle/>
                    <a:p>
                      <a:pPr algn="l">
                        <a:lnSpc>
                          <a:spcPts val="2160"/>
                        </a:lnSpc>
                        <a:defRPr/>
                      </a:pPr>
                      <a:r>
                        <a:rPr lang="en-US" sz="1800">
                          <a:solidFill>
                            <a:srgbClr val="000000"/>
                          </a:solidFill>
                          <a:latin typeface="Calibri (MS)"/>
                          <a:ea typeface="Calibri (MS)"/>
                          <a:cs typeface="Calibri (MS)"/>
                          <a:sym typeface="Calibri (MS)"/>
                        </a:rPr>
                        <a:t>Bay of Bengal</a:t>
                      </a:r>
                      <a:endParaRPr lang="en-US" sz="1100"/>
                    </a:p>
                  </a:txBody>
                  <a:tcPr marL="91440" marR="91440" marT="91440" marB="91440" anchor="ctr">
                    <a:lnL cmpd="sng" algn="ctr" cap="flat" w="6350">
                      <a:solidFill>
                        <a:srgbClr val="CCCCCC"/>
                      </a:solidFill>
                      <a:prstDash val="solid"/>
                      <a:round/>
                      <a:headEnd type="none" w="med" len="med"/>
                      <a:tailEnd type="none" w="med" len="med"/>
                    </a:lnL>
                    <a:lnR cmpd="sng" algn="ctr" cap="flat" w="6350">
                      <a:solidFill>
                        <a:srgbClr val="CCCCCC"/>
                      </a:solidFill>
                      <a:prstDash val="solid"/>
                      <a:round/>
                      <a:headEnd type="none" w="med" len="med"/>
                      <a:tailEnd type="none" w="med" len="med"/>
                    </a:lnR>
                    <a:lnT cmpd="sng" algn="ctr" cap="flat" w="6350">
                      <a:solidFill>
                        <a:srgbClr val="CCCCCC"/>
                      </a:solidFill>
                      <a:prstDash val="solid"/>
                      <a:round/>
                      <a:headEnd type="none" w="med" len="med"/>
                      <a:tailEnd type="none" w="med" len="med"/>
                    </a:lnT>
                    <a:lnB cmpd="sng" algn="ctr" cap="flat" w="6350">
                      <a:solidFill>
                        <a:srgbClr val="CCCCCC"/>
                      </a:solidFill>
                      <a:prstDash val="solid"/>
                      <a:round/>
                      <a:headEnd type="none" w="med" len="med"/>
                      <a:tailEnd type="none" w="med" len="med"/>
                    </a:lnB>
                  </a:tcPr>
                </a:tc>
                <a:tc>
                  <a:txBody>
                    <a:bodyPr anchor="t" rtlCol="false"/>
                    <a:lstStyle/>
                    <a:p>
                      <a:pPr algn="l">
                        <a:lnSpc>
                          <a:spcPts val="2160"/>
                        </a:lnSpc>
                        <a:defRPr/>
                      </a:pPr>
                      <a:r>
                        <a:rPr lang="en-US" sz="1800">
                          <a:solidFill>
                            <a:srgbClr val="000000"/>
                          </a:solidFill>
                          <a:latin typeface="Calibri (MS)"/>
                          <a:ea typeface="Calibri (MS)"/>
                          <a:cs typeface="Calibri (MS)"/>
                          <a:sym typeface="Calibri (MS)"/>
                        </a:rPr>
                        <a:t>12°N 87°E</a:t>
                      </a:r>
                      <a:endParaRPr lang="en-US" sz="1100"/>
                    </a:p>
                  </a:txBody>
                  <a:tcPr marL="91440" marR="91440" marT="91440" marB="91440" anchor="ctr">
                    <a:lnL cmpd="sng" algn="ctr" cap="flat" w="6350">
                      <a:solidFill>
                        <a:srgbClr val="CCCCCC"/>
                      </a:solidFill>
                      <a:prstDash val="solid"/>
                      <a:round/>
                      <a:headEnd type="none" w="med" len="med"/>
                      <a:tailEnd type="none" w="med" len="med"/>
                    </a:lnL>
                    <a:lnR cmpd="sng" algn="ctr" cap="flat" w="6350">
                      <a:solidFill>
                        <a:srgbClr val="CCCCCC"/>
                      </a:solidFill>
                      <a:prstDash val="solid"/>
                      <a:round/>
                      <a:headEnd type="none" w="med" len="med"/>
                      <a:tailEnd type="none" w="med" len="med"/>
                    </a:lnR>
                    <a:lnT cmpd="sng" algn="ctr" cap="flat" w="6350">
                      <a:solidFill>
                        <a:srgbClr val="CCCCCC"/>
                      </a:solidFill>
                      <a:prstDash val="solid"/>
                      <a:round/>
                      <a:headEnd type="none" w="med" len="med"/>
                      <a:tailEnd type="none" w="med" len="med"/>
                    </a:lnT>
                    <a:lnB cmpd="sng" algn="ctr" cap="flat" w="6350">
                      <a:solidFill>
                        <a:srgbClr val="CCCCCC"/>
                      </a:solidFill>
                      <a:prstDash val="solid"/>
                      <a:round/>
                      <a:headEnd type="none" w="med" len="med"/>
                      <a:tailEnd type="none" w="med" len="med"/>
                    </a:lnB>
                  </a:tcPr>
                </a:tc>
                <a:tc>
                  <a:txBody>
                    <a:bodyPr anchor="t" rtlCol="false"/>
                    <a:lstStyle/>
                    <a:p>
                      <a:pPr algn="l">
                        <a:lnSpc>
                          <a:spcPts val="2160"/>
                        </a:lnSpc>
                        <a:defRPr/>
                      </a:pPr>
                      <a:r>
                        <a:rPr lang="en-US" sz="1800">
                          <a:solidFill>
                            <a:srgbClr val="000000"/>
                          </a:solidFill>
                          <a:latin typeface="Calibri (MS)"/>
                          <a:ea typeface="Calibri (MS)"/>
                          <a:cs typeface="Calibri (MS)"/>
                          <a:sym typeface="Calibri (MS)"/>
                        </a:rPr>
                        <a:t>Bay gyre; cyclone tracks</a:t>
                      </a:r>
                      <a:endParaRPr lang="en-US" sz="1100"/>
                    </a:p>
                  </a:txBody>
                  <a:tcPr marL="91440" marR="91440" marT="91440" marB="91440" anchor="ctr">
                    <a:lnL cmpd="sng" algn="ctr" cap="flat" w="6350">
                      <a:solidFill>
                        <a:srgbClr val="CCCCCC"/>
                      </a:solidFill>
                      <a:prstDash val="solid"/>
                      <a:round/>
                      <a:headEnd type="none" w="med" len="med"/>
                      <a:tailEnd type="none" w="med" len="med"/>
                    </a:lnL>
                    <a:lnR cmpd="sng" algn="ctr" cap="flat" w="6350">
                      <a:solidFill>
                        <a:srgbClr val="CCCCCC"/>
                      </a:solidFill>
                      <a:prstDash val="solid"/>
                      <a:round/>
                      <a:headEnd type="none" w="med" len="med"/>
                      <a:tailEnd type="none" w="med" len="med"/>
                    </a:lnR>
                    <a:lnT cmpd="sng" algn="ctr" cap="flat" w="6350">
                      <a:solidFill>
                        <a:srgbClr val="CCCCCC"/>
                      </a:solidFill>
                      <a:prstDash val="solid"/>
                      <a:round/>
                      <a:headEnd type="none" w="med" len="med"/>
                      <a:tailEnd type="none" w="med" len="med"/>
                    </a:lnT>
                    <a:lnB cmpd="sng" algn="ctr" cap="flat" w="6350">
                      <a:solidFill>
                        <a:srgbClr val="CCCCCC"/>
                      </a:solidFill>
                      <a:prstDash val="solid"/>
                      <a:round/>
                      <a:headEnd type="none" w="med" len="med"/>
                      <a:tailEnd type="none" w="med" len="med"/>
                    </a:lnB>
                  </a:tcPr>
                </a:tc>
              </a:tr>
              <a:tr h="584200">
                <a:tc>
                  <a:txBody>
                    <a:bodyPr anchor="t" rtlCol="false"/>
                    <a:lstStyle/>
                    <a:p>
                      <a:pPr algn="l">
                        <a:lnSpc>
                          <a:spcPts val="2160"/>
                        </a:lnSpc>
                        <a:defRPr/>
                      </a:pPr>
                      <a:r>
                        <a:rPr lang="en-US" sz="1800">
                          <a:solidFill>
                            <a:srgbClr val="000000"/>
                          </a:solidFill>
                          <a:latin typeface="Calibri (MS)"/>
                          <a:ea typeface="Calibri (MS)"/>
                          <a:cs typeface="Calibri (MS)"/>
                          <a:sym typeface="Calibri (MS)"/>
                        </a:rPr>
                        <a:t>Andaman Sea</a:t>
                      </a:r>
                      <a:endParaRPr lang="en-US" sz="1100"/>
                    </a:p>
                  </a:txBody>
                  <a:tcPr marL="91440" marR="91440" marT="91440" marB="91440" anchor="ctr">
                    <a:lnL cmpd="sng" algn="ctr" cap="flat" w="6350">
                      <a:solidFill>
                        <a:srgbClr val="CCCCCC"/>
                      </a:solidFill>
                      <a:prstDash val="solid"/>
                      <a:round/>
                      <a:headEnd type="none" w="med" len="med"/>
                      <a:tailEnd type="none" w="med" len="med"/>
                    </a:lnL>
                    <a:lnR cmpd="sng" algn="ctr" cap="flat" w="6350">
                      <a:solidFill>
                        <a:srgbClr val="CCCCCC"/>
                      </a:solidFill>
                      <a:prstDash val="solid"/>
                      <a:round/>
                      <a:headEnd type="none" w="med" len="med"/>
                      <a:tailEnd type="none" w="med" len="med"/>
                    </a:lnR>
                    <a:lnT cmpd="sng" algn="ctr" cap="flat" w="6350">
                      <a:solidFill>
                        <a:srgbClr val="CCCCCC"/>
                      </a:solidFill>
                      <a:prstDash val="solid"/>
                      <a:round/>
                      <a:headEnd type="none" w="med" len="med"/>
                      <a:tailEnd type="none" w="med" len="med"/>
                    </a:lnT>
                    <a:lnB cmpd="sng" algn="ctr" cap="flat" w="6350">
                      <a:solidFill>
                        <a:srgbClr val="CCCCCC"/>
                      </a:solidFill>
                      <a:prstDash val="solid"/>
                      <a:round/>
                      <a:headEnd type="none" w="med" len="med"/>
                      <a:tailEnd type="none" w="med" len="med"/>
                    </a:lnB>
                  </a:tcPr>
                </a:tc>
                <a:tc>
                  <a:txBody>
                    <a:bodyPr anchor="t" rtlCol="false"/>
                    <a:lstStyle/>
                    <a:p>
                      <a:pPr algn="l">
                        <a:lnSpc>
                          <a:spcPts val="2160"/>
                        </a:lnSpc>
                        <a:defRPr/>
                      </a:pPr>
                      <a:r>
                        <a:rPr lang="en-US" sz="1800">
                          <a:solidFill>
                            <a:srgbClr val="000000"/>
                          </a:solidFill>
                          <a:latin typeface="Calibri (MS)"/>
                          <a:ea typeface="Calibri (MS)"/>
                          <a:cs typeface="Calibri (MS)"/>
                          <a:sym typeface="Calibri (MS)"/>
                        </a:rPr>
                        <a:t>11°N 95°E</a:t>
                      </a:r>
                      <a:endParaRPr lang="en-US" sz="1100"/>
                    </a:p>
                  </a:txBody>
                  <a:tcPr marL="91440" marR="91440" marT="91440" marB="91440" anchor="ctr">
                    <a:lnL cmpd="sng" algn="ctr" cap="flat" w="6350">
                      <a:solidFill>
                        <a:srgbClr val="CCCCCC"/>
                      </a:solidFill>
                      <a:prstDash val="solid"/>
                      <a:round/>
                      <a:headEnd type="none" w="med" len="med"/>
                      <a:tailEnd type="none" w="med" len="med"/>
                    </a:lnL>
                    <a:lnR cmpd="sng" algn="ctr" cap="flat" w="6350">
                      <a:solidFill>
                        <a:srgbClr val="CCCCCC"/>
                      </a:solidFill>
                      <a:prstDash val="solid"/>
                      <a:round/>
                      <a:headEnd type="none" w="med" len="med"/>
                      <a:tailEnd type="none" w="med" len="med"/>
                    </a:lnR>
                    <a:lnT cmpd="sng" algn="ctr" cap="flat" w="6350">
                      <a:solidFill>
                        <a:srgbClr val="CCCCCC"/>
                      </a:solidFill>
                      <a:prstDash val="solid"/>
                      <a:round/>
                      <a:headEnd type="none" w="med" len="med"/>
                      <a:tailEnd type="none" w="med" len="med"/>
                    </a:lnT>
                    <a:lnB cmpd="sng" algn="ctr" cap="flat" w="6350">
                      <a:solidFill>
                        <a:srgbClr val="CCCCCC"/>
                      </a:solidFill>
                      <a:prstDash val="solid"/>
                      <a:round/>
                      <a:headEnd type="none" w="med" len="med"/>
                      <a:tailEnd type="none" w="med" len="med"/>
                    </a:lnB>
                  </a:tcPr>
                </a:tc>
                <a:tc>
                  <a:txBody>
                    <a:bodyPr anchor="t" rtlCol="false"/>
                    <a:lstStyle/>
                    <a:p>
                      <a:pPr algn="l">
                        <a:lnSpc>
                          <a:spcPts val="2160"/>
                        </a:lnSpc>
                        <a:defRPr/>
                      </a:pPr>
                      <a:r>
                        <a:rPr lang="en-US" sz="1800">
                          <a:solidFill>
                            <a:srgbClr val="000000"/>
                          </a:solidFill>
                          <a:latin typeface="Calibri (MS)"/>
                          <a:ea typeface="Calibri (MS)"/>
                          <a:cs typeface="Calibri (MS)"/>
                          <a:sym typeface="Calibri (MS)"/>
                        </a:rPr>
                        <a:t>Irrawaddy eddies</a:t>
                      </a:r>
                      <a:endParaRPr lang="en-US" sz="1100"/>
                    </a:p>
                  </a:txBody>
                  <a:tcPr marL="91440" marR="91440" marT="91440" marB="91440" anchor="ctr">
                    <a:lnL cmpd="sng" algn="ctr" cap="flat" w="6350">
                      <a:solidFill>
                        <a:srgbClr val="CCCCCC"/>
                      </a:solidFill>
                      <a:prstDash val="solid"/>
                      <a:round/>
                      <a:headEnd type="none" w="med" len="med"/>
                      <a:tailEnd type="none" w="med" len="med"/>
                    </a:lnL>
                    <a:lnR cmpd="sng" algn="ctr" cap="flat" w="6350">
                      <a:solidFill>
                        <a:srgbClr val="CCCCCC"/>
                      </a:solidFill>
                      <a:prstDash val="solid"/>
                      <a:round/>
                      <a:headEnd type="none" w="med" len="med"/>
                      <a:tailEnd type="none" w="med" len="med"/>
                    </a:lnR>
                    <a:lnT cmpd="sng" algn="ctr" cap="flat" w="6350">
                      <a:solidFill>
                        <a:srgbClr val="CCCCCC"/>
                      </a:solidFill>
                      <a:prstDash val="solid"/>
                      <a:round/>
                      <a:headEnd type="none" w="med" len="med"/>
                      <a:tailEnd type="none" w="med" len="med"/>
                    </a:lnT>
                    <a:lnB cmpd="sng" algn="ctr" cap="flat" w="6350">
                      <a:solidFill>
                        <a:srgbClr val="CCCCCC"/>
                      </a:solidFill>
                      <a:prstDash val="solid"/>
                      <a:round/>
                      <a:headEnd type="none" w="med" len="med"/>
                      <a:tailEnd type="none" w="med" len="med"/>
                    </a:lnB>
                  </a:tcPr>
                </a:tc>
              </a:tr>
              <a:tr h="584200">
                <a:tc>
                  <a:txBody>
                    <a:bodyPr anchor="t" rtlCol="false"/>
                    <a:lstStyle/>
                    <a:p>
                      <a:pPr algn="l">
                        <a:lnSpc>
                          <a:spcPts val="2160"/>
                        </a:lnSpc>
                        <a:defRPr/>
                      </a:pPr>
                      <a:r>
                        <a:rPr lang="en-US" sz="1800">
                          <a:solidFill>
                            <a:srgbClr val="000000"/>
                          </a:solidFill>
                          <a:latin typeface="Calibri (MS)"/>
                          <a:ea typeface="Calibri (MS)"/>
                          <a:cs typeface="Calibri (MS)"/>
                          <a:sym typeface="Calibri (MS)"/>
                        </a:rPr>
                        <a:t>Lakshadweep</a:t>
                      </a:r>
                      <a:endParaRPr lang="en-US" sz="1100"/>
                    </a:p>
                  </a:txBody>
                  <a:tcPr marL="91440" marR="91440" marT="91440" marB="91440" anchor="ctr">
                    <a:lnL cmpd="sng" algn="ctr" cap="flat" w="6350">
                      <a:solidFill>
                        <a:srgbClr val="CCCCCC"/>
                      </a:solidFill>
                      <a:prstDash val="solid"/>
                      <a:round/>
                      <a:headEnd type="none" w="med" len="med"/>
                      <a:tailEnd type="none" w="med" len="med"/>
                    </a:lnL>
                    <a:lnR cmpd="sng" algn="ctr" cap="flat" w="6350">
                      <a:solidFill>
                        <a:srgbClr val="CCCCCC"/>
                      </a:solidFill>
                      <a:prstDash val="solid"/>
                      <a:round/>
                      <a:headEnd type="none" w="med" len="med"/>
                      <a:tailEnd type="none" w="med" len="med"/>
                    </a:lnR>
                    <a:lnT cmpd="sng" algn="ctr" cap="flat" w="6350">
                      <a:solidFill>
                        <a:srgbClr val="CCCCCC"/>
                      </a:solidFill>
                      <a:prstDash val="solid"/>
                      <a:round/>
                      <a:headEnd type="none" w="med" len="med"/>
                      <a:tailEnd type="none" w="med" len="med"/>
                    </a:lnT>
                    <a:lnB cmpd="sng" algn="ctr" cap="flat" w="6350">
                      <a:solidFill>
                        <a:srgbClr val="CCCCCC"/>
                      </a:solidFill>
                      <a:prstDash val="solid"/>
                      <a:round/>
                      <a:headEnd type="none" w="med" len="med"/>
                      <a:tailEnd type="none" w="med" len="med"/>
                    </a:lnB>
                  </a:tcPr>
                </a:tc>
                <a:tc>
                  <a:txBody>
                    <a:bodyPr anchor="t" rtlCol="false"/>
                    <a:lstStyle/>
                    <a:p>
                      <a:pPr algn="l">
                        <a:lnSpc>
                          <a:spcPts val="2160"/>
                        </a:lnSpc>
                        <a:defRPr/>
                      </a:pPr>
                      <a:r>
                        <a:rPr lang="en-US" sz="1800">
                          <a:solidFill>
                            <a:srgbClr val="000000"/>
                          </a:solidFill>
                          <a:latin typeface="Calibri (MS)"/>
                          <a:ea typeface="Calibri (MS)"/>
                          <a:cs typeface="Calibri (MS)"/>
                          <a:sym typeface="Calibri (MS)"/>
                        </a:rPr>
                        <a:t>10°N 73°E</a:t>
                      </a:r>
                      <a:endParaRPr lang="en-US" sz="1100"/>
                    </a:p>
                  </a:txBody>
                  <a:tcPr marL="91440" marR="91440" marT="91440" marB="91440" anchor="ctr">
                    <a:lnL cmpd="sng" algn="ctr" cap="flat" w="6350">
                      <a:solidFill>
                        <a:srgbClr val="CCCCCC"/>
                      </a:solidFill>
                      <a:prstDash val="solid"/>
                      <a:round/>
                      <a:headEnd type="none" w="med" len="med"/>
                      <a:tailEnd type="none" w="med" len="med"/>
                    </a:lnL>
                    <a:lnR cmpd="sng" algn="ctr" cap="flat" w="6350">
                      <a:solidFill>
                        <a:srgbClr val="CCCCCC"/>
                      </a:solidFill>
                      <a:prstDash val="solid"/>
                      <a:round/>
                      <a:headEnd type="none" w="med" len="med"/>
                      <a:tailEnd type="none" w="med" len="med"/>
                    </a:lnR>
                    <a:lnT cmpd="sng" algn="ctr" cap="flat" w="6350">
                      <a:solidFill>
                        <a:srgbClr val="CCCCCC"/>
                      </a:solidFill>
                      <a:prstDash val="solid"/>
                      <a:round/>
                      <a:headEnd type="none" w="med" len="med"/>
                      <a:tailEnd type="none" w="med" len="med"/>
                    </a:lnT>
                    <a:lnB cmpd="sng" algn="ctr" cap="flat" w="6350">
                      <a:solidFill>
                        <a:srgbClr val="CCCCCC"/>
                      </a:solidFill>
                      <a:prstDash val="solid"/>
                      <a:round/>
                      <a:headEnd type="none" w="med" len="med"/>
                      <a:tailEnd type="none" w="med" len="med"/>
                    </a:lnB>
                  </a:tcPr>
                </a:tc>
                <a:tc>
                  <a:txBody>
                    <a:bodyPr anchor="t" rtlCol="false"/>
                    <a:lstStyle/>
                    <a:p>
                      <a:pPr algn="l">
                        <a:lnSpc>
                          <a:spcPts val="2160"/>
                        </a:lnSpc>
                        <a:defRPr/>
                      </a:pPr>
                      <a:r>
                        <a:rPr lang="en-US" sz="1800">
                          <a:solidFill>
                            <a:srgbClr val="000000"/>
                          </a:solidFill>
                          <a:latin typeface="Calibri (MS)"/>
                          <a:ea typeface="Calibri (MS)"/>
                          <a:cs typeface="Calibri (MS)"/>
                          <a:sym typeface="Calibri (MS)"/>
                        </a:rPr>
                        <a:t>IOSD influence</a:t>
                      </a:r>
                      <a:endParaRPr lang="en-US" sz="1100"/>
                    </a:p>
                  </a:txBody>
                  <a:tcPr marL="91440" marR="91440" marT="91440" marB="91440" anchor="ctr">
                    <a:lnL cmpd="sng" algn="ctr" cap="flat" w="6350">
                      <a:solidFill>
                        <a:srgbClr val="CCCCCC"/>
                      </a:solidFill>
                      <a:prstDash val="solid"/>
                      <a:round/>
                      <a:headEnd type="none" w="med" len="med"/>
                      <a:tailEnd type="none" w="med" len="med"/>
                    </a:lnL>
                    <a:lnR cmpd="sng" algn="ctr" cap="flat" w="6350">
                      <a:solidFill>
                        <a:srgbClr val="CCCCCC"/>
                      </a:solidFill>
                      <a:prstDash val="solid"/>
                      <a:round/>
                      <a:headEnd type="none" w="med" len="med"/>
                      <a:tailEnd type="none" w="med" len="med"/>
                    </a:lnR>
                    <a:lnT cmpd="sng" algn="ctr" cap="flat" w="6350">
                      <a:solidFill>
                        <a:srgbClr val="CCCCCC"/>
                      </a:solidFill>
                      <a:prstDash val="solid"/>
                      <a:round/>
                      <a:headEnd type="none" w="med" len="med"/>
                      <a:tailEnd type="none" w="med" len="med"/>
                    </a:lnT>
                    <a:lnB cmpd="sng" algn="ctr" cap="flat" w="6350">
                      <a:solidFill>
                        <a:srgbClr val="CCCCCC"/>
                      </a:solidFill>
                      <a:prstDash val="solid"/>
                      <a:round/>
                      <a:headEnd type="none" w="med" len="med"/>
                      <a:tailEnd type="none" w="med" len="med"/>
                    </a:lnB>
                  </a:tcPr>
                </a:tc>
              </a:tr>
              <a:tr h="584200">
                <a:tc>
                  <a:txBody>
                    <a:bodyPr anchor="t" rtlCol="false"/>
                    <a:lstStyle/>
                    <a:p>
                      <a:pPr algn="l">
                        <a:lnSpc>
                          <a:spcPts val="2160"/>
                        </a:lnSpc>
                        <a:defRPr/>
                      </a:pPr>
                      <a:r>
                        <a:rPr lang="en-US" sz="1800">
                          <a:solidFill>
                            <a:srgbClr val="000000"/>
                          </a:solidFill>
                          <a:latin typeface="Calibri (MS)"/>
                          <a:ea typeface="Calibri (MS)"/>
                          <a:cs typeface="Calibri (MS)"/>
                          <a:sym typeface="Calibri (MS)"/>
                        </a:rPr>
                        <a:t>Southern IO</a:t>
                      </a:r>
                      <a:endParaRPr lang="en-US" sz="1100"/>
                    </a:p>
                  </a:txBody>
                  <a:tcPr marL="91440" marR="91440" marT="91440" marB="91440" anchor="ctr">
                    <a:lnL cmpd="sng" algn="ctr" cap="flat" w="6350">
                      <a:solidFill>
                        <a:srgbClr val="CCCCCC"/>
                      </a:solidFill>
                      <a:prstDash val="solid"/>
                      <a:round/>
                      <a:headEnd type="none" w="med" len="med"/>
                      <a:tailEnd type="none" w="med" len="med"/>
                    </a:lnL>
                    <a:lnR cmpd="sng" algn="ctr" cap="flat" w="6350">
                      <a:solidFill>
                        <a:srgbClr val="CCCCCC"/>
                      </a:solidFill>
                      <a:prstDash val="solid"/>
                      <a:round/>
                      <a:headEnd type="none" w="med" len="med"/>
                      <a:tailEnd type="none" w="med" len="med"/>
                    </a:lnR>
                    <a:lnT cmpd="sng" algn="ctr" cap="flat" w="6350">
                      <a:solidFill>
                        <a:srgbClr val="CCCCCC"/>
                      </a:solidFill>
                      <a:prstDash val="solid"/>
                      <a:round/>
                      <a:headEnd type="none" w="med" len="med"/>
                      <a:tailEnd type="none" w="med" len="med"/>
                    </a:lnT>
                    <a:lnB cmpd="sng" algn="ctr" cap="flat" w="6350">
                      <a:solidFill>
                        <a:srgbClr val="CCCCCC"/>
                      </a:solidFill>
                      <a:prstDash val="solid"/>
                      <a:round/>
                      <a:headEnd type="none" w="med" len="med"/>
                      <a:tailEnd type="none" w="med" len="med"/>
                    </a:lnB>
                  </a:tcPr>
                </a:tc>
                <a:tc>
                  <a:txBody>
                    <a:bodyPr anchor="t" rtlCol="false"/>
                    <a:lstStyle/>
                    <a:p>
                      <a:pPr algn="l">
                        <a:lnSpc>
                          <a:spcPts val="2160"/>
                        </a:lnSpc>
                        <a:defRPr/>
                      </a:pPr>
                      <a:r>
                        <a:rPr lang="en-US" sz="1800">
                          <a:solidFill>
                            <a:srgbClr val="000000"/>
                          </a:solidFill>
                          <a:latin typeface="Calibri (MS)"/>
                          <a:ea typeface="Calibri (MS)"/>
                          <a:cs typeface="Calibri (MS)"/>
                          <a:sym typeface="Calibri (MS)"/>
                        </a:rPr>
                        <a:t>5°S 75°E</a:t>
                      </a:r>
                      <a:endParaRPr lang="en-US" sz="1100"/>
                    </a:p>
                  </a:txBody>
                  <a:tcPr marL="91440" marR="91440" marT="91440" marB="91440" anchor="ctr">
                    <a:lnL cmpd="sng" algn="ctr" cap="flat" w="6350">
                      <a:solidFill>
                        <a:srgbClr val="CCCCCC"/>
                      </a:solidFill>
                      <a:prstDash val="solid"/>
                      <a:round/>
                      <a:headEnd type="none" w="med" len="med"/>
                      <a:tailEnd type="none" w="med" len="med"/>
                    </a:lnL>
                    <a:lnR cmpd="sng" algn="ctr" cap="flat" w="6350">
                      <a:solidFill>
                        <a:srgbClr val="CCCCCC"/>
                      </a:solidFill>
                      <a:prstDash val="solid"/>
                      <a:round/>
                      <a:headEnd type="none" w="med" len="med"/>
                      <a:tailEnd type="none" w="med" len="med"/>
                    </a:lnR>
                    <a:lnT cmpd="sng" algn="ctr" cap="flat" w="6350">
                      <a:solidFill>
                        <a:srgbClr val="CCCCCC"/>
                      </a:solidFill>
                      <a:prstDash val="solid"/>
                      <a:round/>
                      <a:headEnd type="none" w="med" len="med"/>
                      <a:tailEnd type="none" w="med" len="med"/>
                    </a:lnT>
                    <a:lnB cmpd="sng" algn="ctr" cap="flat" w="6350">
                      <a:solidFill>
                        <a:srgbClr val="CCCCCC"/>
                      </a:solidFill>
                      <a:prstDash val="solid"/>
                      <a:round/>
                      <a:headEnd type="none" w="med" len="med"/>
                      <a:tailEnd type="none" w="med" len="med"/>
                    </a:lnB>
                  </a:tcPr>
                </a:tc>
                <a:tc>
                  <a:txBody>
                    <a:bodyPr anchor="t" rtlCol="false"/>
                    <a:lstStyle/>
                    <a:p>
                      <a:pPr algn="l">
                        <a:lnSpc>
                          <a:spcPts val="2160"/>
                        </a:lnSpc>
                        <a:defRPr/>
                      </a:pPr>
                      <a:r>
                        <a:rPr lang="en-US" sz="1800">
                          <a:solidFill>
                            <a:srgbClr val="000000"/>
                          </a:solidFill>
                          <a:latin typeface="Calibri (MS)"/>
                          <a:ea typeface="Calibri (MS)"/>
                          <a:cs typeface="Calibri (MS)"/>
                          <a:sym typeface="Calibri (MS)"/>
                        </a:rPr>
                        <a:t>Mixed swell + wind waves</a:t>
                      </a:r>
                      <a:endParaRPr lang="en-US" sz="1100"/>
                    </a:p>
                  </a:txBody>
                  <a:tcPr marL="91440" marR="91440" marT="91440" marB="91440" anchor="ctr">
                    <a:lnL cmpd="sng" algn="ctr" cap="flat" w="6350">
                      <a:solidFill>
                        <a:srgbClr val="CCCCCC"/>
                      </a:solidFill>
                      <a:prstDash val="solid"/>
                      <a:round/>
                      <a:headEnd type="none" w="med" len="med"/>
                      <a:tailEnd type="none" w="med" len="med"/>
                    </a:lnL>
                    <a:lnR cmpd="sng" algn="ctr" cap="flat" w="6350">
                      <a:solidFill>
                        <a:srgbClr val="CCCCCC"/>
                      </a:solidFill>
                      <a:prstDash val="solid"/>
                      <a:round/>
                      <a:headEnd type="none" w="med" len="med"/>
                      <a:tailEnd type="none" w="med" len="med"/>
                    </a:lnR>
                    <a:lnT cmpd="sng" algn="ctr" cap="flat" w="6350">
                      <a:solidFill>
                        <a:srgbClr val="CCCCCC"/>
                      </a:solidFill>
                      <a:prstDash val="solid"/>
                      <a:round/>
                      <a:headEnd type="none" w="med" len="med"/>
                      <a:tailEnd type="none" w="med" len="med"/>
                    </a:lnT>
                    <a:lnB cmpd="sng" algn="ctr" cap="flat" w="6350">
                      <a:solidFill>
                        <a:srgbClr val="CCCCCC"/>
                      </a:solidFill>
                      <a:prstDash val="solid"/>
                      <a:round/>
                      <a:headEnd type="none" w="med" len="med"/>
                      <a:tailEnd type="none" w="med" len="med"/>
                    </a:lnB>
                  </a:tcPr>
                </a:tc>
              </a:tr>
            </a:tbl>
          </a:graphicData>
        </a:graphic>
      </p:graphicFrame>
      <p:grpSp>
        <p:nvGrpSpPr>
          <p:cNvPr name="Group 47" id="47"/>
          <p:cNvGrpSpPr/>
          <p:nvPr/>
        </p:nvGrpSpPr>
        <p:grpSpPr>
          <a:xfrm rot="0">
            <a:off x="1005840" y="7223760"/>
            <a:ext cx="16276320" cy="2377440"/>
            <a:chOff x="0" y="0"/>
            <a:chExt cx="21701760" cy="3169920"/>
          </a:xfrm>
        </p:grpSpPr>
        <p:sp>
          <p:nvSpPr>
            <p:cNvPr name="Freeform 48" id="48"/>
            <p:cNvSpPr/>
            <p:nvPr/>
          </p:nvSpPr>
          <p:spPr>
            <a:xfrm flipH="false" flipV="false" rot="0">
              <a:off x="0" y="0"/>
              <a:ext cx="21701761" cy="3169920"/>
            </a:xfrm>
            <a:custGeom>
              <a:avLst/>
              <a:gdLst/>
              <a:ahLst/>
              <a:cxnLst/>
              <a:rect r="r" b="b" t="t" l="l"/>
              <a:pathLst>
                <a:path h="3169920" w="21701761">
                  <a:moveTo>
                    <a:pt x="0" y="292608"/>
                  </a:moveTo>
                  <a:cubicBezTo>
                    <a:pt x="0" y="131064"/>
                    <a:pt x="131064" y="0"/>
                    <a:pt x="292608" y="0"/>
                  </a:cubicBezTo>
                  <a:lnTo>
                    <a:pt x="21409152" y="0"/>
                  </a:lnTo>
                  <a:cubicBezTo>
                    <a:pt x="21570696" y="0"/>
                    <a:pt x="21701761" y="131064"/>
                    <a:pt x="21701761" y="292608"/>
                  </a:cubicBezTo>
                  <a:lnTo>
                    <a:pt x="21701761" y="2877312"/>
                  </a:lnTo>
                  <a:cubicBezTo>
                    <a:pt x="21701761" y="3038856"/>
                    <a:pt x="21570696" y="3169920"/>
                    <a:pt x="21409152" y="3169920"/>
                  </a:cubicBezTo>
                  <a:lnTo>
                    <a:pt x="292608" y="3169920"/>
                  </a:lnTo>
                  <a:cubicBezTo>
                    <a:pt x="131064" y="3169920"/>
                    <a:pt x="0" y="3038856"/>
                    <a:pt x="0" y="2877312"/>
                  </a:cubicBezTo>
                  <a:close/>
                </a:path>
              </a:pathLst>
            </a:custGeom>
            <a:solidFill>
              <a:srgbClr val="DBEAFE"/>
            </a:solidFill>
          </p:spPr>
        </p:sp>
      </p:grpSp>
      <p:grpSp>
        <p:nvGrpSpPr>
          <p:cNvPr name="Group 49" id="49"/>
          <p:cNvGrpSpPr/>
          <p:nvPr/>
        </p:nvGrpSpPr>
        <p:grpSpPr>
          <a:xfrm rot="0">
            <a:off x="1280160" y="7315200"/>
            <a:ext cx="5486400" cy="548640"/>
            <a:chOff x="0" y="0"/>
            <a:chExt cx="7315200" cy="731520"/>
          </a:xfrm>
        </p:grpSpPr>
        <p:sp>
          <p:nvSpPr>
            <p:cNvPr name="Freeform 50" id="50"/>
            <p:cNvSpPr/>
            <p:nvPr/>
          </p:nvSpPr>
          <p:spPr>
            <a:xfrm flipH="false" flipV="false" rot="0">
              <a:off x="0" y="0"/>
              <a:ext cx="7315200" cy="731520"/>
            </a:xfrm>
            <a:custGeom>
              <a:avLst/>
              <a:gdLst/>
              <a:ahLst/>
              <a:cxnLst/>
              <a:rect r="r" b="b" t="t" l="l"/>
              <a:pathLst>
                <a:path h="731520" w="7315200">
                  <a:moveTo>
                    <a:pt x="0" y="0"/>
                  </a:moveTo>
                  <a:lnTo>
                    <a:pt x="7315200" y="0"/>
                  </a:lnTo>
                  <a:lnTo>
                    <a:pt x="7315200" y="731520"/>
                  </a:lnTo>
                  <a:lnTo>
                    <a:pt x="0" y="731520"/>
                  </a:lnTo>
                  <a:close/>
                </a:path>
              </a:pathLst>
            </a:custGeom>
            <a:blipFill>
              <a:blip r:embed="rId3">
                <a:alphaModFix amt="0"/>
              </a:blip>
              <a:stretch>
                <a:fillRect l="0" t="-144850" r="0" b="-144850"/>
              </a:stretch>
            </a:blipFill>
          </p:spPr>
        </p:sp>
        <p:sp>
          <p:nvSpPr>
            <p:cNvPr name="TextBox 51" id="51"/>
            <p:cNvSpPr txBox="true"/>
            <p:nvPr/>
          </p:nvSpPr>
          <p:spPr>
            <a:xfrm>
              <a:off x="0" y="-47625"/>
              <a:ext cx="7315200" cy="779145"/>
            </a:xfrm>
            <a:prstGeom prst="rect">
              <a:avLst/>
            </a:prstGeom>
          </p:spPr>
          <p:txBody>
            <a:bodyPr anchor="ctr" rtlCol="false" tIns="0" lIns="0" bIns="0" rIns="0"/>
            <a:lstStyle/>
            <a:p>
              <a:pPr algn="l">
                <a:lnSpc>
                  <a:spcPts val="2640"/>
                </a:lnSpc>
              </a:pPr>
              <a:r>
                <a:rPr lang="en-US" sz="2200" b="true">
                  <a:solidFill>
                    <a:srgbClr val="1A2744"/>
                  </a:solidFill>
                  <a:latin typeface="Calibri (MS) Bold"/>
                  <a:ea typeface="Calibri (MS) Bold"/>
                  <a:cs typeface="Calibri (MS) Bold"/>
                  <a:sym typeface="Calibri (MS) Bold"/>
                </a:rPr>
                <a:t>Why These 5 Locations?</a:t>
              </a:r>
            </a:p>
          </p:txBody>
        </p:sp>
      </p:grpSp>
      <p:grpSp>
        <p:nvGrpSpPr>
          <p:cNvPr name="Group 52" id="52"/>
          <p:cNvGrpSpPr/>
          <p:nvPr/>
        </p:nvGrpSpPr>
        <p:grpSpPr>
          <a:xfrm rot="0">
            <a:off x="1280160" y="7900416"/>
            <a:ext cx="15727680" cy="1554480"/>
            <a:chOff x="0" y="0"/>
            <a:chExt cx="20970240" cy="2072640"/>
          </a:xfrm>
        </p:grpSpPr>
        <p:sp>
          <p:nvSpPr>
            <p:cNvPr name="Freeform 53" id="53"/>
            <p:cNvSpPr/>
            <p:nvPr/>
          </p:nvSpPr>
          <p:spPr>
            <a:xfrm flipH="false" flipV="false" rot="0">
              <a:off x="0" y="0"/>
              <a:ext cx="20970239" cy="2072640"/>
            </a:xfrm>
            <a:custGeom>
              <a:avLst/>
              <a:gdLst/>
              <a:ahLst/>
              <a:cxnLst/>
              <a:rect r="r" b="b" t="t" l="l"/>
              <a:pathLst>
                <a:path h="2072640" w="20970239">
                  <a:moveTo>
                    <a:pt x="0" y="0"/>
                  </a:moveTo>
                  <a:lnTo>
                    <a:pt x="20970239" y="0"/>
                  </a:lnTo>
                  <a:lnTo>
                    <a:pt x="20970239" y="2072640"/>
                  </a:lnTo>
                  <a:lnTo>
                    <a:pt x="0" y="2072640"/>
                  </a:lnTo>
                  <a:close/>
                </a:path>
              </a:pathLst>
            </a:custGeom>
            <a:blipFill>
              <a:blip r:embed="rId3">
                <a:alphaModFix amt="0"/>
              </a:blip>
              <a:stretch>
                <a:fillRect l="0" t="-147142" r="0" b="-147142"/>
              </a:stretch>
            </a:blipFill>
          </p:spPr>
        </p:sp>
        <p:sp>
          <p:nvSpPr>
            <p:cNvPr name="TextBox 54" id="54"/>
            <p:cNvSpPr txBox="true"/>
            <p:nvPr/>
          </p:nvSpPr>
          <p:spPr>
            <a:xfrm>
              <a:off x="0" y="-47625"/>
              <a:ext cx="20970240" cy="2120265"/>
            </a:xfrm>
            <a:prstGeom prst="rect">
              <a:avLst/>
            </a:prstGeom>
          </p:spPr>
          <p:txBody>
            <a:bodyPr anchor="ctr" rtlCol="false" tIns="0" lIns="0" bIns="0" rIns="0"/>
            <a:lstStyle/>
            <a:p>
              <a:pPr algn="l">
                <a:lnSpc>
                  <a:spcPts val="2520"/>
                </a:lnSpc>
              </a:pPr>
              <a:r>
                <a:rPr lang="en-US" sz="2100">
                  <a:solidFill>
                    <a:srgbClr val="334155"/>
                  </a:solidFill>
                  <a:latin typeface="Calibri (MS)"/>
                  <a:ea typeface="Calibri (MS)"/>
                  <a:cs typeface="Calibri (MS)"/>
                  <a:sym typeface="Calibri (MS)"/>
                </a:rPr>
                <a:t>Each location represents a distinct oceanographic regime: open ocean (Arabian Sea), semi-enclosed basin (Bay of Bengal), marginal sea with river forcing (Andaman Sea), shallow shelf (Lakshadweep), and open subtropical ocean (Southern IO). Together they capture the full diversity of Indian Ocean conditions. Using the same 5 locations for both SLA and SWH enables direct cross-variable comparison.</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73152"/>
            <a:chOff x="0" y="0"/>
            <a:chExt cx="24384000" cy="97536"/>
          </a:xfrm>
        </p:grpSpPr>
        <p:sp>
          <p:nvSpPr>
            <p:cNvPr name="Freeform 3" id="3"/>
            <p:cNvSpPr/>
            <p:nvPr/>
          </p:nvSpPr>
          <p:spPr>
            <a:xfrm flipH="false" flipV="false" rot="0">
              <a:off x="0" y="0"/>
              <a:ext cx="24384000" cy="97536"/>
            </a:xfrm>
            <a:custGeom>
              <a:avLst/>
              <a:gdLst/>
              <a:ahLst/>
              <a:cxnLst/>
              <a:rect r="r" b="b" t="t" l="l"/>
              <a:pathLst>
                <a:path h="97536" w="24384000">
                  <a:moveTo>
                    <a:pt x="0" y="0"/>
                  </a:moveTo>
                  <a:lnTo>
                    <a:pt x="24384000" y="0"/>
                  </a:lnTo>
                  <a:lnTo>
                    <a:pt x="24384000" y="97536"/>
                  </a:lnTo>
                  <a:lnTo>
                    <a:pt x="0" y="97536"/>
                  </a:lnTo>
                  <a:close/>
                </a:path>
              </a:pathLst>
            </a:custGeom>
            <a:solidFill>
              <a:srgbClr val="3B82F6"/>
            </a:solidFill>
          </p:spPr>
        </p:sp>
      </p:grpSp>
      <p:grpSp>
        <p:nvGrpSpPr>
          <p:cNvPr name="Group 4" id="4"/>
          <p:cNvGrpSpPr/>
          <p:nvPr/>
        </p:nvGrpSpPr>
        <p:grpSpPr>
          <a:xfrm rot="0">
            <a:off x="1005840" y="585216"/>
            <a:ext cx="2926080" cy="512064"/>
            <a:chOff x="0" y="0"/>
            <a:chExt cx="3901440" cy="682752"/>
          </a:xfrm>
        </p:grpSpPr>
        <p:sp>
          <p:nvSpPr>
            <p:cNvPr name="Freeform 5" id="5"/>
            <p:cNvSpPr/>
            <p:nvPr/>
          </p:nvSpPr>
          <p:spPr>
            <a:xfrm flipH="false" flipV="false" rot="0">
              <a:off x="0" y="0"/>
              <a:ext cx="3901440" cy="682752"/>
            </a:xfrm>
            <a:custGeom>
              <a:avLst/>
              <a:gdLst/>
              <a:ahLst/>
              <a:cxnLst/>
              <a:rect r="r" b="b" t="t" l="l"/>
              <a:pathLst>
                <a:path h="682752" w="3901440">
                  <a:moveTo>
                    <a:pt x="0" y="341376"/>
                  </a:moveTo>
                  <a:cubicBezTo>
                    <a:pt x="0" y="152781"/>
                    <a:pt x="152781" y="0"/>
                    <a:pt x="341376" y="0"/>
                  </a:cubicBezTo>
                  <a:lnTo>
                    <a:pt x="3560064" y="0"/>
                  </a:lnTo>
                  <a:cubicBezTo>
                    <a:pt x="3748659" y="0"/>
                    <a:pt x="3901440" y="152781"/>
                    <a:pt x="3901440" y="341376"/>
                  </a:cubicBezTo>
                  <a:cubicBezTo>
                    <a:pt x="3901440" y="529971"/>
                    <a:pt x="3748659" y="682752"/>
                    <a:pt x="3560064" y="682752"/>
                  </a:cubicBezTo>
                  <a:lnTo>
                    <a:pt x="341376" y="682752"/>
                  </a:lnTo>
                  <a:cubicBezTo>
                    <a:pt x="152781" y="682752"/>
                    <a:pt x="0" y="529971"/>
                    <a:pt x="0" y="341376"/>
                  </a:cubicBezTo>
                  <a:close/>
                </a:path>
              </a:pathLst>
            </a:custGeom>
            <a:solidFill>
              <a:srgbClr val="3B82F6"/>
            </a:solidFill>
          </p:spPr>
        </p:sp>
      </p:grpSp>
      <p:grpSp>
        <p:nvGrpSpPr>
          <p:cNvPr name="Group 6" id="6"/>
          <p:cNvGrpSpPr/>
          <p:nvPr/>
        </p:nvGrpSpPr>
        <p:grpSpPr>
          <a:xfrm rot="0">
            <a:off x="1005840" y="585216"/>
            <a:ext cx="2926080" cy="512064"/>
            <a:chOff x="0" y="0"/>
            <a:chExt cx="3901440" cy="682752"/>
          </a:xfrm>
        </p:grpSpPr>
        <p:sp>
          <p:nvSpPr>
            <p:cNvPr name="Freeform 7" id="7"/>
            <p:cNvSpPr/>
            <p:nvPr/>
          </p:nvSpPr>
          <p:spPr>
            <a:xfrm flipH="false" flipV="false" rot="0">
              <a:off x="0" y="0"/>
              <a:ext cx="3901440" cy="682752"/>
            </a:xfrm>
            <a:custGeom>
              <a:avLst/>
              <a:gdLst/>
              <a:ahLst/>
              <a:cxnLst/>
              <a:rect r="r" b="b" t="t" l="l"/>
              <a:pathLst>
                <a:path h="682752" w="3901440">
                  <a:moveTo>
                    <a:pt x="0" y="0"/>
                  </a:moveTo>
                  <a:lnTo>
                    <a:pt x="3901440" y="0"/>
                  </a:lnTo>
                  <a:lnTo>
                    <a:pt x="3901440" y="682752"/>
                  </a:lnTo>
                  <a:lnTo>
                    <a:pt x="0" y="682752"/>
                  </a:lnTo>
                  <a:close/>
                </a:path>
              </a:pathLst>
            </a:custGeom>
            <a:blipFill>
              <a:blip r:embed="rId3">
                <a:alphaModFix amt="0"/>
              </a:blip>
              <a:stretch>
                <a:fillRect l="0" t="-61343" r="0" b="-61343"/>
              </a:stretch>
            </a:blipFill>
          </p:spPr>
        </p:sp>
        <p:sp>
          <p:nvSpPr>
            <p:cNvPr name="TextBox 8" id="8"/>
            <p:cNvSpPr txBox="true"/>
            <p:nvPr/>
          </p:nvSpPr>
          <p:spPr>
            <a:xfrm>
              <a:off x="0" y="-38100"/>
              <a:ext cx="3901440" cy="72085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DATA</a:t>
              </a:r>
            </a:p>
          </p:txBody>
        </p:sp>
      </p:grpSp>
      <p:grpSp>
        <p:nvGrpSpPr>
          <p:cNvPr name="Group 9" id="9"/>
          <p:cNvGrpSpPr/>
          <p:nvPr/>
        </p:nvGrpSpPr>
        <p:grpSpPr>
          <a:xfrm rot="0">
            <a:off x="1005840" y="1060704"/>
            <a:ext cx="16276320" cy="877824"/>
            <a:chOff x="0" y="0"/>
            <a:chExt cx="21701760" cy="1170432"/>
          </a:xfrm>
        </p:grpSpPr>
        <p:sp>
          <p:nvSpPr>
            <p:cNvPr name="Freeform 10" id="10"/>
            <p:cNvSpPr/>
            <p:nvPr/>
          </p:nvSpPr>
          <p:spPr>
            <a:xfrm flipH="false" flipV="false" rot="0">
              <a:off x="0" y="0"/>
              <a:ext cx="21701761" cy="1170432"/>
            </a:xfrm>
            <a:custGeom>
              <a:avLst/>
              <a:gdLst/>
              <a:ahLst/>
              <a:cxnLst/>
              <a:rect r="r" b="b" t="t" l="l"/>
              <a:pathLst>
                <a:path h="1170432" w="21701761">
                  <a:moveTo>
                    <a:pt x="0" y="0"/>
                  </a:moveTo>
                  <a:lnTo>
                    <a:pt x="21701761" y="0"/>
                  </a:lnTo>
                  <a:lnTo>
                    <a:pt x="21701761" y="1170432"/>
                  </a:lnTo>
                  <a:lnTo>
                    <a:pt x="0" y="1170432"/>
                  </a:lnTo>
                  <a:close/>
                </a:path>
              </a:pathLst>
            </a:custGeom>
            <a:blipFill>
              <a:blip r:embed="rId3">
                <a:alphaModFix amt="0"/>
              </a:blip>
              <a:stretch>
                <a:fillRect l="0" t="-311285" r="0" b="-311285"/>
              </a:stretch>
            </a:blipFill>
          </p:spPr>
        </p:sp>
        <p:sp>
          <p:nvSpPr>
            <p:cNvPr name="TextBox 11" id="11"/>
            <p:cNvSpPr txBox="true"/>
            <p:nvPr/>
          </p:nvSpPr>
          <p:spPr>
            <a:xfrm>
              <a:off x="0" y="-76200"/>
              <a:ext cx="21701760" cy="1246632"/>
            </a:xfrm>
            <a:prstGeom prst="rect">
              <a:avLst/>
            </a:prstGeom>
          </p:spPr>
          <p:txBody>
            <a:bodyPr anchor="ctr" rtlCol="false" tIns="0" lIns="0" bIns="0" rIns="0"/>
            <a:lstStyle/>
            <a:p>
              <a:pPr algn="l">
                <a:lnSpc>
                  <a:spcPts val="5280"/>
                </a:lnSpc>
              </a:pPr>
              <a:r>
                <a:rPr lang="en-US" sz="4400" b="true">
                  <a:solidFill>
                    <a:srgbClr val="1A2744"/>
                  </a:solidFill>
                  <a:latin typeface="Calibri (MS) Bold"/>
                  <a:ea typeface="Calibri (MS) Bold"/>
                  <a:cs typeface="Calibri (MS) Bold"/>
                  <a:sym typeface="Calibri (MS) Bold"/>
                </a:rPr>
                <a:t>Data Preprocessing Pipeline</a:t>
              </a:r>
            </a:p>
          </p:txBody>
        </p:sp>
      </p:grpSp>
      <p:grpSp>
        <p:nvGrpSpPr>
          <p:cNvPr name="Group 12" id="12"/>
          <p:cNvGrpSpPr/>
          <p:nvPr/>
        </p:nvGrpSpPr>
        <p:grpSpPr>
          <a:xfrm rot="0">
            <a:off x="1005840" y="1938528"/>
            <a:ext cx="16276320" cy="457200"/>
            <a:chOff x="0" y="0"/>
            <a:chExt cx="21701760" cy="609600"/>
          </a:xfrm>
        </p:grpSpPr>
        <p:sp>
          <p:nvSpPr>
            <p:cNvPr name="Freeform 13" id="13"/>
            <p:cNvSpPr/>
            <p:nvPr/>
          </p:nvSpPr>
          <p:spPr>
            <a:xfrm flipH="false" flipV="false" rot="0">
              <a:off x="0" y="0"/>
              <a:ext cx="21701761" cy="609600"/>
            </a:xfrm>
            <a:custGeom>
              <a:avLst/>
              <a:gdLst/>
              <a:ahLst/>
              <a:cxnLst/>
              <a:rect r="r" b="b" t="t" l="l"/>
              <a:pathLst>
                <a:path h="609600" w="21701761">
                  <a:moveTo>
                    <a:pt x="0" y="0"/>
                  </a:moveTo>
                  <a:lnTo>
                    <a:pt x="21701761" y="0"/>
                  </a:lnTo>
                  <a:lnTo>
                    <a:pt x="21701761" y="609600"/>
                  </a:lnTo>
                  <a:lnTo>
                    <a:pt x="0" y="609600"/>
                  </a:lnTo>
                  <a:close/>
                </a:path>
              </a:pathLst>
            </a:custGeom>
            <a:blipFill>
              <a:blip r:embed="rId3">
                <a:alphaModFix amt="0"/>
              </a:blip>
              <a:stretch>
                <a:fillRect l="0" t="-643667" r="0" b="-643667"/>
              </a:stretch>
            </a:blipFill>
          </p:spPr>
        </p:sp>
        <p:sp>
          <p:nvSpPr>
            <p:cNvPr name="TextBox 14" id="14"/>
            <p:cNvSpPr txBox="true"/>
            <p:nvPr/>
          </p:nvSpPr>
          <p:spPr>
            <a:xfrm>
              <a:off x="0" y="-47625"/>
              <a:ext cx="21701760" cy="657225"/>
            </a:xfrm>
            <a:prstGeom prst="rect">
              <a:avLst/>
            </a:prstGeom>
          </p:spPr>
          <p:txBody>
            <a:bodyPr anchor="ctr" rtlCol="false" tIns="0" lIns="0" bIns="0" rIns="0"/>
            <a:lstStyle/>
            <a:p>
              <a:pPr algn="l">
                <a:lnSpc>
                  <a:spcPts val="2640"/>
                </a:lnSpc>
              </a:pPr>
              <a:r>
                <a:rPr lang="en-US" sz="2200" i="true">
                  <a:solidFill>
                    <a:srgbClr val="64748B"/>
                  </a:solidFill>
                  <a:latin typeface="Calibri (MS) Italics"/>
                  <a:ea typeface="Calibri (MS) Italics"/>
                  <a:cs typeface="Calibri (MS) Italics"/>
                  <a:sym typeface="Calibri (MS) Italics"/>
                </a:rPr>
                <a:t>Identical treatment for SLA and SWH — ensuring fair model comparison</a:t>
              </a:r>
            </a:p>
          </p:txBody>
        </p:sp>
      </p:grpSp>
      <p:grpSp>
        <p:nvGrpSpPr>
          <p:cNvPr name="Group 15" id="15"/>
          <p:cNvGrpSpPr/>
          <p:nvPr/>
        </p:nvGrpSpPr>
        <p:grpSpPr>
          <a:xfrm rot="0">
            <a:off x="17190720" y="9646920"/>
            <a:ext cx="731520" cy="457200"/>
            <a:chOff x="0" y="0"/>
            <a:chExt cx="975360" cy="609600"/>
          </a:xfrm>
        </p:grpSpPr>
        <p:sp>
          <p:nvSpPr>
            <p:cNvPr name="Freeform 16" id="16"/>
            <p:cNvSpPr/>
            <p:nvPr/>
          </p:nvSpPr>
          <p:spPr>
            <a:xfrm flipH="false" flipV="false" rot="0">
              <a:off x="0" y="0"/>
              <a:ext cx="975360" cy="609600"/>
            </a:xfrm>
            <a:custGeom>
              <a:avLst/>
              <a:gdLst/>
              <a:ahLst/>
              <a:cxnLst/>
              <a:rect r="r" b="b" t="t" l="l"/>
              <a:pathLst>
                <a:path h="609600" w="975360">
                  <a:moveTo>
                    <a:pt x="0" y="0"/>
                  </a:moveTo>
                  <a:lnTo>
                    <a:pt x="975360" y="0"/>
                  </a:lnTo>
                  <a:lnTo>
                    <a:pt x="975360" y="609600"/>
                  </a:lnTo>
                  <a:lnTo>
                    <a:pt x="0" y="609600"/>
                  </a:lnTo>
                  <a:close/>
                </a:path>
              </a:pathLst>
            </a:custGeom>
            <a:blipFill>
              <a:blip r:embed="rId3">
                <a:alphaModFix amt="0"/>
              </a:blip>
              <a:stretch>
                <a:fillRect l="-30189" t="0" r="-30189" b="0"/>
              </a:stretch>
            </a:blipFill>
          </p:spPr>
        </p:sp>
        <p:sp>
          <p:nvSpPr>
            <p:cNvPr name="TextBox 17" id="17"/>
            <p:cNvSpPr txBox="true"/>
            <p:nvPr/>
          </p:nvSpPr>
          <p:spPr>
            <a:xfrm>
              <a:off x="0" y="-38100"/>
              <a:ext cx="975360" cy="647700"/>
            </a:xfrm>
            <a:prstGeom prst="rect">
              <a:avLst/>
            </a:prstGeom>
          </p:spPr>
          <p:txBody>
            <a:bodyPr anchor="ctr" rtlCol="false" tIns="0" lIns="0" bIns="0" rIns="0"/>
            <a:lstStyle/>
            <a:p>
              <a:pPr algn="r">
                <a:lnSpc>
                  <a:spcPts val="2160"/>
                </a:lnSpc>
              </a:pPr>
              <a:r>
                <a:rPr lang="en-US" sz="1800">
                  <a:solidFill>
                    <a:srgbClr val="64748B"/>
                  </a:solidFill>
                  <a:latin typeface="Calibri (MS)"/>
                  <a:ea typeface="Calibri (MS)"/>
                  <a:cs typeface="Calibri (MS)"/>
                  <a:sym typeface="Calibri (MS)"/>
                </a:rPr>
                <a:t>7</a:t>
              </a:r>
            </a:p>
          </p:txBody>
        </p:sp>
      </p:grpSp>
      <p:grpSp>
        <p:nvGrpSpPr>
          <p:cNvPr name="Group 18" id="18"/>
          <p:cNvGrpSpPr/>
          <p:nvPr/>
        </p:nvGrpSpPr>
        <p:grpSpPr>
          <a:xfrm rot="0">
            <a:off x="1005840" y="2651760"/>
            <a:ext cx="2414016" cy="5486400"/>
            <a:chOff x="0" y="0"/>
            <a:chExt cx="3218688" cy="7315200"/>
          </a:xfrm>
        </p:grpSpPr>
        <p:sp>
          <p:nvSpPr>
            <p:cNvPr name="Freeform 19" id="19"/>
            <p:cNvSpPr/>
            <p:nvPr/>
          </p:nvSpPr>
          <p:spPr>
            <a:xfrm flipH="false" flipV="false" rot="0">
              <a:off x="0" y="0"/>
              <a:ext cx="3218688" cy="7315200"/>
            </a:xfrm>
            <a:custGeom>
              <a:avLst/>
              <a:gdLst/>
              <a:ahLst/>
              <a:cxnLst/>
              <a:rect r="r" b="b" t="t" l="l"/>
              <a:pathLst>
                <a:path h="7315200" w="3218688">
                  <a:moveTo>
                    <a:pt x="0" y="292608"/>
                  </a:moveTo>
                  <a:cubicBezTo>
                    <a:pt x="0" y="131064"/>
                    <a:pt x="131064" y="0"/>
                    <a:pt x="292608" y="0"/>
                  </a:cubicBezTo>
                  <a:lnTo>
                    <a:pt x="2926080" y="0"/>
                  </a:lnTo>
                  <a:cubicBezTo>
                    <a:pt x="3087624" y="0"/>
                    <a:pt x="3218688" y="131064"/>
                    <a:pt x="3218688" y="292608"/>
                  </a:cubicBezTo>
                  <a:lnTo>
                    <a:pt x="3218688" y="7022592"/>
                  </a:lnTo>
                  <a:cubicBezTo>
                    <a:pt x="3218688" y="7184136"/>
                    <a:pt x="3087624" y="7315200"/>
                    <a:pt x="2926080" y="7315200"/>
                  </a:cubicBezTo>
                  <a:lnTo>
                    <a:pt x="292608" y="7315200"/>
                  </a:lnTo>
                  <a:cubicBezTo>
                    <a:pt x="131064" y="7315200"/>
                    <a:pt x="0" y="7184136"/>
                    <a:pt x="0" y="7022592"/>
                  </a:cubicBezTo>
                  <a:close/>
                </a:path>
              </a:pathLst>
            </a:custGeom>
            <a:solidFill>
              <a:srgbClr val="EFF6FF"/>
            </a:solidFill>
          </p:spPr>
        </p:sp>
      </p:grpSp>
      <p:grpSp>
        <p:nvGrpSpPr>
          <p:cNvPr name="Group 20" id="20"/>
          <p:cNvGrpSpPr/>
          <p:nvPr/>
        </p:nvGrpSpPr>
        <p:grpSpPr>
          <a:xfrm rot="0">
            <a:off x="1115568" y="2779776"/>
            <a:ext cx="2194560" cy="640080"/>
            <a:chOff x="0" y="0"/>
            <a:chExt cx="2926080" cy="853440"/>
          </a:xfrm>
        </p:grpSpPr>
        <p:sp>
          <p:nvSpPr>
            <p:cNvPr name="Freeform 21" id="21"/>
            <p:cNvSpPr/>
            <p:nvPr/>
          </p:nvSpPr>
          <p:spPr>
            <a:xfrm flipH="false" flipV="false" rot="0">
              <a:off x="0" y="0"/>
              <a:ext cx="2926080" cy="853440"/>
            </a:xfrm>
            <a:custGeom>
              <a:avLst/>
              <a:gdLst/>
              <a:ahLst/>
              <a:cxnLst/>
              <a:rect r="r" b="b" t="t" l="l"/>
              <a:pathLst>
                <a:path h="853440" w="2926080">
                  <a:moveTo>
                    <a:pt x="0" y="195072"/>
                  </a:moveTo>
                  <a:cubicBezTo>
                    <a:pt x="0" y="87376"/>
                    <a:pt x="87376" y="0"/>
                    <a:pt x="195072" y="0"/>
                  </a:cubicBezTo>
                  <a:lnTo>
                    <a:pt x="2731008" y="0"/>
                  </a:lnTo>
                  <a:cubicBezTo>
                    <a:pt x="2838704" y="0"/>
                    <a:pt x="2926080" y="87376"/>
                    <a:pt x="2926080" y="195072"/>
                  </a:cubicBezTo>
                  <a:lnTo>
                    <a:pt x="2926080" y="658368"/>
                  </a:lnTo>
                  <a:cubicBezTo>
                    <a:pt x="2926080" y="766064"/>
                    <a:pt x="2838704" y="853440"/>
                    <a:pt x="2731008" y="853440"/>
                  </a:cubicBezTo>
                  <a:lnTo>
                    <a:pt x="195072" y="853440"/>
                  </a:lnTo>
                  <a:cubicBezTo>
                    <a:pt x="87376" y="853440"/>
                    <a:pt x="0" y="766064"/>
                    <a:pt x="0" y="658368"/>
                  </a:cubicBezTo>
                  <a:close/>
                </a:path>
              </a:pathLst>
            </a:custGeom>
            <a:solidFill>
              <a:srgbClr val="3B82F6"/>
            </a:solidFill>
          </p:spPr>
        </p:sp>
      </p:grpSp>
      <p:grpSp>
        <p:nvGrpSpPr>
          <p:cNvPr name="Group 22" id="22"/>
          <p:cNvGrpSpPr/>
          <p:nvPr/>
        </p:nvGrpSpPr>
        <p:grpSpPr>
          <a:xfrm rot="0">
            <a:off x="1115568" y="2779776"/>
            <a:ext cx="2194560" cy="640080"/>
            <a:chOff x="0" y="0"/>
            <a:chExt cx="2926080" cy="853440"/>
          </a:xfrm>
        </p:grpSpPr>
        <p:sp>
          <p:nvSpPr>
            <p:cNvPr name="Freeform 23" id="23"/>
            <p:cNvSpPr/>
            <p:nvPr/>
          </p:nvSpPr>
          <p:spPr>
            <a:xfrm flipH="false" flipV="false" rot="0">
              <a:off x="0" y="0"/>
              <a:ext cx="2926080" cy="853440"/>
            </a:xfrm>
            <a:custGeom>
              <a:avLst/>
              <a:gdLst/>
              <a:ahLst/>
              <a:cxnLst/>
              <a:rect r="r" b="b" t="t" l="l"/>
              <a:pathLst>
                <a:path h="853440" w="2926080">
                  <a:moveTo>
                    <a:pt x="0" y="0"/>
                  </a:moveTo>
                  <a:lnTo>
                    <a:pt x="2926080" y="0"/>
                  </a:lnTo>
                  <a:lnTo>
                    <a:pt x="2926080" y="853440"/>
                  </a:lnTo>
                  <a:lnTo>
                    <a:pt x="0" y="853440"/>
                  </a:lnTo>
                  <a:close/>
                </a:path>
              </a:pathLst>
            </a:custGeom>
            <a:blipFill>
              <a:blip r:embed="rId3">
                <a:alphaModFix amt="0"/>
              </a:blip>
              <a:stretch>
                <a:fillRect l="0" t="-16805" r="0" b="-16805"/>
              </a:stretch>
            </a:blipFill>
          </p:spPr>
        </p:sp>
        <p:sp>
          <p:nvSpPr>
            <p:cNvPr name="TextBox 24" id="24"/>
            <p:cNvSpPr txBox="true"/>
            <p:nvPr/>
          </p:nvSpPr>
          <p:spPr>
            <a:xfrm>
              <a:off x="0" y="-47625"/>
              <a:ext cx="2926080" cy="901065"/>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1. Load</a:t>
              </a:r>
            </a:p>
          </p:txBody>
        </p:sp>
      </p:grpSp>
      <p:grpSp>
        <p:nvGrpSpPr>
          <p:cNvPr name="Group 25" id="25"/>
          <p:cNvGrpSpPr/>
          <p:nvPr/>
        </p:nvGrpSpPr>
        <p:grpSpPr>
          <a:xfrm rot="0">
            <a:off x="1152144" y="3657600"/>
            <a:ext cx="2121408" cy="4023360"/>
            <a:chOff x="0" y="0"/>
            <a:chExt cx="2828544" cy="5364480"/>
          </a:xfrm>
        </p:grpSpPr>
        <p:sp>
          <p:nvSpPr>
            <p:cNvPr name="Freeform 26" id="26"/>
            <p:cNvSpPr/>
            <p:nvPr/>
          </p:nvSpPr>
          <p:spPr>
            <a:xfrm flipH="false" flipV="false" rot="0">
              <a:off x="0" y="0"/>
              <a:ext cx="2828544" cy="5364480"/>
            </a:xfrm>
            <a:custGeom>
              <a:avLst/>
              <a:gdLst/>
              <a:ahLst/>
              <a:cxnLst/>
              <a:rect r="r" b="b" t="t" l="l"/>
              <a:pathLst>
                <a:path h="5364480" w="2828544">
                  <a:moveTo>
                    <a:pt x="0" y="0"/>
                  </a:moveTo>
                  <a:lnTo>
                    <a:pt x="2828544" y="0"/>
                  </a:lnTo>
                  <a:lnTo>
                    <a:pt x="2828544" y="5364480"/>
                  </a:lnTo>
                  <a:lnTo>
                    <a:pt x="0" y="5364480"/>
                  </a:lnTo>
                  <a:close/>
                </a:path>
              </a:pathLst>
            </a:custGeom>
            <a:blipFill>
              <a:blip r:embed="rId3">
                <a:alphaModFix amt="0"/>
              </a:blip>
              <a:stretch>
                <a:fillRect l="-193334" t="0" r="-193334" b="0"/>
              </a:stretch>
            </a:blipFill>
          </p:spPr>
        </p:sp>
        <p:sp>
          <p:nvSpPr>
            <p:cNvPr name="TextBox 27" id="27"/>
            <p:cNvSpPr txBox="true"/>
            <p:nvPr/>
          </p:nvSpPr>
          <p:spPr>
            <a:xfrm>
              <a:off x="0" y="-38100"/>
              <a:ext cx="2828544" cy="5402580"/>
            </a:xfrm>
            <a:prstGeom prst="rect">
              <a:avLst/>
            </a:prstGeom>
          </p:spPr>
          <p:txBody>
            <a:bodyPr anchor="ctr" rtlCol="false" tIns="0" lIns="0" bIns="0" rIns="0"/>
            <a:lstStyle/>
            <a:p>
              <a:pPr algn="l">
                <a:lnSpc>
                  <a:spcPts val="2280"/>
                </a:lnSpc>
              </a:pPr>
              <a:r>
                <a:rPr lang="en-US" sz="1900">
                  <a:solidFill>
                    <a:srgbClr val="334155"/>
                  </a:solidFill>
                  <a:latin typeface="Calibri (MS)"/>
                  <a:ea typeface="Calibri (MS)"/>
                  <a:cs typeface="Calibri (MS)"/>
                  <a:sym typeface="Calibri (MS)"/>
                </a:rPr>
                <a:t>CMEMS NetCDF files</a:t>
              </a:r>
            </a:p>
            <a:p>
              <a:pPr algn="l">
                <a:lnSpc>
                  <a:spcPts val="2280"/>
                </a:lnSpc>
              </a:pPr>
              <a:r>
                <a:rPr lang="en-US" sz="1900">
                  <a:solidFill>
                    <a:srgbClr val="334155"/>
                  </a:solidFill>
                  <a:latin typeface="Calibri (MS)"/>
                  <a:ea typeface="Calibri (MS)"/>
                  <a:cs typeface="Calibri (MS)"/>
                  <a:sym typeface="Calibri (MS)"/>
                </a:rPr>
                <a:t>Extract daily time series at</a:t>
              </a:r>
            </a:p>
            <a:p>
              <a:pPr algn="l">
                <a:lnSpc>
                  <a:spcPts val="2280"/>
                </a:lnSpc>
              </a:pPr>
              <a:r>
                <a:rPr lang="en-US" sz="1900">
                  <a:solidFill>
                    <a:srgbClr val="334155"/>
                  </a:solidFill>
                  <a:latin typeface="Calibri (MS)"/>
                  <a:ea typeface="Calibri (MS)"/>
                  <a:cs typeface="Calibri (MS)"/>
                  <a:sym typeface="Calibri (MS)"/>
                </a:rPr>
                <a:t>5 lat/lon coordinates</a:t>
              </a:r>
            </a:p>
          </p:txBody>
        </p:sp>
      </p:grpSp>
      <p:grpSp>
        <p:nvGrpSpPr>
          <p:cNvPr name="Group 28" id="28"/>
          <p:cNvGrpSpPr/>
          <p:nvPr/>
        </p:nvGrpSpPr>
        <p:grpSpPr>
          <a:xfrm rot="0">
            <a:off x="3346704" y="4572000"/>
            <a:ext cx="438912" cy="640080"/>
            <a:chOff x="0" y="0"/>
            <a:chExt cx="585216" cy="853440"/>
          </a:xfrm>
        </p:grpSpPr>
        <p:sp>
          <p:nvSpPr>
            <p:cNvPr name="Freeform 29" id="29"/>
            <p:cNvSpPr/>
            <p:nvPr/>
          </p:nvSpPr>
          <p:spPr>
            <a:xfrm flipH="false" flipV="false" rot="0">
              <a:off x="0" y="0"/>
              <a:ext cx="585216" cy="853440"/>
            </a:xfrm>
            <a:custGeom>
              <a:avLst/>
              <a:gdLst/>
              <a:ahLst/>
              <a:cxnLst/>
              <a:rect r="r" b="b" t="t" l="l"/>
              <a:pathLst>
                <a:path h="853440" w="585216">
                  <a:moveTo>
                    <a:pt x="0" y="0"/>
                  </a:moveTo>
                  <a:lnTo>
                    <a:pt x="585216" y="0"/>
                  </a:lnTo>
                  <a:lnTo>
                    <a:pt x="585216" y="853440"/>
                  </a:lnTo>
                  <a:lnTo>
                    <a:pt x="0" y="853440"/>
                  </a:lnTo>
                  <a:close/>
                </a:path>
              </a:pathLst>
            </a:custGeom>
            <a:blipFill>
              <a:blip r:embed="rId3">
                <a:alphaModFix amt="0"/>
              </a:blip>
              <a:stretch>
                <a:fillRect l="-137109" t="0" r="-137109" b="0"/>
              </a:stretch>
            </a:blipFill>
          </p:spPr>
        </p:sp>
        <p:sp>
          <p:nvSpPr>
            <p:cNvPr name="TextBox 30" id="30"/>
            <p:cNvSpPr txBox="true"/>
            <p:nvPr/>
          </p:nvSpPr>
          <p:spPr>
            <a:xfrm>
              <a:off x="0" y="-57150"/>
              <a:ext cx="585216" cy="910590"/>
            </a:xfrm>
            <a:prstGeom prst="rect">
              <a:avLst/>
            </a:prstGeom>
          </p:spPr>
          <p:txBody>
            <a:bodyPr anchor="ctr" rtlCol="false" tIns="0" lIns="0" bIns="0" rIns="0"/>
            <a:lstStyle/>
            <a:p>
              <a:pPr algn="ctr">
                <a:lnSpc>
                  <a:spcPts val="3840"/>
                </a:lnSpc>
              </a:pPr>
              <a:r>
                <a:rPr lang="en-US" sz="3200">
                  <a:solidFill>
                    <a:srgbClr val="3B82F6"/>
                  </a:solidFill>
                  <a:latin typeface="Calibri (MS)"/>
                  <a:ea typeface="Calibri (MS)"/>
                  <a:cs typeface="Calibri (MS)"/>
                  <a:sym typeface="Calibri (MS)"/>
                </a:rPr>
                <a:t>→</a:t>
              </a:r>
            </a:p>
          </p:txBody>
        </p:sp>
      </p:grpSp>
      <p:grpSp>
        <p:nvGrpSpPr>
          <p:cNvPr name="Group 31" id="31"/>
          <p:cNvGrpSpPr/>
          <p:nvPr/>
        </p:nvGrpSpPr>
        <p:grpSpPr>
          <a:xfrm rot="0">
            <a:off x="3712464" y="2651760"/>
            <a:ext cx="2414016" cy="5486400"/>
            <a:chOff x="0" y="0"/>
            <a:chExt cx="3218688" cy="7315200"/>
          </a:xfrm>
        </p:grpSpPr>
        <p:sp>
          <p:nvSpPr>
            <p:cNvPr name="Freeform 32" id="32"/>
            <p:cNvSpPr/>
            <p:nvPr/>
          </p:nvSpPr>
          <p:spPr>
            <a:xfrm flipH="false" flipV="false" rot="0">
              <a:off x="0" y="0"/>
              <a:ext cx="3218688" cy="7315200"/>
            </a:xfrm>
            <a:custGeom>
              <a:avLst/>
              <a:gdLst/>
              <a:ahLst/>
              <a:cxnLst/>
              <a:rect r="r" b="b" t="t" l="l"/>
              <a:pathLst>
                <a:path h="7315200" w="3218688">
                  <a:moveTo>
                    <a:pt x="0" y="292608"/>
                  </a:moveTo>
                  <a:cubicBezTo>
                    <a:pt x="0" y="131064"/>
                    <a:pt x="131064" y="0"/>
                    <a:pt x="292608" y="0"/>
                  </a:cubicBezTo>
                  <a:lnTo>
                    <a:pt x="2926080" y="0"/>
                  </a:lnTo>
                  <a:cubicBezTo>
                    <a:pt x="3087624" y="0"/>
                    <a:pt x="3218688" y="131064"/>
                    <a:pt x="3218688" y="292608"/>
                  </a:cubicBezTo>
                  <a:lnTo>
                    <a:pt x="3218688" y="7022592"/>
                  </a:lnTo>
                  <a:cubicBezTo>
                    <a:pt x="3218688" y="7184136"/>
                    <a:pt x="3087624" y="7315200"/>
                    <a:pt x="2926080" y="7315200"/>
                  </a:cubicBezTo>
                  <a:lnTo>
                    <a:pt x="292608" y="7315200"/>
                  </a:lnTo>
                  <a:cubicBezTo>
                    <a:pt x="131064" y="7315200"/>
                    <a:pt x="0" y="7184136"/>
                    <a:pt x="0" y="7022592"/>
                  </a:cubicBezTo>
                  <a:close/>
                </a:path>
              </a:pathLst>
            </a:custGeom>
            <a:solidFill>
              <a:srgbClr val="EFF6FF"/>
            </a:solidFill>
          </p:spPr>
        </p:sp>
      </p:grpSp>
      <p:grpSp>
        <p:nvGrpSpPr>
          <p:cNvPr name="Group 33" id="33"/>
          <p:cNvGrpSpPr/>
          <p:nvPr/>
        </p:nvGrpSpPr>
        <p:grpSpPr>
          <a:xfrm rot="0">
            <a:off x="3822192" y="2779776"/>
            <a:ext cx="2194560" cy="640080"/>
            <a:chOff x="0" y="0"/>
            <a:chExt cx="2926080" cy="853440"/>
          </a:xfrm>
        </p:grpSpPr>
        <p:sp>
          <p:nvSpPr>
            <p:cNvPr name="Freeform 34" id="34"/>
            <p:cNvSpPr/>
            <p:nvPr/>
          </p:nvSpPr>
          <p:spPr>
            <a:xfrm flipH="false" flipV="false" rot="0">
              <a:off x="0" y="0"/>
              <a:ext cx="2926080" cy="853440"/>
            </a:xfrm>
            <a:custGeom>
              <a:avLst/>
              <a:gdLst/>
              <a:ahLst/>
              <a:cxnLst/>
              <a:rect r="r" b="b" t="t" l="l"/>
              <a:pathLst>
                <a:path h="853440" w="2926080">
                  <a:moveTo>
                    <a:pt x="0" y="195072"/>
                  </a:moveTo>
                  <a:cubicBezTo>
                    <a:pt x="0" y="87376"/>
                    <a:pt x="87376" y="0"/>
                    <a:pt x="195072" y="0"/>
                  </a:cubicBezTo>
                  <a:lnTo>
                    <a:pt x="2731008" y="0"/>
                  </a:lnTo>
                  <a:cubicBezTo>
                    <a:pt x="2838704" y="0"/>
                    <a:pt x="2926080" y="87376"/>
                    <a:pt x="2926080" y="195072"/>
                  </a:cubicBezTo>
                  <a:lnTo>
                    <a:pt x="2926080" y="658368"/>
                  </a:lnTo>
                  <a:cubicBezTo>
                    <a:pt x="2926080" y="766064"/>
                    <a:pt x="2838704" y="853440"/>
                    <a:pt x="2731008" y="853440"/>
                  </a:cubicBezTo>
                  <a:lnTo>
                    <a:pt x="195072" y="853440"/>
                  </a:lnTo>
                  <a:cubicBezTo>
                    <a:pt x="87376" y="853440"/>
                    <a:pt x="0" y="766064"/>
                    <a:pt x="0" y="658368"/>
                  </a:cubicBezTo>
                  <a:close/>
                </a:path>
              </a:pathLst>
            </a:custGeom>
            <a:solidFill>
              <a:srgbClr val="60A5FA"/>
            </a:solidFill>
          </p:spPr>
        </p:sp>
      </p:grpSp>
      <p:grpSp>
        <p:nvGrpSpPr>
          <p:cNvPr name="Group 35" id="35"/>
          <p:cNvGrpSpPr/>
          <p:nvPr/>
        </p:nvGrpSpPr>
        <p:grpSpPr>
          <a:xfrm rot="0">
            <a:off x="3822192" y="2779776"/>
            <a:ext cx="2194560" cy="640080"/>
            <a:chOff x="0" y="0"/>
            <a:chExt cx="2926080" cy="853440"/>
          </a:xfrm>
        </p:grpSpPr>
        <p:sp>
          <p:nvSpPr>
            <p:cNvPr name="Freeform 36" id="36"/>
            <p:cNvSpPr/>
            <p:nvPr/>
          </p:nvSpPr>
          <p:spPr>
            <a:xfrm flipH="false" flipV="false" rot="0">
              <a:off x="0" y="0"/>
              <a:ext cx="2926080" cy="853440"/>
            </a:xfrm>
            <a:custGeom>
              <a:avLst/>
              <a:gdLst/>
              <a:ahLst/>
              <a:cxnLst/>
              <a:rect r="r" b="b" t="t" l="l"/>
              <a:pathLst>
                <a:path h="853440" w="2926080">
                  <a:moveTo>
                    <a:pt x="0" y="0"/>
                  </a:moveTo>
                  <a:lnTo>
                    <a:pt x="2926080" y="0"/>
                  </a:lnTo>
                  <a:lnTo>
                    <a:pt x="2926080" y="853440"/>
                  </a:lnTo>
                  <a:lnTo>
                    <a:pt x="0" y="853440"/>
                  </a:lnTo>
                  <a:close/>
                </a:path>
              </a:pathLst>
            </a:custGeom>
            <a:blipFill>
              <a:blip r:embed="rId3">
                <a:alphaModFix amt="0"/>
              </a:blip>
              <a:stretch>
                <a:fillRect l="0" t="-16805" r="0" b="-16805"/>
              </a:stretch>
            </a:blipFill>
          </p:spPr>
        </p:sp>
        <p:sp>
          <p:nvSpPr>
            <p:cNvPr name="TextBox 37" id="37"/>
            <p:cNvSpPr txBox="true"/>
            <p:nvPr/>
          </p:nvSpPr>
          <p:spPr>
            <a:xfrm>
              <a:off x="0" y="-47625"/>
              <a:ext cx="2926080" cy="901065"/>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2. Clean</a:t>
              </a:r>
            </a:p>
          </p:txBody>
        </p:sp>
      </p:grpSp>
      <p:grpSp>
        <p:nvGrpSpPr>
          <p:cNvPr name="Group 38" id="38"/>
          <p:cNvGrpSpPr/>
          <p:nvPr/>
        </p:nvGrpSpPr>
        <p:grpSpPr>
          <a:xfrm rot="0">
            <a:off x="3858768" y="3657600"/>
            <a:ext cx="2121408" cy="4023360"/>
            <a:chOff x="0" y="0"/>
            <a:chExt cx="2828544" cy="5364480"/>
          </a:xfrm>
        </p:grpSpPr>
        <p:sp>
          <p:nvSpPr>
            <p:cNvPr name="Freeform 39" id="39"/>
            <p:cNvSpPr/>
            <p:nvPr/>
          </p:nvSpPr>
          <p:spPr>
            <a:xfrm flipH="false" flipV="false" rot="0">
              <a:off x="0" y="0"/>
              <a:ext cx="2828544" cy="5364480"/>
            </a:xfrm>
            <a:custGeom>
              <a:avLst/>
              <a:gdLst/>
              <a:ahLst/>
              <a:cxnLst/>
              <a:rect r="r" b="b" t="t" l="l"/>
              <a:pathLst>
                <a:path h="5364480" w="2828544">
                  <a:moveTo>
                    <a:pt x="0" y="0"/>
                  </a:moveTo>
                  <a:lnTo>
                    <a:pt x="2828544" y="0"/>
                  </a:lnTo>
                  <a:lnTo>
                    <a:pt x="2828544" y="5364480"/>
                  </a:lnTo>
                  <a:lnTo>
                    <a:pt x="0" y="5364480"/>
                  </a:lnTo>
                  <a:close/>
                </a:path>
              </a:pathLst>
            </a:custGeom>
            <a:blipFill>
              <a:blip r:embed="rId3">
                <a:alphaModFix amt="0"/>
              </a:blip>
              <a:stretch>
                <a:fillRect l="-193334" t="0" r="-193334" b="0"/>
              </a:stretch>
            </a:blipFill>
          </p:spPr>
        </p:sp>
        <p:sp>
          <p:nvSpPr>
            <p:cNvPr name="TextBox 40" id="40"/>
            <p:cNvSpPr txBox="true"/>
            <p:nvPr/>
          </p:nvSpPr>
          <p:spPr>
            <a:xfrm>
              <a:off x="0" y="-38100"/>
              <a:ext cx="2828544" cy="5402580"/>
            </a:xfrm>
            <a:prstGeom prst="rect">
              <a:avLst/>
            </a:prstGeom>
          </p:spPr>
          <p:txBody>
            <a:bodyPr anchor="ctr" rtlCol="false" tIns="0" lIns="0" bIns="0" rIns="0"/>
            <a:lstStyle/>
            <a:p>
              <a:pPr algn="l">
                <a:lnSpc>
                  <a:spcPts val="2280"/>
                </a:lnSpc>
              </a:pPr>
              <a:r>
                <a:rPr lang="en-US" sz="1900">
                  <a:solidFill>
                    <a:srgbClr val="334155"/>
                  </a:solidFill>
                  <a:latin typeface="Calibri (MS)"/>
                  <a:ea typeface="Calibri (MS)"/>
                  <a:cs typeface="Calibri (MS)"/>
                  <a:sym typeface="Calibri (MS)"/>
                </a:rPr>
                <a:t>Linear interpolation for</a:t>
              </a:r>
            </a:p>
            <a:p>
              <a:pPr algn="l">
                <a:lnSpc>
                  <a:spcPts val="2280"/>
                </a:lnSpc>
              </a:pPr>
              <a:r>
                <a:rPr lang="en-US" sz="1900">
                  <a:solidFill>
                    <a:srgbClr val="334155"/>
                  </a:solidFill>
                  <a:latin typeface="Calibri (MS)"/>
                  <a:ea typeface="Calibri (MS)"/>
                  <a:cs typeface="Calibri (MS)"/>
                  <a:sym typeface="Calibri (MS)"/>
                </a:rPr>
                <a:t>NaN gaps ≤ 14 consecutive</a:t>
              </a:r>
            </a:p>
            <a:p>
              <a:pPr algn="l">
                <a:lnSpc>
                  <a:spcPts val="2280"/>
                </a:lnSpc>
              </a:pPr>
              <a:r>
                <a:rPr lang="en-US" sz="1900">
                  <a:solidFill>
                    <a:srgbClr val="334155"/>
                  </a:solidFill>
                  <a:latin typeface="Calibri (MS)"/>
                  <a:ea typeface="Calibri (MS)"/>
                  <a:cs typeface="Calibri (MS)"/>
                  <a:sym typeface="Calibri (MS)"/>
                </a:rPr>
                <a:t>days; forward/backward fill</a:t>
              </a:r>
            </a:p>
          </p:txBody>
        </p:sp>
      </p:grpSp>
      <p:grpSp>
        <p:nvGrpSpPr>
          <p:cNvPr name="Group 41" id="41"/>
          <p:cNvGrpSpPr/>
          <p:nvPr/>
        </p:nvGrpSpPr>
        <p:grpSpPr>
          <a:xfrm rot="0">
            <a:off x="6053328" y="4572000"/>
            <a:ext cx="438912" cy="640080"/>
            <a:chOff x="0" y="0"/>
            <a:chExt cx="585216" cy="853440"/>
          </a:xfrm>
        </p:grpSpPr>
        <p:sp>
          <p:nvSpPr>
            <p:cNvPr name="Freeform 42" id="42"/>
            <p:cNvSpPr/>
            <p:nvPr/>
          </p:nvSpPr>
          <p:spPr>
            <a:xfrm flipH="false" flipV="false" rot="0">
              <a:off x="0" y="0"/>
              <a:ext cx="585216" cy="853440"/>
            </a:xfrm>
            <a:custGeom>
              <a:avLst/>
              <a:gdLst/>
              <a:ahLst/>
              <a:cxnLst/>
              <a:rect r="r" b="b" t="t" l="l"/>
              <a:pathLst>
                <a:path h="853440" w="585216">
                  <a:moveTo>
                    <a:pt x="0" y="0"/>
                  </a:moveTo>
                  <a:lnTo>
                    <a:pt x="585216" y="0"/>
                  </a:lnTo>
                  <a:lnTo>
                    <a:pt x="585216" y="853440"/>
                  </a:lnTo>
                  <a:lnTo>
                    <a:pt x="0" y="853440"/>
                  </a:lnTo>
                  <a:close/>
                </a:path>
              </a:pathLst>
            </a:custGeom>
            <a:blipFill>
              <a:blip r:embed="rId3">
                <a:alphaModFix amt="0"/>
              </a:blip>
              <a:stretch>
                <a:fillRect l="-137109" t="0" r="-137109" b="0"/>
              </a:stretch>
            </a:blipFill>
          </p:spPr>
        </p:sp>
        <p:sp>
          <p:nvSpPr>
            <p:cNvPr name="TextBox 43" id="43"/>
            <p:cNvSpPr txBox="true"/>
            <p:nvPr/>
          </p:nvSpPr>
          <p:spPr>
            <a:xfrm>
              <a:off x="0" y="-57150"/>
              <a:ext cx="585216" cy="910590"/>
            </a:xfrm>
            <a:prstGeom prst="rect">
              <a:avLst/>
            </a:prstGeom>
          </p:spPr>
          <p:txBody>
            <a:bodyPr anchor="ctr" rtlCol="false" tIns="0" lIns="0" bIns="0" rIns="0"/>
            <a:lstStyle/>
            <a:p>
              <a:pPr algn="ctr">
                <a:lnSpc>
                  <a:spcPts val="3840"/>
                </a:lnSpc>
              </a:pPr>
              <a:r>
                <a:rPr lang="en-US" sz="3200">
                  <a:solidFill>
                    <a:srgbClr val="3B82F6"/>
                  </a:solidFill>
                  <a:latin typeface="Calibri (MS)"/>
                  <a:ea typeface="Calibri (MS)"/>
                  <a:cs typeface="Calibri (MS)"/>
                  <a:sym typeface="Calibri (MS)"/>
                </a:rPr>
                <a:t>→</a:t>
              </a:r>
            </a:p>
          </p:txBody>
        </p:sp>
      </p:grpSp>
      <p:grpSp>
        <p:nvGrpSpPr>
          <p:cNvPr name="Group 44" id="44"/>
          <p:cNvGrpSpPr/>
          <p:nvPr/>
        </p:nvGrpSpPr>
        <p:grpSpPr>
          <a:xfrm rot="0">
            <a:off x="6419088" y="2651760"/>
            <a:ext cx="2414016" cy="5486400"/>
            <a:chOff x="0" y="0"/>
            <a:chExt cx="3218688" cy="7315200"/>
          </a:xfrm>
        </p:grpSpPr>
        <p:sp>
          <p:nvSpPr>
            <p:cNvPr name="Freeform 45" id="45"/>
            <p:cNvSpPr/>
            <p:nvPr/>
          </p:nvSpPr>
          <p:spPr>
            <a:xfrm flipH="false" flipV="false" rot="0">
              <a:off x="0" y="0"/>
              <a:ext cx="3218688" cy="7315200"/>
            </a:xfrm>
            <a:custGeom>
              <a:avLst/>
              <a:gdLst/>
              <a:ahLst/>
              <a:cxnLst/>
              <a:rect r="r" b="b" t="t" l="l"/>
              <a:pathLst>
                <a:path h="7315200" w="3218688">
                  <a:moveTo>
                    <a:pt x="0" y="292608"/>
                  </a:moveTo>
                  <a:cubicBezTo>
                    <a:pt x="0" y="131064"/>
                    <a:pt x="131064" y="0"/>
                    <a:pt x="292608" y="0"/>
                  </a:cubicBezTo>
                  <a:lnTo>
                    <a:pt x="2926080" y="0"/>
                  </a:lnTo>
                  <a:cubicBezTo>
                    <a:pt x="3087624" y="0"/>
                    <a:pt x="3218688" y="131064"/>
                    <a:pt x="3218688" y="292608"/>
                  </a:cubicBezTo>
                  <a:lnTo>
                    <a:pt x="3218688" y="7022592"/>
                  </a:lnTo>
                  <a:cubicBezTo>
                    <a:pt x="3218688" y="7184136"/>
                    <a:pt x="3087624" y="7315200"/>
                    <a:pt x="2926080" y="7315200"/>
                  </a:cubicBezTo>
                  <a:lnTo>
                    <a:pt x="292608" y="7315200"/>
                  </a:lnTo>
                  <a:cubicBezTo>
                    <a:pt x="131064" y="7315200"/>
                    <a:pt x="0" y="7184136"/>
                    <a:pt x="0" y="7022592"/>
                  </a:cubicBezTo>
                  <a:close/>
                </a:path>
              </a:pathLst>
            </a:custGeom>
            <a:solidFill>
              <a:srgbClr val="EFF6FF"/>
            </a:solidFill>
          </p:spPr>
        </p:sp>
      </p:grpSp>
      <p:grpSp>
        <p:nvGrpSpPr>
          <p:cNvPr name="Group 46" id="46"/>
          <p:cNvGrpSpPr/>
          <p:nvPr/>
        </p:nvGrpSpPr>
        <p:grpSpPr>
          <a:xfrm rot="0">
            <a:off x="6528816" y="2779776"/>
            <a:ext cx="2194560" cy="640080"/>
            <a:chOff x="0" y="0"/>
            <a:chExt cx="2926080" cy="853440"/>
          </a:xfrm>
        </p:grpSpPr>
        <p:sp>
          <p:nvSpPr>
            <p:cNvPr name="Freeform 47" id="47"/>
            <p:cNvSpPr/>
            <p:nvPr/>
          </p:nvSpPr>
          <p:spPr>
            <a:xfrm flipH="false" flipV="false" rot="0">
              <a:off x="0" y="0"/>
              <a:ext cx="2926080" cy="853440"/>
            </a:xfrm>
            <a:custGeom>
              <a:avLst/>
              <a:gdLst/>
              <a:ahLst/>
              <a:cxnLst/>
              <a:rect r="r" b="b" t="t" l="l"/>
              <a:pathLst>
                <a:path h="853440" w="2926080">
                  <a:moveTo>
                    <a:pt x="0" y="195072"/>
                  </a:moveTo>
                  <a:cubicBezTo>
                    <a:pt x="0" y="87376"/>
                    <a:pt x="87376" y="0"/>
                    <a:pt x="195072" y="0"/>
                  </a:cubicBezTo>
                  <a:lnTo>
                    <a:pt x="2731008" y="0"/>
                  </a:lnTo>
                  <a:cubicBezTo>
                    <a:pt x="2838704" y="0"/>
                    <a:pt x="2926080" y="87376"/>
                    <a:pt x="2926080" y="195072"/>
                  </a:cubicBezTo>
                  <a:lnTo>
                    <a:pt x="2926080" y="658368"/>
                  </a:lnTo>
                  <a:cubicBezTo>
                    <a:pt x="2926080" y="766064"/>
                    <a:pt x="2838704" y="853440"/>
                    <a:pt x="2731008" y="853440"/>
                  </a:cubicBezTo>
                  <a:lnTo>
                    <a:pt x="195072" y="853440"/>
                  </a:lnTo>
                  <a:cubicBezTo>
                    <a:pt x="87376" y="853440"/>
                    <a:pt x="0" y="766064"/>
                    <a:pt x="0" y="658368"/>
                  </a:cubicBezTo>
                  <a:close/>
                </a:path>
              </a:pathLst>
            </a:custGeom>
            <a:solidFill>
              <a:srgbClr val="3B82F6"/>
            </a:solidFill>
          </p:spPr>
        </p:sp>
      </p:grpSp>
      <p:grpSp>
        <p:nvGrpSpPr>
          <p:cNvPr name="Group 48" id="48"/>
          <p:cNvGrpSpPr/>
          <p:nvPr/>
        </p:nvGrpSpPr>
        <p:grpSpPr>
          <a:xfrm rot="0">
            <a:off x="6528816" y="2779776"/>
            <a:ext cx="2194560" cy="640080"/>
            <a:chOff x="0" y="0"/>
            <a:chExt cx="2926080" cy="853440"/>
          </a:xfrm>
        </p:grpSpPr>
        <p:sp>
          <p:nvSpPr>
            <p:cNvPr name="Freeform 49" id="49"/>
            <p:cNvSpPr/>
            <p:nvPr/>
          </p:nvSpPr>
          <p:spPr>
            <a:xfrm flipH="false" flipV="false" rot="0">
              <a:off x="0" y="0"/>
              <a:ext cx="2926080" cy="853440"/>
            </a:xfrm>
            <a:custGeom>
              <a:avLst/>
              <a:gdLst/>
              <a:ahLst/>
              <a:cxnLst/>
              <a:rect r="r" b="b" t="t" l="l"/>
              <a:pathLst>
                <a:path h="853440" w="2926080">
                  <a:moveTo>
                    <a:pt x="0" y="0"/>
                  </a:moveTo>
                  <a:lnTo>
                    <a:pt x="2926080" y="0"/>
                  </a:lnTo>
                  <a:lnTo>
                    <a:pt x="2926080" y="853440"/>
                  </a:lnTo>
                  <a:lnTo>
                    <a:pt x="0" y="853440"/>
                  </a:lnTo>
                  <a:close/>
                </a:path>
              </a:pathLst>
            </a:custGeom>
            <a:blipFill>
              <a:blip r:embed="rId3">
                <a:alphaModFix amt="0"/>
              </a:blip>
              <a:stretch>
                <a:fillRect l="0" t="-16805" r="0" b="-16805"/>
              </a:stretch>
            </a:blipFill>
          </p:spPr>
        </p:sp>
        <p:sp>
          <p:nvSpPr>
            <p:cNvPr name="TextBox 50" id="50"/>
            <p:cNvSpPr txBox="true"/>
            <p:nvPr/>
          </p:nvSpPr>
          <p:spPr>
            <a:xfrm>
              <a:off x="0" y="-47625"/>
              <a:ext cx="2926080" cy="901065"/>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3. Constrain</a:t>
              </a:r>
            </a:p>
          </p:txBody>
        </p:sp>
      </p:grpSp>
      <p:grpSp>
        <p:nvGrpSpPr>
          <p:cNvPr name="Group 51" id="51"/>
          <p:cNvGrpSpPr/>
          <p:nvPr/>
        </p:nvGrpSpPr>
        <p:grpSpPr>
          <a:xfrm rot="0">
            <a:off x="6565392" y="3657600"/>
            <a:ext cx="2121408" cy="4023360"/>
            <a:chOff x="0" y="0"/>
            <a:chExt cx="2828544" cy="5364480"/>
          </a:xfrm>
        </p:grpSpPr>
        <p:sp>
          <p:nvSpPr>
            <p:cNvPr name="Freeform 52" id="52"/>
            <p:cNvSpPr/>
            <p:nvPr/>
          </p:nvSpPr>
          <p:spPr>
            <a:xfrm flipH="false" flipV="false" rot="0">
              <a:off x="0" y="0"/>
              <a:ext cx="2828544" cy="5364480"/>
            </a:xfrm>
            <a:custGeom>
              <a:avLst/>
              <a:gdLst/>
              <a:ahLst/>
              <a:cxnLst/>
              <a:rect r="r" b="b" t="t" l="l"/>
              <a:pathLst>
                <a:path h="5364480" w="2828544">
                  <a:moveTo>
                    <a:pt x="0" y="0"/>
                  </a:moveTo>
                  <a:lnTo>
                    <a:pt x="2828544" y="0"/>
                  </a:lnTo>
                  <a:lnTo>
                    <a:pt x="2828544" y="5364480"/>
                  </a:lnTo>
                  <a:lnTo>
                    <a:pt x="0" y="5364480"/>
                  </a:lnTo>
                  <a:close/>
                </a:path>
              </a:pathLst>
            </a:custGeom>
            <a:blipFill>
              <a:blip r:embed="rId3">
                <a:alphaModFix amt="0"/>
              </a:blip>
              <a:stretch>
                <a:fillRect l="-193334" t="0" r="-193334" b="0"/>
              </a:stretch>
            </a:blipFill>
          </p:spPr>
        </p:sp>
        <p:sp>
          <p:nvSpPr>
            <p:cNvPr name="TextBox 53" id="53"/>
            <p:cNvSpPr txBox="true"/>
            <p:nvPr/>
          </p:nvSpPr>
          <p:spPr>
            <a:xfrm>
              <a:off x="0" y="-38100"/>
              <a:ext cx="2828544" cy="5402580"/>
            </a:xfrm>
            <a:prstGeom prst="rect">
              <a:avLst/>
            </a:prstGeom>
          </p:spPr>
          <p:txBody>
            <a:bodyPr anchor="ctr" rtlCol="false" tIns="0" lIns="0" bIns="0" rIns="0"/>
            <a:lstStyle/>
            <a:p>
              <a:pPr algn="l">
                <a:lnSpc>
                  <a:spcPts val="2280"/>
                </a:lnSpc>
              </a:pPr>
              <a:r>
                <a:rPr lang="en-US" sz="1900">
                  <a:solidFill>
                    <a:srgbClr val="334155"/>
                  </a:solidFill>
                  <a:latin typeface="Calibri (MS)"/>
                  <a:ea typeface="Calibri (MS)"/>
                  <a:cs typeface="Calibri (MS)"/>
                  <a:sym typeface="Calibri (MS)"/>
                </a:rPr>
                <a:t>SWH clipped at zero</a:t>
              </a:r>
            </a:p>
            <a:p>
              <a:pPr algn="l">
                <a:lnSpc>
                  <a:spcPts val="2280"/>
                </a:lnSpc>
              </a:pPr>
              <a:r>
                <a:rPr lang="en-US" sz="1900">
                  <a:solidFill>
                    <a:srgbClr val="334155"/>
                  </a:solidFill>
                  <a:latin typeface="Calibri (MS)"/>
                  <a:ea typeface="Calibri (MS)"/>
                  <a:cs typeface="Calibri (MS)"/>
                  <a:sym typeface="Calibri (MS)"/>
                </a:rPr>
                <a:t>(wave height is physically</a:t>
              </a:r>
            </a:p>
            <a:p>
              <a:pPr algn="l">
                <a:lnSpc>
                  <a:spcPts val="2280"/>
                </a:lnSpc>
              </a:pPr>
              <a:r>
                <a:rPr lang="en-US" sz="1900">
                  <a:solidFill>
                    <a:srgbClr val="334155"/>
                  </a:solidFill>
                  <a:latin typeface="Calibri (MS)"/>
                  <a:ea typeface="Calibri (MS)"/>
                  <a:cs typeface="Calibri (MS)"/>
                  <a:sym typeface="Calibri (MS)"/>
                </a:rPr>
                <a:t>non-negative)</a:t>
              </a:r>
            </a:p>
          </p:txBody>
        </p:sp>
      </p:grpSp>
      <p:grpSp>
        <p:nvGrpSpPr>
          <p:cNvPr name="Group 54" id="54"/>
          <p:cNvGrpSpPr/>
          <p:nvPr/>
        </p:nvGrpSpPr>
        <p:grpSpPr>
          <a:xfrm rot="0">
            <a:off x="8759952" y="4572000"/>
            <a:ext cx="438912" cy="640080"/>
            <a:chOff x="0" y="0"/>
            <a:chExt cx="585216" cy="853440"/>
          </a:xfrm>
        </p:grpSpPr>
        <p:sp>
          <p:nvSpPr>
            <p:cNvPr name="Freeform 55" id="55"/>
            <p:cNvSpPr/>
            <p:nvPr/>
          </p:nvSpPr>
          <p:spPr>
            <a:xfrm flipH="false" flipV="false" rot="0">
              <a:off x="0" y="0"/>
              <a:ext cx="585216" cy="853440"/>
            </a:xfrm>
            <a:custGeom>
              <a:avLst/>
              <a:gdLst/>
              <a:ahLst/>
              <a:cxnLst/>
              <a:rect r="r" b="b" t="t" l="l"/>
              <a:pathLst>
                <a:path h="853440" w="585216">
                  <a:moveTo>
                    <a:pt x="0" y="0"/>
                  </a:moveTo>
                  <a:lnTo>
                    <a:pt x="585216" y="0"/>
                  </a:lnTo>
                  <a:lnTo>
                    <a:pt x="585216" y="853440"/>
                  </a:lnTo>
                  <a:lnTo>
                    <a:pt x="0" y="853440"/>
                  </a:lnTo>
                  <a:close/>
                </a:path>
              </a:pathLst>
            </a:custGeom>
            <a:blipFill>
              <a:blip r:embed="rId3">
                <a:alphaModFix amt="0"/>
              </a:blip>
              <a:stretch>
                <a:fillRect l="-137109" t="0" r="-137109" b="0"/>
              </a:stretch>
            </a:blipFill>
          </p:spPr>
        </p:sp>
        <p:sp>
          <p:nvSpPr>
            <p:cNvPr name="TextBox 56" id="56"/>
            <p:cNvSpPr txBox="true"/>
            <p:nvPr/>
          </p:nvSpPr>
          <p:spPr>
            <a:xfrm>
              <a:off x="0" y="-57150"/>
              <a:ext cx="585216" cy="910590"/>
            </a:xfrm>
            <a:prstGeom prst="rect">
              <a:avLst/>
            </a:prstGeom>
          </p:spPr>
          <p:txBody>
            <a:bodyPr anchor="ctr" rtlCol="false" tIns="0" lIns="0" bIns="0" rIns="0"/>
            <a:lstStyle/>
            <a:p>
              <a:pPr algn="ctr">
                <a:lnSpc>
                  <a:spcPts val="3840"/>
                </a:lnSpc>
              </a:pPr>
              <a:r>
                <a:rPr lang="en-US" sz="3200">
                  <a:solidFill>
                    <a:srgbClr val="3B82F6"/>
                  </a:solidFill>
                  <a:latin typeface="Calibri (MS)"/>
                  <a:ea typeface="Calibri (MS)"/>
                  <a:cs typeface="Calibri (MS)"/>
                  <a:sym typeface="Calibri (MS)"/>
                </a:rPr>
                <a:t>→</a:t>
              </a:r>
            </a:p>
          </p:txBody>
        </p:sp>
      </p:grpSp>
      <p:grpSp>
        <p:nvGrpSpPr>
          <p:cNvPr name="Group 57" id="57"/>
          <p:cNvGrpSpPr/>
          <p:nvPr/>
        </p:nvGrpSpPr>
        <p:grpSpPr>
          <a:xfrm rot="0">
            <a:off x="9125712" y="2651760"/>
            <a:ext cx="2414016" cy="5486400"/>
            <a:chOff x="0" y="0"/>
            <a:chExt cx="3218688" cy="7315200"/>
          </a:xfrm>
        </p:grpSpPr>
        <p:sp>
          <p:nvSpPr>
            <p:cNvPr name="Freeform 58" id="58"/>
            <p:cNvSpPr/>
            <p:nvPr/>
          </p:nvSpPr>
          <p:spPr>
            <a:xfrm flipH="false" flipV="false" rot="0">
              <a:off x="0" y="0"/>
              <a:ext cx="3218688" cy="7315200"/>
            </a:xfrm>
            <a:custGeom>
              <a:avLst/>
              <a:gdLst/>
              <a:ahLst/>
              <a:cxnLst/>
              <a:rect r="r" b="b" t="t" l="l"/>
              <a:pathLst>
                <a:path h="7315200" w="3218688">
                  <a:moveTo>
                    <a:pt x="0" y="292608"/>
                  </a:moveTo>
                  <a:cubicBezTo>
                    <a:pt x="0" y="131064"/>
                    <a:pt x="131064" y="0"/>
                    <a:pt x="292608" y="0"/>
                  </a:cubicBezTo>
                  <a:lnTo>
                    <a:pt x="2926080" y="0"/>
                  </a:lnTo>
                  <a:cubicBezTo>
                    <a:pt x="3087624" y="0"/>
                    <a:pt x="3218688" y="131064"/>
                    <a:pt x="3218688" y="292608"/>
                  </a:cubicBezTo>
                  <a:lnTo>
                    <a:pt x="3218688" y="7022592"/>
                  </a:lnTo>
                  <a:cubicBezTo>
                    <a:pt x="3218688" y="7184136"/>
                    <a:pt x="3087624" y="7315200"/>
                    <a:pt x="2926080" y="7315200"/>
                  </a:cubicBezTo>
                  <a:lnTo>
                    <a:pt x="292608" y="7315200"/>
                  </a:lnTo>
                  <a:cubicBezTo>
                    <a:pt x="131064" y="7315200"/>
                    <a:pt x="0" y="7184136"/>
                    <a:pt x="0" y="7022592"/>
                  </a:cubicBezTo>
                  <a:close/>
                </a:path>
              </a:pathLst>
            </a:custGeom>
            <a:solidFill>
              <a:srgbClr val="EFF6FF"/>
            </a:solidFill>
          </p:spPr>
        </p:sp>
      </p:grpSp>
      <p:grpSp>
        <p:nvGrpSpPr>
          <p:cNvPr name="Group 59" id="59"/>
          <p:cNvGrpSpPr/>
          <p:nvPr/>
        </p:nvGrpSpPr>
        <p:grpSpPr>
          <a:xfrm rot="0">
            <a:off x="9235440" y="2779776"/>
            <a:ext cx="2194560" cy="640080"/>
            <a:chOff x="0" y="0"/>
            <a:chExt cx="2926080" cy="853440"/>
          </a:xfrm>
        </p:grpSpPr>
        <p:sp>
          <p:nvSpPr>
            <p:cNvPr name="Freeform 60" id="60"/>
            <p:cNvSpPr/>
            <p:nvPr/>
          </p:nvSpPr>
          <p:spPr>
            <a:xfrm flipH="false" flipV="false" rot="0">
              <a:off x="0" y="0"/>
              <a:ext cx="2926080" cy="853440"/>
            </a:xfrm>
            <a:custGeom>
              <a:avLst/>
              <a:gdLst/>
              <a:ahLst/>
              <a:cxnLst/>
              <a:rect r="r" b="b" t="t" l="l"/>
              <a:pathLst>
                <a:path h="853440" w="2926080">
                  <a:moveTo>
                    <a:pt x="0" y="195072"/>
                  </a:moveTo>
                  <a:cubicBezTo>
                    <a:pt x="0" y="87376"/>
                    <a:pt x="87376" y="0"/>
                    <a:pt x="195072" y="0"/>
                  </a:cubicBezTo>
                  <a:lnTo>
                    <a:pt x="2731008" y="0"/>
                  </a:lnTo>
                  <a:cubicBezTo>
                    <a:pt x="2838704" y="0"/>
                    <a:pt x="2926080" y="87376"/>
                    <a:pt x="2926080" y="195072"/>
                  </a:cubicBezTo>
                  <a:lnTo>
                    <a:pt x="2926080" y="658368"/>
                  </a:lnTo>
                  <a:cubicBezTo>
                    <a:pt x="2926080" y="766064"/>
                    <a:pt x="2838704" y="853440"/>
                    <a:pt x="2731008" y="853440"/>
                  </a:cubicBezTo>
                  <a:lnTo>
                    <a:pt x="195072" y="853440"/>
                  </a:lnTo>
                  <a:cubicBezTo>
                    <a:pt x="87376" y="853440"/>
                    <a:pt x="0" y="766064"/>
                    <a:pt x="0" y="658368"/>
                  </a:cubicBezTo>
                  <a:close/>
                </a:path>
              </a:pathLst>
            </a:custGeom>
            <a:solidFill>
              <a:srgbClr val="60A5FA"/>
            </a:solidFill>
          </p:spPr>
        </p:sp>
      </p:grpSp>
      <p:grpSp>
        <p:nvGrpSpPr>
          <p:cNvPr name="Group 61" id="61"/>
          <p:cNvGrpSpPr/>
          <p:nvPr/>
        </p:nvGrpSpPr>
        <p:grpSpPr>
          <a:xfrm rot="0">
            <a:off x="9235440" y="2779776"/>
            <a:ext cx="2194560" cy="640080"/>
            <a:chOff x="0" y="0"/>
            <a:chExt cx="2926080" cy="853440"/>
          </a:xfrm>
        </p:grpSpPr>
        <p:sp>
          <p:nvSpPr>
            <p:cNvPr name="Freeform 62" id="62"/>
            <p:cNvSpPr/>
            <p:nvPr/>
          </p:nvSpPr>
          <p:spPr>
            <a:xfrm flipH="false" flipV="false" rot="0">
              <a:off x="0" y="0"/>
              <a:ext cx="2926080" cy="853440"/>
            </a:xfrm>
            <a:custGeom>
              <a:avLst/>
              <a:gdLst/>
              <a:ahLst/>
              <a:cxnLst/>
              <a:rect r="r" b="b" t="t" l="l"/>
              <a:pathLst>
                <a:path h="853440" w="2926080">
                  <a:moveTo>
                    <a:pt x="0" y="0"/>
                  </a:moveTo>
                  <a:lnTo>
                    <a:pt x="2926080" y="0"/>
                  </a:lnTo>
                  <a:lnTo>
                    <a:pt x="2926080" y="853440"/>
                  </a:lnTo>
                  <a:lnTo>
                    <a:pt x="0" y="853440"/>
                  </a:lnTo>
                  <a:close/>
                </a:path>
              </a:pathLst>
            </a:custGeom>
            <a:blipFill>
              <a:blip r:embed="rId3">
                <a:alphaModFix amt="0"/>
              </a:blip>
              <a:stretch>
                <a:fillRect l="0" t="-16805" r="0" b="-16805"/>
              </a:stretch>
            </a:blipFill>
          </p:spPr>
        </p:sp>
        <p:sp>
          <p:nvSpPr>
            <p:cNvPr name="TextBox 63" id="63"/>
            <p:cNvSpPr txBox="true"/>
            <p:nvPr/>
          </p:nvSpPr>
          <p:spPr>
            <a:xfrm>
              <a:off x="0" y="-47625"/>
              <a:ext cx="2926080" cy="901065"/>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4. Split</a:t>
              </a:r>
            </a:p>
          </p:txBody>
        </p:sp>
      </p:grpSp>
      <p:grpSp>
        <p:nvGrpSpPr>
          <p:cNvPr name="Group 64" id="64"/>
          <p:cNvGrpSpPr/>
          <p:nvPr/>
        </p:nvGrpSpPr>
        <p:grpSpPr>
          <a:xfrm rot="0">
            <a:off x="9272016" y="3657600"/>
            <a:ext cx="2121408" cy="4023360"/>
            <a:chOff x="0" y="0"/>
            <a:chExt cx="2828544" cy="5364480"/>
          </a:xfrm>
        </p:grpSpPr>
        <p:sp>
          <p:nvSpPr>
            <p:cNvPr name="Freeform 65" id="65"/>
            <p:cNvSpPr/>
            <p:nvPr/>
          </p:nvSpPr>
          <p:spPr>
            <a:xfrm flipH="false" flipV="false" rot="0">
              <a:off x="0" y="0"/>
              <a:ext cx="2828544" cy="5364480"/>
            </a:xfrm>
            <a:custGeom>
              <a:avLst/>
              <a:gdLst/>
              <a:ahLst/>
              <a:cxnLst/>
              <a:rect r="r" b="b" t="t" l="l"/>
              <a:pathLst>
                <a:path h="5364480" w="2828544">
                  <a:moveTo>
                    <a:pt x="0" y="0"/>
                  </a:moveTo>
                  <a:lnTo>
                    <a:pt x="2828544" y="0"/>
                  </a:lnTo>
                  <a:lnTo>
                    <a:pt x="2828544" y="5364480"/>
                  </a:lnTo>
                  <a:lnTo>
                    <a:pt x="0" y="5364480"/>
                  </a:lnTo>
                  <a:close/>
                </a:path>
              </a:pathLst>
            </a:custGeom>
            <a:blipFill>
              <a:blip r:embed="rId3">
                <a:alphaModFix amt="0"/>
              </a:blip>
              <a:stretch>
                <a:fillRect l="-193334" t="0" r="-193334" b="0"/>
              </a:stretch>
            </a:blipFill>
          </p:spPr>
        </p:sp>
        <p:sp>
          <p:nvSpPr>
            <p:cNvPr name="TextBox 66" id="66"/>
            <p:cNvSpPr txBox="true"/>
            <p:nvPr/>
          </p:nvSpPr>
          <p:spPr>
            <a:xfrm>
              <a:off x="0" y="-38100"/>
              <a:ext cx="2828544" cy="5402580"/>
            </a:xfrm>
            <a:prstGeom prst="rect">
              <a:avLst/>
            </a:prstGeom>
          </p:spPr>
          <p:txBody>
            <a:bodyPr anchor="ctr" rtlCol="false" tIns="0" lIns="0" bIns="0" rIns="0"/>
            <a:lstStyle/>
            <a:p>
              <a:pPr algn="l">
                <a:lnSpc>
                  <a:spcPts val="2280"/>
                </a:lnSpc>
              </a:pPr>
              <a:r>
                <a:rPr lang="en-US" sz="1900">
                  <a:solidFill>
                    <a:srgbClr val="334155"/>
                  </a:solidFill>
                  <a:latin typeface="Calibri (MS)"/>
                  <a:ea typeface="Calibri (MS)"/>
                  <a:cs typeface="Calibri (MS)"/>
                  <a:sym typeface="Calibri (MS)"/>
                </a:rPr>
                <a:t>80% Train (877 days)</a:t>
              </a:r>
            </a:p>
            <a:p>
              <a:pPr algn="l">
                <a:lnSpc>
                  <a:spcPts val="2280"/>
                </a:lnSpc>
              </a:pPr>
              <a:r>
                <a:rPr lang="en-US" sz="1900">
                  <a:solidFill>
                    <a:srgbClr val="334155"/>
                  </a:solidFill>
                  <a:latin typeface="Calibri (MS)"/>
                  <a:ea typeface="Calibri (MS)"/>
                  <a:cs typeface="Calibri (MS)"/>
                  <a:sym typeface="Calibri (MS)"/>
                </a:rPr>
                <a:t>20% Test (219 days)</a:t>
              </a:r>
            </a:p>
            <a:p>
              <a:pPr algn="l">
                <a:lnSpc>
                  <a:spcPts val="2280"/>
                </a:lnSpc>
              </a:pPr>
              <a:r>
                <a:rPr lang="en-US" sz="1900">
                  <a:solidFill>
                    <a:srgbClr val="334155"/>
                  </a:solidFill>
                  <a:latin typeface="Calibri (MS)"/>
                  <a:ea typeface="Calibri (MS)"/>
                  <a:cs typeface="Calibri (MS)"/>
                  <a:sym typeface="Calibri (MS)"/>
                </a:rPr>
                <a:t>Chronological — no shuffle</a:t>
              </a:r>
            </a:p>
          </p:txBody>
        </p:sp>
      </p:grpSp>
      <p:grpSp>
        <p:nvGrpSpPr>
          <p:cNvPr name="Group 67" id="67"/>
          <p:cNvGrpSpPr/>
          <p:nvPr/>
        </p:nvGrpSpPr>
        <p:grpSpPr>
          <a:xfrm rot="0">
            <a:off x="11466576" y="4572000"/>
            <a:ext cx="438912" cy="640080"/>
            <a:chOff x="0" y="0"/>
            <a:chExt cx="585216" cy="853440"/>
          </a:xfrm>
        </p:grpSpPr>
        <p:sp>
          <p:nvSpPr>
            <p:cNvPr name="Freeform 68" id="68"/>
            <p:cNvSpPr/>
            <p:nvPr/>
          </p:nvSpPr>
          <p:spPr>
            <a:xfrm flipH="false" flipV="false" rot="0">
              <a:off x="0" y="0"/>
              <a:ext cx="585216" cy="853440"/>
            </a:xfrm>
            <a:custGeom>
              <a:avLst/>
              <a:gdLst/>
              <a:ahLst/>
              <a:cxnLst/>
              <a:rect r="r" b="b" t="t" l="l"/>
              <a:pathLst>
                <a:path h="853440" w="585216">
                  <a:moveTo>
                    <a:pt x="0" y="0"/>
                  </a:moveTo>
                  <a:lnTo>
                    <a:pt x="585216" y="0"/>
                  </a:lnTo>
                  <a:lnTo>
                    <a:pt x="585216" y="853440"/>
                  </a:lnTo>
                  <a:lnTo>
                    <a:pt x="0" y="853440"/>
                  </a:lnTo>
                  <a:close/>
                </a:path>
              </a:pathLst>
            </a:custGeom>
            <a:blipFill>
              <a:blip r:embed="rId3">
                <a:alphaModFix amt="0"/>
              </a:blip>
              <a:stretch>
                <a:fillRect l="-137109" t="0" r="-137109" b="0"/>
              </a:stretch>
            </a:blipFill>
          </p:spPr>
        </p:sp>
        <p:sp>
          <p:nvSpPr>
            <p:cNvPr name="TextBox 69" id="69"/>
            <p:cNvSpPr txBox="true"/>
            <p:nvPr/>
          </p:nvSpPr>
          <p:spPr>
            <a:xfrm>
              <a:off x="0" y="-57150"/>
              <a:ext cx="585216" cy="910590"/>
            </a:xfrm>
            <a:prstGeom prst="rect">
              <a:avLst/>
            </a:prstGeom>
          </p:spPr>
          <p:txBody>
            <a:bodyPr anchor="ctr" rtlCol="false" tIns="0" lIns="0" bIns="0" rIns="0"/>
            <a:lstStyle/>
            <a:p>
              <a:pPr algn="ctr">
                <a:lnSpc>
                  <a:spcPts val="3840"/>
                </a:lnSpc>
              </a:pPr>
              <a:r>
                <a:rPr lang="en-US" sz="3200">
                  <a:solidFill>
                    <a:srgbClr val="3B82F6"/>
                  </a:solidFill>
                  <a:latin typeface="Calibri (MS)"/>
                  <a:ea typeface="Calibri (MS)"/>
                  <a:cs typeface="Calibri (MS)"/>
                  <a:sym typeface="Calibri (MS)"/>
                </a:rPr>
                <a:t>→</a:t>
              </a:r>
            </a:p>
          </p:txBody>
        </p:sp>
      </p:grpSp>
      <p:grpSp>
        <p:nvGrpSpPr>
          <p:cNvPr name="Group 70" id="70"/>
          <p:cNvGrpSpPr/>
          <p:nvPr/>
        </p:nvGrpSpPr>
        <p:grpSpPr>
          <a:xfrm rot="0">
            <a:off x="11832336" y="2651760"/>
            <a:ext cx="2414016" cy="5486400"/>
            <a:chOff x="0" y="0"/>
            <a:chExt cx="3218688" cy="7315200"/>
          </a:xfrm>
        </p:grpSpPr>
        <p:sp>
          <p:nvSpPr>
            <p:cNvPr name="Freeform 71" id="71"/>
            <p:cNvSpPr/>
            <p:nvPr/>
          </p:nvSpPr>
          <p:spPr>
            <a:xfrm flipH="false" flipV="false" rot="0">
              <a:off x="0" y="0"/>
              <a:ext cx="3218688" cy="7315200"/>
            </a:xfrm>
            <a:custGeom>
              <a:avLst/>
              <a:gdLst/>
              <a:ahLst/>
              <a:cxnLst/>
              <a:rect r="r" b="b" t="t" l="l"/>
              <a:pathLst>
                <a:path h="7315200" w="3218688">
                  <a:moveTo>
                    <a:pt x="0" y="292608"/>
                  </a:moveTo>
                  <a:cubicBezTo>
                    <a:pt x="0" y="131064"/>
                    <a:pt x="131064" y="0"/>
                    <a:pt x="292608" y="0"/>
                  </a:cubicBezTo>
                  <a:lnTo>
                    <a:pt x="2926080" y="0"/>
                  </a:lnTo>
                  <a:cubicBezTo>
                    <a:pt x="3087624" y="0"/>
                    <a:pt x="3218688" y="131064"/>
                    <a:pt x="3218688" y="292608"/>
                  </a:cubicBezTo>
                  <a:lnTo>
                    <a:pt x="3218688" y="7022592"/>
                  </a:lnTo>
                  <a:cubicBezTo>
                    <a:pt x="3218688" y="7184136"/>
                    <a:pt x="3087624" y="7315200"/>
                    <a:pt x="2926080" y="7315200"/>
                  </a:cubicBezTo>
                  <a:lnTo>
                    <a:pt x="292608" y="7315200"/>
                  </a:lnTo>
                  <a:cubicBezTo>
                    <a:pt x="131064" y="7315200"/>
                    <a:pt x="0" y="7184136"/>
                    <a:pt x="0" y="7022592"/>
                  </a:cubicBezTo>
                  <a:close/>
                </a:path>
              </a:pathLst>
            </a:custGeom>
            <a:solidFill>
              <a:srgbClr val="EFF6FF"/>
            </a:solidFill>
          </p:spPr>
        </p:sp>
      </p:grpSp>
      <p:grpSp>
        <p:nvGrpSpPr>
          <p:cNvPr name="Group 72" id="72"/>
          <p:cNvGrpSpPr/>
          <p:nvPr/>
        </p:nvGrpSpPr>
        <p:grpSpPr>
          <a:xfrm rot="0">
            <a:off x="11942064" y="2779776"/>
            <a:ext cx="2194560" cy="640080"/>
            <a:chOff x="0" y="0"/>
            <a:chExt cx="2926080" cy="853440"/>
          </a:xfrm>
        </p:grpSpPr>
        <p:sp>
          <p:nvSpPr>
            <p:cNvPr name="Freeform 73" id="73"/>
            <p:cNvSpPr/>
            <p:nvPr/>
          </p:nvSpPr>
          <p:spPr>
            <a:xfrm flipH="false" flipV="false" rot="0">
              <a:off x="0" y="0"/>
              <a:ext cx="2926080" cy="853440"/>
            </a:xfrm>
            <a:custGeom>
              <a:avLst/>
              <a:gdLst/>
              <a:ahLst/>
              <a:cxnLst/>
              <a:rect r="r" b="b" t="t" l="l"/>
              <a:pathLst>
                <a:path h="853440" w="2926080">
                  <a:moveTo>
                    <a:pt x="0" y="195072"/>
                  </a:moveTo>
                  <a:cubicBezTo>
                    <a:pt x="0" y="87376"/>
                    <a:pt x="87376" y="0"/>
                    <a:pt x="195072" y="0"/>
                  </a:cubicBezTo>
                  <a:lnTo>
                    <a:pt x="2731008" y="0"/>
                  </a:lnTo>
                  <a:cubicBezTo>
                    <a:pt x="2838704" y="0"/>
                    <a:pt x="2926080" y="87376"/>
                    <a:pt x="2926080" y="195072"/>
                  </a:cubicBezTo>
                  <a:lnTo>
                    <a:pt x="2926080" y="658368"/>
                  </a:lnTo>
                  <a:cubicBezTo>
                    <a:pt x="2926080" y="766064"/>
                    <a:pt x="2838704" y="853440"/>
                    <a:pt x="2731008" y="853440"/>
                  </a:cubicBezTo>
                  <a:lnTo>
                    <a:pt x="195072" y="853440"/>
                  </a:lnTo>
                  <a:cubicBezTo>
                    <a:pt x="87376" y="853440"/>
                    <a:pt x="0" y="766064"/>
                    <a:pt x="0" y="658368"/>
                  </a:cubicBezTo>
                  <a:close/>
                </a:path>
              </a:pathLst>
            </a:custGeom>
            <a:solidFill>
              <a:srgbClr val="3B82F6"/>
            </a:solidFill>
          </p:spPr>
        </p:sp>
      </p:grpSp>
      <p:grpSp>
        <p:nvGrpSpPr>
          <p:cNvPr name="Group 74" id="74"/>
          <p:cNvGrpSpPr/>
          <p:nvPr/>
        </p:nvGrpSpPr>
        <p:grpSpPr>
          <a:xfrm rot="0">
            <a:off x="11942064" y="2779776"/>
            <a:ext cx="2194560" cy="640080"/>
            <a:chOff x="0" y="0"/>
            <a:chExt cx="2926080" cy="853440"/>
          </a:xfrm>
        </p:grpSpPr>
        <p:sp>
          <p:nvSpPr>
            <p:cNvPr name="Freeform 75" id="75"/>
            <p:cNvSpPr/>
            <p:nvPr/>
          </p:nvSpPr>
          <p:spPr>
            <a:xfrm flipH="false" flipV="false" rot="0">
              <a:off x="0" y="0"/>
              <a:ext cx="2926080" cy="853440"/>
            </a:xfrm>
            <a:custGeom>
              <a:avLst/>
              <a:gdLst/>
              <a:ahLst/>
              <a:cxnLst/>
              <a:rect r="r" b="b" t="t" l="l"/>
              <a:pathLst>
                <a:path h="853440" w="2926080">
                  <a:moveTo>
                    <a:pt x="0" y="0"/>
                  </a:moveTo>
                  <a:lnTo>
                    <a:pt x="2926080" y="0"/>
                  </a:lnTo>
                  <a:lnTo>
                    <a:pt x="2926080" y="853440"/>
                  </a:lnTo>
                  <a:lnTo>
                    <a:pt x="0" y="853440"/>
                  </a:lnTo>
                  <a:close/>
                </a:path>
              </a:pathLst>
            </a:custGeom>
            <a:blipFill>
              <a:blip r:embed="rId3">
                <a:alphaModFix amt="0"/>
              </a:blip>
              <a:stretch>
                <a:fillRect l="0" t="-16805" r="0" b="-16805"/>
              </a:stretch>
            </a:blipFill>
          </p:spPr>
        </p:sp>
        <p:sp>
          <p:nvSpPr>
            <p:cNvPr name="TextBox 76" id="76"/>
            <p:cNvSpPr txBox="true"/>
            <p:nvPr/>
          </p:nvSpPr>
          <p:spPr>
            <a:xfrm>
              <a:off x="0" y="-47625"/>
              <a:ext cx="2926080" cy="901065"/>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5. Scale</a:t>
              </a:r>
            </a:p>
          </p:txBody>
        </p:sp>
      </p:grpSp>
      <p:grpSp>
        <p:nvGrpSpPr>
          <p:cNvPr name="Group 77" id="77"/>
          <p:cNvGrpSpPr/>
          <p:nvPr/>
        </p:nvGrpSpPr>
        <p:grpSpPr>
          <a:xfrm rot="0">
            <a:off x="11978640" y="3657600"/>
            <a:ext cx="2121408" cy="4023360"/>
            <a:chOff x="0" y="0"/>
            <a:chExt cx="2828544" cy="5364480"/>
          </a:xfrm>
        </p:grpSpPr>
        <p:sp>
          <p:nvSpPr>
            <p:cNvPr name="Freeform 78" id="78"/>
            <p:cNvSpPr/>
            <p:nvPr/>
          </p:nvSpPr>
          <p:spPr>
            <a:xfrm flipH="false" flipV="false" rot="0">
              <a:off x="0" y="0"/>
              <a:ext cx="2828544" cy="5364480"/>
            </a:xfrm>
            <a:custGeom>
              <a:avLst/>
              <a:gdLst/>
              <a:ahLst/>
              <a:cxnLst/>
              <a:rect r="r" b="b" t="t" l="l"/>
              <a:pathLst>
                <a:path h="5364480" w="2828544">
                  <a:moveTo>
                    <a:pt x="0" y="0"/>
                  </a:moveTo>
                  <a:lnTo>
                    <a:pt x="2828544" y="0"/>
                  </a:lnTo>
                  <a:lnTo>
                    <a:pt x="2828544" y="5364480"/>
                  </a:lnTo>
                  <a:lnTo>
                    <a:pt x="0" y="5364480"/>
                  </a:lnTo>
                  <a:close/>
                </a:path>
              </a:pathLst>
            </a:custGeom>
            <a:blipFill>
              <a:blip r:embed="rId3">
                <a:alphaModFix amt="0"/>
              </a:blip>
              <a:stretch>
                <a:fillRect l="-193334" t="0" r="-193334" b="0"/>
              </a:stretch>
            </a:blipFill>
          </p:spPr>
        </p:sp>
        <p:sp>
          <p:nvSpPr>
            <p:cNvPr name="TextBox 79" id="79"/>
            <p:cNvSpPr txBox="true"/>
            <p:nvPr/>
          </p:nvSpPr>
          <p:spPr>
            <a:xfrm>
              <a:off x="0" y="-38100"/>
              <a:ext cx="2828544" cy="5402580"/>
            </a:xfrm>
            <a:prstGeom prst="rect">
              <a:avLst/>
            </a:prstGeom>
          </p:spPr>
          <p:txBody>
            <a:bodyPr anchor="ctr" rtlCol="false" tIns="0" lIns="0" bIns="0" rIns="0"/>
            <a:lstStyle/>
            <a:p>
              <a:pPr algn="l">
                <a:lnSpc>
                  <a:spcPts val="2280"/>
                </a:lnSpc>
              </a:pPr>
              <a:r>
                <a:rPr lang="en-US" sz="1900">
                  <a:solidFill>
                    <a:srgbClr val="334155"/>
                  </a:solidFill>
                  <a:latin typeface="Calibri (MS)"/>
                  <a:ea typeface="Calibri (MS)"/>
                  <a:cs typeface="Calibri (MS)"/>
                  <a:sym typeface="Calibri (MS)"/>
                </a:rPr>
                <a:t>RobustScaler fitted on</a:t>
              </a:r>
            </a:p>
            <a:p>
              <a:pPr algn="l">
                <a:lnSpc>
                  <a:spcPts val="2280"/>
                </a:lnSpc>
              </a:pPr>
              <a:r>
                <a:rPr lang="en-US" sz="1900">
                  <a:solidFill>
                    <a:srgbClr val="334155"/>
                  </a:solidFill>
                  <a:latin typeface="Calibri (MS)"/>
                  <a:ea typeface="Calibri (MS)"/>
                  <a:cs typeface="Calibri (MS)"/>
                  <a:sym typeface="Calibri (MS)"/>
                </a:rPr>
                <a:t>train only (median + IQR)</a:t>
              </a:r>
            </a:p>
            <a:p>
              <a:pPr algn="l">
                <a:lnSpc>
                  <a:spcPts val="2280"/>
                </a:lnSpc>
              </a:pPr>
              <a:r>
                <a:rPr lang="en-US" sz="1900">
                  <a:solidFill>
                    <a:srgbClr val="334155"/>
                  </a:solidFill>
                  <a:latin typeface="Calibri (MS)"/>
                  <a:ea typeface="Calibri (MS)"/>
                  <a:cs typeface="Calibri (MS)"/>
                  <a:sym typeface="Calibri (MS)"/>
                </a:rPr>
                <a:t>Applied to test set</a:t>
              </a:r>
            </a:p>
          </p:txBody>
        </p:sp>
      </p:grpSp>
      <p:grpSp>
        <p:nvGrpSpPr>
          <p:cNvPr name="Group 80" id="80"/>
          <p:cNvGrpSpPr/>
          <p:nvPr/>
        </p:nvGrpSpPr>
        <p:grpSpPr>
          <a:xfrm rot="0">
            <a:off x="14173200" y="4572000"/>
            <a:ext cx="438912" cy="640080"/>
            <a:chOff x="0" y="0"/>
            <a:chExt cx="585216" cy="853440"/>
          </a:xfrm>
        </p:grpSpPr>
        <p:sp>
          <p:nvSpPr>
            <p:cNvPr name="Freeform 81" id="81"/>
            <p:cNvSpPr/>
            <p:nvPr/>
          </p:nvSpPr>
          <p:spPr>
            <a:xfrm flipH="false" flipV="false" rot="0">
              <a:off x="0" y="0"/>
              <a:ext cx="585216" cy="853440"/>
            </a:xfrm>
            <a:custGeom>
              <a:avLst/>
              <a:gdLst/>
              <a:ahLst/>
              <a:cxnLst/>
              <a:rect r="r" b="b" t="t" l="l"/>
              <a:pathLst>
                <a:path h="853440" w="585216">
                  <a:moveTo>
                    <a:pt x="0" y="0"/>
                  </a:moveTo>
                  <a:lnTo>
                    <a:pt x="585216" y="0"/>
                  </a:lnTo>
                  <a:lnTo>
                    <a:pt x="585216" y="853440"/>
                  </a:lnTo>
                  <a:lnTo>
                    <a:pt x="0" y="853440"/>
                  </a:lnTo>
                  <a:close/>
                </a:path>
              </a:pathLst>
            </a:custGeom>
            <a:blipFill>
              <a:blip r:embed="rId3">
                <a:alphaModFix amt="0"/>
              </a:blip>
              <a:stretch>
                <a:fillRect l="-137109" t="0" r="-137109" b="0"/>
              </a:stretch>
            </a:blipFill>
          </p:spPr>
        </p:sp>
        <p:sp>
          <p:nvSpPr>
            <p:cNvPr name="TextBox 82" id="82"/>
            <p:cNvSpPr txBox="true"/>
            <p:nvPr/>
          </p:nvSpPr>
          <p:spPr>
            <a:xfrm>
              <a:off x="0" y="-57150"/>
              <a:ext cx="585216" cy="910590"/>
            </a:xfrm>
            <a:prstGeom prst="rect">
              <a:avLst/>
            </a:prstGeom>
          </p:spPr>
          <p:txBody>
            <a:bodyPr anchor="ctr" rtlCol="false" tIns="0" lIns="0" bIns="0" rIns="0"/>
            <a:lstStyle/>
            <a:p>
              <a:pPr algn="ctr">
                <a:lnSpc>
                  <a:spcPts val="3840"/>
                </a:lnSpc>
              </a:pPr>
              <a:r>
                <a:rPr lang="en-US" sz="3200">
                  <a:solidFill>
                    <a:srgbClr val="3B82F6"/>
                  </a:solidFill>
                  <a:latin typeface="Calibri (MS)"/>
                  <a:ea typeface="Calibri (MS)"/>
                  <a:cs typeface="Calibri (MS)"/>
                  <a:sym typeface="Calibri (MS)"/>
                </a:rPr>
                <a:t>→</a:t>
              </a:r>
            </a:p>
          </p:txBody>
        </p:sp>
      </p:grpSp>
      <p:grpSp>
        <p:nvGrpSpPr>
          <p:cNvPr name="Group 83" id="83"/>
          <p:cNvGrpSpPr/>
          <p:nvPr/>
        </p:nvGrpSpPr>
        <p:grpSpPr>
          <a:xfrm rot="0">
            <a:off x="14538960" y="2651760"/>
            <a:ext cx="2414016" cy="5486400"/>
            <a:chOff x="0" y="0"/>
            <a:chExt cx="3218688" cy="7315200"/>
          </a:xfrm>
        </p:grpSpPr>
        <p:sp>
          <p:nvSpPr>
            <p:cNvPr name="Freeform 84" id="84"/>
            <p:cNvSpPr/>
            <p:nvPr/>
          </p:nvSpPr>
          <p:spPr>
            <a:xfrm flipH="false" flipV="false" rot="0">
              <a:off x="0" y="0"/>
              <a:ext cx="3218688" cy="7315200"/>
            </a:xfrm>
            <a:custGeom>
              <a:avLst/>
              <a:gdLst/>
              <a:ahLst/>
              <a:cxnLst/>
              <a:rect r="r" b="b" t="t" l="l"/>
              <a:pathLst>
                <a:path h="7315200" w="3218688">
                  <a:moveTo>
                    <a:pt x="0" y="292608"/>
                  </a:moveTo>
                  <a:cubicBezTo>
                    <a:pt x="0" y="131064"/>
                    <a:pt x="131064" y="0"/>
                    <a:pt x="292608" y="0"/>
                  </a:cubicBezTo>
                  <a:lnTo>
                    <a:pt x="2926080" y="0"/>
                  </a:lnTo>
                  <a:cubicBezTo>
                    <a:pt x="3087624" y="0"/>
                    <a:pt x="3218688" y="131064"/>
                    <a:pt x="3218688" y="292608"/>
                  </a:cubicBezTo>
                  <a:lnTo>
                    <a:pt x="3218688" y="7022592"/>
                  </a:lnTo>
                  <a:cubicBezTo>
                    <a:pt x="3218688" y="7184136"/>
                    <a:pt x="3087624" y="7315200"/>
                    <a:pt x="2926080" y="7315200"/>
                  </a:cubicBezTo>
                  <a:lnTo>
                    <a:pt x="292608" y="7315200"/>
                  </a:lnTo>
                  <a:cubicBezTo>
                    <a:pt x="131064" y="7315200"/>
                    <a:pt x="0" y="7184136"/>
                    <a:pt x="0" y="7022592"/>
                  </a:cubicBezTo>
                  <a:close/>
                </a:path>
              </a:pathLst>
            </a:custGeom>
            <a:solidFill>
              <a:srgbClr val="EFF6FF"/>
            </a:solidFill>
          </p:spPr>
        </p:sp>
      </p:grpSp>
      <p:grpSp>
        <p:nvGrpSpPr>
          <p:cNvPr name="Group 85" id="85"/>
          <p:cNvGrpSpPr/>
          <p:nvPr/>
        </p:nvGrpSpPr>
        <p:grpSpPr>
          <a:xfrm rot="0">
            <a:off x="14648688" y="2779776"/>
            <a:ext cx="2194560" cy="640080"/>
            <a:chOff x="0" y="0"/>
            <a:chExt cx="2926080" cy="853440"/>
          </a:xfrm>
        </p:grpSpPr>
        <p:sp>
          <p:nvSpPr>
            <p:cNvPr name="Freeform 86" id="86"/>
            <p:cNvSpPr/>
            <p:nvPr/>
          </p:nvSpPr>
          <p:spPr>
            <a:xfrm flipH="false" flipV="false" rot="0">
              <a:off x="0" y="0"/>
              <a:ext cx="2926080" cy="853440"/>
            </a:xfrm>
            <a:custGeom>
              <a:avLst/>
              <a:gdLst/>
              <a:ahLst/>
              <a:cxnLst/>
              <a:rect r="r" b="b" t="t" l="l"/>
              <a:pathLst>
                <a:path h="853440" w="2926080">
                  <a:moveTo>
                    <a:pt x="0" y="195072"/>
                  </a:moveTo>
                  <a:cubicBezTo>
                    <a:pt x="0" y="87376"/>
                    <a:pt x="87376" y="0"/>
                    <a:pt x="195072" y="0"/>
                  </a:cubicBezTo>
                  <a:lnTo>
                    <a:pt x="2731008" y="0"/>
                  </a:lnTo>
                  <a:cubicBezTo>
                    <a:pt x="2838704" y="0"/>
                    <a:pt x="2926080" y="87376"/>
                    <a:pt x="2926080" y="195072"/>
                  </a:cubicBezTo>
                  <a:lnTo>
                    <a:pt x="2926080" y="658368"/>
                  </a:lnTo>
                  <a:cubicBezTo>
                    <a:pt x="2926080" y="766064"/>
                    <a:pt x="2838704" y="853440"/>
                    <a:pt x="2731008" y="853440"/>
                  </a:cubicBezTo>
                  <a:lnTo>
                    <a:pt x="195072" y="853440"/>
                  </a:lnTo>
                  <a:cubicBezTo>
                    <a:pt x="87376" y="853440"/>
                    <a:pt x="0" y="766064"/>
                    <a:pt x="0" y="658368"/>
                  </a:cubicBezTo>
                  <a:close/>
                </a:path>
              </a:pathLst>
            </a:custGeom>
            <a:solidFill>
              <a:srgbClr val="60A5FA"/>
            </a:solidFill>
          </p:spPr>
        </p:sp>
      </p:grpSp>
      <p:grpSp>
        <p:nvGrpSpPr>
          <p:cNvPr name="Group 87" id="87"/>
          <p:cNvGrpSpPr/>
          <p:nvPr/>
        </p:nvGrpSpPr>
        <p:grpSpPr>
          <a:xfrm rot="0">
            <a:off x="14648688" y="2779776"/>
            <a:ext cx="2194560" cy="640080"/>
            <a:chOff x="0" y="0"/>
            <a:chExt cx="2926080" cy="853440"/>
          </a:xfrm>
        </p:grpSpPr>
        <p:sp>
          <p:nvSpPr>
            <p:cNvPr name="Freeform 88" id="88"/>
            <p:cNvSpPr/>
            <p:nvPr/>
          </p:nvSpPr>
          <p:spPr>
            <a:xfrm flipH="false" flipV="false" rot="0">
              <a:off x="0" y="0"/>
              <a:ext cx="2926080" cy="853440"/>
            </a:xfrm>
            <a:custGeom>
              <a:avLst/>
              <a:gdLst/>
              <a:ahLst/>
              <a:cxnLst/>
              <a:rect r="r" b="b" t="t" l="l"/>
              <a:pathLst>
                <a:path h="853440" w="2926080">
                  <a:moveTo>
                    <a:pt x="0" y="0"/>
                  </a:moveTo>
                  <a:lnTo>
                    <a:pt x="2926080" y="0"/>
                  </a:lnTo>
                  <a:lnTo>
                    <a:pt x="2926080" y="853440"/>
                  </a:lnTo>
                  <a:lnTo>
                    <a:pt x="0" y="853440"/>
                  </a:lnTo>
                  <a:close/>
                </a:path>
              </a:pathLst>
            </a:custGeom>
            <a:blipFill>
              <a:blip r:embed="rId3">
                <a:alphaModFix amt="0"/>
              </a:blip>
              <a:stretch>
                <a:fillRect l="0" t="-16805" r="0" b="-16805"/>
              </a:stretch>
            </a:blipFill>
          </p:spPr>
        </p:sp>
        <p:sp>
          <p:nvSpPr>
            <p:cNvPr name="TextBox 89" id="89"/>
            <p:cNvSpPr txBox="true"/>
            <p:nvPr/>
          </p:nvSpPr>
          <p:spPr>
            <a:xfrm>
              <a:off x="0" y="-47625"/>
              <a:ext cx="2926080" cy="901065"/>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6. Sequence</a:t>
              </a:r>
            </a:p>
          </p:txBody>
        </p:sp>
      </p:grpSp>
      <p:grpSp>
        <p:nvGrpSpPr>
          <p:cNvPr name="Group 90" id="90"/>
          <p:cNvGrpSpPr/>
          <p:nvPr/>
        </p:nvGrpSpPr>
        <p:grpSpPr>
          <a:xfrm rot="0">
            <a:off x="14685264" y="3657600"/>
            <a:ext cx="2121408" cy="4023360"/>
            <a:chOff x="0" y="0"/>
            <a:chExt cx="2828544" cy="5364480"/>
          </a:xfrm>
        </p:grpSpPr>
        <p:sp>
          <p:nvSpPr>
            <p:cNvPr name="Freeform 91" id="91"/>
            <p:cNvSpPr/>
            <p:nvPr/>
          </p:nvSpPr>
          <p:spPr>
            <a:xfrm flipH="false" flipV="false" rot="0">
              <a:off x="0" y="0"/>
              <a:ext cx="2828544" cy="5364480"/>
            </a:xfrm>
            <a:custGeom>
              <a:avLst/>
              <a:gdLst/>
              <a:ahLst/>
              <a:cxnLst/>
              <a:rect r="r" b="b" t="t" l="l"/>
              <a:pathLst>
                <a:path h="5364480" w="2828544">
                  <a:moveTo>
                    <a:pt x="0" y="0"/>
                  </a:moveTo>
                  <a:lnTo>
                    <a:pt x="2828544" y="0"/>
                  </a:lnTo>
                  <a:lnTo>
                    <a:pt x="2828544" y="5364480"/>
                  </a:lnTo>
                  <a:lnTo>
                    <a:pt x="0" y="5364480"/>
                  </a:lnTo>
                  <a:close/>
                </a:path>
              </a:pathLst>
            </a:custGeom>
            <a:blipFill>
              <a:blip r:embed="rId3">
                <a:alphaModFix amt="0"/>
              </a:blip>
              <a:stretch>
                <a:fillRect l="-193334" t="0" r="-193334" b="0"/>
              </a:stretch>
            </a:blipFill>
          </p:spPr>
        </p:sp>
        <p:sp>
          <p:nvSpPr>
            <p:cNvPr name="TextBox 92" id="92"/>
            <p:cNvSpPr txBox="true"/>
            <p:nvPr/>
          </p:nvSpPr>
          <p:spPr>
            <a:xfrm>
              <a:off x="0" y="-38100"/>
              <a:ext cx="2828544" cy="5402580"/>
            </a:xfrm>
            <a:prstGeom prst="rect">
              <a:avLst/>
            </a:prstGeom>
          </p:spPr>
          <p:txBody>
            <a:bodyPr anchor="ctr" rtlCol="false" tIns="0" lIns="0" bIns="0" rIns="0"/>
            <a:lstStyle/>
            <a:p>
              <a:pPr algn="l">
                <a:lnSpc>
                  <a:spcPts val="2280"/>
                </a:lnSpc>
              </a:pPr>
              <a:r>
                <a:rPr lang="en-US" sz="1900">
                  <a:solidFill>
                    <a:srgbClr val="334155"/>
                  </a:solidFill>
                  <a:latin typeface="Calibri (MS)"/>
                  <a:ea typeface="Calibri (MS)"/>
                  <a:cs typeface="Calibri (MS)"/>
                  <a:sym typeface="Calibri (MS)"/>
                </a:rPr>
                <a:t>Sliding window SEQ=30</a:t>
              </a:r>
            </a:p>
            <a:p>
              <a:pPr algn="l">
                <a:lnSpc>
                  <a:spcPts val="2280"/>
                </a:lnSpc>
              </a:pPr>
              <a:r>
                <a:rPr lang="en-US" sz="1900">
                  <a:solidFill>
                    <a:srgbClr val="334155"/>
                  </a:solidFill>
                  <a:latin typeface="Calibri (MS)"/>
                  <a:ea typeface="Calibri (MS)"/>
                  <a:cs typeface="Calibri (MS)"/>
                  <a:sym typeface="Calibri (MS)"/>
                </a:rPr>
                <a:t>846 training sequences</a:t>
              </a:r>
            </a:p>
            <a:p>
              <a:pPr algn="l">
                <a:lnSpc>
                  <a:spcPts val="2280"/>
                </a:lnSpc>
              </a:pPr>
              <a:r>
                <a:rPr lang="en-US" sz="1900">
                  <a:solidFill>
                    <a:srgbClr val="334155"/>
                  </a:solidFill>
                  <a:latin typeface="Calibri (MS)"/>
                  <a:ea typeface="Calibri (MS)"/>
                  <a:cs typeface="Calibri (MS)"/>
                  <a:sym typeface="Calibri (MS)"/>
                </a:rPr>
                <a:t>Input → [lower, upper]</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9222" r="0" b="-9222"/>
            </a:stretch>
          </a:blipFill>
        </p:spPr>
      </p:sp>
      <p:grpSp>
        <p:nvGrpSpPr>
          <p:cNvPr name="Group 3" id="3"/>
          <p:cNvGrpSpPr/>
          <p:nvPr/>
        </p:nvGrpSpPr>
        <p:grpSpPr>
          <a:xfrm rot="0">
            <a:off x="5056112" y="4428120"/>
            <a:ext cx="8175775" cy="1430761"/>
            <a:chOff x="0" y="0"/>
            <a:chExt cx="3901440" cy="682752"/>
          </a:xfrm>
        </p:grpSpPr>
        <p:sp>
          <p:nvSpPr>
            <p:cNvPr name="Freeform 4" id="4"/>
            <p:cNvSpPr/>
            <p:nvPr/>
          </p:nvSpPr>
          <p:spPr>
            <a:xfrm flipH="false" flipV="false" rot="0">
              <a:off x="0" y="0"/>
              <a:ext cx="3901440" cy="682752"/>
            </a:xfrm>
            <a:custGeom>
              <a:avLst/>
              <a:gdLst/>
              <a:ahLst/>
              <a:cxnLst/>
              <a:rect r="r" b="b" t="t" l="l"/>
              <a:pathLst>
                <a:path h="682752" w="3901440">
                  <a:moveTo>
                    <a:pt x="0" y="341376"/>
                  </a:moveTo>
                  <a:cubicBezTo>
                    <a:pt x="0" y="152781"/>
                    <a:pt x="152781" y="0"/>
                    <a:pt x="341376" y="0"/>
                  </a:cubicBezTo>
                  <a:lnTo>
                    <a:pt x="3560064" y="0"/>
                  </a:lnTo>
                  <a:cubicBezTo>
                    <a:pt x="3748659" y="0"/>
                    <a:pt x="3901440" y="152781"/>
                    <a:pt x="3901440" y="341376"/>
                  </a:cubicBezTo>
                  <a:cubicBezTo>
                    <a:pt x="3901440" y="529971"/>
                    <a:pt x="3748659" y="682752"/>
                    <a:pt x="3560064" y="682752"/>
                  </a:cubicBezTo>
                  <a:lnTo>
                    <a:pt x="341376" y="682752"/>
                  </a:lnTo>
                  <a:cubicBezTo>
                    <a:pt x="152781" y="682752"/>
                    <a:pt x="0" y="529971"/>
                    <a:pt x="0" y="341376"/>
                  </a:cubicBezTo>
                  <a:close/>
                </a:path>
              </a:pathLst>
            </a:custGeom>
            <a:solidFill>
              <a:srgbClr val="3B82F6"/>
            </a:solidFill>
          </p:spPr>
        </p:sp>
      </p:grpSp>
      <p:sp>
        <p:nvSpPr>
          <p:cNvPr name="TextBox 5" id="5"/>
          <p:cNvSpPr txBox="true"/>
          <p:nvPr/>
        </p:nvSpPr>
        <p:spPr>
          <a:xfrm rot="0">
            <a:off x="5056112" y="4757737"/>
            <a:ext cx="8175775" cy="685800"/>
          </a:xfrm>
          <a:prstGeom prst="rect">
            <a:avLst/>
          </a:prstGeom>
        </p:spPr>
        <p:txBody>
          <a:bodyPr anchor="t" rtlCol="false" tIns="0" lIns="0" bIns="0" rIns="0">
            <a:spAutoFit/>
          </a:bodyPr>
          <a:lstStyle/>
          <a:p>
            <a:pPr algn="ctr">
              <a:lnSpc>
                <a:spcPts val="4799"/>
              </a:lnSpc>
              <a:spcBef>
                <a:spcPct val="0"/>
              </a:spcBef>
            </a:pPr>
            <a:r>
              <a:rPr lang="en-US" b="true" sz="3999">
                <a:solidFill>
                  <a:srgbClr val="EFF6FF"/>
                </a:solidFill>
                <a:latin typeface="Calibri (MS) Bold"/>
                <a:ea typeface="Calibri (MS) Bold"/>
                <a:cs typeface="Calibri (MS) Bold"/>
                <a:sym typeface="Calibri (MS) Bold"/>
              </a:rPr>
              <a:t>MODELS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73152"/>
            <a:chOff x="0" y="0"/>
            <a:chExt cx="24384000" cy="97536"/>
          </a:xfrm>
        </p:grpSpPr>
        <p:sp>
          <p:nvSpPr>
            <p:cNvPr name="Freeform 3" id="3"/>
            <p:cNvSpPr/>
            <p:nvPr/>
          </p:nvSpPr>
          <p:spPr>
            <a:xfrm flipH="false" flipV="false" rot="0">
              <a:off x="0" y="0"/>
              <a:ext cx="24384000" cy="97536"/>
            </a:xfrm>
            <a:custGeom>
              <a:avLst/>
              <a:gdLst/>
              <a:ahLst/>
              <a:cxnLst/>
              <a:rect r="r" b="b" t="t" l="l"/>
              <a:pathLst>
                <a:path h="97536" w="24384000">
                  <a:moveTo>
                    <a:pt x="0" y="0"/>
                  </a:moveTo>
                  <a:lnTo>
                    <a:pt x="24384000" y="0"/>
                  </a:lnTo>
                  <a:lnTo>
                    <a:pt x="24384000" y="97536"/>
                  </a:lnTo>
                  <a:lnTo>
                    <a:pt x="0" y="97536"/>
                  </a:lnTo>
                  <a:close/>
                </a:path>
              </a:pathLst>
            </a:custGeom>
            <a:solidFill>
              <a:srgbClr val="3B82F6"/>
            </a:solidFill>
          </p:spPr>
        </p:sp>
      </p:grpSp>
      <p:grpSp>
        <p:nvGrpSpPr>
          <p:cNvPr name="Group 4" id="4"/>
          <p:cNvGrpSpPr/>
          <p:nvPr/>
        </p:nvGrpSpPr>
        <p:grpSpPr>
          <a:xfrm rot="0">
            <a:off x="1005840" y="585216"/>
            <a:ext cx="2926080" cy="512064"/>
            <a:chOff x="0" y="0"/>
            <a:chExt cx="3901440" cy="682752"/>
          </a:xfrm>
        </p:grpSpPr>
        <p:sp>
          <p:nvSpPr>
            <p:cNvPr name="Freeform 5" id="5"/>
            <p:cNvSpPr/>
            <p:nvPr/>
          </p:nvSpPr>
          <p:spPr>
            <a:xfrm flipH="false" flipV="false" rot="0">
              <a:off x="0" y="0"/>
              <a:ext cx="3901440" cy="682752"/>
            </a:xfrm>
            <a:custGeom>
              <a:avLst/>
              <a:gdLst/>
              <a:ahLst/>
              <a:cxnLst/>
              <a:rect r="r" b="b" t="t" l="l"/>
              <a:pathLst>
                <a:path h="682752" w="3901440">
                  <a:moveTo>
                    <a:pt x="0" y="341376"/>
                  </a:moveTo>
                  <a:cubicBezTo>
                    <a:pt x="0" y="152781"/>
                    <a:pt x="152781" y="0"/>
                    <a:pt x="341376" y="0"/>
                  </a:cubicBezTo>
                  <a:lnTo>
                    <a:pt x="3560064" y="0"/>
                  </a:lnTo>
                  <a:cubicBezTo>
                    <a:pt x="3748659" y="0"/>
                    <a:pt x="3901440" y="152781"/>
                    <a:pt x="3901440" y="341376"/>
                  </a:cubicBezTo>
                  <a:cubicBezTo>
                    <a:pt x="3901440" y="529971"/>
                    <a:pt x="3748659" y="682752"/>
                    <a:pt x="3560064" y="682752"/>
                  </a:cubicBezTo>
                  <a:lnTo>
                    <a:pt x="341376" y="682752"/>
                  </a:lnTo>
                  <a:cubicBezTo>
                    <a:pt x="152781" y="682752"/>
                    <a:pt x="0" y="529971"/>
                    <a:pt x="0" y="341376"/>
                  </a:cubicBezTo>
                  <a:close/>
                </a:path>
              </a:pathLst>
            </a:custGeom>
            <a:solidFill>
              <a:srgbClr val="3B82F6"/>
            </a:solidFill>
          </p:spPr>
        </p:sp>
      </p:grpSp>
      <p:grpSp>
        <p:nvGrpSpPr>
          <p:cNvPr name="Group 6" id="6"/>
          <p:cNvGrpSpPr/>
          <p:nvPr/>
        </p:nvGrpSpPr>
        <p:grpSpPr>
          <a:xfrm rot="0">
            <a:off x="1005840" y="585216"/>
            <a:ext cx="2926080" cy="512064"/>
            <a:chOff x="0" y="0"/>
            <a:chExt cx="3901440" cy="682752"/>
          </a:xfrm>
        </p:grpSpPr>
        <p:sp>
          <p:nvSpPr>
            <p:cNvPr name="Freeform 7" id="7"/>
            <p:cNvSpPr/>
            <p:nvPr/>
          </p:nvSpPr>
          <p:spPr>
            <a:xfrm flipH="false" flipV="false" rot="0">
              <a:off x="0" y="0"/>
              <a:ext cx="3901440" cy="682752"/>
            </a:xfrm>
            <a:custGeom>
              <a:avLst/>
              <a:gdLst/>
              <a:ahLst/>
              <a:cxnLst/>
              <a:rect r="r" b="b" t="t" l="l"/>
              <a:pathLst>
                <a:path h="682752" w="3901440">
                  <a:moveTo>
                    <a:pt x="0" y="0"/>
                  </a:moveTo>
                  <a:lnTo>
                    <a:pt x="3901440" y="0"/>
                  </a:lnTo>
                  <a:lnTo>
                    <a:pt x="3901440" y="682752"/>
                  </a:lnTo>
                  <a:lnTo>
                    <a:pt x="0" y="682752"/>
                  </a:lnTo>
                  <a:close/>
                </a:path>
              </a:pathLst>
            </a:custGeom>
            <a:blipFill>
              <a:blip r:embed="rId3">
                <a:alphaModFix amt="0"/>
              </a:blip>
              <a:stretch>
                <a:fillRect l="0" t="-61343" r="0" b="-61343"/>
              </a:stretch>
            </a:blipFill>
          </p:spPr>
        </p:sp>
        <p:sp>
          <p:nvSpPr>
            <p:cNvPr name="TextBox 8" id="8"/>
            <p:cNvSpPr txBox="true"/>
            <p:nvPr/>
          </p:nvSpPr>
          <p:spPr>
            <a:xfrm>
              <a:off x="0" y="-38100"/>
              <a:ext cx="3901440" cy="72085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MODELS</a:t>
              </a:r>
            </a:p>
          </p:txBody>
        </p:sp>
      </p:grpSp>
      <p:grpSp>
        <p:nvGrpSpPr>
          <p:cNvPr name="Group 9" id="9"/>
          <p:cNvGrpSpPr/>
          <p:nvPr/>
        </p:nvGrpSpPr>
        <p:grpSpPr>
          <a:xfrm rot="0">
            <a:off x="1005840" y="1060704"/>
            <a:ext cx="16276320" cy="877824"/>
            <a:chOff x="0" y="0"/>
            <a:chExt cx="21701760" cy="1170432"/>
          </a:xfrm>
        </p:grpSpPr>
        <p:sp>
          <p:nvSpPr>
            <p:cNvPr name="Freeform 10" id="10"/>
            <p:cNvSpPr/>
            <p:nvPr/>
          </p:nvSpPr>
          <p:spPr>
            <a:xfrm flipH="false" flipV="false" rot="0">
              <a:off x="0" y="0"/>
              <a:ext cx="21701761" cy="1170432"/>
            </a:xfrm>
            <a:custGeom>
              <a:avLst/>
              <a:gdLst/>
              <a:ahLst/>
              <a:cxnLst/>
              <a:rect r="r" b="b" t="t" l="l"/>
              <a:pathLst>
                <a:path h="1170432" w="21701761">
                  <a:moveTo>
                    <a:pt x="0" y="0"/>
                  </a:moveTo>
                  <a:lnTo>
                    <a:pt x="21701761" y="0"/>
                  </a:lnTo>
                  <a:lnTo>
                    <a:pt x="21701761" y="1170432"/>
                  </a:lnTo>
                  <a:lnTo>
                    <a:pt x="0" y="1170432"/>
                  </a:lnTo>
                  <a:close/>
                </a:path>
              </a:pathLst>
            </a:custGeom>
            <a:blipFill>
              <a:blip r:embed="rId3">
                <a:alphaModFix amt="0"/>
              </a:blip>
              <a:stretch>
                <a:fillRect l="0" t="-311285" r="0" b="-311285"/>
              </a:stretch>
            </a:blipFill>
          </p:spPr>
        </p:sp>
        <p:sp>
          <p:nvSpPr>
            <p:cNvPr name="TextBox 11" id="11"/>
            <p:cNvSpPr txBox="true"/>
            <p:nvPr/>
          </p:nvSpPr>
          <p:spPr>
            <a:xfrm>
              <a:off x="0" y="-76200"/>
              <a:ext cx="21701760" cy="1246632"/>
            </a:xfrm>
            <a:prstGeom prst="rect">
              <a:avLst/>
            </a:prstGeom>
          </p:spPr>
          <p:txBody>
            <a:bodyPr anchor="ctr" rtlCol="false" tIns="0" lIns="0" bIns="0" rIns="0"/>
            <a:lstStyle/>
            <a:p>
              <a:pPr algn="l">
                <a:lnSpc>
                  <a:spcPts val="5280"/>
                </a:lnSpc>
              </a:pPr>
              <a:r>
                <a:rPr lang="en-US" sz="4400" b="true">
                  <a:solidFill>
                    <a:srgbClr val="1A2744"/>
                  </a:solidFill>
                  <a:latin typeface="Calibri (MS) Bold"/>
                  <a:ea typeface="Calibri (MS) Bold"/>
                  <a:cs typeface="Calibri (MS) Bold"/>
                  <a:sym typeface="Calibri (MS) Bold"/>
                </a:rPr>
                <a:t>9 Deep Learning Architectures</a:t>
              </a:r>
            </a:p>
          </p:txBody>
        </p:sp>
      </p:grpSp>
      <p:grpSp>
        <p:nvGrpSpPr>
          <p:cNvPr name="Group 12" id="12"/>
          <p:cNvGrpSpPr/>
          <p:nvPr/>
        </p:nvGrpSpPr>
        <p:grpSpPr>
          <a:xfrm rot="0">
            <a:off x="1005840" y="1938528"/>
            <a:ext cx="16276320" cy="457200"/>
            <a:chOff x="0" y="0"/>
            <a:chExt cx="21701760" cy="609600"/>
          </a:xfrm>
        </p:grpSpPr>
        <p:sp>
          <p:nvSpPr>
            <p:cNvPr name="Freeform 13" id="13"/>
            <p:cNvSpPr/>
            <p:nvPr/>
          </p:nvSpPr>
          <p:spPr>
            <a:xfrm flipH="false" flipV="false" rot="0">
              <a:off x="0" y="0"/>
              <a:ext cx="21701761" cy="609600"/>
            </a:xfrm>
            <a:custGeom>
              <a:avLst/>
              <a:gdLst/>
              <a:ahLst/>
              <a:cxnLst/>
              <a:rect r="r" b="b" t="t" l="l"/>
              <a:pathLst>
                <a:path h="609600" w="21701761">
                  <a:moveTo>
                    <a:pt x="0" y="0"/>
                  </a:moveTo>
                  <a:lnTo>
                    <a:pt x="21701761" y="0"/>
                  </a:lnTo>
                  <a:lnTo>
                    <a:pt x="21701761" y="609600"/>
                  </a:lnTo>
                  <a:lnTo>
                    <a:pt x="0" y="609600"/>
                  </a:lnTo>
                  <a:close/>
                </a:path>
              </a:pathLst>
            </a:custGeom>
            <a:blipFill>
              <a:blip r:embed="rId3">
                <a:alphaModFix amt="0"/>
              </a:blip>
              <a:stretch>
                <a:fillRect l="0" t="-643667" r="0" b="-643667"/>
              </a:stretch>
            </a:blipFill>
          </p:spPr>
        </p:sp>
        <p:sp>
          <p:nvSpPr>
            <p:cNvPr name="TextBox 14" id="14"/>
            <p:cNvSpPr txBox="true"/>
            <p:nvPr/>
          </p:nvSpPr>
          <p:spPr>
            <a:xfrm>
              <a:off x="0" y="-47625"/>
              <a:ext cx="21701760" cy="657225"/>
            </a:xfrm>
            <a:prstGeom prst="rect">
              <a:avLst/>
            </a:prstGeom>
          </p:spPr>
          <p:txBody>
            <a:bodyPr anchor="ctr" rtlCol="false" tIns="0" lIns="0" bIns="0" rIns="0"/>
            <a:lstStyle/>
            <a:p>
              <a:pPr algn="l">
                <a:lnSpc>
                  <a:spcPts val="2640"/>
                </a:lnSpc>
              </a:pPr>
              <a:r>
                <a:rPr lang="en-US" sz="2200" i="true">
                  <a:solidFill>
                    <a:srgbClr val="64748B"/>
                  </a:solidFill>
                  <a:latin typeface="Calibri (MS) Italics"/>
                  <a:ea typeface="Calibri (MS) Italics"/>
                  <a:cs typeface="Calibri (MS) Italics"/>
                  <a:sym typeface="Calibri (MS) Italics"/>
                </a:rPr>
                <a:t>All share: Input(30,1) → Encoder(64) → Dropout(0.2) → Dense(32,ReLU) → Output(2)</a:t>
              </a:r>
            </a:p>
          </p:txBody>
        </p:sp>
      </p:grpSp>
      <p:grpSp>
        <p:nvGrpSpPr>
          <p:cNvPr name="Group 15" id="15"/>
          <p:cNvGrpSpPr/>
          <p:nvPr/>
        </p:nvGrpSpPr>
        <p:grpSpPr>
          <a:xfrm rot="0">
            <a:off x="17190720" y="9646920"/>
            <a:ext cx="731520" cy="457200"/>
            <a:chOff x="0" y="0"/>
            <a:chExt cx="975360" cy="609600"/>
          </a:xfrm>
        </p:grpSpPr>
        <p:sp>
          <p:nvSpPr>
            <p:cNvPr name="Freeform 16" id="16"/>
            <p:cNvSpPr/>
            <p:nvPr/>
          </p:nvSpPr>
          <p:spPr>
            <a:xfrm flipH="false" flipV="false" rot="0">
              <a:off x="0" y="0"/>
              <a:ext cx="975360" cy="609600"/>
            </a:xfrm>
            <a:custGeom>
              <a:avLst/>
              <a:gdLst/>
              <a:ahLst/>
              <a:cxnLst/>
              <a:rect r="r" b="b" t="t" l="l"/>
              <a:pathLst>
                <a:path h="609600" w="975360">
                  <a:moveTo>
                    <a:pt x="0" y="0"/>
                  </a:moveTo>
                  <a:lnTo>
                    <a:pt x="975360" y="0"/>
                  </a:lnTo>
                  <a:lnTo>
                    <a:pt x="975360" y="609600"/>
                  </a:lnTo>
                  <a:lnTo>
                    <a:pt x="0" y="609600"/>
                  </a:lnTo>
                  <a:close/>
                </a:path>
              </a:pathLst>
            </a:custGeom>
            <a:blipFill>
              <a:blip r:embed="rId3">
                <a:alphaModFix amt="0"/>
              </a:blip>
              <a:stretch>
                <a:fillRect l="-30189" t="0" r="-30189" b="0"/>
              </a:stretch>
            </a:blipFill>
          </p:spPr>
        </p:sp>
        <p:sp>
          <p:nvSpPr>
            <p:cNvPr name="TextBox 17" id="17"/>
            <p:cNvSpPr txBox="true"/>
            <p:nvPr/>
          </p:nvSpPr>
          <p:spPr>
            <a:xfrm>
              <a:off x="0" y="-38100"/>
              <a:ext cx="975360" cy="647700"/>
            </a:xfrm>
            <a:prstGeom prst="rect">
              <a:avLst/>
            </a:prstGeom>
          </p:spPr>
          <p:txBody>
            <a:bodyPr anchor="ctr" rtlCol="false" tIns="0" lIns="0" bIns="0" rIns="0"/>
            <a:lstStyle/>
            <a:p>
              <a:pPr algn="r">
                <a:lnSpc>
                  <a:spcPts val="2160"/>
                </a:lnSpc>
              </a:pPr>
              <a:r>
                <a:rPr lang="en-US" sz="1800">
                  <a:solidFill>
                    <a:srgbClr val="64748B"/>
                  </a:solidFill>
                  <a:latin typeface="Calibri (MS)"/>
                  <a:ea typeface="Calibri (MS)"/>
                  <a:cs typeface="Calibri (MS)"/>
                  <a:sym typeface="Calibri (MS)"/>
                </a:rPr>
                <a:t>8</a:t>
              </a:r>
            </a:p>
          </p:txBody>
        </p:sp>
      </p:grpSp>
      <p:grpSp>
        <p:nvGrpSpPr>
          <p:cNvPr name="Group 18" id="18"/>
          <p:cNvGrpSpPr/>
          <p:nvPr/>
        </p:nvGrpSpPr>
        <p:grpSpPr>
          <a:xfrm rot="0">
            <a:off x="1005840" y="2523744"/>
            <a:ext cx="5212080" cy="2048256"/>
            <a:chOff x="0" y="0"/>
            <a:chExt cx="6949440" cy="2731008"/>
          </a:xfrm>
        </p:grpSpPr>
        <p:sp>
          <p:nvSpPr>
            <p:cNvPr name="Freeform 19" id="19"/>
            <p:cNvSpPr/>
            <p:nvPr/>
          </p:nvSpPr>
          <p:spPr>
            <a:xfrm flipH="false" flipV="false" rot="0">
              <a:off x="0" y="0"/>
              <a:ext cx="6949439" cy="2731008"/>
            </a:xfrm>
            <a:custGeom>
              <a:avLst/>
              <a:gdLst/>
              <a:ahLst/>
              <a:cxnLst/>
              <a:rect r="r" b="b" t="t" l="l"/>
              <a:pathLst>
                <a:path h="2731008" w="6949439">
                  <a:moveTo>
                    <a:pt x="0" y="292608"/>
                  </a:moveTo>
                  <a:cubicBezTo>
                    <a:pt x="0" y="131064"/>
                    <a:pt x="131064" y="0"/>
                    <a:pt x="292608" y="0"/>
                  </a:cubicBezTo>
                  <a:lnTo>
                    <a:pt x="6656832" y="0"/>
                  </a:lnTo>
                  <a:cubicBezTo>
                    <a:pt x="6818375" y="0"/>
                    <a:pt x="6949439" y="131064"/>
                    <a:pt x="6949439" y="292608"/>
                  </a:cubicBezTo>
                  <a:lnTo>
                    <a:pt x="6949439" y="2438400"/>
                  </a:lnTo>
                  <a:cubicBezTo>
                    <a:pt x="6949439" y="2599944"/>
                    <a:pt x="6818376" y="2731008"/>
                    <a:pt x="6656832" y="2731008"/>
                  </a:cubicBezTo>
                  <a:lnTo>
                    <a:pt x="292608" y="2731008"/>
                  </a:lnTo>
                  <a:cubicBezTo>
                    <a:pt x="131064" y="2731008"/>
                    <a:pt x="0" y="2599944"/>
                    <a:pt x="0" y="2438400"/>
                  </a:cubicBezTo>
                  <a:close/>
                </a:path>
              </a:pathLst>
            </a:custGeom>
            <a:solidFill>
              <a:srgbClr val="EFF6FF"/>
            </a:solidFill>
          </p:spPr>
        </p:sp>
      </p:grpSp>
      <p:grpSp>
        <p:nvGrpSpPr>
          <p:cNvPr name="Group 20" id="20"/>
          <p:cNvGrpSpPr/>
          <p:nvPr/>
        </p:nvGrpSpPr>
        <p:grpSpPr>
          <a:xfrm rot="0">
            <a:off x="1115568" y="2633472"/>
            <a:ext cx="3255264" cy="475488"/>
            <a:chOff x="0" y="0"/>
            <a:chExt cx="4340352" cy="633984"/>
          </a:xfrm>
        </p:grpSpPr>
        <p:sp>
          <p:nvSpPr>
            <p:cNvPr name="Freeform 21" id="21"/>
            <p:cNvSpPr/>
            <p:nvPr/>
          </p:nvSpPr>
          <p:spPr>
            <a:xfrm flipH="false" flipV="false" rot="0">
              <a:off x="0" y="0"/>
              <a:ext cx="4340352" cy="633984"/>
            </a:xfrm>
            <a:custGeom>
              <a:avLst/>
              <a:gdLst/>
              <a:ahLst/>
              <a:cxnLst/>
              <a:rect r="r" b="b" t="t" l="l"/>
              <a:pathLst>
                <a:path h="633984" w="4340352">
                  <a:moveTo>
                    <a:pt x="0" y="146304"/>
                  </a:moveTo>
                  <a:cubicBezTo>
                    <a:pt x="0" y="65532"/>
                    <a:pt x="65532" y="0"/>
                    <a:pt x="146304" y="0"/>
                  </a:cubicBezTo>
                  <a:lnTo>
                    <a:pt x="4194048" y="0"/>
                  </a:lnTo>
                  <a:cubicBezTo>
                    <a:pt x="4274820" y="0"/>
                    <a:pt x="4340352" y="65532"/>
                    <a:pt x="4340352" y="146304"/>
                  </a:cubicBezTo>
                  <a:lnTo>
                    <a:pt x="4340352" y="487680"/>
                  </a:lnTo>
                  <a:cubicBezTo>
                    <a:pt x="4340352" y="568452"/>
                    <a:pt x="4274820" y="633984"/>
                    <a:pt x="4194048" y="633984"/>
                  </a:cubicBezTo>
                  <a:lnTo>
                    <a:pt x="146304" y="633984"/>
                  </a:lnTo>
                  <a:cubicBezTo>
                    <a:pt x="65532" y="633984"/>
                    <a:pt x="0" y="568452"/>
                    <a:pt x="0" y="487680"/>
                  </a:cubicBezTo>
                  <a:close/>
                </a:path>
              </a:pathLst>
            </a:custGeom>
            <a:solidFill>
              <a:srgbClr val="3B82F6"/>
            </a:solidFill>
          </p:spPr>
        </p:sp>
      </p:grpSp>
      <p:grpSp>
        <p:nvGrpSpPr>
          <p:cNvPr name="Group 22" id="22"/>
          <p:cNvGrpSpPr/>
          <p:nvPr/>
        </p:nvGrpSpPr>
        <p:grpSpPr>
          <a:xfrm rot="0">
            <a:off x="1115568" y="2633472"/>
            <a:ext cx="3255264" cy="475488"/>
            <a:chOff x="0" y="0"/>
            <a:chExt cx="4340352" cy="633984"/>
          </a:xfrm>
        </p:grpSpPr>
        <p:sp>
          <p:nvSpPr>
            <p:cNvPr name="Freeform 23" id="23"/>
            <p:cNvSpPr/>
            <p:nvPr/>
          </p:nvSpPr>
          <p:spPr>
            <a:xfrm flipH="false" flipV="false" rot="0">
              <a:off x="0" y="0"/>
              <a:ext cx="4340352" cy="633984"/>
            </a:xfrm>
            <a:custGeom>
              <a:avLst/>
              <a:gdLst/>
              <a:ahLst/>
              <a:cxnLst/>
              <a:rect r="r" b="b" t="t" l="l"/>
              <a:pathLst>
                <a:path h="633984" w="4340352">
                  <a:moveTo>
                    <a:pt x="0" y="0"/>
                  </a:moveTo>
                  <a:lnTo>
                    <a:pt x="4340352" y="0"/>
                  </a:lnTo>
                  <a:lnTo>
                    <a:pt x="4340352" y="633984"/>
                  </a:lnTo>
                  <a:lnTo>
                    <a:pt x="0" y="633984"/>
                  </a:lnTo>
                  <a:close/>
                </a:path>
              </a:pathLst>
            </a:custGeom>
            <a:blipFill>
              <a:blip r:embed="rId3">
                <a:alphaModFix amt="0"/>
              </a:blip>
              <a:stretch>
                <a:fillRect l="0" t="-83397" r="0" b="-83397"/>
              </a:stretch>
            </a:blipFill>
          </p:spPr>
        </p:sp>
        <p:sp>
          <p:nvSpPr>
            <p:cNvPr name="TextBox 24" id="24"/>
            <p:cNvSpPr txBox="true"/>
            <p:nvPr/>
          </p:nvSpPr>
          <p:spPr>
            <a:xfrm>
              <a:off x="0" y="-38100"/>
              <a:ext cx="4340352" cy="672084"/>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SimpleRNN</a:t>
              </a:r>
            </a:p>
          </p:txBody>
        </p:sp>
      </p:grpSp>
      <p:grpSp>
        <p:nvGrpSpPr>
          <p:cNvPr name="Group 25" id="25"/>
          <p:cNvGrpSpPr/>
          <p:nvPr/>
        </p:nvGrpSpPr>
        <p:grpSpPr>
          <a:xfrm rot="0">
            <a:off x="4443984" y="2633472"/>
            <a:ext cx="1609344" cy="475488"/>
            <a:chOff x="0" y="0"/>
            <a:chExt cx="2145792" cy="633984"/>
          </a:xfrm>
        </p:grpSpPr>
        <p:sp>
          <p:nvSpPr>
            <p:cNvPr name="Freeform 26" id="26"/>
            <p:cNvSpPr/>
            <p:nvPr/>
          </p:nvSpPr>
          <p:spPr>
            <a:xfrm flipH="false" flipV="false" rot="0">
              <a:off x="0" y="0"/>
              <a:ext cx="2145792" cy="633984"/>
            </a:xfrm>
            <a:custGeom>
              <a:avLst/>
              <a:gdLst/>
              <a:ahLst/>
              <a:cxnLst/>
              <a:rect r="r" b="b" t="t" l="l"/>
              <a:pathLst>
                <a:path h="633984" w="2145792">
                  <a:moveTo>
                    <a:pt x="0" y="0"/>
                  </a:moveTo>
                  <a:lnTo>
                    <a:pt x="2145792" y="0"/>
                  </a:lnTo>
                  <a:lnTo>
                    <a:pt x="2145792" y="633984"/>
                  </a:lnTo>
                  <a:lnTo>
                    <a:pt x="0" y="633984"/>
                  </a:lnTo>
                  <a:close/>
                </a:path>
              </a:pathLst>
            </a:custGeom>
            <a:blipFill>
              <a:blip r:embed="rId3">
                <a:alphaModFix amt="0"/>
              </a:blip>
              <a:stretch>
                <a:fillRect l="0" t="-15949" r="0" b="-15949"/>
              </a:stretch>
            </a:blipFill>
          </p:spPr>
        </p:sp>
        <p:sp>
          <p:nvSpPr>
            <p:cNvPr name="TextBox 27" id="27"/>
            <p:cNvSpPr txBox="true"/>
            <p:nvPr/>
          </p:nvSpPr>
          <p:spPr>
            <a:xfrm>
              <a:off x="0" y="-38100"/>
              <a:ext cx="2145792" cy="672084"/>
            </a:xfrm>
            <a:prstGeom prst="rect">
              <a:avLst/>
            </a:prstGeom>
          </p:spPr>
          <p:txBody>
            <a:bodyPr anchor="ctr" rtlCol="false" tIns="0" lIns="0" bIns="0" rIns="0"/>
            <a:lstStyle/>
            <a:p>
              <a:pPr algn="r">
                <a:lnSpc>
                  <a:spcPts val="2039"/>
                </a:lnSpc>
              </a:pPr>
              <a:r>
                <a:rPr lang="en-US" sz="1700">
                  <a:solidFill>
                    <a:srgbClr val="64748B"/>
                  </a:solidFill>
                  <a:latin typeface="Calibri (MS)"/>
                  <a:ea typeface="Calibri (MS)"/>
                  <a:cs typeface="Calibri (MS)"/>
                  <a:sym typeface="Calibri (MS)"/>
                </a:rPr>
                <a:t>~18K params</a:t>
              </a:r>
            </a:p>
          </p:txBody>
        </p:sp>
      </p:grpSp>
      <p:grpSp>
        <p:nvGrpSpPr>
          <p:cNvPr name="Group 28" id="28"/>
          <p:cNvGrpSpPr/>
          <p:nvPr/>
        </p:nvGrpSpPr>
        <p:grpSpPr>
          <a:xfrm rot="0">
            <a:off x="1188720" y="3218688"/>
            <a:ext cx="4846320" cy="1243584"/>
            <a:chOff x="0" y="0"/>
            <a:chExt cx="6461760" cy="1658112"/>
          </a:xfrm>
        </p:grpSpPr>
        <p:sp>
          <p:nvSpPr>
            <p:cNvPr name="Freeform 29" id="29"/>
            <p:cNvSpPr/>
            <p:nvPr/>
          </p:nvSpPr>
          <p:spPr>
            <a:xfrm flipH="false" flipV="false" rot="0">
              <a:off x="0" y="0"/>
              <a:ext cx="6461760" cy="1658112"/>
            </a:xfrm>
            <a:custGeom>
              <a:avLst/>
              <a:gdLst/>
              <a:ahLst/>
              <a:cxnLst/>
              <a:rect r="r" b="b" t="t" l="l"/>
              <a:pathLst>
                <a:path h="1658112" w="6461760">
                  <a:moveTo>
                    <a:pt x="0" y="0"/>
                  </a:moveTo>
                  <a:lnTo>
                    <a:pt x="6461760" y="0"/>
                  </a:lnTo>
                  <a:lnTo>
                    <a:pt x="6461760" y="1658112"/>
                  </a:lnTo>
                  <a:lnTo>
                    <a:pt x="0" y="1658112"/>
                  </a:lnTo>
                  <a:close/>
                </a:path>
              </a:pathLst>
            </a:custGeom>
            <a:blipFill>
              <a:blip r:embed="rId3">
                <a:alphaModFix amt="0"/>
              </a:blip>
              <a:stretch>
                <a:fillRect l="0" t="-25934" r="0" b="-25934"/>
              </a:stretch>
            </a:blipFill>
          </p:spPr>
        </p:sp>
        <p:sp>
          <p:nvSpPr>
            <p:cNvPr name="TextBox 30" id="30"/>
            <p:cNvSpPr txBox="true"/>
            <p:nvPr/>
          </p:nvSpPr>
          <p:spPr>
            <a:xfrm>
              <a:off x="0" y="-38100"/>
              <a:ext cx="6461760" cy="1696212"/>
            </a:xfrm>
            <a:prstGeom prst="rect">
              <a:avLst/>
            </a:prstGeom>
          </p:spPr>
          <p:txBody>
            <a:bodyPr anchor="ctr" rtlCol="false" tIns="0" lIns="0" bIns="0" rIns="0"/>
            <a:lstStyle/>
            <a:p>
              <a:pPr algn="l">
                <a:lnSpc>
                  <a:spcPts val="2160"/>
                </a:lnSpc>
              </a:pPr>
              <a:r>
                <a:rPr lang="en-US" sz="1800">
                  <a:solidFill>
                    <a:srgbClr val="334155"/>
                  </a:solidFill>
                  <a:latin typeface="Calibri (MS)"/>
                  <a:ea typeface="Calibri (MS)"/>
                  <a:cs typeface="Calibri (MS)"/>
                  <a:sym typeface="Calibri (MS)"/>
                </a:rPr>
                <a:t>Basic recurrent</a:t>
              </a:r>
            </a:p>
            <a:p>
              <a:pPr algn="l">
                <a:lnSpc>
                  <a:spcPts val="2160"/>
                </a:lnSpc>
              </a:pPr>
              <a:r>
                <a:rPr lang="en-US" sz="1800">
                  <a:solidFill>
                    <a:srgbClr val="334155"/>
                  </a:solidFill>
                  <a:latin typeface="Calibri (MS)"/>
                  <a:ea typeface="Calibri (MS)"/>
                  <a:cs typeface="Calibri (MS)"/>
                  <a:sym typeface="Calibri (MS)"/>
                </a:rPr>
                <a:t>Single state update</a:t>
              </a:r>
            </a:p>
            <a:p>
              <a:pPr algn="l">
                <a:lnSpc>
                  <a:spcPts val="2160"/>
                </a:lnSpc>
              </a:pPr>
            </a:p>
          </p:txBody>
        </p:sp>
      </p:grpSp>
      <p:grpSp>
        <p:nvGrpSpPr>
          <p:cNvPr name="Group 31" id="31"/>
          <p:cNvGrpSpPr/>
          <p:nvPr/>
        </p:nvGrpSpPr>
        <p:grpSpPr>
          <a:xfrm rot="0">
            <a:off x="6675120" y="2523744"/>
            <a:ext cx="5212080" cy="2048256"/>
            <a:chOff x="0" y="0"/>
            <a:chExt cx="6949440" cy="2731008"/>
          </a:xfrm>
        </p:grpSpPr>
        <p:sp>
          <p:nvSpPr>
            <p:cNvPr name="Freeform 32" id="32"/>
            <p:cNvSpPr/>
            <p:nvPr/>
          </p:nvSpPr>
          <p:spPr>
            <a:xfrm flipH="false" flipV="false" rot="0">
              <a:off x="0" y="0"/>
              <a:ext cx="6949439" cy="2731008"/>
            </a:xfrm>
            <a:custGeom>
              <a:avLst/>
              <a:gdLst/>
              <a:ahLst/>
              <a:cxnLst/>
              <a:rect r="r" b="b" t="t" l="l"/>
              <a:pathLst>
                <a:path h="2731008" w="6949439">
                  <a:moveTo>
                    <a:pt x="0" y="292608"/>
                  </a:moveTo>
                  <a:cubicBezTo>
                    <a:pt x="0" y="131064"/>
                    <a:pt x="131064" y="0"/>
                    <a:pt x="292608" y="0"/>
                  </a:cubicBezTo>
                  <a:lnTo>
                    <a:pt x="6656832" y="0"/>
                  </a:lnTo>
                  <a:cubicBezTo>
                    <a:pt x="6818375" y="0"/>
                    <a:pt x="6949439" y="131064"/>
                    <a:pt x="6949439" y="292608"/>
                  </a:cubicBezTo>
                  <a:lnTo>
                    <a:pt x="6949439" y="2438400"/>
                  </a:lnTo>
                  <a:cubicBezTo>
                    <a:pt x="6949439" y="2599944"/>
                    <a:pt x="6818376" y="2731008"/>
                    <a:pt x="6656832" y="2731008"/>
                  </a:cubicBezTo>
                  <a:lnTo>
                    <a:pt x="292608" y="2731008"/>
                  </a:lnTo>
                  <a:cubicBezTo>
                    <a:pt x="131064" y="2731008"/>
                    <a:pt x="0" y="2599944"/>
                    <a:pt x="0" y="2438400"/>
                  </a:cubicBezTo>
                  <a:close/>
                </a:path>
              </a:pathLst>
            </a:custGeom>
            <a:solidFill>
              <a:srgbClr val="EFF6FF"/>
            </a:solidFill>
          </p:spPr>
        </p:sp>
      </p:grpSp>
      <p:grpSp>
        <p:nvGrpSpPr>
          <p:cNvPr name="Group 33" id="33"/>
          <p:cNvGrpSpPr/>
          <p:nvPr/>
        </p:nvGrpSpPr>
        <p:grpSpPr>
          <a:xfrm rot="0">
            <a:off x="6784848" y="2633472"/>
            <a:ext cx="3255264" cy="475488"/>
            <a:chOff x="0" y="0"/>
            <a:chExt cx="4340352" cy="633984"/>
          </a:xfrm>
        </p:grpSpPr>
        <p:sp>
          <p:nvSpPr>
            <p:cNvPr name="Freeform 34" id="34"/>
            <p:cNvSpPr/>
            <p:nvPr/>
          </p:nvSpPr>
          <p:spPr>
            <a:xfrm flipH="false" flipV="false" rot="0">
              <a:off x="0" y="0"/>
              <a:ext cx="4340352" cy="633984"/>
            </a:xfrm>
            <a:custGeom>
              <a:avLst/>
              <a:gdLst/>
              <a:ahLst/>
              <a:cxnLst/>
              <a:rect r="r" b="b" t="t" l="l"/>
              <a:pathLst>
                <a:path h="633984" w="4340352">
                  <a:moveTo>
                    <a:pt x="0" y="146304"/>
                  </a:moveTo>
                  <a:cubicBezTo>
                    <a:pt x="0" y="65532"/>
                    <a:pt x="65532" y="0"/>
                    <a:pt x="146304" y="0"/>
                  </a:cubicBezTo>
                  <a:lnTo>
                    <a:pt x="4194048" y="0"/>
                  </a:lnTo>
                  <a:cubicBezTo>
                    <a:pt x="4274820" y="0"/>
                    <a:pt x="4340352" y="65532"/>
                    <a:pt x="4340352" y="146304"/>
                  </a:cubicBezTo>
                  <a:lnTo>
                    <a:pt x="4340352" y="487680"/>
                  </a:lnTo>
                  <a:cubicBezTo>
                    <a:pt x="4340352" y="568452"/>
                    <a:pt x="4274820" y="633984"/>
                    <a:pt x="4194048" y="633984"/>
                  </a:cubicBezTo>
                  <a:lnTo>
                    <a:pt x="146304" y="633984"/>
                  </a:lnTo>
                  <a:cubicBezTo>
                    <a:pt x="65532" y="633984"/>
                    <a:pt x="0" y="568452"/>
                    <a:pt x="0" y="487680"/>
                  </a:cubicBezTo>
                  <a:close/>
                </a:path>
              </a:pathLst>
            </a:custGeom>
            <a:solidFill>
              <a:srgbClr val="0284C7"/>
            </a:solidFill>
          </p:spPr>
        </p:sp>
      </p:grpSp>
      <p:grpSp>
        <p:nvGrpSpPr>
          <p:cNvPr name="Group 35" id="35"/>
          <p:cNvGrpSpPr/>
          <p:nvPr/>
        </p:nvGrpSpPr>
        <p:grpSpPr>
          <a:xfrm rot="0">
            <a:off x="6784848" y="2633472"/>
            <a:ext cx="3255264" cy="475488"/>
            <a:chOff x="0" y="0"/>
            <a:chExt cx="4340352" cy="633984"/>
          </a:xfrm>
        </p:grpSpPr>
        <p:sp>
          <p:nvSpPr>
            <p:cNvPr name="Freeform 36" id="36"/>
            <p:cNvSpPr/>
            <p:nvPr/>
          </p:nvSpPr>
          <p:spPr>
            <a:xfrm flipH="false" flipV="false" rot="0">
              <a:off x="0" y="0"/>
              <a:ext cx="4340352" cy="633984"/>
            </a:xfrm>
            <a:custGeom>
              <a:avLst/>
              <a:gdLst/>
              <a:ahLst/>
              <a:cxnLst/>
              <a:rect r="r" b="b" t="t" l="l"/>
              <a:pathLst>
                <a:path h="633984" w="4340352">
                  <a:moveTo>
                    <a:pt x="0" y="0"/>
                  </a:moveTo>
                  <a:lnTo>
                    <a:pt x="4340352" y="0"/>
                  </a:lnTo>
                  <a:lnTo>
                    <a:pt x="4340352" y="633984"/>
                  </a:lnTo>
                  <a:lnTo>
                    <a:pt x="0" y="633984"/>
                  </a:lnTo>
                  <a:close/>
                </a:path>
              </a:pathLst>
            </a:custGeom>
            <a:blipFill>
              <a:blip r:embed="rId3">
                <a:alphaModFix amt="0"/>
              </a:blip>
              <a:stretch>
                <a:fillRect l="0" t="-83397" r="0" b="-83397"/>
              </a:stretch>
            </a:blipFill>
          </p:spPr>
        </p:sp>
        <p:sp>
          <p:nvSpPr>
            <p:cNvPr name="TextBox 37" id="37"/>
            <p:cNvSpPr txBox="true"/>
            <p:nvPr/>
          </p:nvSpPr>
          <p:spPr>
            <a:xfrm>
              <a:off x="0" y="-38100"/>
              <a:ext cx="4340352" cy="672084"/>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GRU</a:t>
              </a:r>
            </a:p>
          </p:txBody>
        </p:sp>
      </p:grpSp>
      <p:grpSp>
        <p:nvGrpSpPr>
          <p:cNvPr name="Group 38" id="38"/>
          <p:cNvGrpSpPr/>
          <p:nvPr/>
        </p:nvGrpSpPr>
        <p:grpSpPr>
          <a:xfrm rot="0">
            <a:off x="10113264" y="2633472"/>
            <a:ext cx="1609344" cy="475488"/>
            <a:chOff x="0" y="0"/>
            <a:chExt cx="2145792" cy="633984"/>
          </a:xfrm>
        </p:grpSpPr>
        <p:sp>
          <p:nvSpPr>
            <p:cNvPr name="Freeform 39" id="39"/>
            <p:cNvSpPr/>
            <p:nvPr/>
          </p:nvSpPr>
          <p:spPr>
            <a:xfrm flipH="false" flipV="false" rot="0">
              <a:off x="0" y="0"/>
              <a:ext cx="2145792" cy="633984"/>
            </a:xfrm>
            <a:custGeom>
              <a:avLst/>
              <a:gdLst/>
              <a:ahLst/>
              <a:cxnLst/>
              <a:rect r="r" b="b" t="t" l="l"/>
              <a:pathLst>
                <a:path h="633984" w="2145792">
                  <a:moveTo>
                    <a:pt x="0" y="0"/>
                  </a:moveTo>
                  <a:lnTo>
                    <a:pt x="2145792" y="0"/>
                  </a:lnTo>
                  <a:lnTo>
                    <a:pt x="2145792" y="633984"/>
                  </a:lnTo>
                  <a:lnTo>
                    <a:pt x="0" y="633984"/>
                  </a:lnTo>
                  <a:close/>
                </a:path>
              </a:pathLst>
            </a:custGeom>
            <a:blipFill>
              <a:blip r:embed="rId3">
                <a:alphaModFix amt="0"/>
              </a:blip>
              <a:stretch>
                <a:fillRect l="0" t="-15949" r="0" b="-15949"/>
              </a:stretch>
            </a:blipFill>
          </p:spPr>
        </p:sp>
        <p:sp>
          <p:nvSpPr>
            <p:cNvPr name="TextBox 40" id="40"/>
            <p:cNvSpPr txBox="true"/>
            <p:nvPr/>
          </p:nvSpPr>
          <p:spPr>
            <a:xfrm>
              <a:off x="0" y="-38100"/>
              <a:ext cx="2145792" cy="672084"/>
            </a:xfrm>
            <a:prstGeom prst="rect">
              <a:avLst/>
            </a:prstGeom>
          </p:spPr>
          <p:txBody>
            <a:bodyPr anchor="ctr" rtlCol="false" tIns="0" lIns="0" bIns="0" rIns="0"/>
            <a:lstStyle/>
            <a:p>
              <a:pPr algn="r">
                <a:lnSpc>
                  <a:spcPts val="2039"/>
                </a:lnSpc>
              </a:pPr>
              <a:r>
                <a:rPr lang="en-US" sz="1700">
                  <a:solidFill>
                    <a:srgbClr val="64748B"/>
                  </a:solidFill>
                  <a:latin typeface="Calibri (MS)"/>
                  <a:ea typeface="Calibri (MS)"/>
                  <a:cs typeface="Calibri (MS)"/>
                  <a:sym typeface="Calibri (MS)"/>
                </a:rPr>
                <a:t>~33K params</a:t>
              </a:r>
            </a:p>
          </p:txBody>
        </p:sp>
      </p:grpSp>
      <p:grpSp>
        <p:nvGrpSpPr>
          <p:cNvPr name="Group 41" id="41"/>
          <p:cNvGrpSpPr/>
          <p:nvPr/>
        </p:nvGrpSpPr>
        <p:grpSpPr>
          <a:xfrm rot="0">
            <a:off x="6858000" y="3347085"/>
            <a:ext cx="4846320" cy="1155539"/>
            <a:chOff x="0" y="0"/>
            <a:chExt cx="6461760" cy="1540718"/>
          </a:xfrm>
        </p:grpSpPr>
        <p:sp>
          <p:nvSpPr>
            <p:cNvPr name="Freeform 42" id="42"/>
            <p:cNvSpPr/>
            <p:nvPr/>
          </p:nvSpPr>
          <p:spPr>
            <a:xfrm flipH="false" flipV="false" rot="0">
              <a:off x="0" y="0"/>
              <a:ext cx="6461760" cy="1540718"/>
            </a:xfrm>
            <a:custGeom>
              <a:avLst/>
              <a:gdLst/>
              <a:ahLst/>
              <a:cxnLst/>
              <a:rect r="r" b="b" t="t" l="l"/>
              <a:pathLst>
                <a:path h="1540718" w="6461760">
                  <a:moveTo>
                    <a:pt x="0" y="0"/>
                  </a:moveTo>
                  <a:lnTo>
                    <a:pt x="6461760" y="0"/>
                  </a:lnTo>
                  <a:lnTo>
                    <a:pt x="6461760" y="1540718"/>
                  </a:lnTo>
                  <a:lnTo>
                    <a:pt x="0" y="1540718"/>
                  </a:lnTo>
                  <a:close/>
                </a:path>
              </a:pathLst>
            </a:custGeom>
            <a:blipFill>
              <a:blip r:embed="rId3">
                <a:alphaModFix amt="0"/>
              </a:blip>
              <a:stretch>
                <a:fillRect l="0" t="-27910" r="0" b="-35529"/>
              </a:stretch>
            </a:blipFill>
          </p:spPr>
        </p:sp>
        <p:sp>
          <p:nvSpPr>
            <p:cNvPr name="TextBox 43" id="43"/>
            <p:cNvSpPr txBox="true"/>
            <p:nvPr/>
          </p:nvSpPr>
          <p:spPr>
            <a:xfrm>
              <a:off x="0" y="-38100"/>
              <a:ext cx="6461760" cy="1578818"/>
            </a:xfrm>
            <a:prstGeom prst="rect">
              <a:avLst/>
            </a:prstGeom>
          </p:spPr>
          <p:txBody>
            <a:bodyPr anchor="ctr" rtlCol="false" tIns="0" lIns="0" bIns="0" rIns="0"/>
            <a:lstStyle/>
            <a:p>
              <a:pPr algn="l">
                <a:lnSpc>
                  <a:spcPts val="2160"/>
                </a:lnSpc>
              </a:pPr>
              <a:r>
                <a:rPr lang="en-US" sz="1800">
                  <a:solidFill>
                    <a:srgbClr val="334155"/>
                  </a:solidFill>
                  <a:latin typeface="Calibri (MS)"/>
                  <a:ea typeface="Calibri (MS)"/>
                  <a:cs typeface="Calibri (MS)"/>
                  <a:sym typeface="Calibri (MS)"/>
                </a:rPr>
                <a:t>Gated Recurrent Unit</a:t>
              </a:r>
            </a:p>
            <a:p>
              <a:pPr algn="l">
                <a:lnSpc>
                  <a:spcPts val="2160"/>
                </a:lnSpc>
              </a:pPr>
              <a:r>
                <a:rPr lang="en-US" sz="1800">
                  <a:solidFill>
                    <a:srgbClr val="334155"/>
                  </a:solidFill>
                  <a:latin typeface="Calibri (MS)"/>
                  <a:ea typeface="Calibri (MS)"/>
                  <a:cs typeface="Calibri (MS)"/>
                  <a:sym typeface="Calibri (MS)"/>
                </a:rPr>
                <a:t>2 gates, no cell state</a:t>
              </a:r>
            </a:p>
            <a:p>
              <a:pPr algn="l">
                <a:lnSpc>
                  <a:spcPts val="2160"/>
                </a:lnSpc>
              </a:pPr>
              <a:r>
                <a:rPr lang="en-US" sz="1800">
                  <a:solidFill>
                    <a:srgbClr val="334155"/>
                  </a:solidFill>
                  <a:latin typeface="Calibri (MS)"/>
                  <a:ea typeface="Calibri (MS)"/>
                  <a:cs typeface="Calibri (MS)"/>
                  <a:sym typeface="Calibri (MS)"/>
                </a:rPr>
                <a:t>Captures long-term deps</a:t>
              </a:r>
            </a:p>
            <a:p>
              <a:pPr algn="l">
                <a:lnSpc>
                  <a:spcPts val="2160"/>
                </a:lnSpc>
              </a:pPr>
            </a:p>
          </p:txBody>
        </p:sp>
      </p:grpSp>
      <p:grpSp>
        <p:nvGrpSpPr>
          <p:cNvPr name="Group 44" id="44"/>
          <p:cNvGrpSpPr/>
          <p:nvPr/>
        </p:nvGrpSpPr>
        <p:grpSpPr>
          <a:xfrm rot="0">
            <a:off x="12344400" y="2523744"/>
            <a:ext cx="5212080" cy="2048256"/>
            <a:chOff x="0" y="0"/>
            <a:chExt cx="6949440" cy="2731008"/>
          </a:xfrm>
        </p:grpSpPr>
        <p:sp>
          <p:nvSpPr>
            <p:cNvPr name="Freeform 45" id="45"/>
            <p:cNvSpPr/>
            <p:nvPr/>
          </p:nvSpPr>
          <p:spPr>
            <a:xfrm flipH="false" flipV="false" rot="0">
              <a:off x="0" y="0"/>
              <a:ext cx="6949439" cy="2731008"/>
            </a:xfrm>
            <a:custGeom>
              <a:avLst/>
              <a:gdLst/>
              <a:ahLst/>
              <a:cxnLst/>
              <a:rect r="r" b="b" t="t" l="l"/>
              <a:pathLst>
                <a:path h="2731008" w="6949439">
                  <a:moveTo>
                    <a:pt x="0" y="292608"/>
                  </a:moveTo>
                  <a:cubicBezTo>
                    <a:pt x="0" y="131064"/>
                    <a:pt x="131064" y="0"/>
                    <a:pt x="292608" y="0"/>
                  </a:cubicBezTo>
                  <a:lnTo>
                    <a:pt x="6656832" y="0"/>
                  </a:lnTo>
                  <a:cubicBezTo>
                    <a:pt x="6818375" y="0"/>
                    <a:pt x="6949439" y="131064"/>
                    <a:pt x="6949439" y="292608"/>
                  </a:cubicBezTo>
                  <a:lnTo>
                    <a:pt x="6949439" y="2438400"/>
                  </a:lnTo>
                  <a:cubicBezTo>
                    <a:pt x="6949439" y="2599944"/>
                    <a:pt x="6818376" y="2731008"/>
                    <a:pt x="6656832" y="2731008"/>
                  </a:cubicBezTo>
                  <a:lnTo>
                    <a:pt x="292608" y="2731008"/>
                  </a:lnTo>
                  <a:cubicBezTo>
                    <a:pt x="131064" y="2731008"/>
                    <a:pt x="0" y="2599944"/>
                    <a:pt x="0" y="2438400"/>
                  </a:cubicBezTo>
                  <a:close/>
                </a:path>
              </a:pathLst>
            </a:custGeom>
            <a:solidFill>
              <a:srgbClr val="EFF6FF"/>
            </a:solidFill>
          </p:spPr>
        </p:sp>
      </p:grpSp>
      <p:grpSp>
        <p:nvGrpSpPr>
          <p:cNvPr name="Group 46" id="46"/>
          <p:cNvGrpSpPr/>
          <p:nvPr/>
        </p:nvGrpSpPr>
        <p:grpSpPr>
          <a:xfrm rot="0">
            <a:off x="12454128" y="2633472"/>
            <a:ext cx="3255264" cy="475488"/>
            <a:chOff x="0" y="0"/>
            <a:chExt cx="4340352" cy="633984"/>
          </a:xfrm>
        </p:grpSpPr>
        <p:sp>
          <p:nvSpPr>
            <p:cNvPr name="Freeform 47" id="47"/>
            <p:cNvSpPr/>
            <p:nvPr/>
          </p:nvSpPr>
          <p:spPr>
            <a:xfrm flipH="false" flipV="false" rot="0">
              <a:off x="0" y="0"/>
              <a:ext cx="4340352" cy="633984"/>
            </a:xfrm>
            <a:custGeom>
              <a:avLst/>
              <a:gdLst/>
              <a:ahLst/>
              <a:cxnLst/>
              <a:rect r="r" b="b" t="t" l="l"/>
              <a:pathLst>
                <a:path h="633984" w="4340352">
                  <a:moveTo>
                    <a:pt x="0" y="146304"/>
                  </a:moveTo>
                  <a:cubicBezTo>
                    <a:pt x="0" y="65532"/>
                    <a:pt x="65532" y="0"/>
                    <a:pt x="146304" y="0"/>
                  </a:cubicBezTo>
                  <a:lnTo>
                    <a:pt x="4194048" y="0"/>
                  </a:lnTo>
                  <a:cubicBezTo>
                    <a:pt x="4274820" y="0"/>
                    <a:pt x="4340352" y="65532"/>
                    <a:pt x="4340352" y="146304"/>
                  </a:cubicBezTo>
                  <a:lnTo>
                    <a:pt x="4340352" y="487680"/>
                  </a:lnTo>
                  <a:cubicBezTo>
                    <a:pt x="4340352" y="568452"/>
                    <a:pt x="4274820" y="633984"/>
                    <a:pt x="4194048" y="633984"/>
                  </a:cubicBezTo>
                  <a:lnTo>
                    <a:pt x="146304" y="633984"/>
                  </a:lnTo>
                  <a:cubicBezTo>
                    <a:pt x="65532" y="633984"/>
                    <a:pt x="0" y="568452"/>
                    <a:pt x="0" y="487680"/>
                  </a:cubicBezTo>
                  <a:close/>
                </a:path>
              </a:pathLst>
            </a:custGeom>
            <a:solidFill>
              <a:srgbClr val="60A5FA"/>
            </a:solidFill>
          </p:spPr>
        </p:sp>
      </p:grpSp>
      <p:grpSp>
        <p:nvGrpSpPr>
          <p:cNvPr name="Group 48" id="48"/>
          <p:cNvGrpSpPr/>
          <p:nvPr/>
        </p:nvGrpSpPr>
        <p:grpSpPr>
          <a:xfrm rot="0">
            <a:off x="12454128" y="2633472"/>
            <a:ext cx="3255264" cy="475488"/>
            <a:chOff x="0" y="0"/>
            <a:chExt cx="4340352" cy="633984"/>
          </a:xfrm>
        </p:grpSpPr>
        <p:sp>
          <p:nvSpPr>
            <p:cNvPr name="Freeform 49" id="49"/>
            <p:cNvSpPr/>
            <p:nvPr/>
          </p:nvSpPr>
          <p:spPr>
            <a:xfrm flipH="false" flipV="false" rot="0">
              <a:off x="0" y="0"/>
              <a:ext cx="4340352" cy="633984"/>
            </a:xfrm>
            <a:custGeom>
              <a:avLst/>
              <a:gdLst/>
              <a:ahLst/>
              <a:cxnLst/>
              <a:rect r="r" b="b" t="t" l="l"/>
              <a:pathLst>
                <a:path h="633984" w="4340352">
                  <a:moveTo>
                    <a:pt x="0" y="0"/>
                  </a:moveTo>
                  <a:lnTo>
                    <a:pt x="4340352" y="0"/>
                  </a:lnTo>
                  <a:lnTo>
                    <a:pt x="4340352" y="633984"/>
                  </a:lnTo>
                  <a:lnTo>
                    <a:pt x="0" y="633984"/>
                  </a:lnTo>
                  <a:close/>
                </a:path>
              </a:pathLst>
            </a:custGeom>
            <a:blipFill>
              <a:blip r:embed="rId3">
                <a:alphaModFix amt="0"/>
              </a:blip>
              <a:stretch>
                <a:fillRect l="0" t="-83397" r="0" b="-83397"/>
              </a:stretch>
            </a:blipFill>
          </p:spPr>
        </p:sp>
        <p:sp>
          <p:nvSpPr>
            <p:cNvPr name="TextBox 50" id="50"/>
            <p:cNvSpPr txBox="true"/>
            <p:nvPr/>
          </p:nvSpPr>
          <p:spPr>
            <a:xfrm>
              <a:off x="0" y="-38100"/>
              <a:ext cx="4340352" cy="672084"/>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LSTM</a:t>
              </a:r>
            </a:p>
          </p:txBody>
        </p:sp>
      </p:grpSp>
      <p:grpSp>
        <p:nvGrpSpPr>
          <p:cNvPr name="Group 51" id="51"/>
          <p:cNvGrpSpPr/>
          <p:nvPr/>
        </p:nvGrpSpPr>
        <p:grpSpPr>
          <a:xfrm rot="0">
            <a:off x="15782544" y="2633472"/>
            <a:ext cx="1609344" cy="475488"/>
            <a:chOff x="0" y="0"/>
            <a:chExt cx="2145792" cy="633984"/>
          </a:xfrm>
        </p:grpSpPr>
        <p:sp>
          <p:nvSpPr>
            <p:cNvPr name="Freeform 52" id="52"/>
            <p:cNvSpPr/>
            <p:nvPr/>
          </p:nvSpPr>
          <p:spPr>
            <a:xfrm flipH="false" flipV="false" rot="0">
              <a:off x="0" y="0"/>
              <a:ext cx="2145792" cy="633984"/>
            </a:xfrm>
            <a:custGeom>
              <a:avLst/>
              <a:gdLst/>
              <a:ahLst/>
              <a:cxnLst/>
              <a:rect r="r" b="b" t="t" l="l"/>
              <a:pathLst>
                <a:path h="633984" w="2145792">
                  <a:moveTo>
                    <a:pt x="0" y="0"/>
                  </a:moveTo>
                  <a:lnTo>
                    <a:pt x="2145792" y="0"/>
                  </a:lnTo>
                  <a:lnTo>
                    <a:pt x="2145792" y="633984"/>
                  </a:lnTo>
                  <a:lnTo>
                    <a:pt x="0" y="633984"/>
                  </a:lnTo>
                  <a:close/>
                </a:path>
              </a:pathLst>
            </a:custGeom>
            <a:blipFill>
              <a:blip r:embed="rId3">
                <a:alphaModFix amt="0"/>
              </a:blip>
              <a:stretch>
                <a:fillRect l="0" t="-15949" r="0" b="-15949"/>
              </a:stretch>
            </a:blipFill>
          </p:spPr>
        </p:sp>
        <p:sp>
          <p:nvSpPr>
            <p:cNvPr name="TextBox 53" id="53"/>
            <p:cNvSpPr txBox="true"/>
            <p:nvPr/>
          </p:nvSpPr>
          <p:spPr>
            <a:xfrm>
              <a:off x="0" y="-38100"/>
              <a:ext cx="2145792" cy="672084"/>
            </a:xfrm>
            <a:prstGeom prst="rect">
              <a:avLst/>
            </a:prstGeom>
          </p:spPr>
          <p:txBody>
            <a:bodyPr anchor="ctr" rtlCol="false" tIns="0" lIns="0" bIns="0" rIns="0"/>
            <a:lstStyle/>
            <a:p>
              <a:pPr algn="r">
                <a:lnSpc>
                  <a:spcPts val="2039"/>
                </a:lnSpc>
              </a:pPr>
              <a:r>
                <a:rPr lang="en-US" sz="1700">
                  <a:solidFill>
                    <a:srgbClr val="64748B"/>
                  </a:solidFill>
                  <a:latin typeface="Calibri (MS)"/>
                  <a:ea typeface="Calibri (MS)"/>
                  <a:cs typeface="Calibri (MS)"/>
                  <a:sym typeface="Calibri (MS)"/>
                </a:rPr>
                <a:t>~44K params</a:t>
              </a:r>
            </a:p>
          </p:txBody>
        </p:sp>
      </p:grpSp>
      <p:grpSp>
        <p:nvGrpSpPr>
          <p:cNvPr name="Group 54" id="54"/>
          <p:cNvGrpSpPr/>
          <p:nvPr/>
        </p:nvGrpSpPr>
        <p:grpSpPr>
          <a:xfrm rot="0">
            <a:off x="12525375" y="3383280"/>
            <a:ext cx="4846320" cy="1243584"/>
            <a:chOff x="0" y="0"/>
            <a:chExt cx="6461760" cy="1658112"/>
          </a:xfrm>
        </p:grpSpPr>
        <p:sp>
          <p:nvSpPr>
            <p:cNvPr name="Freeform 55" id="55"/>
            <p:cNvSpPr/>
            <p:nvPr/>
          </p:nvSpPr>
          <p:spPr>
            <a:xfrm flipH="false" flipV="false" rot="0">
              <a:off x="0" y="0"/>
              <a:ext cx="6461760" cy="1658112"/>
            </a:xfrm>
            <a:custGeom>
              <a:avLst/>
              <a:gdLst/>
              <a:ahLst/>
              <a:cxnLst/>
              <a:rect r="r" b="b" t="t" l="l"/>
              <a:pathLst>
                <a:path h="1658112" w="6461760">
                  <a:moveTo>
                    <a:pt x="0" y="0"/>
                  </a:moveTo>
                  <a:lnTo>
                    <a:pt x="6461760" y="0"/>
                  </a:lnTo>
                  <a:lnTo>
                    <a:pt x="6461760" y="1658112"/>
                  </a:lnTo>
                  <a:lnTo>
                    <a:pt x="0" y="1658112"/>
                  </a:lnTo>
                  <a:close/>
                </a:path>
              </a:pathLst>
            </a:custGeom>
            <a:blipFill>
              <a:blip r:embed="rId3">
                <a:alphaModFix amt="0"/>
              </a:blip>
              <a:stretch>
                <a:fillRect l="0" t="-25934" r="0" b="-25934"/>
              </a:stretch>
            </a:blipFill>
          </p:spPr>
        </p:sp>
        <p:sp>
          <p:nvSpPr>
            <p:cNvPr name="TextBox 56" id="56"/>
            <p:cNvSpPr txBox="true"/>
            <p:nvPr/>
          </p:nvSpPr>
          <p:spPr>
            <a:xfrm>
              <a:off x="0" y="-38100"/>
              <a:ext cx="6461760" cy="1696212"/>
            </a:xfrm>
            <a:prstGeom prst="rect">
              <a:avLst/>
            </a:prstGeom>
          </p:spPr>
          <p:txBody>
            <a:bodyPr anchor="ctr" rtlCol="false" tIns="0" lIns="0" bIns="0" rIns="0"/>
            <a:lstStyle/>
            <a:p>
              <a:pPr algn="l">
                <a:lnSpc>
                  <a:spcPts val="2160"/>
                </a:lnSpc>
              </a:pPr>
              <a:r>
                <a:rPr lang="en-US" sz="1800">
                  <a:solidFill>
                    <a:srgbClr val="334155"/>
                  </a:solidFill>
                  <a:latin typeface="Calibri (MS)"/>
                  <a:ea typeface="Calibri (MS)"/>
                  <a:cs typeface="Calibri (MS)"/>
                  <a:sym typeface="Calibri (MS)"/>
                </a:rPr>
                <a:t>Long Short-Term Memory</a:t>
              </a:r>
            </a:p>
            <a:p>
              <a:pPr algn="l">
                <a:lnSpc>
                  <a:spcPts val="2160"/>
                </a:lnSpc>
              </a:pPr>
              <a:r>
                <a:rPr lang="en-US" sz="1800">
                  <a:solidFill>
                    <a:srgbClr val="334155"/>
                  </a:solidFill>
                  <a:latin typeface="Calibri (MS)"/>
                  <a:ea typeface="Calibri (MS)"/>
                  <a:cs typeface="Calibri (MS)"/>
                  <a:sym typeface="Calibri (MS)"/>
                </a:rPr>
                <a:t>3 gates, cell state</a:t>
              </a:r>
            </a:p>
            <a:p>
              <a:pPr algn="l">
                <a:lnSpc>
                  <a:spcPts val="2160"/>
                </a:lnSpc>
              </a:pPr>
              <a:r>
                <a:rPr lang="en-US" sz="1800">
                  <a:solidFill>
                    <a:srgbClr val="334155"/>
                  </a:solidFill>
                  <a:latin typeface="Calibri (MS)"/>
                  <a:ea typeface="Calibri (MS)"/>
                  <a:cs typeface="Calibri (MS)"/>
                  <a:sym typeface="Calibri (MS)"/>
                </a:rPr>
                <a:t>More Expressive</a:t>
              </a:r>
            </a:p>
            <a:p>
              <a:pPr algn="l">
                <a:lnSpc>
                  <a:spcPts val="2160"/>
                </a:lnSpc>
              </a:pPr>
            </a:p>
          </p:txBody>
        </p:sp>
      </p:grpSp>
      <p:grpSp>
        <p:nvGrpSpPr>
          <p:cNvPr name="Group 57" id="57"/>
          <p:cNvGrpSpPr/>
          <p:nvPr/>
        </p:nvGrpSpPr>
        <p:grpSpPr>
          <a:xfrm rot="0">
            <a:off x="1005840" y="4901184"/>
            <a:ext cx="5212080" cy="2048256"/>
            <a:chOff x="0" y="0"/>
            <a:chExt cx="6949440" cy="2731008"/>
          </a:xfrm>
        </p:grpSpPr>
        <p:sp>
          <p:nvSpPr>
            <p:cNvPr name="Freeform 58" id="58"/>
            <p:cNvSpPr/>
            <p:nvPr/>
          </p:nvSpPr>
          <p:spPr>
            <a:xfrm flipH="false" flipV="false" rot="0">
              <a:off x="0" y="0"/>
              <a:ext cx="6949439" cy="2731008"/>
            </a:xfrm>
            <a:custGeom>
              <a:avLst/>
              <a:gdLst/>
              <a:ahLst/>
              <a:cxnLst/>
              <a:rect r="r" b="b" t="t" l="l"/>
              <a:pathLst>
                <a:path h="2731008" w="6949439">
                  <a:moveTo>
                    <a:pt x="0" y="292608"/>
                  </a:moveTo>
                  <a:cubicBezTo>
                    <a:pt x="0" y="131064"/>
                    <a:pt x="131064" y="0"/>
                    <a:pt x="292608" y="0"/>
                  </a:cubicBezTo>
                  <a:lnTo>
                    <a:pt x="6656832" y="0"/>
                  </a:lnTo>
                  <a:cubicBezTo>
                    <a:pt x="6818375" y="0"/>
                    <a:pt x="6949439" y="131064"/>
                    <a:pt x="6949439" y="292608"/>
                  </a:cubicBezTo>
                  <a:lnTo>
                    <a:pt x="6949439" y="2438400"/>
                  </a:lnTo>
                  <a:cubicBezTo>
                    <a:pt x="6949439" y="2599944"/>
                    <a:pt x="6818376" y="2731008"/>
                    <a:pt x="6656832" y="2731008"/>
                  </a:cubicBezTo>
                  <a:lnTo>
                    <a:pt x="292608" y="2731008"/>
                  </a:lnTo>
                  <a:cubicBezTo>
                    <a:pt x="131064" y="2731008"/>
                    <a:pt x="0" y="2599944"/>
                    <a:pt x="0" y="2438400"/>
                  </a:cubicBezTo>
                  <a:close/>
                </a:path>
              </a:pathLst>
            </a:custGeom>
            <a:solidFill>
              <a:srgbClr val="EFF6FF"/>
            </a:solidFill>
          </p:spPr>
        </p:sp>
      </p:grpSp>
      <p:grpSp>
        <p:nvGrpSpPr>
          <p:cNvPr name="Group 59" id="59"/>
          <p:cNvGrpSpPr/>
          <p:nvPr/>
        </p:nvGrpSpPr>
        <p:grpSpPr>
          <a:xfrm rot="0">
            <a:off x="1115568" y="5010912"/>
            <a:ext cx="3255264" cy="475488"/>
            <a:chOff x="0" y="0"/>
            <a:chExt cx="4340352" cy="633984"/>
          </a:xfrm>
        </p:grpSpPr>
        <p:sp>
          <p:nvSpPr>
            <p:cNvPr name="Freeform 60" id="60"/>
            <p:cNvSpPr/>
            <p:nvPr/>
          </p:nvSpPr>
          <p:spPr>
            <a:xfrm flipH="false" flipV="false" rot="0">
              <a:off x="0" y="0"/>
              <a:ext cx="4340352" cy="633984"/>
            </a:xfrm>
            <a:custGeom>
              <a:avLst/>
              <a:gdLst/>
              <a:ahLst/>
              <a:cxnLst/>
              <a:rect r="r" b="b" t="t" l="l"/>
              <a:pathLst>
                <a:path h="633984" w="4340352">
                  <a:moveTo>
                    <a:pt x="0" y="146304"/>
                  </a:moveTo>
                  <a:cubicBezTo>
                    <a:pt x="0" y="65532"/>
                    <a:pt x="65532" y="0"/>
                    <a:pt x="146304" y="0"/>
                  </a:cubicBezTo>
                  <a:lnTo>
                    <a:pt x="4194048" y="0"/>
                  </a:lnTo>
                  <a:cubicBezTo>
                    <a:pt x="4274820" y="0"/>
                    <a:pt x="4340352" y="65532"/>
                    <a:pt x="4340352" y="146304"/>
                  </a:cubicBezTo>
                  <a:lnTo>
                    <a:pt x="4340352" y="487680"/>
                  </a:lnTo>
                  <a:cubicBezTo>
                    <a:pt x="4340352" y="568452"/>
                    <a:pt x="4274820" y="633984"/>
                    <a:pt x="4194048" y="633984"/>
                  </a:cubicBezTo>
                  <a:lnTo>
                    <a:pt x="146304" y="633984"/>
                  </a:lnTo>
                  <a:cubicBezTo>
                    <a:pt x="65532" y="633984"/>
                    <a:pt x="0" y="568452"/>
                    <a:pt x="0" y="487680"/>
                  </a:cubicBezTo>
                  <a:close/>
                </a:path>
              </a:pathLst>
            </a:custGeom>
            <a:solidFill>
              <a:srgbClr val="DC2626"/>
            </a:solidFill>
          </p:spPr>
        </p:sp>
      </p:grpSp>
      <p:grpSp>
        <p:nvGrpSpPr>
          <p:cNvPr name="Group 61" id="61"/>
          <p:cNvGrpSpPr/>
          <p:nvPr/>
        </p:nvGrpSpPr>
        <p:grpSpPr>
          <a:xfrm rot="0">
            <a:off x="1115568" y="5010912"/>
            <a:ext cx="3255264" cy="475488"/>
            <a:chOff x="0" y="0"/>
            <a:chExt cx="4340352" cy="633984"/>
          </a:xfrm>
        </p:grpSpPr>
        <p:sp>
          <p:nvSpPr>
            <p:cNvPr name="Freeform 62" id="62"/>
            <p:cNvSpPr/>
            <p:nvPr/>
          </p:nvSpPr>
          <p:spPr>
            <a:xfrm flipH="false" flipV="false" rot="0">
              <a:off x="0" y="0"/>
              <a:ext cx="4340352" cy="633984"/>
            </a:xfrm>
            <a:custGeom>
              <a:avLst/>
              <a:gdLst/>
              <a:ahLst/>
              <a:cxnLst/>
              <a:rect r="r" b="b" t="t" l="l"/>
              <a:pathLst>
                <a:path h="633984" w="4340352">
                  <a:moveTo>
                    <a:pt x="0" y="0"/>
                  </a:moveTo>
                  <a:lnTo>
                    <a:pt x="4340352" y="0"/>
                  </a:lnTo>
                  <a:lnTo>
                    <a:pt x="4340352" y="633984"/>
                  </a:lnTo>
                  <a:lnTo>
                    <a:pt x="0" y="633984"/>
                  </a:lnTo>
                  <a:close/>
                </a:path>
              </a:pathLst>
            </a:custGeom>
            <a:blipFill>
              <a:blip r:embed="rId3">
                <a:alphaModFix amt="0"/>
              </a:blip>
              <a:stretch>
                <a:fillRect l="0" t="-83397" r="0" b="-83397"/>
              </a:stretch>
            </a:blipFill>
          </p:spPr>
        </p:sp>
        <p:sp>
          <p:nvSpPr>
            <p:cNvPr name="TextBox 63" id="63"/>
            <p:cNvSpPr txBox="true"/>
            <p:nvPr/>
          </p:nvSpPr>
          <p:spPr>
            <a:xfrm>
              <a:off x="0" y="-38100"/>
              <a:ext cx="4340352" cy="672084"/>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Transformer</a:t>
              </a:r>
            </a:p>
          </p:txBody>
        </p:sp>
      </p:grpSp>
      <p:grpSp>
        <p:nvGrpSpPr>
          <p:cNvPr name="Group 64" id="64"/>
          <p:cNvGrpSpPr/>
          <p:nvPr/>
        </p:nvGrpSpPr>
        <p:grpSpPr>
          <a:xfrm rot="0">
            <a:off x="4443984" y="5010912"/>
            <a:ext cx="1609344" cy="475488"/>
            <a:chOff x="0" y="0"/>
            <a:chExt cx="2145792" cy="633984"/>
          </a:xfrm>
        </p:grpSpPr>
        <p:sp>
          <p:nvSpPr>
            <p:cNvPr name="Freeform 65" id="65"/>
            <p:cNvSpPr/>
            <p:nvPr/>
          </p:nvSpPr>
          <p:spPr>
            <a:xfrm flipH="false" flipV="false" rot="0">
              <a:off x="0" y="0"/>
              <a:ext cx="2145792" cy="633984"/>
            </a:xfrm>
            <a:custGeom>
              <a:avLst/>
              <a:gdLst/>
              <a:ahLst/>
              <a:cxnLst/>
              <a:rect r="r" b="b" t="t" l="l"/>
              <a:pathLst>
                <a:path h="633984" w="2145792">
                  <a:moveTo>
                    <a:pt x="0" y="0"/>
                  </a:moveTo>
                  <a:lnTo>
                    <a:pt x="2145792" y="0"/>
                  </a:lnTo>
                  <a:lnTo>
                    <a:pt x="2145792" y="633984"/>
                  </a:lnTo>
                  <a:lnTo>
                    <a:pt x="0" y="633984"/>
                  </a:lnTo>
                  <a:close/>
                </a:path>
              </a:pathLst>
            </a:custGeom>
            <a:blipFill>
              <a:blip r:embed="rId3">
                <a:alphaModFix amt="0"/>
              </a:blip>
              <a:stretch>
                <a:fillRect l="0" t="-15949" r="0" b="-15949"/>
              </a:stretch>
            </a:blipFill>
          </p:spPr>
        </p:sp>
        <p:sp>
          <p:nvSpPr>
            <p:cNvPr name="TextBox 66" id="66"/>
            <p:cNvSpPr txBox="true"/>
            <p:nvPr/>
          </p:nvSpPr>
          <p:spPr>
            <a:xfrm>
              <a:off x="0" y="-38100"/>
              <a:ext cx="2145792" cy="672084"/>
            </a:xfrm>
            <a:prstGeom prst="rect">
              <a:avLst/>
            </a:prstGeom>
          </p:spPr>
          <p:txBody>
            <a:bodyPr anchor="ctr" rtlCol="false" tIns="0" lIns="0" bIns="0" rIns="0"/>
            <a:lstStyle/>
            <a:p>
              <a:pPr algn="r">
                <a:lnSpc>
                  <a:spcPts val="2039"/>
                </a:lnSpc>
              </a:pPr>
              <a:r>
                <a:rPr lang="en-US" sz="1700">
                  <a:solidFill>
                    <a:srgbClr val="64748B"/>
                  </a:solidFill>
                  <a:latin typeface="Calibri (MS)"/>
                  <a:ea typeface="Calibri (MS)"/>
                  <a:cs typeface="Calibri (MS)"/>
                  <a:sym typeface="Calibri (MS)"/>
                </a:rPr>
                <a:t>~90K params</a:t>
              </a:r>
            </a:p>
          </p:txBody>
        </p:sp>
      </p:grpSp>
      <p:grpSp>
        <p:nvGrpSpPr>
          <p:cNvPr name="Group 67" id="67"/>
          <p:cNvGrpSpPr/>
          <p:nvPr/>
        </p:nvGrpSpPr>
        <p:grpSpPr>
          <a:xfrm rot="0">
            <a:off x="1188720" y="5596128"/>
            <a:ext cx="4846320" cy="1243584"/>
            <a:chOff x="0" y="0"/>
            <a:chExt cx="6461760" cy="1658112"/>
          </a:xfrm>
        </p:grpSpPr>
        <p:sp>
          <p:nvSpPr>
            <p:cNvPr name="Freeform 68" id="68"/>
            <p:cNvSpPr/>
            <p:nvPr/>
          </p:nvSpPr>
          <p:spPr>
            <a:xfrm flipH="false" flipV="false" rot="0">
              <a:off x="0" y="0"/>
              <a:ext cx="6461760" cy="1658112"/>
            </a:xfrm>
            <a:custGeom>
              <a:avLst/>
              <a:gdLst/>
              <a:ahLst/>
              <a:cxnLst/>
              <a:rect r="r" b="b" t="t" l="l"/>
              <a:pathLst>
                <a:path h="1658112" w="6461760">
                  <a:moveTo>
                    <a:pt x="0" y="0"/>
                  </a:moveTo>
                  <a:lnTo>
                    <a:pt x="6461760" y="0"/>
                  </a:lnTo>
                  <a:lnTo>
                    <a:pt x="6461760" y="1658112"/>
                  </a:lnTo>
                  <a:lnTo>
                    <a:pt x="0" y="1658112"/>
                  </a:lnTo>
                  <a:close/>
                </a:path>
              </a:pathLst>
            </a:custGeom>
            <a:blipFill>
              <a:blip r:embed="rId3">
                <a:alphaModFix amt="0"/>
              </a:blip>
              <a:stretch>
                <a:fillRect l="0" t="-25934" r="0" b="-25934"/>
              </a:stretch>
            </a:blipFill>
          </p:spPr>
        </p:sp>
        <p:sp>
          <p:nvSpPr>
            <p:cNvPr name="TextBox 69" id="69"/>
            <p:cNvSpPr txBox="true"/>
            <p:nvPr/>
          </p:nvSpPr>
          <p:spPr>
            <a:xfrm>
              <a:off x="0" y="-38100"/>
              <a:ext cx="6461760" cy="1696212"/>
            </a:xfrm>
            <a:prstGeom prst="rect">
              <a:avLst/>
            </a:prstGeom>
          </p:spPr>
          <p:txBody>
            <a:bodyPr anchor="ctr" rtlCol="false" tIns="0" lIns="0" bIns="0" rIns="0"/>
            <a:lstStyle/>
            <a:p>
              <a:pPr algn="l">
                <a:lnSpc>
                  <a:spcPts val="2160"/>
                </a:lnSpc>
              </a:pPr>
              <a:r>
                <a:rPr lang="en-US" sz="1800">
                  <a:solidFill>
                    <a:srgbClr val="334155"/>
                  </a:solidFill>
                  <a:latin typeface="Calibri (MS)"/>
                  <a:ea typeface="Calibri (MS)"/>
                  <a:cs typeface="Calibri (MS)"/>
                  <a:sym typeface="Calibri (MS)"/>
                </a:rPr>
                <a:t>Multi-head attention</a:t>
              </a:r>
            </a:p>
            <a:p>
              <a:pPr algn="l">
                <a:lnSpc>
                  <a:spcPts val="2160"/>
                </a:lnSpc>
              </a:pPr>
              <a:r>
                <a:rPr lang="en-US" sz="1800">
                  <a:solidFill>
                    <a:srgbClr val="334155"/>
                  </a:solidFill>
                  <a:latin typeface="Calibri (MS)"/>
                  <a:ea typeface="Calibri (MS)"/>
                  <a:cs typeface="Calibri (MS)"/>
                  <a:sym typeface="Calibri (MS)"/>
                </a:rPr>
                <a:t>4 heads, key_dim=16</a:t>
              </a:r>
            </a:p>
            <a:p>
              <a:pPr algn="l">
                <a:lnSpc>
                  <a:spcPts val="2160"/>
                </a:lnSpc>
              </a:pPr>
            </a:p>
          </p:txBody>
        </p:sp>
      </p:grpSp>
      <p:grpSp>
        <p:nvGrpSpPr>
          <p:cNvPr name="Group 70" id="70"/>
          <p:cNvGrpSpPr/>
          <p:nvPr/>
        </p:nvGrpSpPr>
        <p:grpSpPr>
          <a:xfrm rot="0">
            <a:off x="6675120" y="4901184"/>
            <a:ext cx="5212080" cy="2048256"/>
            <a:chOff x="0" y="0"/>
            <a:chExt cx="6949440" cy="2731008"/>
          </a:xfrm>
        </p:grpSpPr>
        <p:sp>
          <p:nvSpPr>
            <p:cNvPr name="Freeform 71" id="71"/>
            <p:cNvSpPr/>
            <p:nvPr/>
          </p:nvSpPr>
          <p:spPr>
            <a:xfrm flipH="false" flipV="false" rot="0">
              <a:off x="0" y="0"/>
              <a:ext cx="6949439" cy="2731008"/>
            </a:xfrm>
            <a:custGeom>
              <a:avLst/>
              <a:gdLst/>
              <a:ahLst/>
              <a:cxnLst/>
              <a:rect r="r" b="b" t="t" l="l"/>
              <a:pathLst>
                <a:path h="2731008" w="6949439">
                  <a:moveTo>
                    <a:pt x="0" y="292608"/>
                  </a:moveTo>
                  <a:cubicBezTo>
                    <a:pt x="0" y="131064"/>
                    <a:pt x="131064" y="0"/>
                    <a:pt x="292608" y="0"/>
                  </a:cubicBezTo>
                  <a:lnTo>
                    <a:pt x="6656832" y="0"/>
                  </a:lnTo>
                  <a:cubicBezTo>
                    <a:pt x="6818375" y="0"/>
                    <a:pt x="6949439" y="131064"/>
                    <a:pt x="6949439" y="292608"/>
                  </a:cubicBezTo>
                  <a:lnTo>
                    <a:pt x="6949439" y="2438400"/>
                  </a:lnTo>
                  <a:cubicBezTo>
                    <a:pt x="6949439" y="2599944"/>
                    <a:pt x="6818376" y="2731008"/>
                    <a:pt x="6656832" y="2731008"/>
                  </a:cubicBezTo>
                  <a:lnTo>
                    <a:pt x="292608" y="2731008"/>
                  </a:lnTo>
                  <a:cubicBezTo>
                    <a:pt x="131064" y="2731008"/>
                    <a:pt x="0" y="2599944"/>
                    <a:pt x="0" y="2438400"/>
                  </a:cubicBezTo>
                  <a:close/>
                </a:path>
              </a:pathLst>
            </a:custGeom>
            <a:solidFill>
              <a:srgbClr val="EFF6FF"/>
            </a:solidFill>
          </p:spPr>
        </p:sp>
      </p:grpSp>
      <p:grpSp>
        <p:nvGrpSpPr>
          <p:cNvPr name="Group 72" id="72"/>
          <p:cNvGrpSpPr/>
          <p:nvPr/>
        </p:nvGrpSpPr>
        <p:grpSpPr>
          <a:xfrm rot="0">
            <a:off x="6784848" y="5010912"/>
            <a:ext cx="3255264" cy="475488"/>
            <a:chOff x="0" y="0"/>
            <a:chExt cx="4340352" cy="633984"/>
          </a:xfrm>
        </p:grpSpPr>
        <p:sp>
          <p:nvSpPr>
            <p:cNvPr name="Freeform 73" id="73"/>
            <p:cNvSpPr/>
            <p:nvPr/>
          </p:nvSpPr>
          <p:spPr>
            <a:xfrm flipH="false" flipV="false" rot="0">
              <a:off x="0" y="0"/>
              <a:ext cx="4340352" cy="633984"/>
            </a:xfrm>
            <a:custGeom>
              <a:avLst/>
              <a:gdLst/>
              <a:ahLst/>
              <a:cxnLst/>
              <a:rect r="r" b="b" t="t" l="l"/>
              <a:pathLst>
                <a:path h="633984" w="4340352">
                  <a:moveTo>
                    <a:pt x="0" y="146304"/>
                  </a:moveTo>
                  <a:cubicBezTo>
                    <a:pt x="0" y="65532"/>
                    <a:pt x="65532" y="0"/>
                    <a:pt x="146304" y="0"/>
                  </a:cubicBezTo>
                  <a:lnTo>
                    <a:pt x="4194048" y="0"/>
                  </a:lnTo>
                  <a:cubicBezTo>
                    <a:pt x="4274820" y="0"/>
                    <a:pt x="4340352" y="65532"/>
                    <a:pt x="4340352" y="146304"/>
                  </a:cubicBezTo>
                  <a:lnTo>
                    <a:pt x="4340352" y="487680"/>
                  </a:lnTo>
                  <a:cubicBezTo>
                    <a:pt x="4340352" y="568452"/>
                    <a:pt x="4274820" y="633984"/>
                    <a:pt x="4194048" y="633984"/>
                  </a:cubicBezTo>
                  <a:lnTo>
                    <a:pt x="146304" y="633984"/>
                  </a:lnTo>
                  <a:cubicBezTo>
                    <a:pt x="65532" y="633984"/>
                    <a:pt x="0" y="568452"/>
                    <a:pt x="0" y="487680"/>
                  </a:cubicBezTo>
                  <a:close/>
                </a:path>
              </a:pathLst>
            </a:custGeom>
            <a:solidFill>
              <a:srgbClr val="B91C1C"/>
            </a:solidFill>
          </p:spPr>
        </p:sp>
      </p:grpSp>
      <p:grpSp>
        <p:nvGrpSpPr>
          <p:cNvPr name="Group 74" id="74"/>
          <p:cNvGrpSpPr/>
          <p:nvPr/>
        </p:nvGrpSpPr>
        <p:grpSpPr>
          <a:xfrm rot="0">
            <a:off x="6784848" y="5010912"/>
            <a:ext cx="3255264" cy="475488"/>
            <a:chOff x="0" y="0"/>
            <a:chExt cx="4340352" cy="633984"/>
          </a:xfrm>
        </p:grpSpPr>
        <p:sp>
          <p:nvSpPr>
            <p:cNvPr name="Freeform 75" id="75"/>
            <p:cNvSpPr/>
            <p:nvPr/>
          </p:nvSpPr>
          <p:spPr>
            <a:xfrm flipH="false" flipV="false" rot="0">
              <a:off x="0" y="0"/>
              <a:ext cx="4340352" cy="633984"/>
            </a:xfrm>
            <a:custGeom>
              <a:avLst/>
              <a:gdLst/>
              <a:ahLst/>
              <a:cxnLst/>
              <a:rect r="r" b="b" t="t" l="l"/>
              <a:pathLst>
                <a:path h="633984" w="4340352">
                  <a:moveTo>
                    <a:pt x="0" y="0"/>
                  </a:moveTo>
                  <a:lnTo>
                    <a:pt x="4340352" y="0"/>
                  </a:lnTo>
                  <a:lnTo>
                    <a:pt x="4340352" y="633984"/>
                  </a:lnTo>
                  <a:lnTo>
                    <a:pt x="0" y="633984"/>
                  </a:lnTo>
                  <a:close/>
                </a:path>
              </a:pathLst>
            </a:custGeom>
            <a:blipFill>
              <a:blip r:embed="rId3">
                <a:alphaModFix amt="0"/>
              </a:blip>
              <a:stretch>
                <a:fillRect l="0" t="-83397" r="0" b="-83397"/>
              </a:stretch>
            </a:blipFill>
          </p:spPr>
        </p:sp>
        <p:sp>
          <p:nvSpPr>
            <p:cNvPr name="TextBox 76" id="76"/>
            <p:cNvSpPr txBox="true"/>
            <p:nvPr/>
          </p:nvSpPr>
          <p:spPr>
            <a:xfrm>
              <a:off x="0" y="-38100"/>
              <a:ext cx="4340352" cy="672084"/>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Mamba SSM</a:t>
              </a:r>
            </a:p>
          </p:txBody>
        </p:sp>
      </p:grpSp>
      <p:grpSp>
        <p:nvGrpSpPr>
          <p:cNvPr name="Group 77" id="77"/>
          <p:cNvGrpSpPr/>
          <p:nvPr/>
        </p:nvGrpSpPr>
        <p:grpSpPr>
          <a:xfrm rot="0">
            <a:off x="10113264" y="5010912"/>
            <a:ext cx="1609344" cy="475488"/>
            <a:chOff x="0" y="0"/>
            <a:chExt cx="2145792" cy="633984"/>
          </a:xfrm>
        </p:grpSpPr>
        <p:sp>
          <p:nvSpPr>
            <p:cNvPr name="Freeform 78" id="78"/>
            <p:cNvSpPr/>
            <p:nvPr/>
          </p:nvSpPr>
          <p:spPr>
            <a:xfrm flipH="false" flipV="false" rot="0">
              <a:off x="0" y="0"/>
              <a:ext cx="2145792" cy="633984"/>
            </a:xfrm>
            <a:custGeom>
              <a:avLst/>
              <a:gdLst/>
              <a:ahLst/>
              <a:cxnLst/>
              <a:rect r="r" b="b" t="t" l="l"/>
              <a:pathLst>
                <a:path h="633984" w="2145792">
                  <a:moveTo>
                    <a:pt x="0" y="0"/>
                  </a:moveTo>
                  <a:lnTo>
                    <a:pt x="2145792" y="0"/>
                  </a:lnTo>
                  <a:lnTo>
                    <a:pt x="2145792" y="633984"/>
                  </a:lnTo>
                  <a:lnTo>
                    <a:pt x="0" y="633984"/>
                  </a:lnTo>
                  <a:close/>
                </a:path>
              </a:pathLst>
            </a:custGeom>
            <a:blipFill>
              <a:blip r:embed="rId3">
                <a:alphaModFix amt="0"/>
              </a:blip>
              <a:stretch>
                <a:fillRect l="0" t="-15949" r="0" b="-15949"/>
              </a:stretch>
            </a:blipFill>
          </p:spPr>
        </p:sp>
        <p:sp>
          <p:nvSpPr>
            <p:cNvPr name="TextBox 79" id="79"/>
            <p:cNvSpPr txBox="true"/>
            <p:nvPr/>
          </p:nvSpPr>
          <p:spPr>
            <a:xfrm>
              <a:off x="0" y="-38100"/>
              <a:ext cx="2145792" cy="672084"/>
            </a:xfrm>
            <a:prstGeom prst="rect">
              <a:avLst/>
            </a:prstGeom>
          </p:spPr>
          <p:txBody>
            <a:bodyPr anchor="ctr" rtlCol="false" tIns="0" lIns="0" bIns="0" rIns="0"/>
            <a:lstStyle/>
            <a:p>
              <a:pPr algn="r">
                <a:lnSpc>
                  <a:spcPts val="2039"/>
                </a:lnSpc>
              </a:pPr>
              <a:r>
                <a:rPr lang="en-US" sz="1700">
                  <a:solidFill>
                    <a:srgbClr val="64748B"/>
                  </a:solidFill>
                  <a:latin typeface="Calibri (MS)"/>
                  <a:ea typeface="Calibri (MS)"/>
                  <a:cs typeface="Calibri (MS)"/>
                  <a:sym typeface="Calibri (MS)"/>
                </a:rPr>
                <a:t>~90K params</a:t>
              </a:r>
            </a:p>
          </p:txBody>
        </p:sp>
      </p:grpSp>
      <p:grpSp>
        <p:nvGrpSpPr>
          <p:cNvPr name="Group 80" id="80"/>
          <p:cNvGrpSpPr/>
          <p:nvPr/>
        </p:nvGrpSpPr>
        <p:grpSpPr>
          <a:xfrm rot="0">
            <a:off x="6858000" y="5596128"/>
            <a:ext cx="4846320" cy="1243584"/>
            <a:chOff x="0" y="0"/>
            <a:chExt cx="6461760" cy="1658112"/>
          </a:xfrm>
        </p:grpSpPr>
        <p:sp>
          <p:nvSpPr>
            <p:cNvPr name="Freeform 81" id="81"/>
            <p:cNvSpPr/>
            <p:nvPr/>
          </p:nvSpPr>
          <p:spPr>
            <a:xfrm flipH="false" flipV="false" rot="0">
              <a:off x="0" y="0"/>
              <a:ext cx="6461760" cy="1658112"/>
            </a:xfrm>
            <a:custGeom>
              <a:avLst/>
              <a:gdLst/>
              <a:ahLst/>
              <a:cxnLst/>
              <a:rect r="r" b="b" t="t" l="l"/>
              <a:pathLst>
                <a:path h="1658112" w="6461760">
                  <a:moveTo>
                    <a:pt x="0" y="0"/>
                  </a:moveTo>
                  <a:lnTo>
                    <a:pt x="6461760" y="0"/>
                  </a:lnTo>
                  <a:lnTo>
                    <a:pt x="6461760" y="1658112"/>
                  </a:lnTo>
                  <a:lnTo>
                    <a:pt x="0" y="1658112"/>
                  </a:lnTo>
                  <a:close/>
                </a:path>
              </a:pathLst>
            </a:custGeom>
            <a:blipFill>
              <a:blip r:embed="rId3">
                <a:alphaModFix amt="0"/>
              </a:blip>
              <a:stretch>
                <a:fillRect l="0" t="-25934" r="0" b="-25934"/>
              </a:stretch>
            </a:blipFill>
          </p:spPr>
        </p:sp>
        <p:sp>
          <p:nvSpPr>
            <p:cNvPr name="TextBox 82" id="82"/>
            <p:cNvSpPr txBox="true"/>
            <p:nvPr/>
          </p:nvSpPr>
          <p:spPr>
            <a:xfrm>
              <a:off x="0" y="-38100"/>
              <a:ext cx="6461760" cy="1696212"/>
            </a:xfrm>
            <a:prstGeom prst="rect">
              <a:avLst/>
            </a:prstGeom>
          </p:spPr>
          <p:txBody>
            <a:bodyPr anchor="ctr" rtlCol="false" tIns="0" lIns="0" bIns="0" rIns="0"/>
            <a:lstStyle/>
            <a:p>
              <a:pPr algn="l">
                <a:lnSpc>
                  <a:spcPts val="2160"/>
                </a:lnSpc>
              </a:pPr>
              <a:r>
                <a:rPr lang="en-US" sz="1800">
                  <a:solidFill>
                    <a:srgbClr val="334155"/>
                  </a:solidFill>
                  <a:latin typeface="Calibri (MS)"/>
                  <a:ea typeface="Calibri (MS)"/>
                  <a:cs typeface="Calibri (MS)"/>
                  <a:sym typeface="Calibri (MS)"/>
                </a:rPr>
                <a:t>Selective state space</a:t>
              </a:r>
            </a:p>
            <a:p>
              <a:pPr algn="l">
                <a:lnSpc>
                  <a:spcPts val="2160"/>
                </a:lnSpc>
              </a:pPr>
              <a:r>
                <a:rPr lang="en-US" sz="1800">
                  <a:solidFill>
                    <a:srgbClr val="334155"/>
                  </a:solidFill>
                  <a:latin typeface="Calibri (MS)"/>
                  <a:ea typeface="Calibri (MS)"/>
                  <a:cs typeface="Calibri (MS)"/>
                  <a:sym typeface="Calibri (MS)"/>
                </a:rPr>
                <a:t>Input-dependent scan</a:t>
              </a:r>
            </a:p>
            <a:p>
              <a:pPr algn="l">
                <a:lnSpc>
                  <a:spcPts val="2160"/>
                </a:lnSpc>
              </a:pPr>
            </a:p>
          </p:txBody>
        </p:sp>
      </p:grpSp>
      <p:grpSp>
        <p:nvGrpSpPr>
          <p:cNvPr name="Group 83" id="83"/>
          <p:cNvGrpSpPr/>
          <p:nvPr/>
        </p:nvGrpSpPr>
        <p:grpSpPr>
          <a:xfrm rot="0">
            <a:off x="12344400" y="4901184"/>
            <a:ext cx="5212080" cy="2048256"/>
            <a:chOff x="0" y="0"/>
            <a:chExt cx="6949440" cy="2731008"/>
          </a:xfrm>
        </p:grpSpPr>
        <p:sp>
          <p:nvSpPr>
            <p:cNvPr name="Freeform 84" id="84"/>
            <p:cNvSpPr/>
            <p:nvPr/>
          </p:nvSpPr>
          <p:spPr>
            <a:xfrm flipH="false" flipV="false" rot="0">
              <a:off x="0" y="0"/>
              <a:ext cx="6949439" cy="2731008"/>
            </a:xfrm>
            <a:custGeom>
              <a:avLst/>
              <a:gdLst/>
              <a:ahLst/>
              <a:cxnLst/>
              <a:rect r="r" b="b" t="t" l="l"/>
              <a:pathLst>
                <a:path h="2731008" w="6949439">
                  <a:moveTo>
                    <a:pt x="0" y="292608"/>
                  </a:moveTo>
                  <a:cubicBezTo>
                    <a:pt x="0" y="131064"/>
                    <a:pt x="131064" y="0"/>
                    <a:pt x="292608" y="0"/>
                  </a:cubicBezTo>
                  <a:lnTo>
                    <a:pt x="6656832" y="0"/>
                  </a:lnTo>
                  <a:cubicBezTo>
                    <a:pt x="6818375" y="0"/>
                    <a:pt x="6949439" y="131064"/>
                    <a:pt x="6949439" y="292608"/>
                  </a:cubicBezTo>
                  <a:lnTo>
                    <a:pt x="6949439" y="2438400"/>
                  </a:lnTo>
                  <a:cubicBezTo>
                    <a:pt x="6949439" y="2599944"/>
                    <a:pt x="6818376" y="2731008"/>
                    <a:pt x="6656832" y="2731008"/>
                  </a:cubicBezTo>
                  <a:lnTo>
                    <a:pt x="292608" y="2731008"/>
                  </a:lnTo>
                  <a:cubicBezTo>
                    <a:pt x="131064" y="2731008"/>
                    <a:pt x="0" y="2599944"/>
                    <a:pt x="0" y="2438400"/>
                  </a:cubicBezTo>
                  <a:close/>
                </a:path>
              </a:pathLst>
            </a:custGeom>
            <a:solidFill>
              <a:srgbClr val="EFF6FF"/>
            </a:solidFill>
          </p:spPr>
        </p:sp>
      </p:grpSp>
      <p:grpSp>
        <p:nvGrpSpPr>
          <p:cNvPr name="Group 85" id="85"/>
          <p:cNvGrpSpPr/>
          <p:nvPr/>
        </p:nvGrpSpPr>
        <p:grpSpPr>
          <a:xfrm rot="0">
            <a:off x="12454128" y="5010912"/>
            <a:ext cx="3255264" cy="475488"/>
            <a:chOff x="0" y="0"/>
            <a:chExt cx="4340352" cy="633984"/>
          </a:xfrm>
        </p:grpSpPr>
        <p:sp>
          <p:nvSpPr>
            <p:cNvPr name="Freeform 86" id="86"/>
            <p:cNvSpPr/>
            <p:nvPr/>
          </p:nvSpPr>
          <p:spPr>
            <a:xfrm flipH="false" flipV="false" rot="0">
              <a:off x="0" y="0"/>
              <a:ext cx="4340352" cy="633984"/>
            </a:xfrm>
            <a:custGeom>
              <a:avLst/>
              <a:gdLst/>
              <a:ahLst/>
              <a:cxnLst/>
              <a:rect r="r" b="b" t="t" l="l"/>
              <a:pathLst>
                <a:path h="633984" w="4340352">
                  <a:moveTo>
                    <a:pt x="0" y="146304"/>
                  </a:moveTo>
                  <a:cubicBezTo>
                    <a:pt x="0" y="65532"/>
                    <a:pt x="65532" y="0"/>
                    <a:pt x="146304" y="0"/>
                  </a:cubicBezTo>
                  <a:lnTo>
                    <a:pt x="4194048" y="0"/>
                  </a:lnTo>
                  <a:cubicBezTo>
                    <a:pt x="4274820" y="0"/>
                    <a:pt x="4340352" y="65532"/>
                    <a:pt x="4340352" y="146304"/>
                  </a:cubicBezTo>
                  <a:lnTo>
                    <a:pt x="4340352" y="487680"/>
                  </a:lnTo>
                  <a:cubicBezTo>
                    <a:pt x="4340352" y="568452"/>
                    <a:pt x="4274820" y="633984"/>
                    <a:pt x="4194048" y="633984"/>
                  </a:cubicBezTo>
                  <a:lnTo>
                    <a:pt x="146304" y="633984"/>
                  </a:lnTo>
                  <a:cubicBezTo>
                    <a:pt x="65532" y="633984"/>
                    <a:pt x="0" y="568452"/>
                    <a:pt x="0" y="487680"/>
                  </a:cubicBezTo>
                  <a:close/>
                </a:path>
              </a:pathLst>
            </a:custGeom>
            <a:solidFill>
              <a:srgbClr val="059669"/>
            </a:solidFill>
          </p:spPr>
        </p:sp>
      </p:grpSp>
      <p:grpSp>
        <p:nvGrpSpPr>
          <p:cNvPr name="Group 87" id="87"/>
          <p:cNvGrpSpPr/>
          <p:nvPr/>
        </p:nvGrpSpPr>
        <p:grpSpPr>
          <a:xfrm rot="0">
            <a:off x="12454128" y="5010912"/>
            <a:ext cx="3255264" cy="475488"/>
            <a:chOff x="0" y="0"/>
            <a:chExt cx="4340352" cy="633984"/>
          </a:xfrm>
        </p:grpSpPr>
        <p:sp>
          <p:nvSpPr>
            <p:cNvPr name="Freeform 88" id="88"/>
            <p:cNvSpPr/>
            <p:nvPr/>
          </p:nvSpPr>
          <p:spPr>
            <a:xfrm flipH="false" flipV="false" rot="0">
              <a:off x="0" y="0"/>
              <a:ext cx="4340352" cy="633984"/>
            </a:xfrm>
            <a:custGeom>
              <a:avLst/>
              <a:gdLst/>
              <a:ahLst/>
              <a:cxnLst/>
              <a:rect r="r" b="b" t="t" l="l"/>
              <a:pathLst>
                <a:path h="633984" w="4340352">
                  <a:moveTo>
                    <a:pt x="0" y="0"/>
                  </a:moveTo>
                  <a:lnTo>
                    <a:pt x="4340352" y="0"/>
                  </a:lnTo>
                  <a:lnTo>
                    <a:pt x="4340352" y="633984"/>
                  </a:lnTo>
                  <a:lnTo>
                    <a:pt x="0" y="633984"/>
                  </a:lnTo>
                  <a:close/>
                </a:path>
              </a:pathLst>
            </a:custGeom>
            <a:blipFill>
              <a:blip r:embed="rId3">
                <a:alphaModFix amt="0"/>
              </a:blip>
              <a:stretch>
                <a:fillRect l="0" t="-83397" r="0" b="-83397"/>
              </a:stretch>
            </a:blipFill>
          </p:spPr>
        </p:sp>
        <p:sp>
          <p:nvSpPr>
            <p:cNvPr name="TextBox 89" id="89"/>
            <p:cNvSpPr txBox="true"/>
            <p:nvPr/>
          </p:nvSpPr>
          <p:spPr>
            <a:xfrm>
              <a:off x="0" y="-38100"/>
              <a:ext cx="4340352" cy="672084"/>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DeepAR</a:t>
              </a:r>
            </a:p>
          </p:txBody>
        </p:sp>
      </p:grpSp>
      <p:grpSp>
        <p:nvGrpSpPr>
          <p:cNvPr name="Group 90" id="90"/>
          <p:cNvGrpSpPr/>
          <p:nvPr/>
        </p:nvGrpSpPr>
        <p:grpSpPr>
          <a:xfrm rot="0">
            <a:off x="15782544" y="5010912"/>
            <a:ext cx="1609344" cy="475488"/>
            <a:chOff x="0" y="0"/>
            <a:chExt cx="2145792" cy="633984"/>
          </a:xfrm>
        </p:grpSpPr>
        <p:sp>
          <p:nvSpPr>
            <p:cNvPr name="Freeform 91" id="91"/>
            <p:cNvSpPr/>
            <p:nvPr/>
          </p:nvSpPr>
          <p:spPr>
            <a:xfrm flipH="false" flipV="false" rot="0">
              <a:off x="0" y="0"/>
              <a:ext cx="2145792" cy="633984"/>
            </a:xfrm>
            <a:custGeom>
              <a:avLst/>
              <a:gdLst/>
              <a:ahLst/>
              <a:cxnLst/>
              <a:rect r="r" b="b" t="t" l="l"/>
              <a:pathLst>
                <a:path h="633984" w="2145792">
                  <a:moveTo>
                    <a:pt x="0" y="0"/>
                  </a:moveTo>
                  <a:lnTo>
                    <a:pt x="2145792" y="0"/>
                  </a:lnTo>
                  <a:lnTo>
                    <a:pt x="2145792" y="633984"/>
                  </a:lnTo>
                  <a:lnTo>
                    <a:pt x="0" y="633984"/>
                  </a:lnTo>
                  <a:close/>
                </a:path>
              </a:pathLst>
            </a:custGeom>
            <a:blipFill>
              <a:blip r:embed="rId3">
                <a:alphaModFix amt="0"/>
              </a:blip>
              <a:stretch>
                <a:fillRect l="0" t="-15949" r="0" b="-15949"/>
              </a:stretch>
            </a:blipFill>
          </p:spPr>
        </p:sp>
        <p:sp>
          <p:nvSpPr>
            <p:cNvPr name="TextBox 92" id="92"/>
            <p:cNvSpPr txBox="true"/>
            <p:nvPr/>
          </p:nvSpPr>
          <p:spPr>
            <a:xfrm>
              <a:off x="0" y="-38100"/>
              <a:ext cx="2145792" cy="672084"/>
            </a:xfrm>
            <a:prstGeom prst="rect">
              <a:avLst/>
            </a:prstGeom>
          </p:spPr>
          <p:txBody>
            <a:bodyPr anchor="ctr" rtlCol="false" tIns="0" lIns="0" bIns="0" rIns="0"/>
            <a:lstStyle/>
            <a:p>
              <a:pPr algn="r">
                <a:lnSpc>
                  <a:spcPts val="2039"/>
                </a:lnSpc>
              </a:pPr>
              <a:r>
                <a:rPr lang="en-US" sz="1700">
                  <a:solidFill>
                    <a:srgbClr val="64748B"/>
                  </a:solidFill>
                  <a:latin typeface="Calibri (MS)"/>
                  <a:ea typeface="Calibri (MS)"/>
                  <a:cs typeface="Calibri (MS)"/>
                  <a:sym typeface="Calibri (MS)"/>
                </a:rPr>
                <a:t>~33K params</a:t>
              </a:r>
            </a:p>
          </p:txBody>
        </p:sp>
      </p:grpSp>
      <p:grpSp>
        <p:nvGrpSpPr>
          <p:cNvPr name="Group 93" id="93"/>
          <p:cNvGrpSpPr/>
          <p:nvPr/>
        </p:nvGrpSpPr>
        <p:grpSpPr>
          <a:xfrm rot="0">
            <a:off x="12527280" y="5596128"/>
            <a:ext cx="4846320" cy="1243584"/>
            <a:chOff x="0" y="0"/>
            <a:chExt cx="6461760" cy="1658112"/>
          </a:xfrm>
        </p:grpSpPr>
        <p:sp>
          <p:nvSpPr>
            <p:cNvPr name="Freeform 94" id="94"/>
            <p:cNvSpPr/>
            <p:nvPr/>
          </p:nvSpPr>
          <p:spPr>
            <a:xfrm flipH="false" flipV="false" rot="0">
              <a:off x="0" y="0"/>
              <a:ext cx="6461760" cy="1658112"/>
            </a:xfrm>
            <a:custGeom>
              <a:avLst/>
              <a:gdLst/>
              <a:ahLst/>
              <a:cxnLst/>
              <a:rect r="r" b="b" t="t" l="l"/>
              <a:pathLst>
                <a:path h="1658112" w="6461760">
                  <a:moveTo>
                    <a:pt x="0" y="0"/>
                  </a:moveTo>
                  <a:lnTo>
                    <a:pt x="6461760" y="0"/>
                  </a:lnTo>
                  <a:lnTo>
                    <a:pt x="6461760" y="1658112"/>
                  </a:lnTo>
                  <a:lnTo>
                    <a:pt x="0" y="1658112"/>
                  </a:lnTo>
                  <a:close/>
                </a:path>
              </a:pathLst>
            </a:custGeom>
            <a:blipFill>
              <a:blip r:embed="rId3">
                <a:alphaModFix amt="0"/>
              </a:blip>
              <a:stretch>
                <a:fillRect l="0" t="-25934" r="0" b="-25934"/>
              </a:stretch>
            </a:blipFill>
          </p:spPr>
        </p:sp>
        <p:sp>
          <p:nvSpPr>
            <p:cNvPr name="TextBox 95" id="95"/>
            <p:cNvSpPr txBox="true"/>
            <p:nvPr/>
          </p:nvSpPr>
          <p:spPr>
            <a:xfrm>
              <a:off x="0" y="-38100"/>
              <a:ext cx="6461760" cy="1696212"/>
            </a:xfrm>
            <a:prstGeom prst="rect">
              <a:avLst/>
            </a:prstGeom>
          </p:spPr>
          <p:txBody>
            <a:bodyPr anchor="ctr" rtlCol="false" tIns="0" lIns="0" bIns="0" rIns="0"/>
            <a:lstStyle/>
            <a:p>
              <a:pPr algn="l">
                <a:lnSpc>
                  <a:spcPts val="2160"/>
                </a:lnSpc>
              </a:pPr>
              <a:r>
                <a:rPr lang="en-US" sz="1800">
                  <a:solidFill>
                    <a:srgbClr val="334155"/>
                  </a:solidFill>
                  <a:latin typeface="Calibri (MS)"/>
                  <a:ea typeface="Calibri (MS)"/>
                  <a:cs typeface="Calibri (MS)"/>
                  <a:sym typeface="Calibri (MS)"/>
                </a:rPr>
                <a:t>GRU + Gaussian output</a:t>
              </a:r>
            </a:p>
            <a:p>
              <a:pPr algn="l">
                <a:lnSpc>
                  <a:spcPts val="2160"/>
                </a:lnSpc>
              </a:pPr>
              <a:r>
                <a:rPr lang="en-US" sz="1800">
                  <a:solidFill>
                    <a:srgbClr val="334155"/>
                  </a:solidFill>
                  <a:latin typeface="Calibri (MS)"/>
                  <a:ea typeface="Calibri (MS)"/>
                  <a:cs typeface="Calibri (MS)"/>
                  <a:sym typeface="Calibri (MS)"/>
                </a:rPr>
                <a:t>[μ, logσ] → p10/p90</a:t>
              </a:r>
            </a:p>
            <a:p>
              <a:pPr algn="l">
                <a:lnSpc>
                  <a:spcPts val="2160"/>
                </a:lnSpc>
              </a:pPr>
            </a:p>
          </p:txBody>
        </p:sp>
      </p:grpSp>
      <p:grpSp>
        <p:nvGrpSpPr>
          <p:cNvPr name="Group 96" id="96"/>
          <p:cNvGrpSpPr/>
          <p:nvPr/>
        </p:nvGrpSpPr>
        <p:grpSpPr>
          <a:xfrm rot="0">
            <a:off x="1005840" y="7278624"/>
            <a:ext cx="5212080" cy="2048256"/>
            <a:chOff x="0" y="0"/>
            <a:chExt cx="6949440" cy="2731008"/>
          </a:xfrm>
        </p:grpSpPr>
        <p:sp>
          <p:nvSpPr>
            <p:cNvPr name="Freeform 97" id="97"/>
            <p:cNvSpPr/>
            <p:nvPr/>
          </p:nvSpPr>
          <p:spPr>
            <a:xfrm flipH="false" flipV="false" rot="0">
              <a:off x="0" y="0"/>
              <a:ext cx="6949439" cy="2731008"/>
            </a:xfrm>
            <a:custGeom>
              <a:avLst/>
              <a:gdLst/>
              <a:ahLst/>
              <a:cxnLst/>
              <a:rect r="r" b="b" t="t" l="l"/>
              <a:pathLst>
                <a:path h="2731008" w="6949439">
                  <a:moveTo>
                    <a:pt x="0" y="292608"/>
                  </a:moveTo>
                  <a:cubicBezTo>
                    <a:pt x="0" y="131064"/>
                    <a:pt x="131064" y="0"/>
                    <a:pt x="292608" y="0"/>
                  </a:cubicBezTo>
                  <a:lnTo>
                    <a:pt x="6656832" y="0"/>
                  </a:lnTo>
                  <a:cubicBezTo>
                    <a:pt x="6818375" y="0"/>
                    <a:pt x="6949439" y="131064"/>
                    <a:pt x="6949439" y="292608"/>
                  </a:cubicBezTo>
                  <a:lnTo>
                    <a:pt x="6949439" y="2438400"/>
                  </a:lnTo>
                  <a:cubicBezTo>
                    <a:pt x="6949439" y="2599944"/>
                    <a:pt x="6818376" y="2731008"/>
                    <a:pt x="6656832" y="2731008"/>
                  </a:cubicBezTo>
                  <a:lnTo>
                    <a:pt x="292608" y="2731008"/>
                  </a:lnTo>
                  <a:cubicBezTo>
                    <a:pt x="131064" y="2731008"/>
                    <a:pt x="0" y="2599944"/>
                    <a:pt x="0" y="2438400"/>
                  </a:cubicBezTo>
                  <a:close/>
                </a:path>
              </a:pathLst>
            </a:custGeom>
            <a:solidFill>
              <a:srgbClr val="EFF6FF"/>
            </a:solidFill>
          </p:spPr>
        </p:sp>
      </p:grpSp>
      <p:grpSp>
        <p:nvGrpSpPr>
          <p:cNvPr name="Group 98" id="98"/>
          <p:cNvGrpSpPr/>
          <p:nvPr/>
        </p:nvGrpSpPr>
        <p:grpSpPr>
          <a:xfrm rot="0">
            <a:off x="1115568" y="7388352"/>
            <a:ext cx="3255264" cy="475488"/>
            <a:chOff x="0" y="0"/>
            <a:chExt cx="4340352" cy="633984"/>
          </a:xfrm>
        </p:grpSpPr>
        <p:sp>
          <p:nvSpPr>
            <p:cNvPr name="Freeform 99" id="99"/>
            <p:cNvSpPr/>
            <p:nvPr/>
          </p:nvSpPr>
          <p:spPr>
            <a:xfrm flipH="false" flipV="false" rot="0">
              <a:off x="0" y="0"/>
              <a:ext cx="4340352" cy="633984"/>
            </a:xfrm>
            <a:custGeom>
              <a:avLst/>
              <a:gdLst/>
              <a:ahLst/>
              <a:cxnLst/>
              <a:rect r="r" b="b" t="t" l="l"/>
              <a:pathLst>
                <a:path h="633984" w="4340352">
                  <a:moveTo>
                    <a:pt x="0" y="146304"/>
                  </a:moveTo>
                  <a:cubicBezTo>
                    <a:pt x="0" y="65532"/>
                    <a:pt x="65532" y="0"/>
                    <a:pt x="146304" y="0"/>
                  </a:cubicBezTo>
                  <a:lnTo>
                    <a:pt x="4194048" y="0"/>
                  </a:lnTo>
                  <a:cubicBezTo>
                    <a:pt x="4274820" y="0"/>
                    <a:pt x="4340352" y="65532"/>
                    <a:pt x="4340352" y="146304"/>
                  </a:cubicBezTo>
                  <a:lnTo>
                    <a:pt x="4340352" y="487680"/>
                  </a:lnTo>
                  <a:cubicBezTo>
                    <a:pt x="4340352" y="568452"/>
                    <a:pt x="4274820" y="633984"/>
                    <a:pt x="4194048" y="633984"/>
                  </a:cubicBezTo>
                  <a:lnTo>
                    <a:pt x="146304" y="633984"/>
                  </a:lnTo>
                  <a:cubicBezTo>
                    <a:pt x="65532" y="633984"/>
                    <a:pt x="0" y="568452"/>
                    <a:pt x="0" y="487680"/>
                  </a:cubicBezTo>
                  <a:close/>
                </a:path>
              </a:pathLst>
            </a:custGeom>
            <a:solidFill>
              <a:srgbClr val="1B7D3E"/>
            </a:solidFill>
          </p:spPr>
        </p:sp>
      </p:grpSp>
      <p:grpSp>
        <p:nvGrpSpPr>
          <p:cNvPr name="Group 100" id="100"/>
          <p:cNvGrpSpPr/>
          <p:nvPr/>
        </p:nvGrpSpPr>
        <p:grpSpPr>
          <a:xfrm rot="0">
            <a:off x="1115568" y="7388352"/>
            <a:ext cx="3255264" cy="475488"/>
            <a:chOff x="0" y="0"/>
            <a:chExt cx="4340352" cy="633984"/>
          </a:xfrm>
        </p:grpSpPr>
        <p:sp>
          <p:nvSpPr>
            <p:cNvPr name="Freeform 101" id="101"/>
            <p:cNvSpPr/>
            <p:nvPr/>
          </p:nvSpPr>
          <p:spPr>
            <a:xfrm flipH="false" flipV="false" rot="0">
              <a:off x="0" y="0"/>
              <a:ext cx="4340352" cy="633984"/>
            </a:xfrm>
            <a:custGeom>
              <a:avLst/>
              <a:gdLst/>
              <a:ahLst/>
              <a:cxnLst/>
              <a:rect r="r" b="b" t="t" l="l"/>
              <a:pathLst>
                <a:path h="633984" w="4340352">
                  <a:moveTo>
                    <a:pt x="0" y="0"/>
                  </a:moveTo>
                  <a:lnTo>
                    <a:pt x="4340352" y="0"/>
                  </a:lnTo>
                  <a:lnTo>
                    <a:pt x="4340352" y="633984"/>
                  </a:lnTo>
                  <a:lnTo>
                    <a:pt x="0" y="633984"/>
                  </a:lnTo>
                  <a:close/>
                </a:path>
              </a:pathLst>
            </a:custGeom>
            <a:blipFill>
              <a:blip r:embed="rId3">
                <a:alphaModFix amt="0"/>
              </a:blip>
              <a:stretch>
                <a:fillRect l="0" t="-83397" r="0" b="-83397"/>
              </a:stretch>
            </a:blipFill>
          </p:spPr>
        </p:sp>
        <p:sp>
          <p:nvSpPr>
            <p:cNvPr name="TextBox 102" id="102"/>
            <p:cNvSpPr txBox="true"/>
            <p:nvPr/>
          </p:nvSpPr>
          <p:spPr>
            <a:xfrm>
              <a:off x="0" y="-38100"/>
              <a:ext cx="4340352" cy="672084"/>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MDN-GRU</a:t>
              </a:r>
            </a:p>
          </p:txBody>
        </p:sp>
      </p:grpSp>
      <p:grpSp>
        <p:nvGrpSpPr>
          <p:cNvPr name="Group 103" id="103"/>
          <p:cNvGrpSpPr/>
          <p:nvPr/>
        </p:nvGrpSpPr>
        <p:grpSpPr>
          <a:xfrm rot="0">
            <a:off x="4443984" y="7388352"/>
            <a:ext cx="1609344" cy="475488"/>
            <a:chOff x="0" y="0"/>
            <a:chExt cx="2145792" cy="633984"/>
          </a:xfrm>
        </p:grpSpPr>
        <p:sp>
          <p:nvSpPr>
            <p:cNvPr name="Freeform 104" id="104"/>
            <p:cNvSpPr/>
            <p:nvPr/>
          </p:nvSpPr>
          <p:spPr>
            <a:xfrm flipH="false" flipV="false" rot="0">
              <a:off x="0" y="0"/>
              <a:ext cx="2145792" cy="633984"/>
            </a:xfrm>
            <a:custGeom>
              <a:avLst/>
              <a:gdLst/>
              <a:ahLst/>
              <a:cxnLst/>
              <a:rect r="r" b="b" t="t" l="l"/>
              <a:pathLst>
                <a:path h="633984" w="2145792">
                  <a:moveTo>
                    <a:pt x="0" y="0"/>
                  </a:moveTo>
                  <a:lnTo>
                    <a:pt x="2145792" y="0"/>
                  </a:lnTo>
                  <a:lnTo>
                    <a:pt x="2145792" y="633984"/>
                  </a:lnTo>
                  <a:lnTo>
                    <a:pt x="0" y="633984"/>
                  </a:lnTo>
                  <a:close/>
                </a:path>
              </a:pathLst>
            </a:custGeom>
            <a:blipFill>
              <a:blip r:embed="rId3">
                <a:alphaModFix amt="0"/>
              </a:blip>
              <a:stretch>
                <a:fillRect l="0" t="-15949" r="0" b="-15949"/>
              </a:stretch>
            </a:blipFill>
          </p:spPr>
        </p:sp>
        <p:sp>
          <p:nvSpPr>
            <p:cNvPr name="TextBox 105" id="105"/>
            <p:cNvSpPr txBox="true"/>
            <p:nvPr/>
          </p:nvSpPr>
          <p:spPr>
            <a:xfrm>
              <a:off x="0" y="-38100"/>
              <a:ext cx="2145792" cy="672084"/>
            </a:xfrm>
            <a:prstGeom prst="rect">
              <a:avLst/>
            </a:prstGeom>
          </p:spPr>
          <p:txBody>
            <a:bodyPr anchor="ctr" rtlCol="false" tIns="0" lIns="0" bIns="0" rIns="0"/>
            <a:lstStyle/>
            <a:p>
              <a:pPr algn="r">
                <a:lnSpc>
                  <a:spcPts val="2039"/>
                </a:lnSpc>
              </a:pPr>
              <a:r>
                <a:rPr lang="en-US" sz="1700">
                  <a:solidFill>
                    <a:srgbClr val="64748B"/>
                  </a:solidFill>
                  <a:latin typeface="Calibri (MS)"/>
                  <a:ea typeface="Calibri (MS)"/>
                  <a:cs typeface="Calibri (MS)"/>
                  <a:sym typeface="Calibri (MS)"/>
                </a:rPr>
                <a:t>K=3 mixture</a:t>
              </a:r>
            </a:p>
          </p:txBody>
        </p:sp>
      </p:grpSp>
      <p:grpSp>
        <p:nvGrpSpPr>
          <p:cNvPr name="Group 106" id="106"/>
          <p:cNvGrpSpPr/>
          <p:nvPr/>
        </p:nvGrpSpPr>
        <p:grpSpPr>
          <a:xfrm rot="0">
            <a:off x="1188720" y="8101965"/>
            <a:ext cx="4846320" cy="1243584"/>
            <a:chOff x="0" y="0"/>
            <a:chExt cx="6461760" cy="1658112"/>
          </a:xfrm>
        </p:grpSpPr>
        <p:sp>
          <p:nvSpPr>
            <p:cNvPr name="Freeform 107" id="107"/>
            <p:cNvSpPr/>
            <p:nvPr/>
          </p:nvSpPr>
          <p:spPr>
            <a:xfrm flipH="false" flipV="false" rot="0">
              <a:off x="0" y="0"/>
              <a:ext cx="6461760" cy="1658112"/>
            </a:xfrm>
            <a:custGeom>
              <a:avLst/>
              <a:gdLst/>
              <a:ahLst/>
              <a:cxnLst/>
              <a:rect r="r" b="b" t="t" l="l"/>
              <a:pathLst>
                <a:path h="1658112" w="6461760">
                  <a:moveTo>
                    <a:pt x="0" y="0"/>
                  </a:moveTo>
                  <a:lnTo>
                    <a:pt x="6461760" y="0"/>
                  </a:lnTo>
                  <a:lnTo>
                    <a:pt x="6461760" y="1658112"/>
                  </a:lnTo>
                  <a:lnTo>
                    <a:pt x="0" y="1658112"/>
                  </a:lnTo>
                  <a:close/>
                </a:path>
              </a:pathLst>
            </a:custGeom>
            <a:blipFill>
              <a:blip r:embed="rId3">
                <a:alphaModFix amt="0"/>
              </a:blip>
              <a:stretch>
                <a:fillRect l="0" t="-25934" r="0" b="-25934"/>
              </a:stretch>
            </a:blipFill>
          </p:spPr>
        </p:sp>
        <p:sp>
          <p:nvSpPr>
            <p:cNvPr name="TextBox 108" id="108"/>
            <p:cNvSpPr txBox="true"/>
            <p:nvPr/>
          </p:nvSpPr>
          <p:spPr>
            <a:xfrm>
              <a:off x="0" y="-38100"/>
              <a:ext cx="6461760" cy="1696212"/>
            </a:xfrm>
            <a:prstGeom prst="rect">
              <a:avLst/>
            </a:prstGeom>
          </p:spPr>
          <p:txBody>
            <a:bodyPr anchor="ctr" rtlCol="false" tIns="0" lIns="0" bIns="0" rIns="0"/>
            <a:lstStyle/>
            <a:p>
              <a:pPr algn="l">
                <a:lnSpc>
                  <a:spcPts val="2160"/>
                </a:lnSpc>
              </a:pPr>
              <a:r>
                <a:rPr lang="en-US" sz="1800">
                  <a:solidFill>
                    <a:srgbClr val="334155"/>
                  </a:solidFill>
                  <a:latin typeface="Calibri (MS)"/>
                  <a:ea typeface="Calibri (MS)"/>
                  <a:cs typeface="Calibri (MS)"/>
                  <a:sym typeface="Calibri (MS)"/>
                </a:rPr>
                <a:t>Mixture Density Net</a:t>
              </a:r>
            </a:p>
            <a:p>
              <a:pPr algn="l">
                <a:lnSpc>
                  <a:spcPts val="2160"/>
                </a:lnSpc>
              </a:pPr>
              <a:r>
                <a:rPr lang="en-US" sz="1800">
                  <a:solidFill>
                    <a:srgbClr val="334155"/>
                  </a:solidFill>
                  <a:latin typeface="Calibri (MS)"/>
                  <a:ea typeface="Calibri (MS)"/>
                  <a:cs typeface="Calibri (MS)"/>
                  <a:sym typeface="Calibri (MS)"/>
                </a:rPr>
                <a:t>3 Gaussian components</a:t>
              </a:r>
            </a:p>
            <a:p>
              <a:pPr algn="l">
                <a:lnSpc>
                  <a:spcPts val="2160"/>
                </a:lnSpc>
              </a:pPr>
              <a:r>
                <a:rPr lang="en-US" sz="1800">
                  <a:solidFill>
                    <a:srgbClr val="334155"/>
                  </a:solidFill>
                  <a:latin typeface="Calibri (MS)"/>
                  <a:ea typeface="Calibri (MS)"/>
                  <a:cs typeface="Calibri (MS)"/>
                  <a:sym typeface="Calibri (MS)"/>
                </a:rPr>
                <a:t>Monte Carlo sampling</a:t>
              </a:r>
            </a:p>
            <a:p>
              <a:pPr algn="l">
                <a:lnSpc>
                  <a:spcPts val="2160"/>
                </a:lnSpc>
              </a:pPr>
            </a:p>
          </p:txBody>
        </p:sp>
      </p:grpSp>
      <p:grpSp>
        <p:nvGrpSpPr>
          <p:cNvPr name="Group 109" id="109"/>
          <p:cNvGrpSpPr/>
          <p:nvPr/>
        </p:nvGrpSpPr>
        <p:grpSpPr>
          <a:xfrm rot="0">
            <a:off x="6675120" y="7278624"/>
            <a:ext cx="5212080" cy="2048256"/>
            <a:chOff x="0" y="0"/>
            <a:chExt cx="6949440" cy="2731008"/>
          </a:xfrm>
        </p:grpSpPr>
        <p:sp>
          <p:nvSpPr>
            <p:cNvPr name="Freeform 110" id="110"/>
            <p:cNvSpPr/>
            <p:nvPr/>
          </p:nvSpPr>
          <p:spPr>
            <a:xfrm flipH="false" flipV="false" rot="0">
              <a:off x="0" y="0"/>
              <a:ext cx="6949439" cy="2731008"/>
            </a:xfrm>
            <a:custGeom>
              <a:avLst/>
              <a:gdLst/>
              <a:ahLst/>
              <a:cxnLst/>
              <a:rect r="r" b="b" t="t" l="l"/>
              <a:pathLst>
                <a:path h="2731008" w="6949439">
                  <a:moveTo>
                    <a:pt x="0" y="292608"/>
                  </a:moveTo>
                  <a:cubicBezTo>
                    <a:pt x="0" y="131064"/>
                    <a:pt x="131064" y="0"/>
                    <a:pt x="292608" y="0"/>
                  </a:cubicBezTo>
                  <a:lnTo>
                    <a:pt x="6656832" y="0"/>
                  </a:lnTo>
                  <a:cubicBezTo>
                    <a:pt x="6818375" y="0"/>
                    <a:pt x="6949439" y="131064"/>
                    <a:pt x="6949439" y="292608"/>
                  </a:cubicBezTo>
                  <a:lnTo>
                    <a:pt x="6949439" y="2438400"/>
                  </a:lnTo>
                  <a:cubicBezTo>
                    <a:pt x="6949439" y="2599944"/>
                    <a:pt x="6818376" y="2731008"/>
                    <a:pt x="6656832" y="2731008"/>
                  </a:cubicBezTo>
                  <a:lnTo>
                    <a:pt x="292608" y="2731008"/>
                  </a:lnTo>
                  <a:cubicBezTo>
                    <a:pt x="131064" y="2731008"/>
                    <a:pt x="0" y="2599944"/>
                    <a:pt x="0" y="2438400"/>
                  </a:cubicBezTo>
                  <a:close/>
                </a:path>
              </a:pathLst>
            </a:custGeom>
            <a:solidFill>
              <a:srgbClr val="EFF6FF"/>
            </a:solidFill>
          </p:spPr>
        </p:sp>
      </p:grpSp>
      <p:grpSp>
        <p:nvGrpSpPr>
          <p:cNvPr name="Group 111" id="111"/>
          <p:cNvGrpSpPr/>
          <p:nvPr/>
        </p:nvGrpSpPr>
        <p:grpSpPr>
          <a:xfrm rot="0">
            <a:off x="6784848" y="7388352"/>
            <a:ext cx="3255264" cy="475488"/>
            <a:chOff x="0" y="0"/>
            <a:chExt cx="4340352" cy="633984"/>
          </a:xfrm>
        </p:grpSpPr>
        <p:sp>
          <p:nvSpPr>
            <p:cNvPr name="Freeform 112" id="112"/>
            <p:cNvSpPr/>
            <p:nvPr/>
          </p:nvSpPr>
          <p:spPr>
            <a:xfrm flipH="false" flipV="false" rot="0">
              <a:off x="0" y="0"/>
              <a:ext cx="4340352" cy="633984"/>
            </a:xfrm>
            <a:custGeom>
              <a:avLst/>
              <a:gdLst/>
              <a:ahLst/>
              <a:cxnLst/>
              <a:rect r="r" b="b" t="t" l="l"/>
              <a:pathLst>
                <a:path h="633984" w="4340352">
                  <a:moveTo>
                    <a:pt x="0" y="146304"/>
                  </a:moveTo>
                  <a:cubicBezTo>
                    <a:pt x="0" y="65532"/>
                    <a:pt x="65532" y="0"/>
                    <a:pt x="146304" y="0"/>
                  </a:cubicBezTo>
                  <a:lnTo>
                    <a:pt x="4194048" y="0"/>
                  </a:lnTo>
                  <a:cubicBezTo>
                    <a:pt x="4274820" y="0"/>
                    <a:pt x="4340352" y="65532"/>
                    <a:pt x="4340352" y="146304"/>
                  </a:cubicBezTo>
                  <a:lnTo>
                    <a:pt x="4340352" y="487680"/>
                  </a:lnTo>
                  <a:cubicBezTo>
                    <a:pt x="4340352" y="568452"/>
                    <a:pt x="4274820" y="633984"/>
                    <a:pt x="4194048" y="633984"/>
                  </a:cubicBezTo>
                  <a:lnTo>
                    <a:pt x="146304" y="633984"/>
                  </a:lnTo>
                  <a:cubicBezTo>
                    <a:pt x="65532" y="633984"/>
                    <a:pt x="0" y="568452"/>
                    <a:pt x="0" y="487680"/>
                  </a:cubicBezTo>
                  <a:close/>
                </a:path>
              </a:pathLst>
            </a:custGeom>
            <a:solidFill>
              <a:srgbClr val="7B1FA2"/>
            </a:solidFill>
          </p:spPr>
        </p:sp>
      </p:grpSp>
      <p:grpSp>
        <p:nvGrpSpPr>
          <p:cNvPr name="Group 113" id="113"/>
          <p:cNvGrpSpPr/>
          <p:nvPr/>
        </p:nvGrpSpPr>
        <p:grpSpPr>
          <a:xfrm rot="0">
            <a:off x="6784848" y="7388352"/>
            <a:ext cx="3255264" cy="475488"/>
            <a:chOff x="0" y="0"/>
            <a:chExt cx="4340352" cy="633984"/>
          </a:xfrm>
        </p:grpSpPr>
        <p:sp>
          <p:nvSpPr>
            <p:cNvPr name="Freeform 114" id="114"/>
            <p:cNvSpPr/>
            <p:nvPr/>
          </p:nvSpPr>
          <p:spPr>
            <a:xfrm flipH="false" flipV="false" rot="0">
              <a:off x="0" y="0"/>
              <a:ext cx="4340352" cy="633984"/>
            </a:xfrm>
            <a:custGeom>
              <a:avLst/>
              <a:gdLst/>
              <a:ahLst/>
              <a:cxnLst/>
              <a:rect r="r" b="b" t="t" l="l"/>
              <a:pathLst>
                <a:path h="633984" w="4340352">
                  <a:moveTo>
                    <a:pt x="0" y="0"/>
                  </a:moveTo>
                  <a:lnTo>
                    <a:pt x="4340352" y="0"/>
                  </a:lnTo>
                  <a:lnTo>
                    <a:pt x="4340352" y="633984"/>
                  </a:lnTo>
                  <a:lnTo>
                    <a:pt x="0" y="633984"/>
                  </a:lnTo>
                  <a:close/>
                </a:path>
              </a:pathLst>
            </a:custGeom>
            <a:blipFill>
              <a:blip r:embed="rId3">
                <a:alphaModFix amt="0"/>
              </a:blip>
              <a:stretch>
                <a:fillRect l="0" t="-83397" r="0" b="-83397"/>
              </a:stretch>
            </a:blipFill>
          </p:spPr>
        </p:sp>
        <p:sp>
          <p:nvSpPr>
            <p:cNvPr name="TextBox 115" id="115"/>
            <p:cNvSpPr txBox="true"/>
            <p:nvPr/>
          </p:nvSpPr>
          <p:spPr>
            <a:xfrm>
              <a:off x="0" y="-38100"/>
              <a:ext cx="4340352" cy="672084"/>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LSTM-KDE</a:t>
              </a:r>
            </a:p>
          </p:txBody>
        </p:sp>
      </p:grpSp>
      <p:grpSp>
        <p:nvGrpSpPr>
          <p:cNvPr name="Group 116" id="116"/>
          <p:cNvGrpSpPr/>
          <p:nvPr/>
        </p:nvGrpSpPr>
        <p:grpSpPr>
          <a:xfrm rot="0">
            <a:off x="10113264" y="7388352"/>
            <a:ext cx="1609344" cy="475488"/>
            <a:chOff x="0" y="0"/>
            <a:chExt cx="2145792" cy="633984"/>
          </a:xfrm>
        </p:grpSpPr>
        <p:sp>
          <p:nvSpPr>
            <p:cNvPr name="Freeform 117" id="117"/>
            <p:cNvSpPr/>
            <p:nvPr/>
          </p:nvSpPr>
          <p:spPr>
            <a:xfrm flipH="false" flipV="false" rot="0">
              <a:off x="0" y="0"/>
              <a:ext cx="2145792" cy="633984"/>
            </a:xfrm>
            <a:custGeom>
              <a:avLst/>
              <a:gdLst/>
              <a:ahLst/>
              <a:cxnLst/>
              <a:rect r="r" b="b" t="t" l="l"/>
              <a:pathLst>
                <a:path h="633984" w="2145792">
                  <a:moveTo>
                    <a:pt x="0" y="0"/>
                  </a:moveTo>
                  <a:lnTo>
                    <a:pt x="2145792" y="0"/>
                  </a:lnTo>
                  <a:lnTo>
                    <a:pt x="2145792" y="633984"/>
                  </a:lnTo>
                  <a:lnTo>
                    <a:pt x="0" y="633984"/>
                  </a:lnTo>
                  <a:close/>
                </a:path>
              </a:pathLst>
            </a:custGeom>
            <a:blipFill>
              <a:blip r:embed="rId3">
                <a:alphaModFix amt="0"/>
              </a:blip>
              <a:stretch>
                <a:fillRect l="0" t="-15949" r="0" b="-15949"/>
              </a:stretch>
            </a:blipFill>
          </p:spPr>
        </p:sp>
        <p:sp>
          <p:nvSpPr>
            <p:cNvPr name="TextBox 118" id="118"/>
            <p:cNvSpPr txBox="true"/>
            <p:nvPr/>
          </p:nvSpPr>
          <p:spPr>
            <a:xfrm>
              <a:off x="0" y="-38100"/>
              <a:ext cx="2145792" cy="672084"/>
            </a:xfrm>
            <a:prstGeom prst="rect">
              <a:avLst/>
            </a:prstGeom>
          </p:spPr>
          <p:txBody>
            <a:bodyPr anchor="ctr" rtlCol="false" tIns="0" lIns="0" bIns="0" rIns="0"/>
            <a:lstStyle/>
            <a:p>
              <a:pPr algn="r">
                <a:lnSpc>
                  <a:spcPts val="2039"/>
                </a:lnSpc>
              </a:pPr>
              <a:r>
                <a:rPr lang="en-US" sz="1700">
                  <a:solidFill>
                    <a:srgbClr val="64748B"/>
                  </a:solidFill>
                  <a:latin typeface="Calibri (MS)"/>
                  <a:ea typeface="Calibri (MS)"/>
                  <a:cs typeface="Calibri (MS)"/>
                  <a:sym typeface="Calibri (MS)"/>
                </a:rPr>
                <a:t>3-layer</a:t>
              </a:r>
            </a:p>
          </p:txBody>
        </p:sp>
      </p:grpSp>
      <p:grpSp>
        <p:nvGrpSpPr>
          <p:cNvPr name="Group 119" id="119"/>
          <p:cNvGrpSpPr/>
          <p:nvPr/>
        </p:nvGrpSpPr>
        <p:grpSpPr>
          <a:xfrm rot="0">
            <a:off x="6858000" y="7973568"/>
            <a:ext cx="4846320" cy="1243584"/>
            <a:chOff x="0" y="0"/>
            <a:chExt cx="6461760" cy="1658112"/>
          </a:xfrm>
        </p:grpSpPr>
        <p:sp>
          <p:nvSpPr>
            <p:cNvPr name="Freeform 120" id="120"/>
            <p:cNvSpPr/>
            <p:nvPr/>
          </p:nvSpPr>
          <p:spPr>
            <a:xfrm flipH="false" flipV="false" rot="0">
              <a:off x="0" y="0"/>
              <a:ext cx="6461760" cy="1658112"/>
            </a:xfrm>
            <a:custGeom>
              <a:avLst/>
              <a:gdLst/>
              <a:ahLst/>
              <a:cxnLst/>
              <a:rect r="r" b="b" t="t" l="l"/>
              <a:pathLst>
                <a:path h="1658112" w="6461760">
                  <a:moveTo>
                    <a:pt x="0" y="0"/>
                  </a:moveTo>
                  <a:lnTo>
                    <a:pt x="6461760" y="0"/>
                  </a:lnTo>
                  <a:lnTo>
                    <a:pt x="6461760" y="1658112"/>
                  </a:lnTo>
                  <a:lnTo>
                    <a:pt x="0" y="1658112"/>
                  </a:lnTo>
                  <a:close/>
                </a:path>
              </a:pathLst>
            </a:custGeom>
            <a:blipFill>
              <a:blip r:embed="rId3">
                <a:alphaModFix amt="0"/>
              </a:blip>
              <a:stretch>
                <a:fillRect l="0" t="-25934" r="0" b="-25934"/>
              </a:stretch>
            </a:blipFill>
          </p:spPr>
        </p:sp>
        <p:sp>
          <p:nvSpPr>
            <p:cNvPr name="TextBox 121" id="121"/>
            <p:cNvSpPr txBox="true"/>
            <p:nvPr/>
          </p:nvSpPr>
          <p:spPr>
            <a:xfrm>
              <a:off x="0" y="-38100"/>
              <a:ext cx="6461760" cy="1696212"/>
            </a:xfrm>
            <a:prstGeom prst="rect">
              <a:avLst/>
            </a:prstGeom>
          </p:spPr>
          <p:txBody>
            <a:bodyPr anchor="ctr" rtlCol="false" tIns="0" lIns="0" bIns="0" rIns="0"/>
            <a:lstStyle/>
            <a:p>
              <a:pPr algn="l">
                <a:lnSpc>
                  <a:spcPts val="2160"/>
                </a:lnSpc>
              </a:pPr>
              <a:r>
                <a:rPr lang="en-US" sz="1800">
                  <a:solidFill>
                    <a:srgbClr val="334155"/>
                  </a:solidFill>
                  <a:latin typeface="Calibri (MS)"/>
                  <a:ea typeface="Calibri (MS)"/>
                  <a:cs typeface="Calibri (MS)"/>
                  <a:sym typeface="Calibri (MS)"/>
                </a:rPr>
                <a:t>Point forecast + KDE</a:t>
              </a:r>
            </a:p>
            <a:p>
              <a:pPr algn="l">
                <a:lnSpc>
                  <a:spcPts val="2160"/>
                </a:lnSpc>
              </a:pPr>
              <a:r>
                <a:rPr lang="en-US" sz="1800">
                  <a:solidFill>
                    <a:srgbClr val="334155"/>
                  </a:solidFill>
                  <a:latin typeface="Calibri (MS)"/>
                  <a:ea typeface="Calibri (MS)"/>
                  <a:cs typeface="Calibri (MS)"/>
                  <a:sym typeface="Calibri (MS)"/>
                </a:rPr>
                <a:t>Calibration holdout</a:t>
              </a:r>
            </a:p>
            <a:p>
              <a:pPr algn="l">
                <a:lnSpc>
                  <a:spcPts val="2160"/>
                </a:lnSpc>
              </a:pPr>
            </a:p>
          </p:txBody>
        </p:sp>
      </p:grpSp>
      <p:grpSp>
        <p:nvGrpSpPr>
          <p:cNvPr name="Group 122" id="122"/>
          <p:cNvGrpSpPr/>
          <p:nvPr/>
        </p:nvGrpSpPr>
        <p:grpSpPr>
          <a:xfrm rot="0">
            <a:off x="12344400" y="7278624"/>
            <a:ext cx="5212080" cy="2048256"/>
            <a:chOff x="0" y="0"/>
            <a:chExt cx="6949440" cy="2731008"/>
          </a:xfrm>
        </p:grpSpPr>
        <p:sp>
          <p:nvSpPr>
            <p:cNvPr name="Freeform 123" id="123"/>
            <p:cNvSpPr/>
            <p:nvPr/>
          </p:nvSpPr>
          <p:spPr>
            <a:xfrm flipH="false" flipV="false" rot="0">
              <a:off x="0" y="0"/>
              <a:ext cx="6949439" cy="2731008"/>
            </a:xfrm>
            <a:custGeom>
              <a:avLst/>
              <a:gdLst/>
              <a:ahLst/>
              <a:cxnLst/>
              <a:rect r="r" b="b" t="t" l="l"/>
              <a:pathLst>
                <a:path h="2731008" w="6949439">
                  <a:moveTo>
                    <a:pt x="0" y="292608"/>
                  </a:moveTo>
                  <a:cubicBezTo>
                    <a:pt x="0" y="131064"/>
                    <a:pt x="131064" y="0"/>
                    <a:pt x="292608" y="0"/>
                  </a:cubicBezTo>
                  <a:lnTo>
                    <a:pt x="6656832" y="0"/>
                  </a:lnTo>
                  <a:cubicBezTo>
                    <a:pt x="6818375" y="0"/>
                    <a:pt x="6949439" y="131064"/>
                    <a:pt x="6949439" y="292608"/>
                  </a:cubicBezTo>
                  <a:lnTo>
                    <a:pt x="6949439" y="2438400"/>
                  </a:lnTo>
                  <a:cubicBezTo>
                    <a:pt x="6949439" y="2599944"/>
                    <a:pt x="6818376" y="2731008"/>
                    <a:pt x="6656832" y="2731008"/>
                  </a:cubicBezTo>
                  <a:lnTo>
                    <a:pt x="292608" y="2731008"/>
                  </a:lnTo>
                  <a:cubicBezTo>
                    <a:pt x="131064" y="2731008"/>
                    <a:pt x="0" y="2599944"/>
                    <a:pt x="0" y="2438400"/>
                  </a:cubicBezTo>
                  <a:close/>
                </a:path>
              </a:pathLst>
            </a:custGeom>
            <a:solidFill>
              <a:srgbClr val="EFF6FF"/>
            </a:solidFill>
          </p:spPr>
        </p:sp>
      </p:grpSp>
      <p:grpSp>
        <p:nvGrpSpPr>
          <p:cNvPr name="Group 124" id="124"/>
          <p:cNvGrpSpPr/>
          <p:nvPr/>
        </p:nvGrpSpPr>
        <p:grpSpPr>
          <a:xfrm rot="0">
            <a:off x="12454128" y="7388352"/>
            <a:ext cx="3255264" cy="475488"/>
            <a:chOff x="0" y="0"/>
            <a:chExt cx="4340352" cy="633984"/>
          </a:xfrm>
        </p:grpSpPr>
        <p:sp>
          <p:nvSpPr>
            <p:cNvPr name="Freeform 125" id="125"/>
            <p:cNvSpPr/>
            <p:nvPr/>
          </p:nvSpPr>
          <p:spPr>
            <a:xfrm flipH="false" flipV="false" rot="0">
              <a:off x="0" y="0"/>
              <a:ext cx="4340352" cy="633984"/>
            </a:xfrm>
            <a:custGeom>
              <a:avLst/>
              <a:gdLst/>
              <a:ahLst/>
              <a:cxnLst/>
              <a:rect r="r" b="b" t="t" l="l"/>
              <a:pathLst>
                <a:path h="633984" w="4340352">
                  <a:moveTo>
                    <a:pt x="0" y="146304"/>
                  </a:moveTo>
                  <a:cubicBezTo>
                    <a:pt x="0" y="65532"/>
                    <a:pt x="65532" y="0"/>
                    <a:pt x="146304" y="0"/>
                  </a:cubicBezTo>
                  <a:lnTo>
                    <a:pt x="4194048" y="0"/>
                  </a:lnTo>
                  <a:cubicBezTo>
                    <a:pt x="4274820" y="0"/>
                    <a:pt x="4340352" y="65532"/>
                    <a:pt x="4340352" y="146304"/>
                  </a:cubicBezTo>
                  <a:lnTo>
                    <a:pt x="4340352" y="487680"/>
                  </a:lnTo>
                  <a:cubicBezTo>
                    <a:pt x="4340352" y="568452"/>
                    <a:pt x="4274820" y="633984"/>
                    <a:pt x="4194048" y="633984"/>
                  </a:cubicBezTo>
                  <a:lnTo>
                    <a:pt x="146304" y="633984"/>
                  </a:lnTo>
                  <a:cubicBezTo>
                    <a:pt x="65532" y="633984"/>
                    <a:pt x="0" y="568452"/>
                    <a:pt x="0" y="487680"/>
                  </a:cubicBezTo>
                  <a:close/>
                </a:path>
              </a:pathLst>
            </a:custGeom>
            <a:solidFill>
              <a:srgbClr val="64748B"/>
            </a:solidFill>
          </p:spPr>
        </p:sp>
      </p:grpSp>
      <p:grpSp>
        <p:nvGrpSpPr>
          <p:cNvPr name="Group 126" id="126"/>
          <p:cNvGrpSpPr/>
          <p:nvPr/>
        </p:nvGrpSpPr>
        <p:grpSpPr>
          <a:xfrm rot="0">
            <a:off x="12454128" y="7388352"/>
            <a:ext cx="3255264" cy="475488"/>
            <a:chOff x="0" y="0"/>
            <a:chExt cx="4340352" cy="633984"/>
          </a:xfrm>
        </p:grpSpPr>
        <p:sp>
          <p:nvSpPr>
            <p:cNvPr name="Freeform 127" id="127"/>
            <p:cNvSpPr/>
            <p:nvPr/>
          </p:nvSpPr>
          <p:spPr>
            <a:xfrm flipH="false" flipV="false" rot="0">
              <a:off x="0" y="0"/>
              <a:ext cx="4340352" cy="633984"/>
            </a:xfrm>
            <a:custGeom>
              <a:avLst/>
              <a:gdLst/>
              <a:ahLst/>
              <a:cxnLst/>
              <a:rect r="r" b="b" t="t" l="l"/>
              <a:pathLst>
                <a:path h="633984" w="4340352">
                  <a:moveTo>
                    <a:pt x="0" y="0"/>
                  </a:moveTo>
                  <a:lnTo>
                    <a:pt x="4340352" y="0"/>
                  </a:lnTo>
                  <a:lnTo>
                    <a:pt x="4340352" y="633984"/>
                  </a:lnTo>
                  <a:lnTo>
                    <a:pt x="0" y="633984"/>
                  </a:lnTo>
                  <a:close/>
                </a:path>
              </a:pathLst>
            </a:custGeom>
            <a:blipFill>
              <a:blip r:embed="rId3">
                <a:alphaModFix amt="0"/>
              </a:blip>
              <a:stretch>
                <a:fillRect l="0" t="-83397" r="0" b="-83397"/>
              </a:stretch>
            </a:blipFill>
          </p:spPr>
        </p:sp>
        <p:sp>
          <p:nvSpPr>
            <p:cNvPr name="TextBox 128" id="128"/>
            <p:cNvSpPr txBox="true"/>
            <p:nvPr/>
          </p:nvSpPr>
          <p:spPr>
            <a:xfrm>
              <a:off x="0" y="-38100"/>
              <a:ext cx="4340352" cy="672084"/>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ARIMA(2,1,1)</a:t>
              </a:r>
            </a:p>
          </p:txBody>
        </p:sp>
      </p:grpSp>
      <p:grpSp>
        <p:nvGrpSpPr>
          <p:cNvPr name="Group 129" id="129"/>
          <p:cNvGrpSpPr/>
          <p:nvPr/>
        </p:nvGrpSpPr>
        <p:grpSpPr>
          <a:xfrm rot="0">
            <a:off x="15782544" y="7388352"/>
            <a:ext cx="1609344" cy="475488"/>
            <a:chOff x="0" y="0"/>
            <a:chExt cx="2145792" cy="633984"/>
          </a:xfrm>
        </p:grpSpPr>
        <p:sp>
          <p:nvSpPr>
            <p:cNvPr name="Freeform 130" id="130"/>
            <p:cNvSpPr/>
            <p:nvPr/>
          </p:nvSpPr>
          <p:spPr>
            <a:xfrm flipH="false" flipV="false" rot="0">
              <a:off x="0" y="0"/>
              <a:ext cx="2145792" cy="633984"/>
            </a:xfrm>
            <a:custGeom>
              <a:avLst/>
              <a:gdLst/>
              <a:ahLst/>
              <a:cxnLst/>
              <a:rect r="r" b="b" t="t" l="l"/>
              <a:pathLst>
                <a:path h="633984" w="2145792">
                  <a:moveTo>
                    <a:pt x="0" y="0"/>
                  </a:moveTo>
                  <a:lnTo>
                    <a:pt x="2145792" y="0"/>
                  </a:lnTo>
                  <a:lnTo>
                    <a:pt x="2145792" y="633984"/>
                  </a:lnTo>
                  <a:lnTo>
                    <a:pt x="0" y="633984"/>
                  </a:lnTo>
                  <a:close/>
                </a:path>
              </a:pathLst>
            </a:custGeom>
            <a:blipFill>
              <a:blip r:embed="rId3">
                <a:alphaModFix amt="0"/>
              </a:blip>
              <a:stretch>
                <a:fillRect l="0" t="-15949" r="0" b="-15949"/>
              </a:stretch>
            </a:blipFill>
          </p:spPr>
        </p:sp>
        <p:sp>
          <p:nvSpPr>
            <p:cNvPr name="TextBox 131" id="131"/>
            <p:cNvSpPr txBox="true"/>
            <p:nvPr/>
          </p:nvSpPr>
          <p:spPr>
            <a:xfrm>
              <a:off x="0" y="-38100"/>
              <a:ext cx="2145792" cy="672084"/>
            </a:xfrm>
            <a:prstGeom prst="rect">
              <a:avLst/>
            </a:prstGeom>
          </p:spPr>
          <p:txBody>
            <a:bodyPr anchor="ctr" rtlCol="false" tIns="0" lIns="0" bIns="0" rIns="0"/>
            <a:lstStyle/>
            <a:p>
              <a:pPr algn="r">
                <a:lnSpc>
                  <a:spcPts val="2039"/>
                </a:lnSpc>
              </a:pPr>
              <a:r>
                <a:rPr lang="en-US" sz="1700">
                  <a:solidFill>
                    <a:srgbClr val="64748B"/>
                  </a:solidFill>
                  <a:latin typeface="Calibri (MS)"/>
                  <a:ea typeface="Calibri (MS)"/>
                  <a:cs typeface="Calibri (MS)"/>
                  <a:sym typeface="Calibri (MS)"/>
                </a:rPr>
                <a:t>Classical</a:t>
              </a:r>
            </a:p>
          </p:txBody>
        </p:sp>
      </p:grpSp>
      <p:grpSp>
        <p:nvGrpSpPr>
          <p:cNvPr name="Group 132" id="132"/>
          <p:cNvGrpSpPr/>
          <p:nvPr/>
        </p:nvGrpSpPr>
        <p:grpSpPr>
          <a:xfrm rot="0">
            <a:off x="12527280" y="7973568"/>
            <a:ext cx="4846320" cy="1243584"/>
            <a:chOff x="0" y="0"/>
            <a:chExt cx="6461760" cy="1658112"/>
          </a:xfrm>
        </p:grpSpPr>
        <p:sp>
          <p:nvSpPr>
            <p:cNvPr name="Freeform 133" id="133"/>
            <p:cNvSpPr/>
            <p:nvPr/>
          </p:nvSpPr>
          <p:spPr>
            <a:xfrm flipH="false" flipV="false" rot="0">
              <a:off x="0" y="0"/>
              <a:ext cx="6461760" cy="1658112"/>
            </a:xfrm>
            <a:custGeom>
              <a:avLst/>
              <a:gdLst/>
              <a:ahLst/>
              <a:cxnLst/>
              <a:rect r="r" b="b" t="t" l="l"/>
              <a:pathLst>
                <a:path h="1658112" w="6461760">
                  <a:moveTo>
                    <a:pt x="0" y="0"/>
                  </a:moveTo>
                  <a:lnTo>
                    <a:pt x="6461760" y="0"/>
                  </a:lnTo>
                  <a:lnTo>
                    <a:pt x="6461760" y="1658112"/>
                  </a:lnTo>
                  <a:lnTo>
                    <a:pt x="0" y="1658112"/>
                  </a:lnTo>
                  <a:close/>
                </a:path>
              </a:pathLst>
            </a:custGeom>
            <a:blipFill>
              <a:blip r:embed="rId3">
                <a:alphaModFix amt="0"/>
              </a:blip>
              <a:stretch>
                <a:fillRect l="0" t="-25934" r="0" b="-25934"/>
              </a:stretch>
            </a:blipFill>
          </p:spPr>
        </p:sp>
        <p:sp>
          <p:nvSpPr>
            <p:cNvPr name="TextBox 134" id="134"/>
            <p:cNvSpPr txBox="true"/>
            <p:nvPr/>
          </p:nvSpPr>
          <p:spPr>
            <a:xfrm>
              <a:off x="0" y="-38100"/>
              <a:ext cx="6461760" cy="1696212"/>
            </a:xfrm>
            <a:prstGeom prst="rect">
              <a:avLst/>
            </a:prstGeom>
          </p:spPr>
          <p:txBody>
            <a:bodyPr anchor="ctr" rtlCol="false" tIns="0" lIns="0" bIns="0" rIns="0"/>
            <a:lstStyle/>
            <a:p>
              <a:pPr algn="l">
                <a:lnSpc>
                  <a:spcPts val="2160"/>
                </a:lnSpc>
              </a:pPr>
              <a:r>
                <a:rPr lang="en-US" sz="1800">
                  <a:solidFill>
                    <a:srgbClr val="334155"/>
                  </a:solidFill>
                  <a:latin typeface="Calibri (MS)"/>
                  <a:ea typeface="Calibri (MS)"/>
                  <a:cs typeface="Calibri (MS)"/>
                  <a:sym typeface="Calibri (MS)"/>
                </a:rPr>
                <a:t>AR(2), I(1), MA(1)</a:t>
              </a:r>
            </a:p>
            <a:p>
              <a:pPr algn="l">
                <a:lnSpc>
                  <a:spcPts val="2160"/>
                </a:lnSpc>
              </a:pPr>
              <a:r>
                <a:rPr lang="en-US" sz="1800">
                  <a:solidFill>
                    <a:srgbClr val="334155"/>
                  </a:solidFill>
                  <a:latin typeface="Calibri (MS)"/>
                  <a:ea typeface="Calibri (MS)"/>
                  <a:cs typeface="Calibri (MS)"/>
                  <a:sym typeface="Calibri (MS)"/>
                </a:rPr>
                <a:t>Bootstrap CI (2000)</a:t>
              </a:r>
            </a:p>
            <a:p>
              <a:pPr algn="l">
                <a:lnSpc>
                  <a:spcPts val="2160"/>
                </a:lnSpc>
              </a:pP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9222" r="0" b="-9222"/>
            </a:stretch>
          </a:blipFill>
        </p:spPr>
      </p:sp>
      <p:grpSp>
        <p:nvGrpSpPr>
          <p:cNvPr name="Group 3" id="3"/>
          <p:cNvGrpSpPr/>
          <p:nvPr/>
        </p:nvGrpSpPr>
        <p:grpSpPr>
          <a:xfrm rot="0">
            <a:off x="5056112" y="4428120"/>
            <a:ext cx="8175775" cy="1430761"/>
            <a:chOff x="0" y="0"/>
            <a:chExt cx="3901440" cy="682752"/>
          </a:xfrm>
        </p:grpSpPr>
        <p:sp>
          <p:nvSpPr>
            <p:cNvPr name="Freeform 4" id="4"/>
            <p:cNvSpPr/>
            <p:nvPr/>
          </p:nvSpPr>
          <p:spPr>
            <a:xfrm flipH="false" flipV="false" rot="0">
              <a:off x="0" y="0"/>
              <a:ext cx="3901440" cy="682752"/>
            </a:xfrm>
            <a:custGeom>
              <a:avLst/>
              <a:gdLst/>
              <a:ahLst/>
              <a:cxnLst/>
              <a:rect r="r" b="b" t="t" l="l"/>
              <a:pathLst>
                <a:path h="682752" w="3901440">
                  <a:moveTo>
                    <a:pt x="0" y="341376"/>
                  </a:moveTo>
                  <a:cubicBezTo>
                    <a:pt x="0" y="152781"/>
                    <a:pt x="152781" y="0"/>
                    <a:pt x="341376" y="0"/>
                  </a:cubicBezTo>
                  <a:lnTo>
                    <a:pt x="3560064" y="0"/>
                  </a:lnTo>
                  <a:cubicBezTo>
                    <a:pt x="3748659" y="0"/>
                    <a:pt x="3901440" y="152781"/>
                    <a:pt x="3901440" y="341376"/>
                  </a:cubicBezTo>
                  <a:cubicBezTo>
                    <a:pt x="3901440" y="529971"/>
                    <a:pt x="3748659" y="682752"/>
                    <a:pt x="3560064" y="682752"/>
                  </a:cubicBezTo>
                  <a:lnTo>
                    <a:pt x="341376" y="682752"/>
                  </a:lnTo>
                  <a:cubicBezTo>
                    <a:pt x="152781" y="682752"/>
                    <a:pt x="0" y="529971"/>
                    <a:pt x="0" y="341376"/>
                  </a:cubicBezTo>
                  <a:close/>
                </a:path>
              </a:pathLst>
            </a:custGeom>
            <a:solidFill>
              <a:srgbClr val="3B82F6"/>
            </a:solidFill>
          </p:spPr>
        </p:sp>
      </p:grpSp>
      <p:sp>
        <p:nvSpPr>
          <p:cNvPr name="TextBox 5" id="5"/>
          <p:cNvSpPr txBox="true"/>
          <p:nvPr/>
        </p:nvSpPr>
        <p:spPr>
          <a:xfrm rot="0">
            <a:off x="5056112" y="4757737"/>
            <a:ext cx="8175775" cy="685800"/>
          </a:xfrm>
          <a:prstGeom prst="rect">
            <a:avLst/>
          </a:prstGeom>
        </p:spPr>
        <p:txBody>
          <a:bodyPr anchor="t" rtlCol="false" tIns="0" lIns="0" bIns="0" rIns="0">
            <a:spAutoFit/>
          </a:bodyPr>
          <a:lstStyle/>
          <a:p>
            <a:pPr algn="ctr">
              <a:lnSpc>
                <a:spcPts val="4799"/>
              </a:lnSpc>
              <a:spcBef>
                <a:spcPct val="0"/>
              </a:spcBef>
            </a:pPr>
            <a:r>
              <a:rPr lang="en-US" b="true" sz="3999">
                <a:solidFill>
                  <a:srgbClr val="EFF6FF"/>
                </a:solidFill>
                <a:latin typeface="Calibri (MS) Bold"/>
                <a:ea typeface="Calibri (MS) Bold"/>
                <a:cs typeface="Calibri (MS) Bold"/>
                <a:sym typeface="Calibri (MS) Bold"/>
              </a:rPr>
              <a:t>METHOD</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73152"/>
            <a:chOff x="0" y="0"/>
            <a:chExt cx="24384000" cy="97536"/>
          </a:xfrm>
        </p:grpSpPr>
        <p:sp>
          <p:nvSpPr>
            <p:cNvPr name="Freeform 3" id="3"/>
            <p:cNvSpPr/>
            <p:nvPr/>
          </p:nvSpPr>
          <p:spPr>
            <a:xfrm flipH="false" flipV="false" rot="0">
              <a:off x="0" y="0"/>
              <a:ext cx="24384000" cy="97536"/>
            </a:xfrm>
            <a:custGeom>
              <a:avLst/>
              <a:gdLst/>
              <a:ahLst/>
              <a:cxnLst/>
              <a:rect r="r" b="b" t="t" l="l"/>
              <a:pathLst>
                <a:path h="97536" w="24384000">
                  <a:moveTo>
                    <a:pt x="0" y="0"/>
                  </a:moveTo>
                  <a:lnTo>
                    <a:pt x="24384000" y="0"/>
                  </a:lnTo>
                  <a:lnTo>
                    <a:pt x="24384000" y="97536"/>
                  </a:lnTo>
                  <a:lnTo>
                    <a:pt x="0" y="97536"/>
                  </a:lnTo>
                  <a:close/>
                </a:path>
              </a:pathLst>
            </a:custGeom>
            <a:solidFill>
              <a:srgbClr val="3B82F6"/>
            </a:solidFill>
          </p:spPr>
        </p:sp>
      </p:grpSp>
      <p:grpSp>
        <p:nvGrpSpPr>
          <p:cNvPr name="Group 4" id="4"/>
          <p:cNvGrpSpPr/>
          <p:nvPr/>
        </p:nvGrpSpPr>
        <p:grpSpPr>
          <a:xfrm rot="0">
            <a:off x="1005840" y="585216"/>
            <a:ext cx="2926080" cy="512064"/>
            <a:chOff x="0" y="0"/>
            <a:chExt cx="3901440" cy="682752"/>
          </a:xfrm>
        </p:grpSpPr>
        <p:sp>
          <p:nvSpPr>
            <p:cNvPr name="Freeform 5" id="5"/>
            <p:cNvSpPr/>
            <p:nvPr/>
          </p:nvSpPr>
          <p:spPr>
            <a:xfrm flipH="false" flipV="false" rot="0">
              <a:off x="0" y="0"/>
              <a:ext cx="3901440" cy="682752"/>
            </a:xfrm>
            <a:custGeom>
              <a:avLst/>
              <a:gdLst/>
              <a:ahLst/>
              <a:cxnLst/>
              <a:rect r="r" b="b" t="t" l="l"/>
              <a:pathLst>
                <a:path h="682752" w="3901440">
                  <a:moveTo>
                    <a:pt x="0" y="341376"/>
                  </a:moveTo>
                  <a:cubicBezTo>
                    <a:pt x="0" y="152781"/>
                    <a:pt x="152781" y="0"/>
                    <a:pt x="341376" y="0"/>
                  </a:cubicBezTo>
                  <a:lnTo>
                    <a:pt x="3560064" y="0"/>
                  </a:lnTo>
                  <a:cubicBezTo>
                    <a:pt x="3748659" y="0"/>
                    <a:pt x="3901440" y="152781"/>
                    <a:pt x="3901440" y="341376"/>
                  </a:cubicBezTo>
                  <a:cubicBezTo>
                    <a:pt x="3901440" y="529971"/>
                    <a:pt x="3748659" y="682752"/>
                    <a:pt x="3560064" y="682752"/>
                  </a:cubicBezTo>
                  <a:lnTo>
                    <a:pt x="341376" y="682752"/>
                  </a:lnTo>
                  <a:cubicBezTo>
                    <a:pt x="152781" y="682752"/>
                    <a:pt x="0" y="529971"/>
                    <a:pt x="0" y="341376"/>
                  </a:cubicBezTo>
                  <a:close/>
                </a:path>
              </a:pathLst>
            </a:custGeom>
            <a:solidFill>
              <a:srgbClr val="3B82F6"/>
            </a:solidFill>
          </p:spPr>
        </p:sp>
      </p:grpSp>
      <p:grpSp>
        <p:nvGrpSpPr>
          <p:cNvPr name="Group 6" id="6"/>
          <p:cNvGrpSpPr/>
          <p:nvPr/>
        </p:nvGrpSpPr>
        <p:grpSpPr>
          <a:xfrm rot="0">
            <a:off x="1005840" y="585216"/>
            <a:ext cx="2926080" cy="512064"/>
            <a:chOff x="0" y="0"/>
            <a:chExt cx="3901440" cy="682752"/>
          </a:xfrm>
        </p:grpSpPr>
        <p:sp>
          <p:nvSpPr>
            <p:cNvPr name="Freeform 7" id="7"/>
            <p:cNvSpPr/>
            <p:nvPr/>
          </p:nvSpPr>
          <p:spPr>
            <a:xfrm flipH="false" flipV="false" rot="0">
              <a:off x="0" y="0"/>
              <a:ext cx="3901440" cy="682752"/>
            </a:xfrm>
            <a:custGeom>
              <a:avLst/>
              <a:gdLst/>
              <a:ahLst/>
              <a:cxnLst/>
              <a:rect r="r" b="b" t="t" l="l"/>
              <a:pathLst>
                <a:path h="682752" w="3901440">
                  <a:moveTo>
                    <a:pt x="0" y="0"/>
                  </a:moveTo>
                  <a:lnTo>
                    <a:pt x="3901440" y="0"/>
                  </a:lnTo>
                  <a:lnTo>
                    <a:pt x="3901440" y="682752"/>
                  </a:lnTo>
                  <a:lnTo>
                    <a:pt x="0" y="682752"/>
                  </a:lnTo>
                  <a:close/>
                </a:path>
              </a:pathLst>
            </a:custGeom>
            <a:blipFill>
              <a:blip r:embed="rId3">
                <a:alphaModFix amt="0"/>
              </a:blip>
              <a:stretch>
                <a:fillRect l="0" t="-61343" r="0" b="-61343"/>
              </a:stretch>
            </a:blipFill>
          </p:spPr>
        </p:sp>
        <p:sp>
          <p:nvSpPr>
            <p:cNvPr name="TextBox 8" id="8"/>
            <p:cNvSpPr txBox="true"/>
            <p:nvPr/>
          </p:nvSpPr>
          <p:spPr>
            <a:xfrm>
              <a:off x="0" y="-38100"/>
              <a:ext cx="3901440" cy="72085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METHOD</a:t>
              </a:r>
            </a:p>
          </p:txBody>
        </p:sp>
      </p:grpSp>
      <p:grpSp>
        <p:nvGrpSpPr>
          <p:cNvPr name="Group 9" id="9"/>
          <p:cNvGrpSpPr/>
          <p:nvPr/>
        </p:nvGrpSpPr>
        <p:grpSpPr>
          <a:xfrm rot="0">
            <a:off x="1005840" y="1060704"/>
            <a:ext cx="16276320" cy="877824"/>
            <a:chOff x="0" y="0"/>
            <a:chExt cx="21701760" cy="1170432"/>
          </a:xfrm>
        </p:grpSpPr>
        <p:sp>
          <p:nvSpPr>
            <p:cNvPr name="Freeform 10" id="10"/>
            <p:cNvSpPr/>
            <p:nvPr/>
          </p:nvSpPr>
          <p:spPr>
            <a:xfrm flipH="false" flipV="false" rot="0">
              <a:off x="0" y="0"/>
              <a:ext cx="21701761" cy="1170432"/>
            </a:xfrm>
            <a:custGeom>
              <a:avLst/>
              <a:gdLst/>
              <a:ahLst/>
              <a:cxnLst/>
              <a:rect r="r" b="b" t="t" l="l"/>
              <a:pathLst>
                <a:path h="1170432" w="21701761">
                  <a:moveTo>
                    <a:pt x="0" y="0"/>
                  </a:moveTo>
                  <a:lnTo>
                    <a:pt x="21701761" y="0"/>
                  </a:lnTo>
                  <a:lnTo>
                    <a:pt x="21701761" y="1170432"/>
                  </a:lnTo>
                  <a:lnTo>
                    <a:pt x="0" y="1170432"/>
                  </a:lnTo>
                  <a:close/>
                </a:path>
              </a:pathLst>
            </a:custGeom>
            <a:blipFill>
              <a:blip r:embed="rId3">
                <a:alphaModFix amt="0"/>
              </a:blip>
              <a:stretch>
                <a:fillRect l="0" t="-311285" r="0" b="-311285"/>
              </a:stretch>
            </a:blipFill>
          </p:spPr>
        </p:sp>
        <p:sp>
          <p:nvSpPr>
            <p:cNvPr name="TextBox 11" id="11"/>
            <p:cNvSpPr txBox="true"/>
            <p:nvPr/>
          </p:nvSpPr>
          <p:spPr>
            <a:xfrm>
              <a:off x="0" y="-76200"/>
              <a:ext cx="21701760" cy="1246632"/>
            </a:xfrm>
            <a:prstGeom prst="rect">
              <a:avLst/>
            </a:prstGeom>
          </p:spPr>
          <p:txBody>
            <a:bodyPr anchor="ctr" rtlCol="false" tIns="0" lIns="0" bIns="0" rIns="0"/>
            <a:lstStyle/>
            <a:p>
              <a:pPr algn="l">
                <a:lnSpc>
                  <a:spcPts val="5280"/>
                </a:lnSpc>
              </a:pPr>
              <a:r>
                <a:rPr lang="en-US" sz="4400" b="true">
                  <a:solidFill>
                    <a:srgbClr val="1A2744"/>
                  </a:solidFill>
                  <a:latin typeface="Calibri (MS) Bold"/>
                  <a:ea typeface="Calibri (MS) Bold"/>
                  <a:cs typeface="Calibri (MS) Bold"/>
                  <a:sym typeface="Calibri (MS) Bold"/>
                </a:rPr>
                <a:t>Loss Functions: Quantile &amp; Tube</a:t>
              </a:r>
            </a:p>
          </p:txBody>
        </p:sp>
      </p:grpSp>
      <p:grpSp>
        <p:nvGrpSpPr>
          <p:cNvPr name="Group 12" id="12"/>
          <p:cNvGrpSpPr/>
          <p:nvPr/>
        </p:nvGrpSpPr>
        <p:grpSpPr>
          <a:xfrm rot="0">
            <a:off x="1005840" y="1938528"/>
            <a:ext cx="16276320" cy="457200"/>
            <a:chOff x="0" y="0"/>
            <a:chExt cx="21701760" cy="609600"/>
          </a:xfrm>
        </p:grpSpPr>
        <p:sp>
          <p:nvSpPr>
            <p:cNvPr name="Freeform 13" id="13"/>
            <p:cNvSpPr/>
            <p:nvPr/>
          </p:nvSpPr>
          <p:spPr>
            <a:xfrm flipH="false" flipV="false" rot="0">
              <a:off x="0" y="0"/>
              <a:ext cx="21701761" cy="609600"/>
            </a:xfrm>
            <a:custGeom>
              <a:avLst/>
              <a:gdLst/>
              <a:ahLst/>
              <a:cxnLst/>
              <a:rect r="r" b="b" t="t" l="l"/>
              <a:pathLst>
                <a:path h="609600" w="21701761">
                  <a:moveTo>
                    <a:pt x="0" y="0"/>
                  </a:moveTo>
                  <a:lnTo>
                    <a:pt x="21701761" y="0"/>
                  </a:lnTo>
                  <a:lnTo>
                    <a:pt x="21701761" y="609600"/>
                  </a:lnTo>
                  <a:lnTo>
                    <a:pt x="0" y="609600"/>
                  </a:lnTo>
                  <a:close/>
                </a:path>
              </a:pathLst>
            </a:custGeom>
            <a:blipFill>
              <a:blip r:embed="rId3">
                <a:alphaModFix amt="0"/>
              </a:blip>
              <a:stretch>
                <a:fillRect l="0" t="-643667" r="0" b="-643667"/>
              </a:stretch>
            </a:blipFill>
          </p:spPr>
        </p:sp>
        <p:sp>
          <p:nvSpPr>
            <p:cNvPr name="TextBox 14" id="14"/>
            <p:cNvSpPr txBox="true"/>
            <p:nvPr/>
          </p:nvSpPr>
          <p:spPr>
            <a:xfrm>
              <a:off x="0" y="-47625"/>
              <a:ext cx="21701760" cy="657225"/>
            </a:xfrm>
            <a:prstGeom prst="rect">
              <a:avLst/>
            </a:prstGeom>
          </p:spPr>
          <p:txBody>
            <a:bodyPr anchor="ctr" rtlCol="false" tIns="0" lIns="0" bIns="0" rIns="0"/>
            <a:lstStyle/>
            <a:p>
              <a:pPr algn="l">
                <a:lnSpc>
                  <a:spcPts val="2640"/>
                </a:lnSpc>
              </a:pPr>
              <a:r>
                <a:rPr lang="en-US" sz="2200" i="true">
                  <a:solidFill>
                    <a:srgbClr val="64748B"/>
                  </a:solidFill>
                  <a:latin typeface="Calibri (MS) Italics"/>
                  <a:ea typeface="Calibri (MS) Italics"/>
                  <a:cs typeface="Calibri (MS) Italics"/>
                  <a:sym typeface="Calibri (MS) Italics"/>
                </a:rPr>
                <a:t>Two training objectives for producing calibrated prediction intervals</a:t>
              </a:r>
            </a:p>
          </p:txBody>
        </p:sp>
      </p:grpSp>
      <p:grpSp>
        <p:nvGrpSpPr>
          <p:cNvPr name="Group 15" id="15"/>
          <p:cNvGrpSpPr/>
          <p:nvPr/>
        </p:nvGrpSpPr>
        <p:grpSpPr>
          <a:xfrm rot="0">
            <a:off x="17190720" y="9646920"/>
            <a:ext cx="731520" cy="457200"/>
            <a:chOff x="0" y="0"/>
            <a:chExt cx="975360" cy="609600"/>
          </a:xfrm>
        </p:grpSpPr>
        <p:sp>
          <p:nvSpPr>
            <p:cNvPr name="Freeform 16" id="16"/>
            <p:cNvSpPr/>
            <p:nvPr/>
          </p:nvSpPr>
          <p:spPr>
            <a:xfrm flipH="false" flipV="false" rot="0">
              <a:off x="0" y="0"/>
              <a:ext cx="975360" cy="609600"/>
            </a:xfrm>
            <a:custGeom>
              <a:avLst/>
              <a:gdLst/>
              <a:ahLst/>
              <a:cxnLst/>
              <a:rect r="r" b="b" t="t" l="l"/>
              <a:pathLst>
                <a:path h="609600" w="975360">
                  <a:moveTo>
                    <a:pt x="0" y="0"/>
                  </a:moveTo>
                  <a:lnTo>
                    <a:pt x="975360" y="0"/>
                  </a:lnTo>
                  <a:lnTo>
                    <a:pt x="975360" y="609600"/>
                  </a:lnTo>
                  <a:lnTo>
                    <a:pt x="0" y="609600"/>
                  </a:lnTo>
                  <a:close/>
                </a:path>
              </a:pathLst>
            </a:custGeom>
            <a:blipFill>
              <a:blip r:embed="rId3">
                <a:alphaModFix amt="0"/>
              </a:blip>
              <a:stretch>
                <a:fillRect l="-30189" t="0" r="-30189" b="0"/>
              </a:stretch>
            </a:blipFill>
          </p:spPr>
        </p:sp>
        <p:sp>
          <p:nvSpPr>
            <p:cNvPr name="TextBox 17" id="17"/>
            <p:cNvSpPr txBox="true"/>
            <p:nvPr/>
          </p:nvSpPr>
          <p:spPr>
            <a:xfrm>
              <a:off x="0" y="-38100"/>
              <a:ext cx="975360" cy="647700"/>
            </a:xfrm>
            <a:prstGeom prst="rect">
              <a:avLst/>
            </a:prstGeom>
          </p:spPr>
          <p:txBody>
            <a:bodyPr anchor="ctr" rtlCol="false" tIns="0" lIns="0" bIns="0" rIns="0"/>
            <a:lstStyle/>
            <a:p>
              <a:pPr algn="r">
                <a:lnSpc>
                  <a:spcPts val="2160"/>
                </a:lnSpc>
              </a:pPr>
              <a:r>
                <a:rPr lang="en-US" sz="1800">
                  <a:solidFill>
                    <a:srgbClr val="64748B"/>
                  </a:solidFill>
                  <a:latin typeface="Calibri (MS)"/>
                  <a:ea typeface="Calibri (MS)"/>
                  <a:cs typeface="Calibri (MS)"/>
                  <a:sym typeface="Calibri (MS)"/>
                </a:rPr>
                <a:t>9</a:t>
              </a:r>
            </a:p>
          </p:txBody>
        </p:sp>
      </p:grpSp>
      <p:grpSp>
        <p:nvGrpSpPr>
          <p:cNvPr name="Group 18" id="18"/>
          <p:cNvGrpSpPr/>
          <p:nvPr/>
        </p:nvGrpSpPr>
        <p:grpSpPr>
          <a:xfrm rot="0">
            <a:off x="995677" y="2550157"/>
            <a:ext cx="7878258" cy="7061197"/>
            <a:chOff x="0" y="0"/>
            <a:chExt cx="10504344" cy="9414929"/>
          </a:xfrm>
        </p:grpSpPr>
        <p:sp>
          <p:nvSpPr>
            <p:cNvPr name="Freeform 19" id="19"/>
            <p:cNvSpPr/>
            <p:nvPr/>
          </p:nvSpPr>
          <p:spPr>
            <a:xfrm flipH="false" flipV="false" rot="0">
              <a:off x="13771" y="13589"/>
              <a:ext cx="10476763" cy="9387839"/>
            </a:xfrm>
            <a:custGeom>
              <a:avLst/>
              <a:gdLst/>
              <a:ahLst/>
              <a:cxnLst/>
              <a:rect r="r" b="b" t="t" l="l"/>
              <a:pathLst>
                <a:path h="9387839" w="10476763">
                  <a:moveTo>
                    <a:pt x="130" y="292608"/>
                  </a:moveTo>
                  <a:cubicBezTo>
                    <a:pt x="130" y="130937"/>
                    <a:pt x="134206" y="0"/>
                    <a:pt x="299593" y="0"/>
                  </a:cubicBezTo>
                  <a:lnTo>
                    <a:pt x="10177301" y="0"/>
                  </a:lnTo>
                  <a:cubicBezTo>
                    <a:pt x="10342687" y="0"/>
                    <a:pt x="10476763" y="131064"/>
                    <a:pt x="10476763" y="292608"/>
                  </a:cubicBezTo>
                  <a:lnTo>
                    <a:pt x="10476763" y="9095232"/>
                  </a:lnTo>
                  <a:cubicBezTo>
                    <a:pt x="10476763" y="9256903"/>
                    <a:pt x="10342687" y="9387839"/>
                    <a:pt x="10177301" y="9387839"/>
                  </a:cubicBezTo>
                  <a:lnTo>
                    <a:pt x="299463" y="9387839"/>
                  </a:lnTo>
                  <a:cubicBezTo>
                    <a:pt x="134076" y="9387839"/>
                    <a:pt x="0" y="9256776"/>
                    <a:pt x="0" y="9095232"/>
                  </a:cubicBezTo>
                  <a:close/>
                </a:path>
              </a:pathLst>
            </a:custGeom>
            <a:solidFill>
              <a:srgbClr val="EFF6FF"/>
            </a:solidFill>
          </p:spPr>
        </p:sp>
        <p:sp>
          <p:nvSpPr>
            <p:cNvPr name="Freeform 20" id="20"/>
            <p:cNvSpPr/>
            <p:nvPr/>
          </p:nvSpPr>
          <p:spPr>
            <a:xfrm flipH="false" flipV="false" rot="0">
              <a:off x="0" y="0"/>
              <a:ext cx="10504305" cy="9415018"/>
            </a:xfrm>
            <a:custGeom>
              <a:avLst/>
              <a:gdLst/>
              <a:ahLst/>
              <a:cxnLst/>
              <a:rect r="r" b="b" t="t" l="l"/>
              <a:pathLst>
                <a:path h="9415018" w="10504305">
                  <a:moveTo>
                    <a:pt x="0" y="306197"/>
                  </a:moveTo>
                  <a:cubicBezTo>
                    <a:pt x="0" y="137033"/>
                    <a:pt x="140312" y="0"/>
                    <a:pt x="313234" y="0"/>
                  </a:cubicBezTo>
                  <a:lnTo>
                    <a:pt x="10191072" y="0"/>
                  </a:lnTo>
                  <a:lnTo>
                    <a:pt x="10191072" y="13589"/>
                  </a:lnTo>
                  <a:lnTo>
                    <a:pt x="10191072" y="0"/>
                  </a:lnTo>
                  <a:cubicBezTo>
                    <a:pt x="10364123" y="0"/>
                    <a:pt x="10504305" y="137033"/>
                    <a:pt x="10504305" y="306197"/>
                  </a:cubicBezTo>
                  <a:lnTo>
                    <a:pt x="10490404" y="306197"/>
                  </a:lnTo>
                  <a:lnTo>
                    <a:pt x="10504305" y="306197"/>
                  </a:lnTo>
                  <a:lnTo>
                    <a:pt x="10504305" y="9108821"/>
                  </a:lnTo>
                  <a:lnTo>
                    <a:pt x="10490404" y="9108821"/>
                  </a:lnTo>
                  <a:lnTo>
                    <a:pt x="10504305" y="9108821"/>
                  </a:lnTo>
                  <a:cubicBezTo>
                    <a:pt x="10504305" y="9277858"/>
                    <a:pt x="10363993" y="9415018"/>
                    <a:pt x="10191072" y="9415018"/>
                  </a:cubicBezTo>
                  <a:lnTo>
                    <a:pt x="10191072" y="9401428"/>
                  </a:lnTo>
                  <a:lnTo>
                    <a:pt x="10191072" y="9415018"/>
                  </a:lnTo>
                  <a:lnTo>
                    <a:pt x="313234" y="9415018"/>
                  </a:lnTo>
                  <a:lnTo>
                    <a:pt x="313234" y="9401428"/>
                  </a:lnTo>
                  <a:lnTo>
                    <a:pt x="313234" y="9415018"/>
                  </a:lnTo>
                  <a:cubicBezTo>
                    <a:pt x="140312" y="9414891"/>
                    <a:pt x="0" y="9277858"/>
                    <a:pt x="0" y="9108821"/>
                  </a:cubicBezTo>
                  <a:lnTo>
                    <a:pt x="0" y="306197"/>
                  </a:lnTo>
                  <a:lnTo>
                    <a:pt x="13901" y="306197"/>
                  </a:lnTo>
                  <a:lnTo>
                    <a:pt x="0" y="306197"/>
                  </a:lnTo>
                  <a:moveTo>
                    <a:pt x="27673" y="306197"/>
                  </a:moveTo>
                  <a:lnTo>
                    <a:pt x="27673" y="9108821"/>
                  </a:lnTo>
                  <a:lnTo>
                    <a:pt x="13901" y="9108821"/>
                  </a:lnTo>
                  <a:lnTo>
                    <a:pt x="27673" y="9108821"/>
                  </a:lnTo>
                  <a:cubicBezTo>
                    <a:pt x="27673" y="9262999"/>
                    <a:pt x="155513" y="9387839"/>
                    <a:pt x="313234" y="9387839"/>
                  </a:cubicBezTo>
                  <a:lnTo>
                    <a:pt x="10191072" y="9387839"/>
                  </a:lnTo>
                  <a:cubicBezTo>
                    <a:pt x="10348793" y="9387839"/>
                    <a:pt x="10476633" y="9262872"/>
                    <a:pt x="10476633" y="9108821"/>
                  </a:cubicBezTo>
                  <a:lnTo>
                    <a:pt x="10476633" y="306197"/>
                  </a:lnTo>
                  <a:cubicBezTo>
                    <a:pt x="10476633" y="152019"/>
                    <a:pt x="10348793" y="27178"/>
                    <a:pt x="10191072" y="27178"/>
                  </a:cubicBezTo>
                  <a:lnTo>
                    <a:pt x="313234" y="27178"/>
                  </a:lnTo>
                  <a:lnTo>
                    <a:pt x="313234" y="13589"/>
                  </a:lnTo>
                  <a:lnTo>
                    <a:pt x="313234" y="27051"/>
                  </a:lnTo>
                  <a:cubicBezTo>
                    <a:pt x="155513" y="27051"/>
                    <a:pt x="27673" y="152019"/>
                    <a:pt x="27673" y="306070"/>
                  </a:cubicBezTo>
                  <a:close/>
                </a:path>
              </a:pathLst>
            </a:custGeom>
            <a:solidFill>
              <a:srgbClr val="3B82F6"/>
            </a:solidFill>
          </p:spPr>
        </p:sp>
      </p:grpSp>
      <p:grpSp>
        <p:nvGrpSpPr>
          <p:cNvPr name="Group 21" id="21"/>
          <p:cNvGrpSpPr/>
          <p:nvPr/>
        </p:nvGrpSpPr>
        <p:grpSpPr>
          <a:xfrm rot="0">
            <a:off x="1225296" y="2706624"/>
            <a:ext cx="7242048" cy="640080"/>
            <a:chOff x="0" y="0"/>
            <a:chExt cx="9656064" cy="853440"/>
          </a:xfrm>
        </p:grpSpPr>
        <p:sp>
          <p:nvSpPr>
            <p:cNvPr name="Freeform 22" id="22"/>
            <p:cNvSpPr/>
            <p:nvPr/>
          </p:nvSpPr>
          <p:spPr>
            <a:xfrm flipH="false" flipV="false" rot="0">
              <a:off x="0" y="0"/>
              <a:ext cx="9656064" cy="853440"/>
            </a:xfrm>
            <a:custGeom>
              <a:avLst/>
              <a:gdLst/>
              <a:ahLst/>
              <a:cxnLst/>
              <a:rect r="r" b="b" t="t" l="l"/>
              <a:pathLst>
                <a:path h="853440" w="9656064">
                  <a:moveTo>
                    <a:pt x="0" y="0"/>
                  </a:moveTo>
                  <a:lnTo>
                    <a:pt x="9656064" y="0"/>
                  </a:lnTo>
                  <a:lnTo>
                    <a:pt x="9656064" y="853440"/>
                  </a:lnTo>
                  <a:lnTo>
                    <a:pt x="0" y="853440"/>
                  </a:lnTo>
                  <a:close/>
                </a:path>
              </a:pathLst>
            </a:custGeom>
            <a:blipFill>
              <a:blip r:embed="rId3">
                <a:alphaModFix amt="0"/>
              </a:blip>
              <a:stretch>
                <a:fillRect l="0" t="-170459" r="0" b="-170459"/>
              </a:stretch>
            </a:blipFill>
          </p:spPr>
        </p:sp>
        <p:sp>
          <p:nvSpPr>
            <p:cNvPr name="TextBox 23" id="23"/>
            <p:cNvSpPr txBox="true"/>
            <p:nvPr/>
          </p:nvSpPr>
          <p:spPr>
            <a:xfrm>
              <a:off x="0" y="-57150"/>
              <a:ext cx="9656064" cy="910590"/>
            </a:xfrm>
            <a:prstGeom prst="rect">
              <a:avLst/>
            </a:prstGeom>
          </p:spPr>
          <p:txBody>
            <a:bodyPr anchor="ctr" rtlCol="false" tIns="0" lIns="0" bIns="0" rIns="0"/>
            <a:lstStyle/>
            <a:p>
              <a:pPr algn="l">
                <a:lnSpc>
                  <a:spcPts val="3120"/>
                </a:lnSpc>
              </a:pPr>
              <a:r>
                <a:rPr lang="en-US" sz="2600" b="true">
                  <a:solidFill>
                    <a:srgbClr val="3B82F6"/>
                  </a:solidFill>
                  <a:latin typeface="Calibri (MS) Bold"/>
                  <a:ea typeface="Calibri (MS) Bold"/>
                  <a:cs typeface="Calibri (MS) Bold"/>
                  <a:sym typeface="Calibri (MS) Bold"/>
                </a:rPr>
                <a:t>Quantile (Pinball) Loss</a:t>
              </a:r>
            </a:p>
          </p:txBody>
        </p:sp>
      </p:grpSp>
      <p:grpSp>
        <p:nvGrpSpPr>
          <p:cNvPr name="Group 24" id="24"/>
          <p:cNvGrpSpPr/>
          <p:nvPr/>
        </p:nvGrpSpPr>
        <p:grpSpPr>
          <a:xfrm rot="0">
            <a:off x="1280160" y="3474720"/>
            <a:ext cx="7132320" cy="5852160"/>
            <a:chOff x="0" y="0"/>
            <a:chExt cx="9509760" cy="7802880"/>
          </a:xfrm>
        </p:grpSpPr>
        <p:sp>
          <p:nvSpPr>
            <p:cNvPr name="Freeform 25" id="25"/>
            <p:cNvSpPr/>
            <p:nvPr/>
          </p:nvSpPr>
          <p:spPr>
            <a:xfrm flipH="false" flipV="false" rot="0">
              <a:off x="0" y="0"/>
              <a:ext cx="9509760" cy="7802880"/>
            </a:xfrm>
            <a:custGeom>
              <a:avLst/>
              <a:gdLst/>
              <a:ahLst/>
              <a:cxnLst/>
              <a:rect r="r" b="b" t="t" l="l"/>
              <a:pathLst>
                <a:path h="7802880" w="9509760">
                  <a:moveTo>
                    <a:pt x="0" y="0"/>
                  </a:moveTo>
                  <a:lnTo>
                    <a:pt x="9509760" y="0"/>
                  </a:lnTo>
                  <a:lnTo>
                    <a:pt x="9509760" y="7802880"/>
                  </a:lnTo>
                  <a:lnTo>
                    <a:pt x="0" y="7802880"/>
                  </a:lnTo>
                  <a:close/>
                </a:path>
              </a:pathLst>
            </a:custGeom>
            <a:blipFill>
              <a:blip r:embed="rId3">
                <a:alphaModFix amt="0"/>
              </a:blip>
              <a:stretch>
                <a:fillRect l="-55274" t="0" r="-55274" b="0"/>
              </a:stretch>
            </a:blipFill>
          </p:spPr>
        </p:sp>
        <p:sp>
          <p:nvSpPr>
            <p:cNvPr name="TextBox 26" id="26"/>
            <p:cNvSpPr txBox="true"/>
            <p:nvPr/>
          </p:nvSpPr>
          <p:spPr>
            <a:xfrm>
              <a:off x="0" y="-38100"/>
              <a:ext cx="9509760" cy="7840980"/>
            </a:xfrm>
            <a:prstGeom prst="rect">
              <a:avLst/>
            </a:prstGeom>
          </p:spPr>
          <p:txBody>
            <a:bodyPr anchor="ctr" rtlCol="false" tIns="0" lIns="0" bIns="0" rIns="0"/>
            <a:lstStyle/>
            <a:p>
              <a:pPr algn="l">
                <a:lnSpc>
                  <a:spcPts val="2879"/>
                </a:lnSpc>
              </a:pPr>
            </a:p>
            <a:p>
              <a:pPr algn="l">
                <a:lnSpc>
                  <a:spcPts val="2879"/>
                </a:lnSpc>
              </a:pPr>
            </a:p>
            <a:p>
              <a:pPr algn="l">
                <a:lnSpc>
                  <a:spcPts val="2520"/>
                </a:lnSpc>
              </a:pPr>
            </a:p>
            <a:p>
              <a:pPr algn="l">
                <a:lnSpc>
                  <a:spcPts val="2640"/>
                </a:lnSpc>
              </a:pPr>
              <a:r>
                <a:rPr lang="en-US" sz="2200">
                  <a:solidFill>
                    <a:srgbClr val="334155"/>
                  </a:solidFill>
                  <a:latin typeface="Calibri (MS)"/>
                  <a:ea typeface="Calibri (MS)"/>
                  <a:cs typeface="Calibri (MS)"/>
                  <a:sym typeface="Calibri (MS)"/>
                </a:rPr>
                <a:t>q_lo = 0.10 (lower bound)</a:t>
              </a:r>
            </a:p>
            <a:p>
              <a:pPr algn="l">
                <a:lnSpc>
                  <a:spcPts val="2640"/>
                </a:lnSpc>
              </a:pPr>
              <a:r>
                <a:rPr lang="en-US" sz="2200">
                  <a:solidFill>
                    <a:srgbClr val="334155"/>
                  </a:solidFill>
                  <a:latin typeface="Calibri (MS)"/>
                  <a:ea typeface="Calibri (MS)"/>
                  <a:cs typeface="Calibri (MS)"/>
                  <a:sym typeface="Calibri (MS)"/>
                </a:rPr>
                <a:t>q_hi = 0.90 (upper bound)</a:t>
              </a:r>
            </a:p>
            <a:p>
              <a:pPr algn="l">
                <a:lnSpc>
                  <a:spcPts val="2640"/>
                </a:lnSpc>
              </a:pPr>
            </a:p>
            <a:p>
              <a:pPr algn="l">
                <a:lnSpc>
                  <a:spcPts val="2520"/>
                </a:lnSpc>
              </a:pPr>
            </a:p>
            <a:p>
              <a:pPr algn="l">
                <a:lnSpc>
                  <a:spcPts val="2520"/>
                </a:lnSpc>
              </a:pPr>
              <a:r>
                <a:rPr lang="en-US" sz="2100">
                  <a:solidFill>
                    <a:srgbClr val="334155"/>
                  </a:solidFill>
                  <a:latin typeface="Calibri (MS)"/>
                  <a:ea typeface="Calibri (MS)"/>
                  <a:cs typeface="Calibri (MS)"/>
                  <a:sym typeface="Calibri (MS)"/>
                </a:rPr>
                <a:t>For q=0.10: under-prediction penalised 9× more than over-prediction. This asymmetry teaches the model where the 10th percentile is.</a:t>
              </a:r>
            </a:p>
            <a:p>
              <a:pPr algn="l">
                <a:lnSpc>
                  <a:spcPts val="2520"/>
                </a:lnSpc>
              </a:pPr>
            </a:p>
            <a:p>
              <a:pPr algn="l">
                <a:lnSpc>
                  <a:spcPts val="2520"/>
                </a:lnSpc>
              </a:pPr>
            </a:p>
            <a:p>
              <a:pPr algn="l">
                <a:lnSpc>
                  <a:spcPts val="2520"/>
                </a:lnSpc>
              </a:pPr>
              <a:r>
                <a:rPr lang="en-US" sz="2100">
                  <a:solidFill>
                    <a:srgbClr val="334155"/>
                  </a:solidFill>
                  <a:latin typeface="Calibri (MS)"/>
                  <a:ea typeface="Calibri (MS)"/>
                  <a:cs typeface="Calibri (MS)"/>
                  <a:sym typeface="Calibri (MS)"/>
                </a:rPr>
                <a:t>Directly targets specific quantile values — no distributional assumption.</a:t>
              </a:r>
            </a:p>
            <a:p>
              <a:pPr algn="l">
                <a:lnSpc>
                  <a:spcPts val="2520"/>
                </a:lnSpc>
              </a:pPr>
            </a:p>
            <a:p>
              <a:pPr algn="l">
                <a:lnSpc>
                  <a:spcPts val="2520"/>
                </a:lnSpc>
              </a:pPr>
            </a:p>
            <a:p>
              <a:pPr algn="l">
                <a:lnSpc>
                  <a:spcPts val="2640"/>
                </a:lnSpc>
              </a:pPr>
            </a:p>
          </p:txBody>
        </p:sp>
      </p:grpSp>
      <p:grpSp>
        <p:nvGrpSpPr>
          <p:cNvPr name="Group 27" id="27"/>
          <p:cNvGrpSpPr/>
          <p:nvPr/>
        </p:nvGrpSpPr>
        <p:grpSpPr>
          <a:xfrm rot="0">
            <a:off x="9144000" y="2550157"/>
            <a:ext cx="8778240" cy="7061197"/>
            <a:chOff x="0" y="0"/>
            <a:chExt cx="11704320" cy="9414929"/>
          </a:xfrm>
        </p:grpSpPr>
        <p:sp>
          <p:nvSpPr>
            <p:cNvPr name="Freeform 28" id="28"/>
            <p:cNvSpPr/>
            <p:nvPr/>
          </p:nvSpPr>
          <p:spPr>
            <a:xfrm flipH="false" flipV="false" rot="0">
              <a:off x="14989" y="13589"/>
              <a:ext cx="11674300" cy="9387839"/>
            </a:xfrm>
            <a:custGeom>
              <a:avLst/>
              <a:gdLst/>
              <a:ahLst/>
              <a:cxnLst/>
              <a:rect r="r" b="b" t="t" l="l"/>
              <a:pathLst>
                <a:path h="9387839" w="11674300">
                  <a:moveTo>
                    <a:pt x="141" y="292608"/>
                  </a:moveTo>
                  <a:cubicBezTo>
                    <a:pt x="141" y="130937"/>
                    <a:pt x="146068" y="0"/>
                    <a:pt x="326073" y="0"/>
                  </a:cubicBezTo>
                  <a:lnTo>
                    <a:pt x="11348368" y="0"/>
                  </a:lnTo>
                  <a:cubicBezTo>
                    <a:pt x="11528372" y="0"/>
                    <a:pt x="11674300" y="131064"/>
                    <a:pt x="11674300" y="292608"/>
                  </a:cubicBezTo>
                  <a:lnTo>
                    <a:pt x="11674300" y="9095232"/>
                  </a:lnTo>
                  <a:cubicBezTo>
                    <a:pt x="11674300" y="9256903"/>
                    <a:pt x="11528372" y="9387839"/>
                    <a:pt x="11348368" y="9387839"/>
                  </a:cubicBezTo>
                  <a:lnTo>
                    <a:pt x="325932" y="9387839"/>
                  </a:lnTo>
                  <a:cubicBezTo>
                    <a:pt x="145927" y="9387839"/>
                    <a:pt x="0" y="9256776"/>
                    <a:pt x="0" y="9095232"/>
                  </a:cubicBezTo>
                  <a:close/>
                </a:path>
              </a:pathLst>
            </a:custGeom>
            <a:solidFill>
              <a:srgbClr val="EFF6FF"/>
            </a:solidFill>
          </p:spPr>
        </p:sp>
        <p:sp>
          <p:nvSpPr>
            <p:cNvPr name="Freeform 29" id="29"/>
            <p:cNvSpPr/>
            <p:nvPr/>
          </p:nvSpPr>
          <p:spPr>
            <a:xfrm flipH="false" flipV="false" rot="0">
              <a:off x="0" y="0"/>
              <a:ext cx="11704137" cy="9415018"/>
            </a:xfrm>
            <a:custGeom>
              <a:avLst/>
              <a:gdLst/>
              <a:ahLst/>
              <a:cxnLst/>
              <a:rect r="r" b="b" t="t" l="l"/>
              <a:pathLst>
                <a:path h="9415018" w="11704137">
                  <a:moveTo>
                    <a:pt x="0" y="306197"/>
                  </a:moveTo>
                  <a:cubicBezTo>
                    <a:pt x="0" y="137033"/>
                    <a:pt x="152714" y="0"/>
                    <a:pt x="340921" y="0"/>
                  </a:cubicBezTo>
                  <a:lnTo>
                    <a:pt x="11363216" y="0"/>
                  </a:lnTo>
                  <a:lnTo>
                    <a:pt x="11363216" y="13589"/>
                  </a:lnTo>
                  <a:lnTo>
                    <a:pt x="11363216" y="0"/>
                  </a:lnTo>
                  <a:cubicBezTo>
                    <a:pt x="11551563" y="0"/>
                    <a:pt x="11704137" y="137033"/>
                    <a:pt x="11704137" y="306197"/>
                  </a:cubicBezTo>
                  <a:lnTo>
                    <a:pt x="11689007" y="306197"/>
                  </a:lnTo>
                  <a:lnTo>
                    <a:pt x="11704137" y="306197"/>
                  </a:lnTo>
                  <a:lnTo>
                    <a:pt x="11704137" y="9108821"/>
                  </a:lnTo>
                  <a:lnTo>
                    <a:pt x="11689007" y="9108821"/>
                  </a:lnTo>
                  <a:lnTo>
                    <a:pt x="11704137" y="9108821"/>
                  </a:lnTo>
                  <a:cubicBezTo>
                    <a:pt x="11704137" y="9277858"/>
                    <a:pt x="11551421" y="9415018"/>
                    <a:pt x="11363216" y="9415018"/>
                  </a:cubicBezTo>
                  <a:lnTo>
                    <a:pt x="11363216" y="9401428"/>
                  </a:lnTo>
                  <a:lnTo>
                    <a:pt x="11363216" y="9415018"/>
                  </a:lnTo>
                  <a:lnTo>
                    <a:pt x="340921" y="9415018"/>
                  </a:lnTo>
                  <a:lnTo>
                    <a:pt x="340921" y="9401428"/>
                  </a:lnTo>
                  <a:lnTo>
                    <a:pt x="340921" y="9415018"/>
                  </a:lnTo>
                  <a:cubicBezTo>
                    <a:pt x="152714" y="9414891"/>
                    <a:pt x="0" y="9277858"/>
                    <a:pt x="0" y="9108821"/>
                  </a:cubicBezTo>
                  <a:lnTo>
                    <a:pt x="0" y="306197"/>
                  </a:lnTo>
                  <a:lnTo>
                    <a:pt x="15130" y="306197"/>
                  </a:lnTo>
                  <a:lnTo>
                    <a:pt x="0" y="306197"/>
                  </a:lnTo>
                  <a:moveTo>
                    <a:pt x="30119" y="306197"/>
                  </a:moveTo>
                  <a:lnTo>
                    <a:pt x="30119" y="9108821"/>
                  </a:lnTo>
                  <a:lnTo>
                    <a:pt x="15130" y="9108821"/>
                  </a:lnTo>
                  <a:lnTo>
                    <a:pt x="30119" y="9108821"/>
                  </a:lnTo>
                  <a:cubicBezTo>
                    <a:pt x="30119" y="9262999"/>
                    <a:pt x="169258" y="9387839"/>
                    <a:pt x="340921" y="9387839"/>
                  </a:cubicBezTo>
                  <a:lnTo>
                    <a:pt x="11363216" y="9387839"/>
                  </a:lnTo>
                  <a:cubicBezTo>
                    <a:pt x="11534878" y="9387839"/>
                    <a:pt x="11674018" y="9262872"/>
                    <a:pt x="11674018" y="9108821"/>
                  </a:cubicBezTo>
                  <a:lnTo>
                    <a:pt x="11674018" y="306197"/>
                  </a:lnTo>
                  <a:cubicBezTo>
                    <a:pt x="11674018" y="152019"/>
                    <a:pt x="11534878" y="27178"/>
                    <a:pt x="11363216" y="27178"/>
                  </a:cubicBezTo>
                  <a:lnTo>
                    <a:pt x="340921" y="27178"/>
                  </a:lnTo>
                  <a:lnTo>
                    <a:pt x="340921" y="13589"/>
                  </a:lnTo>
                  <a:lnTo>
                    <a:pt x="340921" y="27051"/>
                  </a:lnTo>
                  <a:cubicBezTo>
                    <a:pt x="169258" y="27051"/>
                    <a:pt x="30119" y="152019"/>
                    <a:pt x="30119" y="306070"/>
                  </a:cubicBezTo>
                  <a:close/>
                </a:path>
              </a:pathLst>
            </a:custGeom>
            <a:solidFill>
              <a:srgbClr val="D97706"/>
            </a:solidFill>
          </p:spPr>
        </p:sp>
      </p:grpSp>
      <p:grpSp>
        <p:nvGrpSpPr>
          <p:cNvPr name="Group 30" id="30"/>
          <p:cNvGrpSpPr/>
          <p:nvPr/>
        </p:nvGrpSpPr>
        <p:grpSpPr>
          <a:xfrm rot="0">
            <a:off x="9449290" y="2706624"/>
            <a:ext cx="7315200" cy="640080"/>
            <a:chOff x="0" y="0"/>
            <a:chExt cx="9753600" cy="853440"/>
          </a:xfrm>
        </p:grpSpPr>
        <p:sp>
          <p:nvSpPr>
            <p:cNvPr name="Freeform 31" id="31"/>
            <p:cNvSpPr/>
            <p:nvPr/>
          </p:nvSpPr>
          <p:spPr>
            <a:xfrm flipH="false" flipV="false" rot="0">
              <a:off x="0" y="0"/>
              <a:ext cx="9753600" cy="853440"/>
            </a:xfrm>
            <a:custGeom>
              <a:avLst/>
              <a:gdLst/>
              <a:ahLst/>
              <a:cxnLst/>
              <a:rect r="r" b="b" t="t" l="l"/>
              <a:pathLst>
                <a:path h="853440" w="9753600">
                  <a:moveTo>
                    <a:pt x="0" y="0"/>
                  </a:moveTo>
                  <a:lnTo>
                    <a:pt x="9753600" y="0"/>
                  </a:lnTo>
                  <a:lnTo>
                    <a:pt x="9753600" y="853440"/>
                  </a:lnTo>
                  <a:lnTo>
                    <a:pt x="0" y="853440"/>
                  </a:lnTo>
                  <a:close/>
                </a:path>
              </a:pathLst>
            </a:custGeom>
            <a:blipFill>
              <a:blip r:embed="rId3">
                <a:alphaModFix amt="0"/>
              </a:blip>
              <a:stretch>
                <a:fillRect l="0" t="-172686" r="0" b="-172686"/>
              </a:stretch>
            </a:blipFill>
          </p:spPr>
        </p:sp>
        <p:sp>
          <p:nvSpPr>
            <p:cNvPr name="TextBox 32" id="32"/>
            <p:cNvSpPr txBox="true"/>
            <p:nvPr/>
          </p:nvSpPr>
          <p:spPr>
            <a:xfrm>
              <a:off x="0" y="-57150"/>
              <a:ext cx="9753600" cy="910590"/>
            </a:xfrm>
            <a:prstGeom prst="rect">
              <a:avLst/>
            </a:prstGeom>
          </p:spPr>
          <p:txBody>
            <a:bodyPr anchor="ctr" rtlCol="false" tIns="0" lIns="0" bIns="0" rIns="0"/>
            <a:lstStyle/>
            <a:p>
              <a:pPr algn="l">
                <a:lnSpc>
                  <a:spcPts val="3120"/>
                </a:lnSpc>
              </a:pPr>
              <a:r>
                <a:rPr lang="en-US" sz="2600" b="true">
                  <a:solidFill>
                    <a:srgbClr val="D97706"/>
                  </a:solidFill>
                  <a:latin typeface="Calibri (MS) Bold"/>
                  <a:ea typeface="Calibri (MS) Bold"/>
                  <a:cs typeface="Calibri (MS) Bold"/>
                  <a:sym typeface="Calibri (MS) Bold"/>
                </a:rPr>
                <a:t>Tube Loss </a:t>
              </a:r>
            </a:p>
          </p:txBody>
        </p:sp>
      </p:grpSp>
      <p:grpSp>
        <p:nvGrpSpPr>
          <p:cNvPr name="Group 33" id="33"/>
          <p:cNvGrpSpPr/>
          <p:nvPr/>
        </p:nvGrpSpPr>
        <p:grpSpPr>
          <a:xfrm rot="0">
            <a:off x="9449290" y="3406140"/>
            <a:ext cx="7315200" cy="6209054"/>
            <a:chOff x="0" y="0"/>
            <a:chExt cx="9753600" cy="8278738"/>
          </a:xfrm>
        </p:grpSpPr>
        <p:sp>
          <p:nvSpPr>
            <p:cNvPr name="Freeform 34" id="34"/>
            <p:cNvSpPr/>
            <p:nvPr/>
          </p:nvSpPr>
          <p:spPr>
            <a:xfrm flipH="false" flipV="false" rot="0">
              <a:off x="0" y="0"/>
              <a:ext cx="9753600" cy="8278738"/>
            </a:xfrm>
            <a:custGeom>
              <a:avLst/>
              <a:gdLst/>
              <a:ahLst/>
              <a:cxnLst/>
              <a:rect r="r" b="b" t="t" l="l"/>
              <a:pathLst>
                <a:path h="8278738" w="9753600">
                  <a:moveTo>
                    <a:pt x="0" y="0"/>
                  </a:moveTo>
                  <a:lnTo>
                    <a:pt x="9753600" y="0"/>
                  </a:lnTo>
                  <a:lnTo>
                    <a:pt x="9753600" y="8278738"/>
                  </a:lnTo>
                  <a:lnTo>
                    <a:pt x="0" y="8278738"/>
                  </a:lnTo>
                  <a:close/>
                </a:path>
              </a:pathLst>
            </a:custGeom>
            <a:blipFill>
              <a:blip r:embed="rId3">
                <a:alphaModFix amt="0"/>
              </a:blip>
              <a:stretch>
                <a:fillRect l="-52642" t="0" r="-52642" b="5747"/>
              </a:stretch>
            </a:blipFill>
          </p:spPr>
        </p:sp>
        <p:sp>
          <p:nvSpPr>
            <p:cNvPr name="TextBox 35" id="35"/>
            <p:cNvSpPr txBox="true"/>
            <p:nvPr/>
          </p:nvSpPr>
          <p:spPr>
            <a:xfrm>
              <a:off x="0" y="-47625"/>
              <a:ext cx="9753600" cy="8326363"/>
            </a:xfrm>
            <a:prstGeom prst="rect">
              <a:avLst/>
            </a:prstGeom>
          </p:spPr>
          <p:txBody>
            <a:bodyPr anchor="ctr" rtlCol="false" tIns="0" lIns="0" bIns="0" rIns="0"/>
            <a:lstStyle/>
            <a:p>
              <a:pPr algn="l">
                <a:lnSpc>
                  <a:spcPts val="2640"/>
                </a:lnSpc>
              </a:pPr>
            </a:p>
            <a:p>
              <a:pPr algn="l">
                <a:lnSpc>
                  <a:spcPts val="2640"/>
                </a:lnSpc>
              </a:pPr>
            </a:p>
            <a:p>
              <a:pPr algn="l">
                <a:lnSpc>
                  <a:spcPts val="2400"/>
                </a:lnSpc>
              </a:pPr>
            </a:p>
            <a:p>
              <a:pPr algn="l">
                <a:lnSpc>
                  <a:spcPts val="2639"/>
                </a:lnSpc>
              </a:pPr>
            </a:p>
            <a:p>
              <a:pPr algn="l">
                <a:lnSpc>
                  <a:spcPts val="2639"/>
                </a:lnSpc>
              </a:pPr>
            </a:p>
            <a:p>
              <a:pPr algn="l">
                <a:lnSpc>
                  <a:spcPts val="2639"/>
                </a:lnSpc>
              </a:pPr>
            </a:p>
            <a:p>
              <a:pPr algn="l">
                <a:lnSpc>
                  <a:spcPts val="2639"/>
                </a:lnSpc>
              </a:pPr>
            </a:p>
            <a:p>
              <a:pPr algn="l">
                <a:lnSpc>
                  <a:spcPts val="2639"/>
                </a:lnSpc>
              </a:pPr>
            </a:p>
            <a:p>
              <a:pPr algn="l">
                <a:lnSpc>
                  <a:spcPts val="2639"/>
                </a:lnSpc>
              </a:pPr>
            </a:p>
            <a:p>
              <a:pPr algn="l">
                <a:lnSpc>
                  <a:spcPts val="2640"/>
                </a:lnSpc>
              </a:pPr>
              <a:r>
                <a:rPr lang="en-US" sz="2200">
                  <a:solidFill>
                    <a:srgbClr val="334155"/>
                  </a:solidFill>
                  <a:latin typeface="Calibri (MS)"/>
                  <a:ea typeface="Calibri (MS)"/>
                  <a:cs typeface="Calibri (MS)"/>
                  <a:sym typeface="Calibri (MS)"/>
                </a:rPr>
                <a:t>r = 0.5 (symmetric)</a:t>
              </a:r>
            </a:p>
            <a:p>
              <a:pPr algn="l">
                <a:lnSpc>
                  <a:spcPts val="2640"/>
                </a:lnSpc>
              </a:pPr>
              <a:r>
                <a:rPr lang="en-US" sz="2200">
                  <a:solidFill>
                    <a:srgbClr val="334155"/>
                  </a:solidFill>
                  <a:latin typeface="Calibri (MS)"/>
                  <a:ea typeface="Calibri (MS)"/>
                  <a:cs typeface="Calibri (MS)"/>
                  <a:sym typeface="Calibri (MS)"/>
                </a:rPr>
                <a:t>δ = 0.01 (SLA) / 0.03 (SWH)</a:t>
              </a:r>
            </a:p>
            <a:p>
              <a:pPr algn="l">
                <a:lnSpc>
                  <a:spcPts val="2640"/>
                </a:lnSpc>
              </a:pPr>
            </a:p>
            <a:p>
              <a:pPr algn="l">
                <a:lnSpc>
                  <a:spcPts val="2400"/>
                </a:lnSpc>
              </a:pPr>
            </a:p>
            <a:p>
              <a:pPr algn="l">
                <a:lnSpc>
                  <a:spcPts val="2520"/>
                </a:lnSpc>
              </a:pPr>
              <a:r>
                <a:rPr lang="en-US" sz="2100">
                  <a:solidFill>
                    <a:srgbClr val="334155"/>
                  </a:solidFill>
                  <a:latin typeface="Calibri (MS)"/>
                  <a:ea typeface="Calibri (MS)"/>
                  <a:cs typeface="Calibri (MS)"/>
                  <a:sym typeface="Calibri (MS)"/>
                </a:rPr>
                <a:t>δ controls width-coverage tradeoff:</a:t>
              </a:r>
            </a:p>
            <a:p>
              <a:pPr algn="l">
                <a:lnSpc>
                  <a:spcPts val="2520"/>
                </a:lnSpc>
              </a:pPr>
              <a:r>
                <a:rPr lang="en-US" sz="2100">
                  <a:solidFill>
                    <a:srgbClr val="334155"/>
                  </a:solidFill>
                  <a:latin typeface="Calibri (MS)"/>
                  <a:ea typeface="Calibri (MS)"/>
                  <a:cs typeface="Calibri (MS)"/>
                  <a:sym typeface="Calibri (MS)"/>
                </a:rPr>
                <a:t>Large δ → wide intervals, high PICP</a:t>
              </a:r>
            </a:p>
            <a:p>
              <a:pPr algn="l">
                <a:lnSpc>
                  <a:spcPts val="2520"/>
                </a:lnSpc>
              </a:pPr>
              <a:r>
                <a:rPr lang="en-US" sz="2100">
                  <a:solidFill>
                    <a:srgbClr val="334155"/>
                  </a:solidFill>
                  <a:latin typeface="Calibri (MS)"/>
                  <a:ea typeface="Calibri (MS)"/>
                  <a:cs typeface="Calibri (MS)"/>
                  <a:sym typeface="Calibri (MS)"/>
                </a:rPr>
                <a:t>Small δ → narrow intervals, risk of under-coverage</a:t>
              </a:r>
            </a:p>
            <a:p>
              <a:pPr algn="l">
                <a:lnSpc>
                  <a:spcPts val="2520"/>
                </a:lnSpc>
              </a:pPr>
            </a:p>
            <a:p>
              <a:pPr algn="l">
                <a:lnSpc>
                  <a:spcPts val="2400"/>
                </a:lnSpc>
              </a:pPr>
            </a:p>
            <a:p>
              <a:pPr algn="l">
                <a:lnSpc>
                  <a:spcPts val="2400"/>
                </a:lnSpc>
              </a:pPr>
            </a:p>
          </p:txBody>
        </p:sp>
      </p:grpSp>
      <p:pic>
        <p:nvPicPr>
          <p:cNvPr name="Picture 36" id="36"/>
          <p:cNvPicPr>
            <a:picLocks noChangeAspect="true"/>
          </p:cNvPicPr>
          <p:nvPr/>
        </p:nvPicPr>
        <p:blipFill>
          <a:blip r:embed="rId4"/>
          <a:stretch>
            <a:fillRect/>
          </a:stretch>
        </p:blipFill>
        <p:spPr>
          <a:xfrm rot="0">
            <a:off x="598879" y="2793439"/>
            <a:ext cx="8175374" cy="2177188"/>
          </a:xfrm>
          <a:prstGeom prst="rect">
            <a:avLst/>
          </a:prstGeom>
        </p:spPr>
      </p:pic>
      <p:pic>
        <p:nvPicPr>
          <p:cNvPr name="Picture 37" id="37"/>
          <p:cNvPicPr>
            <a:picLocks noChangeAspect="true"/>
          </p:cNvPicPr>
          <p:nvPr/>
        </p:nvPicPr>
        <p:blipFill>
          <a:blip r:embed="rId5"/>
          <a:stretch>
            <a:fillRect/>
          </a:stretch>
        </p:blipFill>
        <p:spPr>
          <a:xfrm rot="0">
            <a:off x="8485632" y="2633472"/>
            <a:ext cx="10094976" cy="2615193"/>
          </a:xfrm>
          <a:prstGeom prst="rect">
            <a:avLst/>
          </a:prstGeom>
        </p:spPr>
      </p:pic>
      <p:pic>
        <p:nvPicPr>
          <p:cNvPr name="Picture 38" id="38"/>
          <p:cNvPicPr>
            <a:picLocks noChangeAspect="true"/>
          </p:cNvPicPr>
          <p:nvPr/>
        </p:nvPicPr>
        <p:blipFill>
          <a:blip r:embed="rId6"/>
          <a:stretch>
            <a:fillRect/>
          </a:stretch>
        </p:blipFill>
        <p:spPr>
          <a:xfrm rot="0">
            <a:off x="8707074" y="4146844"/>
            <a:ext cx="7437667" cy="1993311"/>
          </a:xfrm>
          <a:prstGeom prst="rect">
            <a:avLst/>
          </a:prstGeom>
        </p:spPr>
      </p:pic>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73152"/>
            <a:chOff x="0" y="0"/>
            <a:chExt cx="24384000" cy="97536"/>
          </a:xfrm>
        </p:grpSpPr>
        <p:sp>
          <p:nvSpPr>
            <p:cNvPr name="Freeform 3" id="3"/>
            <p:cNvSpPr/>
            <p:nvPr/>
          </p:nvSpPr>
          <p:spPr>
            <a:xfrm flipH="false" flipV="false" rot="0">
              <a:off x="0" y="0"/>
              <a:ext cx="24384000" cy="97536"/>
            </a:xfrm>
            <a:custGeom>
              <a:avLst/>
              <a:gdLst/>
              <a:ahLst/>
              <a:cxnLst/>
              <a:rect r="r" b="b" t="t" l="l"/>
              <a:pathLst>
                <a:path h="97536" w="24384000">
                  <a:moveTo>
                    <a:pt x="0" y="0"/>
                  </a:moveTo>
                  <a:lnTo>
                    <a:pt x="24384000" y="0"/>
                  </a:lnTo>
                  <a:lnTo>
                    <a:pt x="24384000" y="97536"/>
                  </a:lnTo>
                  <a:lnTo>
                    <a:pt x="0" y="97536"/>
                  </a:lnTo>
                  <a:close/>
                </a:path>
              </a:pathLst>
            </a:custGeom>
            <a:solidFill>
              <a:srgbClr val="3B82F6"/>
            </a:solidFill>
          </p:spPr>
        </p:sp>
      </p:grpSp>
      <p:grpSp>
        <p:nvGrpSpPr>
          <p:cNvPr name="Group 4" id="4"/>
          <p:cNvGrpSpPr/>
          <p:nvPr/>
        </p:nvGrpSpPr>
        <p:grpSpPr>
          <a:xfrm rot="0">
            <a:off x="1005840" y="585216"/>
            <a:ext cx="2926080" cy="512064"/>
            <a:chOff x="0" y="0"/>
            <a:chExt cx="3901440" cy="682752"/>
          </a:xfrm>
        </p:grpSpPr>
        <p:sp>
          <p:nvSpPr>
            <p:cNvPr name="Freeform 5" id="5"/>
            <p:cNvSpPr/>
            <p:nvPr/>
          </p:nvSpPr>
          <p:spPr>
            <a:xfrm flipH="false" flipV="false" rot="0">
              <a:off x="0" y="0"/>
              <a:ext cx="3901440" cy="682752"/>
            </a:xfrm>
            <a:custGeom>
              <a:avLst/>
              <a:gdLst/>
              <a:ahLst/>
              <a:cxnLst/>
              <a:rect r="r" b="b" t="t" l="l"/>
              <a:pathLst>
                <a:path h="682752" w="3901440">
                  <a:moveTo>
                    <a:pt x="0" y="341376"/>
                  </a:moveTo>
                  <a:cubicBezTo>
                    <a:pt x="0" y="152781"/>
                    <a:pt x="152781" y="0"/>
                    <a:pt x="341376" y="0"/>
                  </a:cubicBezTo>
                  <a:lnTo>
                    <a:pt x="3560064" y="0"/>
                  </a:lnTo>
                  <a:cubicBezTo>
                    <a:pt x="3748659" y="0"/>
                    <a:pt x="3901440" y="152781"/>
                    <a:pt x="3901440" y="341376"/>
                  </a:cubicBezTo>
                  <a:cubicBezTo>
                    <a:pt x="3901440" y="529971"/>
                    <a:pt x="3748659" y="682752"/>
                    <a:pt x="3560064" y="682752"/>
                  </a:cubicBezTo>
                  <a:lnTo>
                    <a:pt x="341376" y="682752"/>
                  </a:lnTo>
                  <a:cubicBezTo>
                    <a:pt x="152781" y="682752"/>
                    <a:pt x="0" y="529971"/>
                    <a:pt x="0" y="341376"/>
                  </a:cubicBezTo>
                  <a:close/>
                </a:path>
              </a:pathLst>
            </a:custGeom>
            <a:solidFill>
              <a:srgbClr val="3B82F6"/>
            </a:solidFill>
          </p:spPr>
        </p:sp>
      </p:grpSp>
      <p:grpSp>
        <p:nvGrpSpPr>
          <p:cNvPr name="Group 6" id="6"/>
          <p:cNvGrpSpPr/>
          <p:nvPr/>
        </p:nvGrpSpPr>
        <p:grpSpPr>
          <a:xfrm rot="0">
            <a:off x="1005840" y="585216"/>
            <a:ext cx="2926080" cy="512064"/>
            <a:chOff x="0" y="0"/>
            <a:chExt cx="3901440" cy="682752"/>
          </a:xfrm>
        </p:grpSpPr>
        <p:sp>
          <p:nvSpPr>
            <p:cNvPr name="Freeform 7" id="7"/>
            <p:cNvSpPr/>
            <p:nvPr/>
          </p:nvSpPr>
          <p:spPr>
            <a:xfrm flipH="false" flipV="false" rot="0">
              <a:off x="0" y="0"/>
              <a:ext cx="3901440" cy="682752"/>
            </a:xfrm>
            <a:custGeom>
              <a:avLst/>
              <a:gdLst/>
              <a:ahLst/>
              <a:cxnLst/>
              <a:rect r="r" b="b" t="t" l="l"/>
              <a:pathLst>
                <a:path h="682752" w="3901440">
                  <a:moveTo>
                    <a:pt x="0" y="0"/>
                  </a:moveTo>
                  <a:lnTo>
                    <a:pt x="3901440" y="0"/>
                  </a:lnTo>
                  <a:lnTo>
                    <a:pt x="3901440" y="682752"/>
                  </a:lnTo>
                  <a:lnTo>
                    <a:pt x="0" y="682752"/>
                  </a:lnTo>
                  <a:close/>
                </a:path>
              </a:pathLst>
            </a:custGeom>
            <a:blipFill>
              <a:blip r:embed="rId3">
                <a:alphaModFix amt="0"/>
              </a:blip>
              <a:stretch>
                <a:fillRect l="0" t="-61343" r="0" b="-61343"/>
              </a:stretch>
            </a:blipFill>
          </p:spPr>
        </p:sp>
        <p:sp>
          <p:nvSpPr>
            <p:cNvPr name="TextBox 8" id="8"/>
            <p:cNvSpPr txBox="true"/>
            <p:nvPr/>
          </p:nvSpPr>
          <p:spPr>
            <a:xfrm>
              <a:off x="0" y="-38100"/>
              <a:ext cx="3901440" cy="72085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METHOD</a:t>
              </a:r>
            </a:p>
          </p:txBody>
        </p:sp>
      </p:grpSp>
      <p:grpSp>
        <p:nvGrpSpPr>
          <p:cNvPr name="Group 9" id="9"/>
          <p:cNvGrpSpPr/>
          <p:nvPr/>
        </p:nvGrpSpPr>
        <p:grpSpPr>
          <a:xfrm rot="0">
            <a:off x="1005840" y="1060704"/>
            <a:ext cx="16276320" cy="877824"/>
            <a:chOff x="0" y="0"/>
            <a:chExt cx="21701760" cy="1170432"/>
          </a:xfrm>
        </p:grpSpPr>
        <p:sp>
          <p:nvSpPr>
            <p:cNvPr name="Freeform 10" id="10"/>
            <p:cNvSpPr/>
            <p:nvPr/>
          </p:nvSpPr>
          <p:spPr>
            <a:xfrm flipH="false" flipV="false" rot="0">
              <a:off x="0" y="0"/>
              <a:ext cx="21701761" cy="1170432"/>
            </a:xfrm>
            <a:custGeom>
              <a:avLst/>
              <a:gdLst/>
              <a:ahLst/>
              <a:cxnLst/>
              <a:rect r="r" b="b" t="t" l="l"/>
              <a:pathLst>
                <a:path h="1170432" w="21701761">
                  <a:moveTo>
                    <a:pt x="0" y="0"/>
                  </a:moveTo>
                  <a:lnTo>
                    <a:pt x="21701761" y="0"/>
                  </a:lnTo>
                  <a:lnTo>
                    <a:pt x="21701761" y="1170432"/>
                  </a:lnTo>
                  <a:lnTo>
                    <a:pt x="0" y="1170432"/>
                  </a:lnTo>
                  <a:close/>
                </a:path>
              </a:pathLst>
            </a:custGeom>
            <a:blipFill>
              <a:blip r:embed="rId3">
                <a:alphaModFix amt="0"/>
              </a:blip>
              <a:stretch>
                <a:fillRect l="0" t="-311285" r="0" b="-311285"/>
              </a:stretch>
            </a:blipFill>
          </p:spPr>
        </p:sp>
        <p:sp>
          <p:nvSpPr>
            <p:cNvPr name="TextBox 11" id="11"/>
            <p:cNvSpPr txBox="true"/>
            <p:nvPr/>
          </p:nvSpPr>
          <p:spPr>
            <a:xfrm>
              <a:off x="0" y="-76200"/>
              <a:ext cx="21701760" cy="1246632"/>
            </a:xfrm>
            <a:prstGeom prst="rect">
              <a:avLst/>
            </a:prstGeom>
          </p:spPr>
          <p:txBody>
            <a:bodyPr anchor="ctr" rtlCol="false" tIns="0" lIns="0" bIns="0" rIns="0"/>
            <a:lstStyle/>
            <a:p>
              <a:pPr algn="l">
                <a:lnSpc>
                  <a:spcPts val="5280"/>
                </a:lnSpc>
              </a:pPr>
              <a:r>
                <a:rPr lang="en-US" sz="4400" b="true">
                  <a:solidFill>
                    <a:srgbClr val="1A2744"/>
                  </a:solidFill>
                  <a:latin typeface="Calibri (MS) Bold"/>
                  <a:ea typeface="Calibri (MS) Bold"/>
                  <a:cs typeface="Calibri (MS) Bold"/>
                  <a:sym typeface="Calibri (MS) Bold"/>
                </a:rPr>
                <a:t>Evaluation Metrics</a:t>
              </a:r>
            </a:p>
          </p:txBody>
        </p:sp>
      </p:grpSp>
      <p:grpSp>
        <p:nvGrpSpPr>
          <p:cNvPr name="Group 12" id="12"/>
          <p:cNvGrpSpPr/>
          <p:nvPr/>
        </p:nvGrpSpPr>
        <p:grpSpPr>
          <a:xfrm rot="0">
            <a:off x="1005840" y="1938528"/>
            <a:ext cx="16276320" cy="457200"/>
            <a:chOff x="0" y="0"/>
            <a:chExt cx="21701760" cy="609600"/>
          </a:xfrm>
        </p:grpSpPr>
        <p:sp>
          <p:nvSpPr>
            <p:cNvPr name="Freeform 13" id="13"/>
            <p:cNvSpPr/>
            <p:nvPr/>
          </p:nvSpPr>
          <p:spPr>
            <a:xfrm flipH="false" flipV="false" rot="0">
              <a:off x="0" y="0"/>
              <a:ext cx="21701761" cy="609600"/>
            </a:xfrm>
            <a:custGeom>
              <a:avLst/>
              <a:gdLst/>
              <a:ahLst/>
              <a:cxnLst/>
              <a:rect r="r" b="b" t="t" l="l"/>
              <a:pathLst>
                <a:path h="609600" w="21701761">
                  <a:moveTo>
                    <a:pt x="0" y="0"/>
                  </a:moveTo>
                  <a:lnTo>
                    <a:pt x="21701761" y="0"/>
                  </a:lnTo>
                  <a:lnTo>
                    <a:pt x="21701761" y="609600"/>
                  </a:lnTo>
                  <a:lnTo>
                    <a:pt x="0" y="609600"/>
                  </a:lnTo>
                  <a:close/>
                </a:path>
              </a:pathLst>
            </a:custGeom>
            <a:blipFill>
              <a:blip r:embed="rId3">
                <a:alphaModFix amt="0"/>
              </a:blip>
              <a:stretch>
                <a:fillRect l="0" t="-643667" r="0" b="-643667"/>
              </a:stretch>
            </a:blipFill>
          </p:spPr>
        </p:sp>
        <p:sp>
          <p:nvSpPr>
            <p:cNvPr name="TextBox 14" id="14"/>
            <p:cNvSpPr txBox="true"/>
            <p:nvPr/>
          </p:nvSpPr>
          <p:spPr>
            <a:xfrm>
              <a:off x="0" y="-47625"/>
              <a:ext cx="21701760" cy="657225"/>
            </a:xfrm>
            <a:prstGeom prst="rect">
              <a:avLst/>
            </a:prstGeom>
          </p:spPr>
          <p:txBody>
            <a:bodyPr anchor="ctr" rtlCol="false" tIns="0" lIns="0" bIns="0" rIns="0"/>
            <a:lstStyle/>
            <a:p>
              <a:pPr algn="l">
                <a:lnSpc>
                  <a:spcPts val="2640"/>
                </a:lnSpc>
              </a:pPr>
              <a:r>
                <a:rPr lang="en-US" sz="2200" i="true">
                  <a:solidFill>
                    <a:srgbClr val="64748B"/>
                  </a:solidFill>
                  <a:latin typeface="Calibri (MS) Italics"/>
                  <a:ea typeface="Calibri (MS) Italics"/>
                  <a:cs typeface="Calibri (MS) Italics"/>
                  <a:sym typeface="Calibri (MS) Italics"/>
                </a:rPr>
                <a:t>Four complementary metrics — each captures something different</a:t>
              </a:r>
            </a:p>
          </p:txBody>
        </p:sp>
      </p:grpSp>
      <p:grpSp>
        <p:nvGrpSpPr>
          <p:cNvPr name="Group 15" id="15"/>
          <p:cNvGrpSpPr/>
          <p:nvPr/>
        </p:nvGrpSpPr>
        <p:grpSpPr>
          <a:xfrm rot="0">
            <a:off x="17190720" y="9646920"/>
            <a:ext cx="731520" cy="457200"/>
            <a:chOff x="0" y="0"/>
            <a:chExt cx="975360" cy="609600"/>
          </a:xfrm>
        </p:grpSpPr>
        <p:sp>
          <p:nvSpPr>
            <p:cNvPr name="Freeform 16" id="16"/>
            <p:cNvSpPr/>
            <p:nvPr/>
          </p:nvSpPr>
          <p:spPr>
            <a:xfrm flipH="false" flipV="false" rot="0">
              <a:off x="0" y="0"/>
              <a:ext cx="975360" cy="609600"/>
            </a:xfrm>
            <a:custGeom>
              <a:avLst/>
              <a:gdLst/>
              <a:ahLst/>
              <a:cxnLst/>
              <a:rect r="r" b="b" t="t" l="l"/>
              <a:pathLst>
                <a:path h="609600" w="975360">
                  <a:moveTo>
                    <a:pt x="0" y="0"/>
                  </a:moveTo>
                  <a:lnTo>
                    <a:pt x="975360" y="0"/>
                  </a:lnTo>
                  <a:lnTo>
                    <a:pt x="975360" y="609600"/>
                  </a:lnTo>
                  <a:lnTo>
                    <a:pt x="0" y="609600"/>
                  </a:lnTo>
                  <a:close/>
                </a:path>
              </a:pathLst>
            </a:custGeom>
            <a:blipFill>
              <a:blip r:embed="rId3">
                <a:alphaModFix amt="0"/>
              </a:blip>
              <a:stretch>
                <a:fillRect l="-30189" t="0" r="-30189" b="0"/>
              </a:stretch>
            </a:blipFill>
          </p:spPr>
        </p:sp>
        <p:sp>
          <p:nvSpPr>
            <p:cNvPr name="TextBox 17" id="17"/>
            <p:cNvSpPr txBox="true"/>
            <p:nvPr/>
          </p:nvSpPr>
          <p:spPr>
            <a:xfrm>
              <a:off x="0" y="-38100"/>
              <a:ext cx="975360" cy="647700"/>
            </a:xfrm>
            <a:prstGeom prst="rect">
              <a:avLst/>
            </a:prstGeom>
          </p:spPr>
          <p:txBody>
            <a:bodyPr anchor="ctr" rtlCol="false" tIns="0" lIns="0" bIns="0" rIns="0"/>
            <a:lstStyle/>
            <a:p>
              <a:pPr algn="r">
                <a:lnSpc>
                  <a:spcPts val="2160"/>
                </a:lnSpc>
              </a:pPr>
              <a:r>
                <a:rPr lang="en-US" sz="1800">
                  <a:solidFill>
                    <a:srgbClr val="64748B"/>
                  </a:solidFill>
                  <a:latin typeface="Calibri (MS)"/>
                  <a:ea typeface="Calibri (MS)"/>
                  <a:cs typeface="Calibri (MS)"/>
                  <a:sym typeface="Calibri (MS)"/>
                </a:rPr>
                <a:t>10</a:t>
              </a:r>
            </a:p>
          </p:txBody>
        </p:sp>
      </p:grpSp>
      <p:grpSp>
        <p:nvGrpSpPr>
          <p:cNvPr name="Group 18" id="18"/>
          <p:cNvGrpSpPr/>
          <p:nvPr/>
        </p:nvGrpSpPr>
        <p:grpSpPr>
          <a:xfrm rot="0">
            <a:off x="1005840" y="2468880"/>
            <a:ext cx="3749040" cy="7132320"/>
            <a:chOff x="0" y="0"/>
            <a:chExt cx="4998720" cy="9509760"/>
          </a:xfrm>
        </p:grpSpPr>
        <p:sp>
          <p:nvSpPr>
            <p:cNvPr name="Freeform 19" id="19"/>
            <p:cNvSpPr/>
            <p:nvPr/>
          </p:nvSpPr>
          <p:spPr>
            <a:xfrm flipH="false" flipV="false" rot="0">
              <a:off x="0" y="0"/>
              <a:ext cx="4998720" cy="9509760"/>
            </a:xfrm>
            <a:custGeom>
              <a:avLst/>
              <a:gdLst/>
              <a:ahLst/>
              <a:cxnLst/>
              <a:rect r="r" b="b" t="t" l="l"/>
              <a:pathLst>
                <a:path h="9509760" w="4998720">
                  <a:moveTo>
                    <a:pt x="0" y="292608"/>
                  </a:moveTo>
                  <a:cubicBezTo>
                    <a:pt x="0" y="131064"/>
                    <a:pt x="131064" y="0"/>
                    <a:pt x="292608" y="0"/>
                  </a:cubicBezTo>
                  <a:lnTo>
                    <a:pt x="4706112" y="0"/>
                  </a:lnTo>
                  <a:cubicBezTo>
                    <a:pt x="4867783" y="0"/>
                    <a:pt x="4998720" y="131064"/>
                    <a:pt x="4998720" y="292608"/>
                  </a:cubicBezTo>
                  <a:lnTo>
                    <a:pt x="4998720" y="9217152"/>
                  </a:lnTo>
                  <a:cubicBezTo>
                    <a:pt x="4998720" y="9378823"/>
                    <a:pt x="4867656" y="9509760"/>
                    <a:pt x="4706112" y="9509760"/>
                  </a:cubicBezTo>
                  <a:lnTo>
                    <a:pt x="292608" y="9509760"/>
                  </a:lnTo>
                  <a:cubicBezTo>
                    <a:pt x="131064" y="9509760"/>
                    <a:pt x="0" y="9378696"/>
                    <a:pt x="0" y="9217152"/>
                  </a:cubicBezTo>
                  <a:close/>
                </a:path>
              </a:pathLst>
            </a:custGeom>
            <a:solidFill>
              <a:srgbClr val="EFF6FF"/>
            </a:solidFill>
          </p:spPr>
        </p:sp>
      </p:grpSp>
      <p:grpSp>
        <p:nvGrpSpPr>
          <p:cNvPr name="Group 20" id="20"/>
          <p:cNvGrpSpPr/>
          <p:nvPr/>
        </p:nvGrpSpPr>
        <p:grpSpPr>
          <a:xfrm rot="0">
            <a:off x="1280160" y="2651760"/>
            <a:ext cx="3200400" cy="1060704"/>
            <a:chOff x="0" y="0"/>
            <a:chExt cx="4267200" cy="1414272"/>
          </a:xfrm>
        </p:grpSpPr>
        <p:sp>
          <p:nvSpPr>
            <p:cNvPr name="Freeform 21" id="21"/>
            <p:cNvSpPr/>
            <p:nvPr/>
          </p:nvSpPr>
          <p:spPr>
            <a:xfrm flipH="false" flipV="false" rot="0">
              <a:off x="0" y="0"/>
              <a:ext cx="4267200" cy="1414272"/>
            </a:xfrm>
            <a:custGeom>
              <a:avLst/>
              <a:gdLst/>
              <a:ahLst/>
              <a:cxnLst/>
              <a:rect r="r" b="b" t="t" l="l"/>
              <a:pathLst>
                <a:path h="1414272" w="4267200">
                  <a:moveTo>
                    <a:pt x="0" y="243840"/>
                  </a:moveTo>
                  <a:cubicBezTo>
                    <a:pt x="0" y="109220"/>
                    <a:pt x="109220" y="0"/>
                    <a:pt x="243840" y="0"/>
                  </a:cubicBezTo>
                  <a:lnTo>
                    <a:pt x="4023360" y="0"/>
                  </a:lnTo>
                  <a:cubicBezTo>
                    <a:pt x="4157980" y="0"/>
                    <a:pt x="4267200" y="109220"/>
                    <a:pt x="4267200" y="243840"/>
                  </a:cubicBezTo>
                  <a:lnTo>
                    <a:pt x="4267200" y="1170432"/>
                  </a:lnTo>
                  <a:cubicBezTo>
                    <a:pt x="4267200" y="1305052"/>
                    <a:pt x="4157980" y="1414272"/>
                    <a:pt x="4023360" y="1414272"/>
                  </a:cubicBezTo>
                  <a:lnTo>
                    <a:pt x="243840" y="1414272"/>
                  </a:lnTo>
                  <a:cubicBezTo>
                    <a:pt x="109220" y="1414272"/>
                    <a:pt x="0" y="1305052"/>
                    <a:pt x="0" y="1170432"/>
                  </a:cubicBezTo>
                  <a:close/>
                </a:path>
              </a:pathLst>
            </a:custGeom>
            <a:solidFill>
              <a:srgbClr val="3B82F6"/>
            </a:solidFill>
          </p:spPr>
        </p:sp>
      </p:grpSp>
      <p:grpSp>
        <p:nvGrpSpPr>
          <p:cNvPr name="Group 22" id="22"/>
          <p:cNvGrpSpPr/>
          <p:nvPr/>
        </p:nvGrpSpPr>
        <p:grpSpPr>
          <a:xfrm rot="0">
            <a:off x="1280160" y="2651760"/>
            <a:ext cx="3200400" cy="1060704"/>
            <a:chOff x="0" y="0"/>
            <a:chExt cx="4267200" cy="1414272"/>
          </a:xfrm>
        </p:grpSpPr>
        <p:sp>
          <p:nvSpPr>
            <p:cNvPr name="Freeform 23" id="23"/>
            <p:cNvSpPr/>
            <p:nvPr/>
          </p:nvSpPr>
          <p:spPr>
            <a:xfrm flipH="false" flipV="false" rot="0">
              <a:off x="0" y="0"/>
              <a:ext cx="4267200" cy="1414272"/>
            </a:xfrm>
            <a:custGeom>
              <a:avLst/>
              <a:gdLst/>
              <a:ahLst/>
              <a:cxnLst/>
              <a:rect r="r" b="b" t="t" l="l"/>
              <a:pathLst>
                <a:path h="1414272" w="4267200">
                  <a:moveTo>
                    <a:pt x="0" y="0"/>
                  </a:moveTo>
                  <a:lnTo>
                    <a:pt x="4267200" y="0"/>
                  </a:lnTo>
                  <a:lnTo>
                    <a:pt x="4267200" y="1414272"/>
                  </a:lnTo>
                  <a:lnTo>
                    <a:pt x="0" y="1414272"/>
                  </a:lnTo>
                  <a:close/>
                </a:path>
              </a:pathLst>
            </a:custGeom>
            <a:blipFill>
              <a:blip r:embed="rId3">
                <a:alphaModFix amt="0"/>
              </a:blip>
              <a:stretch>
                <a:fillRect l="0" t="-8791" r="0" b="-8791"/>
              </a:stretch>
            </a:blipFill>
          </p:spPr>
        </p:sp>
        <p:sp>
          <p:nvSpPr>
            <p:cNvPr name="TextBox 24" id="24"/>
            <p:cNvSpPr txBox="true"/>
            <p:nvPr/>
          </p:nvSpPr>
          <p:spPr>
            <a:xfrm>
              <a:off x="0" y="-76200"/>
              <a:ext cx="4267200" cy="1490472"/>
            </a:xfrm>
            <a:prstGeom prst="rect">
              <a:avLst/>
            </a:prstGeom>
          </p:spPr>
          <p:txBody>
            <a:bodyPr anchor="ctr" rtlCol="false" tIns="0" lIns="0" bIns="0" rIns="0"/>
            <a:lstStyle/>
            <a:p>
              <a:pPr algn="ctr">
                <a:lnSpc>
                  <a:spcPts val="4800"/>
                </a:lnSpc>
              </a:pPr>
              <a:r>
                <a:rPr lang="en-US" sz="4000" b="true">
                  <a:solidFill>
                    <a:srgbClr val="FFFFFF"/>
                  </a:solidFill>
                  <a:latin typeface="Calibri (MS) Bold"/>
                  <a:ea typeface="Calibri (MS) Bold"/>
                  <a:cs typeface="Calibri (MS) Bold"/>
                  <a:sym typeface="Calibri (MS) Bold"/>
                </a:rPr>
                <a:t>PICP</a:t>
              </a:r>
            </a:p>
          </p:txBody>
        </p:sp>
      </p:grpSp>
      <p:grpSp>
        <p:nvGrpSpPr>
          <p:cNvPr name="Group 25" id="25"/>
          <p:cNvGrpSpPr/>
          <p:nvPr/>
        </p:nvGrpSpPr>
        <p:grpSpPr>
          <a:xfrm rot="0">
            <a:off x="1152144" y="3931920"/>
            <a:ext cx="3474720" cy="822960"/>
            <a:chOff x="0" y="0"/>
            <a:chExt cx="4632960" cy="1097280"/>
          </a:xfrm>
        </p:grpSpPr>
        <p:sp>
          <p:nvSpPr>
            <p:cNvPr name="Freeform 26" id="26"/>
            <p:cNvSpPr/>
            <p:nvPr/>
          </p:nvSpPr>
          <p:spPr>
            <a:xfrm flipH="false" flipV="false" rot="0">
              <a:off x="0" y="0"/>
              <a:ext cx="4632960" cy="1097280"/>
            </a:xfrm>
            <a:custGeom>
              <a:avLst/>
              <a:gdLst/>
              <a:ahLst/>
              <a:cxnLst/>
              <a:rect r="r" b="b" t="t" l="l"/>
              <a:pathLst>
                <a:path h="1097280" w="4632960">
                  <a:moveTo>
                    <a:pt x="0" y="0"/>
                  </a:moveTo>
                  <a:lnTo>
                    <a:pt x="4632960" y="0"/>
                  </a:lnTo>
                  <a:lnTo>
                    <a:pt x="4632960" y="1097280"/>
                  </a:lnTo>
                  <a:lnTo>
                    <a:pt x="0" y="1097280"/>
                  </a:lnTo>
                  <a:close/>
                </a:path>
              </a:pathLst>
            </a:custGeom>
            <a:blipFill>
              <a:blip r:embed="rId3">
                <a:alphaModFix amt="0"/>
              </a:blip>
              <a:stretch>
                <a:fillRect l="0" t="-32270" r="0" b="-32270"/>
              </a:stretch>
            </a:blipFill>
          </p:spPr>
        </p:sp>
        <p:sp>
          <p:nvSpPr>
            <p:cNvPr name="TextBox 27" id="27"/>
            <p:cNvSpPr txBox="true"/>
            <p:nvPr/>
          </p:nvSpPr>
          <p:spPr>
            <a:xfrm>
              <a:off x="0" y="-38100"/>
              <a:ext cx="4632960" cy="1135380"/>
            </a:xfrm>
            <a:prstGeom prst="rect">
              <a:avLst/>
            </a:prstGeom>
          </p:spPr>
          <p:txBody>
            <a:bodyPr anchor="ctr" rtlCol="false" tIns="0" lIns="0" bIns="0" rIns="0"/>
            <a:lstStyle/>
            <a:p>
              <a:pPr algn="ctr">
                <a:lnSpc>
                  <a:spcPts val="2280"/>
                </a:lnSpc>
              </a:pPr>
              <a:r>
                <a:rPr lang="en-US" sz="1900" b="true">
                  <a:solidFill>
                    <a:srgbClr val="1A2744"/>
                  </a:solidFill>
                  <a:latin typeface="Calibri (MS) Bold"/>
                  <a:ea typeface="Calibri (MS) Bold"/>
                  <a:cs typeface="Calibri (MS) Bold"/>
                  <a:sym typeface="Calibri (MS) Bold"/>
                </a:rPr>
                <a:t>Prediction Interval</a:t>
              </a:r>
            </a:p>
            <a:p>
              <a:pPr algn="ctr">
                <a:lnSpc>
                  <a:spcPts val="2280"/>
                </a:lnSpc>
              </a:pPr>
              <a:r>
                <a:rPr lang="en-US" sz="1900" b="true">
                  <a:solidFill>
                    <a:srgbClr val="1A2744"/>
                  </a:solidFill>
                  <a:latin typeface="Calibri (MS) Bold"/>
                  <a:ea typeface="Calibri (MS) Bold"/>
                  <a:cs typeface="Calibri (MS) Bold"/>
                  <a:sym typeface="Calibri (MS) Bold"/>
                </a:rPr>
                <a:t>Coverage Probability</a:t>
              </a:r>
            </a:p>
          </p:txBody>
        </p:sp>
      </p:grpSp>
      <p:grpSp>
        <p:nvGrpSpPr>
          <p:cNvPr name="Group 28" id="28"/>
          <p:cNvGrpSpPr/>
          <p:nvPr/>
        </p:nvGrpSpPr>
        <p:grpSpPr>
          <a:xfrm rot="0">
            <a:off x="1152144" y="4791456"/>
            <a:ext cx="3474720" cy="1005840"/>
            <a:chOff x="0" y="0"/>
            <a:chExt cx="4632960" cy="1341120"/>
          </a:xfrm>
        </p:grpSpPr>
        <p:sp>
          <p:nvSpPr>
            <p:cNvPr name="Freeform 29" id="29"/>
            <p:cNvSpPr/>
            <p:nvPr/>
          </p:nvSpPr>
          <p:spPr>
            <a:xfrm flipH="false" flipV="false" rot="0">
              <a:off x="0" y="0"/>
              <a:ext cx="4632960" cy="1341120"/>
            </a:xfrm>
            <a:custGeom>
              <a:avLst/>
              <a:gdLst/>
              <a:ahLst/>
              <a:cxnLst/>
              <a:rect r="r" b="b" t="t" l="l"/>
              <a:pathLst>
                <a:path h="1341120" w="4632960">
                  <a:moveTo>
                    <a:pt x="0" y="0"/>
                  </a:moveTo>
                  <a:lnTo>
                    <a:pt x="4632960" y="0"/>
                  </a:lnTo>
                  <a:lnTo>
                    <a:pt x="4632960" y="1341120"/>
                  </a:lnTo>
                  <a:lnTo>
                    <a:pt x="0" y="1341120"/>
                  </a:lnTo>
                  <a:close/>
                </a:path>
              </a:pathLst>
            </a:custGeom>
            <a:blipFill>
              <a:blip r:embed="rId3">
                <a:alphaModFix amt="0"/>
              </a:blip>
              <a:stretch>
                <a:fillRect l="0" t="-17311" r="0" b="-17311"/>
              </a:stretch>
            </a:blipFill>
          </p:spPr>
        </p:sp>
        <p:sp>
          <p:nvSpPr>
            <p:cNvPr name="TextBox 30" id="30"/>
            <p:cNvSpPr txBox="true"/>
            <p:nvPr/>
          </p:nvSpPr>
          <p:spPr>
            <a:xfrm>
              <a:off x="0" y="-38100"/>
              <a:ext cx="4632960" cy="1379220"/>
            </a:xfrm>
            <a:prstGeom prst="rect">
              <a:avLst/>
            </a:prstGeom>
          </p:spPr>
          <p:txBody>
            <a:bodyPr anchor="ctr" rtlCol="false" tIns="0" lIns="0" bIns="0" rIns="0"/>
            <a:lstStyle/>
            <a:p>
              <a:pPr algn="ctr">
                <a:lnSpc>
                  <a:spcPts val="2160"/>
                </a:lnSpc>
              </a:pPr>
              <a:r>
                <a:rPr lang="en-US" sz="1800" i="true">
                  <a:solidFill>
                    <a:srgbClr val="334155"/>
                  </a:solidFill>
                  <a:latin typeface="Calibri (MS) Italics"/>
                  <a:ea typeface="Calibri (MS) Italics"/>
                  <a:cs typeface="Calibri (MS) Italics"/>
                  <a:sym typeface="Calibri (MS) Italics"/>
                </a:rPr>
                <a:t>mean(y ∈ [L,U]) × 100%</a:t>
              </a:r>
            </a:p>
          </p:txBody>
        </p:sp>
      </p:grpSp>
      <p:grpSp>
        <p:nvGrpSpPr>
          <p:cNvPr name="Group 31" id="31"/>
          <p:cNvGrpSpPr/>
          <p:nvPr/>
        </p:nvGrpSpPr>
        <p:grpSpPr>
          <a:xfrm rot="0">
            <a:off x="1456687" y="5845807"/>
            <a:ext cx="2847337" cy="12697"/>
            <a:chOff x="0" y="0"/>
            <a:chExt cx="3796449" cy="16929"/>
          </a:xfrm>
        </p:grpSpPr>
        <p:sp>
          <p:nvSpPr>
            <p:cNvPr name="Freeform 32" id="32"/>
            <p:cNvSpPr/>
            <p:nvPr/>
          </p:nvSpPr>
          <p:spPr>
            <a:xfrm flipH="false" flipV="false" rot="0">
              <a:off x="8509" y="0"/>
              <a:ext cx="3779520" cy="16891"/>
            </a:xfrm>
            <a:custGeom>
              <a:avLst/>
              <a:gdLst/>
              <a:ahLst/>
              <a:cxnLst/>
              <a:rect r="r" b="b" t="t" l="l"/>
              <a:pathLst>
                <a:path h="16891" w="3779520">
                  <a:moveTo>
                    <a:pt x="0" y="0"/>
                  </a:moveTo>
                  <a:lnTo>
                    <a:pt x="3779520" y="0"/>
                  </a:lnTo>
                  <a:lnTo>
                    <a:pt x="3779520" y="16891"/>
                  </a:lnTo>
                  <a:lnTo>
                    <a:pt x="0" y="16891"/>
                  </a:lnTo>
                  <a:close/>
                </a:path>
              </a:pathLst>
            </a:custGeom>
            <a:solidFill>
              <a:srgbClr val="DDDDDD"/>
            </a:solidFill>
          </p:spPr>
        </p:sp>
      </p:grpSp>
      <p:grpSp>
        <p:nvGrpSpPr>
          <p:cNvPr name="Group 33" id="33"/>
          <p:cNvGrpSpPr/>
          <p:nvPr/>
        </p:nvGrpSpPr>
        <p:grpSpPr>
          <a:xfrm rot="0">
            <a:off x="1152144" y="5998464"/>
            <a:ext cx="3474720" cy="512064"/>
            <a:chOff x="0" y="0"/>
            <a:chExt cx="4632960" cy="682752"/>
          </a:xfrm>
        </p:grpSpPr>
        <p:sp>
          <p:nvSpPr>
            <p:cNvPr name="Freeform 34" id="34"/>
            <p:cNvSpPr/>
            <p:nvPr/>
          </p:nvSpPr>
          <p:spPr>
            <a:xfrm flipH="false" flipV="false" rot="0">
              <a:off x="0" y="0"/>
              <a:ext cx="4632960" cy="682752"/>
            </a:xfrm>
            <a:custGeom>
              <a:avLst/>
              <a:gdLst/>
              <a:ahLst/>
              <a:cxnLst/>
              <a:rect r="r" b="b" t="t" l="l"/>
              <a:pathLst>
                <a:path h="682752" w="4632960">
                  <a:moveTo>
                    <a:pt x="0" y="0"/>
                  </a:moveTo>
                  <a:lnTo>
                    <a:pt x="4632960" y="0"/>
                  </a:lnTo>
                  <a:lnTo>
                    <a:pt x="4632960" y="682752"/>
                  </a:lnTo>
                  <a:lnTo>
                    <a:pt x="0" y="682752"/>
                  </a:lnTo>
                  <a:close/>
                </a:path>
              </a:pathLst>
            </a:custGeom>
            <a:blipFill>
              <a:blip r:embed="rId3">
                <a:alphaModFix amt="0"/>
              </a:blip>
              <a:stretch>
                <a:fillRect l="0" t="-82219" r="0" b="-82219"/>
              </a:stretch>
            </a:blipFill>
          </p:spPr>
        </p:sp>
        <p:sp>
          <p:nvSpPr>
            <p:cNvPr name="TextBox 35" id="35"/>
            <p:cNvSpPr txBox="true"/>
            <p:nvPr/>
          </p:nvSpPr>
          <p:spPr>
            <a:xfrm>
              <a:off x="0" y="-38100"/>
              <a:ext cx="4632960" cy="720852"/>
            </a:xfrm>
            <a:prstGeom prst="rect">
              <a:avLst/>
            </a:prstGeom>
          </p:spPr>
          <p:txBody>
            <a:bodyPr anchor="ctr" rtlCol="false" tIns="0" lIns="0" bIns="0" rIns="0"/>
            <a:lstStyle/>
            <a:p>
              <a:pPr algn="ctr">
                <a:lnSpc>
                  <a:spcPts val="2400"/>
                </a:lnSpc>
              </a:pPr>
              <a:r>
                <a:rPr lang="en-US" sz="2000" b="true">
                  <a:solidFill>
                    <a:srgbClr val="059669"/>
                  </a:solidFill>
                  <a:latin typeface="Calibri (MS) Bold"/>
                  <a:ea typeface="Calibri (MS) Bold"/>
                  <a:cs typeface="Calibri (MS) Bold"/>
                  <a:sym typeface="Calibri (MS) Bold"/>
                </a:rPr>
                <a:t>Target: ≥ 95%</a:t>
              </a:r>
            </a:p>
          </p:txBody>
        </p:sp>
      </p:grpSp>
      <p:grpSp>
        <p:nvGrpSpPr>
          <p:cNvPr name="Group 36" id="36"/>
          <p:cNvGrpSpPr/>
          <p:nvPr/>
        </p:nvGrpSpPr>
        <p:grpSpPr>
          <a:xfrm rot="0">
            <a:off x="1152144" y="6583680"/>
            <a:ext cx="3474720" cy="2194560"/>
            <a:chOff x="0" y="0"/>
            <a:chExt cx="4632960" cy="2926080"/>
          </a:xfrm>
        </p:grpSpPr>
        <p:sp>
          <p:nvSpPr>
            <p:cNvPr name="Freeform 37" id="37"/>
            <p:cNvSpPr/>
            <p:nvPr/>
          </p:nvSpPr>
          <p:spPr>
            <a:xfrm flipH="false" flipV="false" rot="0">
              <a:off x="0" y="0"/>
              <a:ext cx="4632960" cy="2926080"/>
            </a:xfrm>
            <a:custGeom>
              <a:avLst/>
              <a:gdLst/>
              <a:ahLst/>
              <a:cxnLst/>
              <a:rect r="r" b="b" t="t" l="l"/>
              <a:pathLst>
                <a:path h="2926080" w="4632960">
                  <a:moveTo>
                    <a:pt x="0" y="0"/>
                  </a:moveTo>
                  <a:lnTo>
                    <a:pt x="4632960" y="0"/>
                  </a:lnTo>
                  <a:lnTo>
                    <a:pt x="4632960" y="2926080"/>
                  </a:lnTo>
                  <a:lnTo>
                    <a:pt x="0" y="2926080"/>
                  </a:lnTo>
                  <a:close/>
                </a:path>
              </a:pathLst>
            </a:custGeom>
            <a:blipFill>
              <a:blip r:embed="rId3">
                <a:alphaModFix amt="0"/>
              </a:blip>
              <a:stretch>
                <a:fillRect l="-31033" t="0" r="-31033" b="0"/>
              </a:stretch>
            </a:blipFill>
          </p:spPr>
        </p:sp>
        <p:sp>
          <p:nvSpPr>
            <p:cNvPr name="TextBox 38" id="38"/>
            <p:cNvSpPr txBox="true"/>
            <p:nvPr/>
          </p:nvSpPr>
          <p:spPr>
            <a:xfrm>
              <a:off x="0" y="-38100"/>
              <a:ext cx="4632960" cy="2964180"/>
            </a:xfrm>
            <a:prstGeom prst="rect">
              <a:avLst/>
            </a:prstGeom>
          </p:spPr>
          <p:txBody>
            <a:bodyPr anchor="ctr" rtlCol="false" tIns="0" lIns="0" bIns="0" rIns="0"/>
            <a:lstStyle/>
            <a:p>
              <a:pPr algn="ctr">
                <a:lnSpc>
                  <a:spcPts val="2160"/>
                </a:lnSpc>
              </a:pPr>
              <a:r>
                <a:rPr lang="en-US" sz="1800">
                  <a:solidFill>
                    <a:srgbClr val="64748B"/>
                  </a:solidFill>
                  <a:latin typeface="Calibri (MS)"/>
                  <a:ea typeface="Calibri (MS)"/>
                  <a:cs typeface="Calibri (MS)"/>
                  <a:sym typeface="Calibri (MS)"/>
                </a:rPr>
                <a:t>95% = one of every 20 days missed</a:t>
              </a:r>
            </a:p>
          </p:txBody>
        </p:sp>
      </p:grpSp>
      <p:grpSp>
        <p:nvGrpSpPr>
          <p:cNvPr name="Group 39" id="39"/>
          <p:cNvGrpSpPr/>
          <p:nvPr/>
        </p:nvGrpSpPr>
        <p:grpSpPr>
          <a:xfrm rot="0">
            <a:off x="5120640" y="2468880"/>
            <a:ext cx="3749040" cy="7132320"/>
            <a:chOff x="0" y="0"/>
            <a:chExt cx="4998720" cy="9509760"/>
          </a:xfrm>
        </p:grpSpPr>
        <p:sp>
          <p:nvSpPr>
            <p:cNvPr name="Freeform 40" id="40"/>
            <p:cNvSpPr/>
            <p:nvPr/>
          </p:nvSpPr>
          <p:spPr>
            <a:xfrm flipH="false" flipV="false" rot="0">
              <a:off x="0" y="0"/>
              <a:ext cx="4998720" cy="9509760"/>
            </a:xfrm>
            <a:custGeom>
              <a:avLst/>
              <a:gdLst/>
              <a:ahLst/>
              <a:cxnLst/>
              <a:rect r="r" b="b" t="t" l="l"/>
              <a:pathLst>
                <a:path h="9509760" w="4998720">
                  <a:moveTo>
                    <a:pt x="0" y="292608"/>
                  </a:moveTo>
                  <a:cubicBezTo>
                    <a:pt x="0" y="131064"/>
                    <a:pt x="131064" y="0"/>
                    <a:pt x="292608" y="0"/>
                  </a:cubicBezTo>
                  <a:lnTo>
                    <a:pt x="4706112" y="0"/>
                  </a:lnTo>
                  <a:cubicBezTo>
                    <a:pt x="4867783" y="0"/>
                    <a:pt x="4998720" y="131064"/>
                    <a:pt x="4998720" y="292608"/>
                  </a:cubicBezTo>
                  <a:lnTo>
                    <a:pt x="4998720" y="9217152"/>
                  </a:lnTo>
                  <a:cubicBezTo>
                    <a:pt x="4998720" y="9378823"/>
                    <a:pt x="4867656" y="9509760"/>
                    <a:pt x="4706112" y="9509760"/>
                  </a:cubicBezTo>
                  <a:lnTo>
                    <a:pt x="292608" y="9509760"/>
                  </a:lnTo>
                  <a:cubicBezTo>
                    <a:pt x="131064" y="9509760"/>
                    <a:pt x="0" y="9378696"/>
                    <a:pt x="0" y="9217152"/>
                  </a:cubicBezTo>
                  <a:close/>
                </a:path>
              </a:pathLst>
            </a:custGeom>
            <a:solidFill>
              <a:srgbClr val="EFF6FF"/>
            </a:solidFill>
          </p:spPr>
        </p:sp>
      </p:grpSp>
      <p:grpSp>
        <p:nvGrpSpPr>
          <p:cNvPr name="Group 41" id="41"/>
          <p:cNvGrpSpPr/>
          <p:nvPr/>
        </p:nvGrpSpPr>
        <p:grpSpPr>
          <a:xfrm rot="0">
            <a:off x="5394960" y="2651760"/>
            <a:ext cx="3200400" cy="1060704"/>
            <a:chOff x="0" y="0"/>
            <a:chExt cx="4267200" cy="1414272"/>
          </a:xfrm>
        </p:grpSpPr>
        <p:sp>
          <p:nvSpPr>
            <p:cNvPr name="Freeform 42" id="42"/>
            <p:cNvSpPr/>
            <p:nvPr/>
          </p:nvSpPr>
          <p:spPr>
            <a:xfrm flipH="false" flipV="false" rot="0">
              <a:off x="0" y="0"/>
              <a:ext cx="4267200" cy="1414272"/>
            </a:xfrm>
            <a:custGeom>
              <a:avLst/>
              <a:gdLst/>
              <a:ahLst/>
              <a:cxnLst/>
              <a:rect r="r" b="b" t="t" l="l"/>
              <a:pathLst>
                <a:path h="1414272" w="4267200">
                  <a:moveTo>
                    <a:pt x="0" y="243840"/>
                  </a:moveTo>
                  <a:cubicBezTo>
                    <a:pt x="0" y="109220"/>
                    <a:pt x="109220" y="0"/>
                    <a:pt x="243840" y="0"/>
                  </a:cubicBezTo>
                  <a:lnTo>
                    <a:pt x="4023360" y="0"/>
                  </a:lnTo>
                  <a:cubicBezTo>
                    <a:pt x="4157980" y="0"/>
                    <a:pt x="4267200" y="109220"/>
                    <a:pt x="4267200" y="243840"/>
                  </a:cubicBezTo>
                  <a:lnTo>
                    <a:pt x="4267200" y="1170432"/>
                  </a:lnTo>
                  <a:cubicBezTo>
                    <a:pt x="4267200" y="1305052"/>
                    <a:pt x="4157980" y="1414272"/>
                    <a:pt x="4023360" y="1414272"/>
                  </a:cubicBezTo>
                  <a:lnTo>
                    <a:pt x="243840" y="1414272"/>
                  </a:lnTo>
                  <a:cubicBezTo>
                    <a:pt x="109220" y="1414272"/>
                    <a:pt x="0" y="1305052"/>
                    <a:pt x="0" y="1170432"/>
                  </a:cubicBezTo>
                  <a:close/>
                </a:path>
              </a:pathLst>
            </a:custGeom>
            <a:solidFill>
              <a:srgbClr val="0284C7"/>
            </a:solidFill>
          </p:spPr>
        </p:sp>
      </p:grpSp>
      <p:grpSp>
        <p:nvGrpSpPr>
          <p:cNvPr name="Group 43" id="43"/>
          <p:cNvGrpSpPr/>
          <p:nvPr/>
        </p:nvGrpSpPr>
        <p:grpSpPr>
          <a:xfrm rot="0">
            <a:off x="5394960" y="2651760"/>
            <a:ext cx="3200400" cy="1060704"/>
            <a:chOff x="0" y="0"/>
            <a:chExt cx="4267200" cy="1414272"/>
          </a:xfrm>
        </p:grpSpPr>
        <p:sp>
          <p:nvSpPr>
            <p:cNvPr name="Freeform 44" id="44"/>
            <p:cNvSpPr/>
            <p:nvPr/>
          </p:nvSpPr>
          <p:spPr>
            <a:xfrm flipH="false" flipV="false" rot="0">
              <a:off x="0" y="0"/>
              <a:ext cx="4267200" cy="1414272"/>
            </a:xfrm>
            <a:custGeom>
              <a:avLst/>
              <a:gdLst/>
              <a:ahLst/>
              <a:cxnLst/>
              <a:rect r="r" b="b" t="t" l="l"/>
              <a:pathLst>
                <a:path h="1414272" w="4267200">
                  <a:moveTo>
                    <a:pt x="0" y="0"/>
                  </a:moveTo>
                  <a:lnTo>
                    <a:pt x="4267200" y="0"/>
                  </a:lnTo>
                  <a:lnTo>
                    <a:pt x="4267200" y="1414272"/>
                  </a:lnTo>
                  <a:lnTo>
                    <a:pt x="0" y="1414272"/>
                  </a:lnTo>
                  <a:close/>
                </a:path>
              </a:pathLst>
            </a:custGeom>
            <a:blipFill>
              <a:blip r:embed="rId3">
                <a:alphaModFix amt="0"/>
              </a:blip>
              <a:stretch>
                <a:fillRect l="0" t="-8791" r="0" b="-8791"/>
              </a:stretch>
            </a:blipFill>
          </p:spPr>
        </p:sp>
        <p:sp>
          <p:nvSpPr>
            <p:cNvPr name="TextBox 45" id="45"/>
            <p:cNvSpPr txBox="true"/>
            <p:nvPr/>
          </p:nvSpPr>
          <p:spPr>
            <a:xfrm>
              <a:off x="0" y="-76200"/>
              <a:ext cx="4267200" cy="1490472"/>
            </a:xfrm>
            <a:prstGeom prst="rect">
              <a:avLst/>
            </a:prstGeom>
          </p:spPr>
          <p:txBody>
            <a:bodyPr anchor="ctr" rtlCol="false" tIns="0" lIns="0" bIns="0" rIns="0"/>
            <a:lstStyle/>
            <a:p>
              <a:pPr algn="ctr">
                <a:lnSpc>
                  <a:spcPts val="4800"/>
                </a:lnSpc>
              </a:pPr>
              <a:r>
                <a:rPr lang="en-US" sz="4000" b="true">
                  <a:solidFill>
                    <a:srgbClr val="FFFFFF"/>
                  </a:solidFill>
                  <a:latin typeface="Calibri (MS) Bold"/>
                  <a:ea typeface="Calibri (MS) Bold"/>
                  <a:cs typeface="Calibri (MS) Bold"/>
                  <a:sym typeface="Calibri (MS) Bold"/>
                </a:rPr>
                <a:t>MPIW</a:t>
              </a:r>
            </a:p>
          </p:txBody>
        </p:sp>
      </p:grpSp>
      <p:grpSp>
        <p:nvGrpSpPr>
          <p:cNvPr name="Group 46" id="46"/>
          <p:cNvGrpSpPr/>
          <p:nvPr/>
        </p:nvGrpSpPr>
        <p:grpSpPr>
          <a:xfrm rot="0">
            <a:off x="5266944" y="3931920"/>
            <a:ext cx="3474720" cy="822960"/>
            <a:chOff x="0" y="0"/>
            <a:chExt cx="4632960" cy="1097280"/>
          </a:xfrm>
        </p:grpSpPr>
        <p:sp>
          <p:nvSpPr>
            <p:cNvPr name="Freeform 47" id="47"/>
            <p:cNvSpPr/>
            <p:nvPr/>
          </p:nvSpPr>
          <p:spPr>
            <a:xfrm flipH="false" flipV="false" rot="0">
              <a:off x="0" y="0"/>
              <a:ext cx="4632960" cy="1097280"/>
            </a:xfrm>
            <a:custGeom>
              <a:avLst/>
              <a:gdLst/>
              <a:ahLst/>
              <a:cxnLst/>
              <a:rect r="r" b="b" t="t" l="l"/>
              <a:pathLst>
                <a:path h="1097280" w="4632960">
                  <a:moveTo>
                    <a:pt x="0" y="0"/>
                  </a:moveTo>
                  <a:lnTo>
                    <a:pt x="4632960" y="0"/>
                  </a:lnTo>
                  <a:lnTo>
                    <a:pt x="4632960" y="1097280"/>
                  </a:lnTo>
                  <a:lnTo>
                    <a:pt x="0" y="1097280"/>
                  </a:lnTo>
                  <a:close/>
                </a:path>
              </a:pathLst>
            </a:custGeom>
            <a:blipFill>
              <a:blip r:embed="rId3">
                <a:alphaModFix amt="0"/>
              </a:blip>
              <a:stretch>
                <a:fillRect l="0" t="-32270" r="0" b="-32270"/>
              </a:stretch>
            </a:blipFill>
          </p:spPr>
        </p:sp>
        <p:sp>
          <p:nvSpPr>
            <p:cNvPr name="TextBox 48" id="48"/>
            <p:cNvSpPr txBox="true"/>
            <p:nvPr/>
          </p:nvSpPr>
          <p:spPr>
            <a:xfrm>
              <a:off x="0" y="-38100"/>
              <a:ext cx="4632960" cy="1135380"/>
            </a:xfrm>
            <a:prstGeom prst="rect">
              <a:avLst/>
            </a:prstGeom>
          </p:spPr>
          <p:txBody>
            <a:bodyPr anchor="ctr" rtlCol="false" tIns="0" lIns="0" bIns="0" rIns="0"/>
            <a:lstStyle/>
            <a:p>
              <a:pPr algn="ctr">
                <a:lnSpc>
                  <a:spcPts val="2280"/>
                </a:lnSpc>
              </a:pPr>
              <a:r>
                <a:rPr lang="en-US" sz="1900" b="true">
                  <a:solidFill>
                    <a:srgbClr val="1A2744"/>
                  </a:solidFill>
                  <a:latin typeface="Calibri (MS) Bold"/>
                  <a:ea typeface="Calibri (MS) Bold"/>
                  <a:cs typeface="Calibri (MS) Bold"/>
                  <a:sym typeface="Calibri (MS) Bold"/>
                </a:rPr>
                <a:t>Mean Prediction</a:t>
              </a:r>
            </a:p>
            <a:p>
              <a:pPr algn="ctr">
                <a:lnSpc>
                  <a:spcPts val="2280"/>
                </a:lnSpc>
              </a:pPr>
              <a:r>
                <a:rPr lang="en-US" sz="1900" b="true">
                  <a:solidFill>
                    <a:srgbClr val="1A2744"/>
                  </a:solidFill>
                  <a:latin typeface="Calibri (MS) Bold"/>
                  <a:ea typeface="Calibri (MS) Bold"/>
                  <a:cs typeface="Calibri (MS) Bold"/>
                  <a:sym typeface="Calibri (MS) Bold"/>
                </a:rPr>
                <a:t>Interval Width</a:t>
              </a:r>
            </a:p>
          </p:txBody>
        </p:sp>
      </p:grpSp>
      <p:grpSp>
        <p:nvGrpSpPr>
          <p:cNvPr name="Group 49" id="49"/>
          <p:cNvGrpSpPr/>
          <p:nvPr/>
        </p:nvGrpSpPr>
        <p:grpSpPr>
          <a:xfrm rot="0">
            <a:off x="5266944" y="4791456"/>
            <a:ext cx="3474720" cy="1005840"/>
            <a:chOff x="0" y="0"/>
            <a:chExt cx="4632960" cy="1341120"/>
          </a:xfrm>
        </p:grpSpPr>
        <p:sp>
          <p:nvSpPr>
            <p:cNvPr name="Freeform 50" id="50"/>
            <p:cNvSpPr/>
            <p:nvPr/>
          </p:nvSpPr>
          <p:spPr>
            <a:xfrm flipH="false" flipV="false" rot="0">
              <a:off x="0" y="0"/>
              <a:ext cx="4632960" cy="1341120"/>
            </a:xfrm>
            <a:custGeom>
              <a:avLst/>
              <a:gdLst/>
              <a:ahLst/>
              <a:cxnLst/>
              <a:rect r="r" b="b" t="t" l="l"/>
              <a:pathLst>
                <a:path h="1341120" w="4632960">
                  <a:moveTo>
                    <a:pt x="0" y="0"/>
                  </a:moveTo>
                  <a:lnTo>
                    <a:pt x="4632960" y="0"/>
                  </a:lnTo>
                  <a:lnTo>
                    <a:pt x="4632960" y="1341120"/>
                  </a:lnTo>
                  <a:lnTo>
                    <a:pt x="0" y="1341120"/>
                  </a:lnTo>
                  <a:close/>
                </a:path>
              </a:pathLst>
            </a:custGeom>
            <a:blipFill>
              <a:blip r:embed="rId3">
                <a:alphaModFix amt="0"/>
              </a:blip>
              <a:stretch>
                <a:fillRect l="0" t="-17311" r="0" b="-17311"/>
              </a:stretch>
            </a:blipFill>
          </p:spPr>
        </p:sp>
        <p:sp>
          <p:nvSpPr>
            <p:cNvPr name="TextBox 51" id="51"/>
            <p:cNvSpPr txBox="true"/>
            <p:nvPr/>
          </p:nvSpPr>
          <p:spPr>
            <a:xfrm>
              <a:off x="0" y="-38100"/>
              <a:ext cx="4632960" cy="1379220"/>
            </a:xfrm>
            <a:prstGeom prst="rect">
              <a:avLst/>
            </a:prstGeom>
          </p:spPr>
          <p:txBody>
            <a:bodyPr anchor="ctr" rtlCol="false" tIns="0" lIns="0" bIns="0" rIns="0"/>
            <a:lstStyle/>
            <a:p>
              <a:pPr algn="ctr">
                <a:lnSpc>
                  <a:spcPts val="2160"/>
                </a:lnSpc>
              </a:pPr>
              <a:r>
                <a:rPr lang="en-US" sz="1800" i="true">
                  <a:solidFill>
                    <a:srgbClr val="334155"/>
                  </a:solidFill>
                  <a:latin typeface="Calibri (MS) Italics"/>
                  <a:ea typeface="Calibri (MS) Italics"/>
                  <a:cs typeface="Calibri (MS) Italics"/>
                  <a:sym typeface="Calibri (MS) Italics"/>
                </a:rPr>
                <a:t>mean(U − L) in metres</a:t>
              </a:r>
            </a:p>
          </p:txBody>
        </p:sp>
      </p:grpSp>
      <p:grpSp>
        <p:nvGrpSpPr>
          <p:cNvPr name="Group 52" id="52"/>
          <p:cNvGrpSpPr/>
          <p:nvPr/>
        </p:nvGrpSpPr>
        <p:grpSpPr>
          <a:xfrm rot="0">
            <a:off x="5571487" y="5845807"/>
            <a:ext cx="2847337" cy="12697"/>
            <a:chOff x="0" y="0"/>
            <a:chExt cx="3796449" cy="16929"/>
          </a:xfrm>
        </p:grpSpPr>
        <p:sp>
          <p:nvSpPr>
            <p:cNvPr name="Freeform 53" id="53"/>
            <p:cNvSpPr/>
            <p:nvPr/>
          </p:nvSpPr>
          <p:spPr>
            <a:xfrm flipH="false" flipV="false" rot="0">
              <a:off x="8509" y="0"/>
              <a:ext cx="3779520" cy="16891"/>
            </a:xfrm>
            <a:custGeom>
              <a:avLst/>
              <a:gdLst/>
              <a:ahLst/>
              <a:cxnLst/>
              <a:rect r="r" b="b" t="t" l="l"/>
              <a:pathLst>
                <a:path h="16891" w="3779520">
                  <a:moveTo>
                    <a:pt x="0" y="0"/>
                  </a:moveTo>
                  <a:lnTo>
                    <a:pt x="3779520" y="0"/>
                  </a:lnTo>
                  <a:lnTo>
                    <a:pt x="3779520" y="16891"/>
                  </a:lnTo>
                  <a:lnTo>
                    <a:pt x="0" y="16891"/>
                  </a:lnTo>
                  <a:close/>
                </a:path>
              </a:pathLst>
            </a:custGeom>
            <a:solidFill>
              <a:srgbClr val="DDDDDD"/>
            </a:solidFill>
          </p:spPr>
        </p:sp>
      </p:grpSp>
      <p:grpSp>
        <p:nvGrpSpPr>
          <p:cNvPr name="Group 54" id="54"/>
          <p:cNvGrpSpPr/>
          <p:nvPr/>
        </p:nvGrpSpPr>
        <p:grpSpPr>
          <a:xfrm rot="0">
            <a:off x="5266944" y="5998464"/>
            <a:ext cx="3474720" cy="512064"/>
            <a:chOff x="0" y="0"/>
            <a:chExt cx="4632960" cy="682752"/>
          </a:xfrm>
        </p:grpSpPr>
        <p:sp>
          <p:nvSpPr>
            <p:cNvPr name="Freeform 55" id="55"/>
            <p:cNvSpPr/>
            <p:nvPr/>
          </p:nvSpPr>
          <p:spPr>
            <a:xfrm flipH="false" flipV="false" rot="0">
              <a:off x="0" y="0"/>
              <a:ext cx="4632960" cy="682752"/>
            </a:xfrm>
            <a:custGeom>
              <a:avLst/>
              <a:gdLst/>
              <a:ahLst/>
              <a:cxnLst/>
              <a:rect r="r" b="b" t="t" l="l"/>
              <a:pathLst>
                <a:path h="682752" w="4632960">
                  <a:moveTo>
                    <a:pt x="0" y="0"/>
                  </a:moveTo>
                  <a:lnTo>
                    <a:pt x="4632960" y="0"/>
                  </a:lnTo>
                  <a:lnTo>
                    <a:pt x="4632960" y="682752"/>
                  </a:lnTo>
                  <a:lnTo>
                    <a:pt x="0" y="682752"/>
                  </a:lnTo>
                  <a:close/>
                </a:path>
              </a:pathLst>
            </a:custGeom>
            <a:blipFill>
              <a:blip r:embed="rId3">
                <a:alphaModFix amt="0"/>
              </a:blip>
              <a:stretch>
                <a:fillRect l="0" t="-82219" r="0" b="-82219"/>
              </a:stretch>
            </a:blipFill>
          </p:spPr>
        </p:sp>
        <p:sp>
          <p:nvSpPr>
            <p:cNvPr name="TextBox 56" id="56"/>
            <p:cNvSpPr txBox="true"/>
            <p:nvPr/>
          </p:nvSpPr>
          <p:spPr>
            <a:xfrm>
              <a:off x="0" y="-38100"/>
              <a:ext cx="4632960" cy="720852"/>
            </a:xfrm>
            <a:prstGeom prst="rect">
              <a:avLst/>
            </a:prstGeom>
          </p:spPr>
          <p:txBody>
            <a:bodyPr anchor="ctr" rtlCol="false" tIns="0" lIns="0" bIns="0" rIns="0"/>
            <a:lstStyle/>
            <a:p>
              <a:pPr algn="ctr">
                <a:lnSpc>
                  <a:spcPts val="2400"/>
                </a:lnSpc>
              </a:pPr>
              <a:r>
                <a:rPr lang="en-US" sz="2000" b="true">
                  <a:solidFill>
                    <a:srgbClr val="059669"/>
                  </a:solidFill>
                  <a:latin typeface="Calibri (MS) Bold"/>
                  <a:ea typeface="Calibri (MS) Bold"/>
                  <a:cs typeface="Calibri (MS) Bold"/>
                  <a:sym typeface="Calibri (MS) Bold"/>
                </a:rPr>
                <a:t>Lower = sharper</a:t>
              </a:r>
            </a:p>
          </p:txBody>
        </p:sp>
      </p:grpSp>
      <p:grpSp>
        <p:nvGrpSpPr>
          <p:cNvPr name="Group 57" id="57"/>
          <p:cNvGrpSpPr/>
          <p:nvPr/>
        </p:nvGrpSpPr>
        <p:grpSpPr>
          <a:xfrm rot="0">
            <a:off x="5266944" y="6583680"/>
            <a:ext cx="3474720" cy="2194560"/>
            <a:chOff x="0" y="0"/>
            <a:chExt cx="4632960" cy="2926080"/>
          </a:xfrm>
        </p:grpSpPr>
        <p:sp>
          <p:nvSpPr>
            <p:cNvPr name="Freeform 58" id="58"/>
            <p:cNvSpPr/>
            <p:nvPr/>
          </p:nvSpPr>
          <p:spPr>
            <a:xfrm flipH="false" flipV="false" rot="0">
              <a:off x="0" y="0"/>
              <a:ext cx="4632960" cy="2926080"/>
            </a:xfrm>
            <a:custGeom>
              <a:avLst/>
              <a:gdLst/>
              <a:ahLst/>
              <a:cxnLst/>
              <a:rect r="r" b="b" t="t" l="l"/>
              <a:pathLst>
                <a:path h="2926080" w="4632960">
                  <a:moveTo>
                    <a:pt x="0" y="0"/>
                  </a:moveTo>
                  <a:lnTo>
                    <a:pt x="4632960" y="0"/>
                  </a:lnTo>
                  <a:lnTo>
                    <a:pt x="4632960" y="2926080"/>
                  </a:lnTo>
                  <a:lnTo>
                    <a:pt x="0" y="2926080"/>
                  </a:lnTo>
                  <a:close/>
                </a:path>
              </a:pathLst>
            </a:custGeom>
            <a:blipFill>
              <a:blip r:embed="rId3">
                <a:alphaModFix amt="0"/>
              </a:blip>
              <a:stretch>
                <a:fillRect l="-31033" t="0" r="-31033" b="0"/>
              </a:stretch>
            </a:blipFill>
          </p:spPr>
        </p:sp>
        <p:sp>
          <p:nvSpPr>
            <p:cNvPr name="TextBox 59" id="59"/>
            <p:cNvSpPr txBox="true"/>
            <p:nvPr/>
          </p:nvSpPr>
          <p:spPr>
            <a:xfrm>
              <a:off x="0" y="-38100"/>
              <a:ext cx="4632960" cy="2964180"/>
            </a:xfrm>
            <a:prstGeom prst="rect">
              <a:avLst/>
            </a:prstGeom>
          </p:spPr>
          <p:txBody>
            <a:bodyPr anchor="ctr" rtlCol="false" tIns="0" lIns="0" bIns="0" rIns="0"/>
            <a:lstStyle/>
            <a:p>
              <a:pPr algn="ctr">
                <a:lnSpc>
                  <a:spcPts val="2160"/>
                </a:lnSpc>
              </a:pPr>
              <a:r>
                <a:rPr lang="en-US" sz="1800">
                  <a:solidFill>
                    <a:srgbClr val="64748B"/>
                  </a:solidFill>
                  <a:latin typeface="Calibri (MS)"/>
                  <a:ea typeface="Calibri (MS)"/>
                  <a:cs typeface="Calibri (MS)"/>
                  <a:sym typeface="Calibri (MS)"/>
                </a:rPr>
                <a:t>Best: 0.89 cm (GRU-Q, Arabian Sea)</a:t>
              </a:r>
            </a:p>
          </p:txBody>
        </p:sp>
      </p:grpSp>
      <p:grpSp>
        <p:nvGrpSpPr>
          <p:cNvPr name="Group 60" id="60"/>
          <p:cNvGrpSpPr/>
          <p:nvPr/>
        </p:nvGrpSpPr>
        <p:grpSpPr>
          <a:xfrm rot="0">
            <a:off x="9235440" y="2468880"/>
            <a:ext cx="3749040" cy="7132320"/>
            <a:chOff x="0" y="0"/>
            <a:chExt cx="4998720" cy="9509760"/>
          </a:xfrm>
        </p:grpSpPr>
        <p:sp>
          <p:nvSpPr>
            <p:cNvPr name="Freeform 61" id="61"/>
            <p:cNvSpPr/>
            <p:nvPr/>
          </p:nvSpPr>
          <p:spPr>
            <a:xfrm flipH="false" flipV="false" rot="0">
              <a:off x="0" y="0"/>
              <a:ext cx="4998720" cy="9509760"/>
            </a:xfrm>
            <a:custGeom>
              <a:avLst/>
              <a:gdLst/>
              <a:ahLst/>
              <a:cxnLst/>
              <a:rect r="r" b="b" t="t" l="l"/>
              <a:pathLst>
                <a:path h="9509760" w="4998720">
                  <a:moveTo>
                    <a:pt x="0" y="292608"/>
                  </a:moveTo>
                  <a:cubicBezTo>
                    <a:pt x="0" y="131064"/>
                    <a:pt x="131064" y="0"/>
                    <a:pt x="292608" y="0"/>
                  </a:cubicBezTo>
                  <a:lnTo>
                    <a:pt x="4706112" y="0"/>
                  </a:lnTo>
                  <a:cubicBezTo>
                    <a:pt x="4867783" y="0"/>
                    <a:pt x="4998720" y="131064"/>
                    <a:pt x="4998720" y="292608"/>
                  </a:cubicBezTo>
                  <a:lnTo>
                    <a:pt x="4998720" y="9217152"/>
                  </a:lnTo>
                  <a:cubicBezTo>
                    <a:pt x="4998720" y="9378823"/>
                    <a:pt x="4867656" y="9509760"/>
                    <a:pt x="4706112" y="9509760"/>
                  </a:cubicBezTo>
                  <a:lnTo>
                    <a:pt x="292608" y="9509760"/>
                  </a:lnTo>
                  <a:cubicBezTo>
                    <a:pt x="131064" y="9509760"/>
                    <a:pt x="0" y="9378696"/>
                    <a:pt x="0" y="9217152"/>
                  </a:cubicBezTo>
                  <a:close/>
                </a:path>
              </a:pathLst>
            </a:custGeom>
            <a:solidFill>
              <a:srgbClr val="EFF6FF"/>
            </a:solidFill>
          </p:spPr>
        </p:sp>
      </p:grpSp>
      <p:grpSp>
        <p:nvGrpSpPr>
          <p:cNvPr name="Group 62" id="62"/>
          <p:cNvGrpSpPr/>
          <p:nvPr/>
        </p:nvGrpSpPr>
        <p:grpSpPr>
          <a:xfrm rot="0">
            <a:off x="9509760" y="2651760"/>
            <a:ext cx="3200400" cy="1060704"/>
            <a:chOff x="0" y="0"/>
            <a:chExt cx="4267200" cy="1414272"/>
          </a:xfrm>
        </p:grpSpPr>
        <p:sp>
          <p:nvSpPr>
            <p:cNvPr name="Freeform 63" id="63"/>
            <p:cNvSpPr/>
            <p:nvPr/>
          </p:nvSpPr>
          <p:spPr>
            <a:xfrm flipH="false" flipV="false" rot="0">
              <a:off x="0" y="0"/>
              <a:ext cx="4267200" cy="1414272"/>
            </a:xfrm>
            <a:custGeom>
              <a:avLst/>
              <a:gdLst/>
              <a:ahLst/>
              <a:cxnLst/>
              <a:rect r="r" b="b" t="t" l="l"/>
              <a:pathLst>
                <a:path h="1414272" w="4267200">
                  <a:moveTo>
                    <a:pt x="0" y="243840"/>
                  </a:moveTo>
                  <a:cubicBezTo>
                    <a:pt x="0" y="109220"/>
                    <a:pt x="109220" y="0"/>
                    <a:pt x="243840" y="0"/>
                  </a:cubicBezTo>
                  <a:lnTo>
                    <a:pt x="4023360" y="0"/>
                  </a:lnTo>
                  <a:cubicBezTo>
                    <a:pt x="4157980" y="0"/>
                    <a:pt x="4267200" y="109220"/>
                    <a:pt x="4267200" y="243840"/>
                  </a:cubicBezTo>
                  <a:lnTo>
                    <a:pt x="4267200" y="1170432"/>
                  </a:lnTo>
                  <a:cubicBezTo>
                    <a:pt x="4267200" y="1305052"/>
                    <a:pt x="4157980" y="1414272"/>
                    <a:pt x="4023360" y="1414272"/>
                  </a:cubicBezTo>
                  <a:lnTo>
                    <a:pt x="243840" y="1414272"/>
                  </a:lnTo>
                  <a:cubicBezTo>
                    <a:pt x="109220" y="1414272"/>
                    <a:pt x="0" y="1305052"/>
                    <a:pt x="0" y="1170432"/>
                  </a:cubicBezTo>
                  <a:close/>
                </a:path>
              </a:pathLst>
            </a:custGeom>
            <a:solidFill>
              <a:srgbClr val="60A5FA"/>
            </a:solidFill>
          </p:spPr>
        </p:sp>
      </p:grpSp>
      <p:grpSp>
        <p:nvGrpSpPr>
          <p:cNvPr name="Group 64" id="64"/>
          <p:cNvGrpSpPr/>
          <p:nvPr/>
        </p:nvGrpSpPr>
        <p:grpSpPr>
          <a:xfrm rot="0">
            <a:off x="9509760" y="2651760"/>
            <a:ext cx="3200400" cy="1060704"/>
            <a:chOff x="0" y="0"/>
            <a:chExt cx="4267200" cy="1414272"/>
          </a:xfrm>
        </p:grpSpPr>
        <p:sp>
          <p:nvSpPr>
            <p:cNvPr name="Freeform 65" id="65"/>
            <p:cNvSpPr/>
            <p:nvPr/>
          </p:nvSpPr>
          <p:spPr>
            <a:xfrm flipH="false" flipV="false" rot="0">
              <a:off x="0" y="0"/>
              <a:ext cx="4267200" cy="1414272"/>
            </a:xfrm>
            <a:custGeom>
              <a:avLst/>
              <a:gdLst/>
              <a:ahLst/>
              <a:cxnLst/>
              <a:rect r="r" b="b" t="t" l="l"/>
              <a:pathLst>
                <a:path h="1414272" w="4267200">
                  <a:moveTo>
                    <a:pt x="0" y="0"/>
                  </a:moveTo>
                  <a:lnTo>
                    <a:pt x="4267200" y="0"/>
                  </a:lnTo>
                  <a:lnTo>
                    <a:pt x="4267200" y="1414272"/>
                  </a:lnTo>
                  <a:lnTo>
                    <a:pt x="0" y="1414272"/>
                  </a:lnTo>
                  <a:close/>
                </a:path>
              </a:pathLst>
            </a:custGeom>
            <a:blipFill>
              <a:blip r:embed="rId3">
                <a:alphaModFix amt="0"/>
              </a:blip>
              <a:stretch>
                <a:fillRect l="0" t="-8791" r="0" b="-8791"/>
              </a:stretch>
            </a:blipFill>
          </p:spPr>
        </p:sp>
        <p:sp>
          <p:nvSpPr>
            <p:cNvPr name="TextBox 66" id="66"/>
            <p:cNvSpPr txBox="true"/>
            <p:nvPr/>
          </p:nvSpPr>
          <p:spPr>
            <a:xfrm>
              <a:off x="0" y="-76200"/>
              <a:ext cx="4267200" cy="1490472"/>
            </a:xfrm>
            <a:prstGeom prst="rect">
              <a:avLst/>
            </a:prstGeom>
          </p:spPr>
          <p:txBody>
            <a:bodyPr anchor="ctr" rtlCol="false" tIns="0" lIns="0" bIns="0" rIns="0"/>
            <a:lstStyle/>
            <a:p>
              <a:pPr algn="ctr">
                <a:lnSpc>
                  <a:spcPts val="4800"/>
                </a:lnSpc>
              </a:pPr>
              <a:r>
                <a:rPr lang="en-US" sz="4000" b="true">
                  <a:solidFill>
                    <a:srgbClr val="FFFFFF"/>
                  </a:solidFill>
                  <a:latin typeface="Calibri (MS) Bold"/>
                  <a:ea typeface="Calibri (MS) Bold"/>
                  <a:cs typeface="Calibri (MS) Bold"/>
                  <a:sym typeface="Calibri (MS) Bold"/>
                </a:rPr>
                <a:t>WIS</a:t>
              </a:r>
            </a:p>
          </p:txBody>
        </p:sp>
      </p:grpSp>
      <p:grpSp>
        <p:nvGrpSpPr>
          <p:cNvPr name="Group 67" id="67"/>
          <p:cNvGrpSpPr/>
          <p:nvPr/>
        </p:nvGrpSpPr>
        <p:grpSpPr>
          <a:xfrm rot="0">
            <a:off x="9381744" y="3931920"/>
            <a:ext cx="3474720" cy="822960"/>
            <a:chOff x="0" y="0"/>
            <a:chExt cx="4632960" cy="1097280"/>
          </a:xfrm>
        </p:grpSpPr>
        <p:sp>
          <p:nvSpPr>
            <p:cNvPr name="Freeform 68" id="68"/>
            <p:cNvSpPr/>
            <p:nvPr/>
          </p:nvSpPr>
          <p:spPr>
            <a:xfrm flipH="false" flipV="false" rot="0">
              <a:off x="0" y="0"/>
              <a:ext cx="4632960" cy="1097280"/>
            </a:xfrm>
            <a:custGeom>
              <a:avLst/>
              <a:gdLst/>
              <a:ahLst/>
              <a:cxnLst/>
              <a:rect r="r" b="b" t="t" l="l"/>
              <a:pathLst>
                <a:path h="1097280" w="4632960">
                  <a:moveTo>
                    <a:pt x="0" y="0"/>
                  </a:moveTo>
                  <a:lnTo>
                    <a:pt x="4632960" y="0"/>
                  </a:lnTo>
                  <a:lnTo>
                    <a:pt x="4632960" y="1097280"/>
                  </a:lnTo>
                  <a:lnTo>
                    <a:pt x="0" y="1097280"/>
                  </a:lnTo>
                  <a:close/>
                </a:path>
              </a:pathLst>
            </a:custGeom>
            <a:blipFill>
              <a:blip r:embed="rId3">
                <a:alphaModFix amt="0"/>
              </a:blip>
              <a:stretch>
                <a:fillRect l="0" t="-32270" r="0" b="-32270"/>
              </a:stretch>
            </a:blipFill>
          </p:spPr>
        </p:sp>
        <p:sp>
          <p:nvSpPr>
            <p:cNvPr name="TextBox 69" id="69"/>
            <p:cNvSpPr txBox="true"/>
            <p:nvPr/>
          </p:nvSpPr>
          <p:spPr>
            <a:xfrm>
              <a:off x="0" y="-38100"/>
              <a:ext cx="4632960" cy="1135380"/>
            </a:xfrm>
            <a:prstGeom prst="rect">
              <a:avLst/>
            </a:prstGeom>
          </p:spPr>
          <p:txBody>
            <a:bodyPr anchor="ctr" rtlCol="false" tIns="0" lIns="0" bIns="0" rIns="0"/>
            <a:lstStyle/>
            <a:p>
              <a:pPr algn="ctr">
                <a:lnSpc>
                  <a:spcPts val="2280"/>
                </a:lnSpc>
              </a:pPr>
              <a:r>
                <a:rPr lang="en-US" sz="1900" b="true">
                  <a:solidFill>
                    <a:srgbClr val="1A2744"/>
                  </a:solidFill>
                  <a:latin typeface="Calibri (MS) Bold"/>
                  <a:ea typeface="Calibri (MS) Bold"/>
                  <a:cs typeface="Calibri (MS) Bold"/>
                  <a:sym typeface="Calibri (MS) Bold"/>
                </a:rPr>
                <a:t>Winkler Interval</a:t>
              </a:r>
            </a:p>
            <a:p>
              <a:pPr algn="ctr">
                <a:lnSpc>
                  <a:spcPts val="2280"/>
                </a:lnSpc>
              </a:pPr>
              <a:r>
                <a:rPr lang="en-US" sz="1900" b="true">
                  <a:solidFill>
                    <a:srgbClr val="1A2744"/>
                  </a:solidFill>
                  <a:latin typeface="Calibri (MS) Bold"/>
                  <a:ea typeface="Calibri (MS) Bold"/>
                  <a:cs typeface="Calibri (MS) Bold"/>
                  <a:sym typeface="Calibri (MS) Bold"/>
                </a:rPr>
                <a:t>Score</a:t>
              </a:r>
            </a:p>
          </p:txBody>
        </p:sp>
      </p:grpSp>
      <p:grpSp>
        <p:nvGrpSpPr>
          <p:cNvPr name="Group 70" id="70"/>
          <p:cNvGrpSpPr/>
          <p:nvPr/>
        </p:nvGrpSpPr>
        <p:grpSpPr>
          <a:xfrm rot="0">
            <a:off x="9381744" y="4791456"/>
            <a:ext cx="3474720" cy="1005840"/>
            <a:chOff x="0" y="0"/>
            <a:chExt cx="4632960" cy="1341120"/>
          </a:xfrm>
        </p:grpSpPr>
        <p:sp>
          <p:nvSpPr>
            <p:cNvPr name="Freeform 71" id="71"/>
            <p:cNvSpPr/>
            <p:nvPr/>
          </p:nvSpPr>
          <p:spPr>
            <a:xfrm flipH="false" flipV="false" rot="0">
              <a:off x="0" y="0"/>
              <a:ext cx="4632960" cy="1341120"/>
            </a:xfrm>
            <a:custGeom>
              <a:avLst/>
              <a:gdLst/>
              <a:ahLst/>
              <a:cxnLst/>
              <a:rect r="r" b="b" t="t" l="l"/>
              <a:pathLst>
                <a:path h="1341120" w="4632960">
                  <a:moveTo>
                    <a:pt x="0" y="0"/>
                  </a:moveTo>
                  <a:lnTo>
                    <a:pt x="4632960" y="0"/>
                  </a:lnTo>
                  <a:lnTo>
                    <a:pt x="4632960" y="1341120"/>
                  </a:lnTo>
                  <a:lnTo>
                    <a:pt x="0" y="1341120"/>
                  </a:lnTo>
                  <a:close/>
                </a:path>
              </a:pathLst>
            </a:custGeom>
            <a:blipFill>
              <a:blip r:embed="rId3">
                <a:alphaModFix amt="0"/>
              </a:blip>
              <a:stretch>
                <a:fillRect l="0" t="-17311" r="0" b="-17311"/>
              </a:stretch>
            </a:blipFill>
          </p:spPr>
        </p:sp>
        <p:sp>
          <p:nvSpPr>
            <p:cNvPr name="TextBox 72" id="72"/>
            <p:cNvSpPr txBox="true"/>
            <p:nvPr/>
          </p:nvSpPr>
          <p:spPr>
            <a:xfrm>
              <a:off x="0" y="-38100"/>
              <a:ext cx="4632960" cy="1379220"/>
            </a:xfrm>
            <a:prstGeom prst="rect">
              <a:avLst/>
            </a:prstGeom>
          </p:spPr>
          <p:txBody>
            <a:bodyPr anchor="ctr" rtlCol="false" tIns="0" lIns="0" bIns="0" rIns="0"/>
            <a:lstStyle/>
            <a:p>
              <a:pPr algn="ctr">
                <a:lnSpc>
                  <a:spcPts val="2160"/>
                </a:lnSpc>
              </a:pPr>
              <a:r>
                <a:rPr lang="en-US" sz="1800" i="true">
                  <a:solidFill>
                    <a:srgbClr val="334155"/>
                  </a:solidFill>
                  <a:latin typeface="Calibri (MS) Italics"/>
                  <a:ea typeface="Calibri (MS) Italics"/>
                  <a:cs typeface="Calibri (MS) Italics"/>
                  <a:sym typeface="Calibri (MS) Italics"/>
                </a:rPr>
                <a:t>MPIW + (2/α)·miss_penalty</a:t>
              </a:r>
            </a:p>
          </p:txBody>
        </p:sp>
      </p:grpSp>
      <p:grpSp>
        <p:nvGrpSpPr>
          <p:cNvPr name="Group 73" id="73"/>
          <p:cNvGrpSpPr/>
          <p:nvPr/>
        </p:nvGrpSpPr>
        <p:grpSpPr>
          <a:xfrm rot="0">
            <a:off x="9686287" y="5845807"/>
            <a:ext cx="2847337" cy="12697"/>
            <a:chOff x="0" y="0"/>
            <a:chExt cx="3796449" cy="16929"/>
          </a:xfrm>
        </p:grpSpPr>
        <p:sp>
          <p:nvSpPr>
            <p:cNvPr name="Freeform 74" id="74"/>
            <p:cNvSpPr/>
            <p:nvPr/>
          </p:nvSpPr>
          <p:spPr>
            <a:xfrm flipH="false" flipV="false" rot="0">
              <a:off x="8509" y="0"/>
              <a:ext cx="3779520" cy="16891"/>
            </a:xfrm>
            <a:custGeom>
              <a:avLst/>
              <a:gdLst/>
              <a:ahLst/>
              <a:cxnLst/>
              <a:rect r="r" b="b" t="t" l="l"/>
              <a:pathLst>
                <a:path h="16891" w="3779520">
                  <a:moveTo>
                    <a:pt x="0" y="0"/>
                  </a:moveTo>
                  <a:lnTo>
                    <a:pt x="3779520" y="0"/>
                  </a:lnTo>
                  <a:lnTo>
                    <a:pt x="3779520" y="16891"/>
                  </a:lnTo>
                  <a:lnTo>
                    <a:pt x="0" y="16891"/>
                  </a:lnTo>
                  <a:close/>
                </a:path>
              </a:pathLst>
            </a:custGeom>
            <a:solidFill>
              <a:srgbClr val="DDDDDD"/>
            </a:solidFill>
          </p:spPr>
        </p:sp>
      </p:grpSp>
      <p:grpSp>
        <p:nvGrpSpPr>
          <p:cNvPr name="Group 75" id="75"/>
          <p:cNvGrpSpPr/>
          <p:nvPr/>
        </p:nvGrpSpPr>
        <p:grpSpPr>
          <a:xfrm rot="0">
            <a:off x="9381744" y="5998464"/>
            <a:ext cx="3474720" cy="512064"/>
            <a:chOff x="0" y="0"/>
            <a:chExt cx="4632960" cy="682752"/>
          </a:xfrm>
        </p:grpSpPr>
        <p:sp>
          <p:nvSpPr>
            <p:cNvPr name="Freeform 76" id="76"/>
            <p:cNvSpPr/>
            <p:nvPr/>
          </p:nvSpPr>
          <p:spPr>
            <a:xfrm flipH="false" flipV="false" rot="0">
              <a:off x="0" y="0"/>
              <a:ext cx="4632960" cy="682752"/>
            </a:xfrm>
            <a:custGeom>
              <a:avLst/>
              <a:gdLst/>
              <a:ahLst/>
              <a:cxnLst/>
              <a:rect r="r" b="b" t="t" l="l"/>
              <a:pathLst>
                <a:path h="682752" w="4632960">
                  <a:moveTo>
                    <a:pt x="0" y="0"/>
                  </a:moveTo>
                  <a:lnTo>
                    <a:pt x="4632960" y="0"/>
                  </a:lnTo>
                  <a:lnTo>
                    <a:pt x="4632960" y="682752"/>
                  </a:lnTo>
                  <a:lnTo>
                    <a:pt x="0" y="682752"/>
                  </a:lnTo>
                  <a:close/>
                </a:path>
              </a:pathLst>
            </a:custGeom>
            <a:blipFill>
              <a:blip r:embed="rId3">
                <a:alphaModFix amt="0"/>
              </a:blip>
              <a:stretch>
                <a:fillRect l="0" t="-82219" r="0" b="-82219"/>
              </a:stretch>
            </a:blipFill>
          </p:spPr>
        </p:sp>
        <p:sp>
          <p:nvSpPr>
            <p:cNvPr name="TextBox 77" id="77"/>
            <p:cNvSpPr txBox="true"/>
            <p:nvPr/>
          </p:nvSpPr>
          <p:spPr>
            <a:xfrm>
              <a:off x="0" y="-38100"/>
              <a:ext cx="4632960" cy="720852"/>
            </a:xfrm>
            <a:prstGeom prst="rect">
              <a:avLst/>
            </a:prstGeom>
          </p:spPr>
          <p:txBody>
            <a:bodyPr anchor="ctr" rtlCol="false" tIns="0" lIns="0" bIns="0" rIns="0"/>
            <a:lstStyle/>
            <a:p>
              <a:pPr algn="ctr">
                <a:lnSpc>
                  <a:spcPts val="2400"/>
                </a:lnSpc>
              </a:pPr>
              <a:r>
                <a:rPr lang="en-US" sz="2000" b="true">
                  <a:solidFill>
                    <a:srgbClr val="059669"/>
                  </a:solidFill>
                  <a:latin typeface="Calibri (MS) Bold"/>
                  <a:ea typeface="Calibri (MS) Bold"/>
                  <a:cs typeface="Calibri (MS) Bold"/>
                  <a:sym typeface="Calibri (MS) Bold"/>
                </a:rPr>
                <a:t>Lower = better</a:t>
              </a:r>
            </a:p>
          </p:txBody>
        </p:sp>
      </p:grpSp>
      <p:grpSp>
        <p:nvGrpSpPr>
          <p:cNvPr name="Group 78" id="78"/>
          <p:cNvGrpSpPr/>
          <p:nvPr/>
        </p:nvGrpSpPr>
        <p:grpSpPr>
          <a:xfrm rot="0">
            <a:off x="9381744" y="6583680"/>
            <a:ext cx="3474720" cy="2194560"/>
            <a:chOff x="0" y="0"/>
            <a:chExt cx="4632960" cy="2926080"/>
          </a:xfrm>
        </p:grpSpPr>
        <p:sp>
          <p:nvSpPr>
            <p:cNvPr name="Freeform 79" id="79"/>
            <p:cNvSpPr/>
            <p:nvPr/>
          </p:nvSpPr>
          <p:spPr>
            <a:xfrm flipH="false" flipV="false" rot="0">
              <a:off x="0" y="0"/>
              <a:ext cx="4632960" cy="2926080"/>
            </a:xfrm>
            <a:custGeom>
              <a:avLst/>
              <a:gdLst/>
              <a:ahLst/>
              <a:cxnLst/>
              <a:rect r="r" b="b" t="t" l="l"/>
              <a:pathLst>
                <a:path h="2926080" w="4632960">
                  <a:moveTo>
                    <a:pt x="0" y="0"/>
                  </a:moveTo>
                  <a:lnTo>
                    <a:pt x="4632960" y="0"/>
                  </a:lnTo>
                  <a:lnTo>
                    <a:pt x="4632960" y="2926080"/>
                  </a:lnTo>
                  <a:lnTo>
                    <a:pt x="0" y="2926080"/>
                  </a:lnTo>
                  <a:close/>
                </a:path>
              </a:pathLst>
            </a:custGeom>
            <a:blipFill>
              <a:blip r:embed="rId3">
                <a:alphaModFix amt="0"/>
              </a:blip>
              <a:stretch>
                <a:fillRect l="-31033" t="0" r="-31033" b="0"/>
              </a:stretch>
            </a:blipFill>
          </p:spPr>
        </p:sp>
        <p:sp>
          <p:nvSpPr>
            <p:cNvPr name="TextBox 80" id="80"/>
            <p:cNvSpPr txBox="true"/>
            <p:nvPr/>
          </p:nvSpPr>
          <p:spPr>
            <a:xfrm>
              <a:off x="0" y="-38100"/>
              <a:ext cx="4632960" cy="2964180"/>
            </a:xfrm>
            <a:prstGeom prst="rect">
              <a:avLst/>
            </a:prstGeom>
          </p:spPr>
          <p:txBody>
            <a:bodyPr anchor="ctr" rtlCol="false" tIns="0" lIns="0" bIns="0" rIns="0"/>
            <a:lstStyle/>
            <a:p>
              <a:pPr algn="ctr">
                <a:lnSpc>
                  <a:spcPts val="2160"/>
                </a:lnSpc>
              </a:pPr>
              <a:r>
                <a:rPr lang="en-US" sz="1800">
                  <a:solidFill>
                    <a:srgbClr val="64748B"/>
                  </a:solidFill>
                  <a:latin typeface="Calibri (MS)"/>
                  <a:ea typeface="Calibri (MS)"/>
                  <a:cs typeface="Calibri (MS)"/>
                  <a:sym typeface="Calibri (MS)"/>
                </a:rPr>
                <a:t>PRIMARY RANKING METRIC</a:t>
              </a:r>
            </a:p>
            <a:p>
              <a:pPr algn="ctr">
                <a:lnSpc>
                  <a:spcPts val="2160"/>
                </a:lnSpc>
              </a:pPr>
              <a:r>
                <a:rPr lang="en-US" sz="1800">
                  <a:solidFill>
                    <a:srgbClr val="64748B"/>
                  </a:solidFill>
                  <a:latin typeface="Calibri (MS)"/>
                  <a:ea typeface="Calibri (MS)"/>
                  <a:cs typeface="Calibri (MS)"/>
                  <a:sym typeface="Calibri (MS)"/>
                </a:rPr>
                <a:t>α = 0.20 for p10/p90</a:t>
              </a:r>
            </a:p>
          </p:txBody>
        </p:sp>
      </p:grpSp>
      <p:grpSp>
        <p:nvGrpSpPr>
          <p:cNvPr name="Group 81" id="81"/>
          <p:cNvGrpSpPr/>
          <p:nvPr/>
        </p:nvGrpSpPr>
        <p:grpSpPr>
          <a:xfrm rot="0">
            <a:off x="13350240" y="2468880"/>
            <a:ext cx="3749040" cy="7132320"/>
            <a:chOff x="0" y="0"/>
            <a:chExt cx="4998720" cy="9509760"/>
          </a:xfrm>
        </p:grpSpPr>
        <p:sp>
          <p:nvSpPr>
            <p:cNvPr name="Freeform 82" id="82"/>
            <p:cNvSpPr/>
            <p:nvPr/>
          </p:nvSpPr>
          <p:spPr>
            <a:xfrm flipH="false" flipV="false" rot="0">
              <a:off x="0" y="0"/>
              <a:ext cx="4998720" cy="9509760"/>
            </a:xfrm>
            <a:custGeom>
              <a:avLst/>
              <a:gdLst/>
              <a:ahLst/>
              <a:cxnLst/>
              <a:rect r="r" b="b" t="t" l="l"/>
              <a:pathLst>
                <a:path h="9509760" w="4998720">
                  <a:moveTo>
                    <a:pt x="0" y="292608"/>
                  </a:moveTo>
                  <a:cubicBezTo>
                    <a:pt x="0" y="131064"/>
                    <a:pt x="131064" y="0"/>
                    <a:pt x="292608" y="0"/>
                  </a:cubicBezTo>
                  <a:lnTo>
                    <a:pt x="4706112" y="0"/>
                  </a:lnTo>
                  <a:cubicBezTo>
                    <a:pt x="4867783" y="0"/>
                    <a:pt x="4998720" y="131064"/>
                    <a:pt x="4998720" y="292608"/>
                  </a:cubicBezTo>
                  <a:lnTo>
                    <a:pt x="4998720" y="9217152"/>
                  </a:lnTo>
                  <a:cubicBezTo>
                    <a:pt x="4998720" y="9378823"/>
                    <a:pt x="4867656" y="9509760"/>
                    <a:pt x="4706112" y="9509760"/>
                  </a:cubicBezTo>
                  <a:lnTo>
                    <a:pt x="292608" y="9509760"/>
                  </a:lnTo>
                  <a:cubicBezTo>
                    <a:pt x="131064" y="9509760"/>
                    <a:pt x="0" y="9378696"/>
                    <a:pt x="0" y="9217152"/>
                  </a:cubicBezTo>
                  <a:close/>
                </a:path>
              </a:pathLst>
            </a:custGeom>
            <a:solidFill>
              <a:srgbClr val="EFF6FF"/>
            </a:solidFill>
          </p:spPr>
        </p:sp>
      </p:grpSp>
      <p:grpSp>
        <p:nvGrpSpPr>
          <p:cNvPr name="Group 83" id="83"/>
          <p:cNvGrpSpPr/>
          <p:nvPr/>
        </p:nvGrpSpPr>
        <p:grpSpPr>
          <a:xfrm rot="0">
            <a:off x="13624560" y="2651760"/>
            <a:ext cx="3200400" cy="1060704"/>
            <a:chOff x="0" y="0"/>
            <a:chExt cx="4267200" cy="1414272"/>
          </a:xfrm>
        </p:grpSpPr>
        <p:sp>
          <p:nvSpPr>
            <p:cNvPr name="Freeform 84" id="84"/>
            <p:cNvSpPr/>
            <p:nvPr/>
          </p:nvSpPr>
          <p:spPr>
            <a:xfrm flipH="false" flipV="false" rot="0">
              <a:off x="0" y="0"/>
              <a:ext cx="4267200" cy="1414272"/>
            </a:xfrm>
            <a:custGeom>
              <a:avLst/>
              <a:gdLst/>
              <a:ahLst/>
              <a:cxnLst/>
              <a:rect r="r" b="b" t="t" l="l"/>
              <a:pathLst>
                <a:path h="1414272" w="4267200">
                  <a:moveTo>
                    <a:pt x="0" y="243840"/>
                  </a:moveTo>
                  <a:cubicBezTo>
                    <a:pt x="0" y="109220"/>
                    <a:pt x="109220" y="0"/>
                    <a:pt x="243840" y="0"/>
                  </a:cubicBezTo>
                  <a:lnTo>
                    <a:pt x="4023360" y="0"/>
                  </a:lnTo>
                  <a:cubicBezTo>
                    <a:pt x="4157980" y="0"/>
                    <a:pt x="4267200" y="109220"/>
                    <a:pt x="4267200" y="243840"/>
                  </a:cubicBezTo>
                  <a:lnTo>
                    <a:pt x="4267200" y="1170432"/>
                  </a:lnTo>
                  <a:cubicBezTo>
                    <a:pt x="4267200" y="1305052"/>
                    <a:pt x="4157980" y="1414272"/>
                    <a:pt x="4023360" y="1414272"/>
                  </a:cubicBezTo>
                  <a:lnTo>
                    <a:pt x="243840" y="1414272"/>
                  </a:lnTo>
                  <a:cubicBezTo>
                    <a:pt x="109220" y="1414272"/>
                    <a:pt x="0" y="1305052"/>
                    <a:pt x="0" y="1170432"/>
                  </a:cubicBezTo>
                  <a:close/>
                </a:path>
              </a:pathLst>
            </a:custGeom>
            <a:solidFill>
              <a:srgbClr val="1A2744"/>
            </a:solidFill>
          </p:spPr>
        </p:sp>
      </p:grpSp>
      <p:grpSp>
        <p:nvGrpSpPr>
          <p:cNvPr name="Group 85" id="85"/>
          <p:cNvGrpSpPr/>
          <p:nvPr/>
        </p:nvGrpSpPr>
        <p:grpSpPr>
          <a:xfrm rot="0">
            <a:off x="13624560" y="2651760"/>
            <a:ext cx="3200400" cy="1060704"/>
            <a:chOff x="0" y="0"/>
            <a:chExt cx="4267200" cy="1414272"/>
          </a:xfrm>
        </p:grpSpPr>
        <p:sp>
          <p:nvSpPr>
            <p:cNvPr name="Freeform 86" id="86"/>
            <p:cNvSpPr/>
            <p:nvPr/>
          </p:nvSpPr>
          <p:spPr>
            <a:xfrm flipH="false" flipV="false" rot="0">
              <a:off x="0" y="0"/>
              <a:ext cx="4267200" cy="1414272"/>
            </a:xfrm>
            <a:custGeom>
              <a:avLst/>
              <a:gdLst/>
              <a:ahLst/>
              <a:cxnLst/>
              <a:rect r="r" b="b" t="t" l="l"/>
              <a:pathLst>
                <a:path h="1414272" w="4267200">
                  <a:moveTo>
                    <a:pt x="0" y="0"/>
                  </a:moveTo>
                  <a:lnTo>
                    <a:pt x="4267200" y="0"/>
                  </a:lnTo>
                  <a:lnTo>
                    <a:pt x="4267200" y="1414272"/>
                  </a:lnTo>
                  <a:lnTo>
                    <a:pt x="0" y="1414272"/>
                  </a:lnTo>
                  <a:close/>
                </a:path>
              </a:pathLst>
            </a:custGeom>
            <a:blipFill>
              <a:blip r:embed="rId3">
                <a:alphaModFix amt="0"/>
              </a:blip>
              <a:stretch>
                <a:fillRect l="0" t="-8791" r="0" b="-8791"/>
              </a:stretch>
            </a:blipFill>
          </p:spPr>
        </p:sp>
        <p:sp>
          <p:nvSpPr>
            <p:cNvPr name="TextBox 87" id="87"/>
            <p:cNvSpPr txBox="true"/>
            <p:nvPr/>
          </p:nvSpPr>
          <p:spPr>
            <a:xfrm>
              <a:off x="0" y="-76200"/>
              <a:ext cx="4267200" cy="1490472"/>
            </a:xfrm>
            <a:prstGeom prst="rect">
              <a:avLst/>
            </a:prstGeom>
          </p:spPr>
          <p:txBody>
            <a:bodyPr anchor="ctr" rtlCol="false" tIns="0" lIns="0" bIns="0" rIns="0"/>
            <a:lstStyle/>
            <a:p>
              <a:pPr algn="ctr">
                <a:lnSpc>
                  <a:spcPts val="4800"/>
                </a:lnSpc>
              </a:pPr>
              <a:r>
                <a:rPr lang="en-US" sz="4000" b="true">
                  <a:solidFill>
                    <a:srgbClr val="FFFFFF"/>
                  </a:solidFill>
                  <a:latin typeface="Calibri (MS) Bold"/>
                  <a:ea typeface="Calibri (MS) Bold"/>
                  <a:cs typeface="Calibri (MS) Bold"/>
                  <a:sym typeface="Calibri (MS) Bold"/>
                </a:rPr>
                <a:t>CWC</a:t>
              </a:r>
            </a:p>
          </p:txBody>
        </p:sp>
      </p:grpSp>
      <p:grpSp>
        <p:nvGrpSpPr>
          <p:cNvPr name="Group 88" id="88"/>
          <p:cNvGrpSpPr/>
          <p:nvPr/>
        </p:nvGrpSpPr>
        <p:grpSpPr>
          <a:xfrm rot="0">
            <a:off x="13496544" y="3931920"/>
            <a:ext cx="3474720" cy="822960"/>
            <a:chOff x="0" y="0"/>
            <a:chExt cx="4632960" cy="1097280"/>
          </a:xfrm>
        </p:grpSpPr>
        <p:sp>
          <p:nvSpPr>
            <p:cNvPr name="Freeform 89" id="89"/>
            <p:cNvSpPr/>
            <p:nvPr/>
          </p:nvSpPr>
          <p:spPr>
            <a:xfrm flipH="false" flipV="false" rot="0">
              <a:off x="0" y="0"/>
              <a:ext cx="4632960" cy="1097280"/>
            </a:xfrm>
            <a:custGeom>
              <a:avLst/>
              <a:gdLst/>
              <a:ahLst/>
              <a:cxnLst/>
              <a:rect r="r" b="b" t="t" l="l"/>
              <a:pathLst>
                <a:path h="1097280" w="4632960">
                  <a:moveTo>
                    <a:pt x="0" y="0"/>
                  </a:moveTo>
                  <a:lnTo>
                    <a:pt x="4632960" y="0"/>
                  </a:lnTo>
                  <a:lnTo>
                    <a:pt x="4632960" y="1097280"/>
                  </a:lnTo>
                  <a:lnTo>
                    <a:pt x="0" y="1097280"/>
                  </a:lnTo>
                  <a:close/>
                </a:path>
              </a:pathLst>
            </a:custGeom>
            <a:blipFill>
              <a:blip r:embed="rId3">
                <a:alphaModFix amt="0"/>
              </a:blip>
              <a:stretch>
                <a:fillRect l="0" t="-32270" r="0" b="-32270"/>
              </a:stretch>
            </a:blipFill>
          </p:spPr>
        </p:sp>
        <p:sp>
          <p:nvSpPr>
            <p:cNvPr name="TextBox 90" id="90"/>
            <p:cNvSpPr txBox="true"/>
            <p:nvPr/>
          </p:nvSpPr>
          <p:spPr>
            <a:xfrm>
              <a:off x="0" y="-38100"/>
              <a:ext cx="4632960" cy="1135380"/>
            </a:xfrm>
            <a:prstGeom prst="rect">
              <a:avLst/>
            </a:prstGeom>
          </p:spPr>
          <p:txBody>
            <a:bodyPr anchor="ctr" rtlCol="false" tIns="0" lIns="0" bIns="0" rIns="0"/>
            <a:lstStyle/>
            <a:p>
              <a:pPr algn="ctr">
                <a:lnSpc>
                  <a:spcPts val="2280"/>
                </a:lnSpc>
              </a:pPr>
              <a:r>
                <a:rPr lang="en-US" sz="1900" b="true">
                  <a:solidFill>
                    <a:srgbClr val="1A2744"/>
                  </a:solidFill>
                  <a:latin typeface="Calibri (MS) Bold"/>
                  <a:ea typeface="Calibri (MS) Bold"/>
                  <a:cs typeface="Calibri (MS) Bold"/>
                  <a:sym typeface="Calibri (MS) Bold"/>
                </a:rPr>
                <a:t>Coverage Width</a:t>
              </a:r>
            </a:p>
            <a:p>
              <a:pPr algn="ctr">
                <a:lnSpc>
                  <a:spcPts val="2280"/>
                </a:lnSpc>
              </a:pPr>
              <a:r>
                <a:rPr lang="en-US" sz="1900" b="true">
                  <a:solidFill>
                    <a:srgbClr val="1A2744"/>
                  </a:solidFill>
                  <a:latin typeface="Calibri (MS) Bold"/>
                  <a:ea typeface="Calibri (MS) Bold"/>
                  <a:cs typeface="Calibri (MS) Bold"/>
                  <a:sym typeface="Calibri (MS) Bold"/>
                </a:rPr>
                <a:t>Criterion</a:t>
              </a:r>
            </a:p>
          </p:txBody>
        </p:sp>
      </p:grpSp>
      <p:grpSp>
        <p:nvGrpSpPr>
          <p:cNvPr name="Group 91" id="91"/>
          <p:cNvGrpSpPr/>
          <p:nvPr/>
        </p:nvGrpSpPr>
        <p:grpSpPr>
          <a:xfrm rot="0">
            <a:off x="13496544" y="4791456"/>
            <a:ext cx="3474720" cy="1005840"/>
            <a:chOff x="0" y="0"/>
            <a:chExt cx="4632960" cy="1341120"/>
          </a:xfrm>
        </p:grpSpPr>
        <p:sp>
          <p:nvSpPr>
            <p:cNvPr name="Freeform 92" id="92"/>
            <p:cNvSpPr/>
            <p:nvPr/>
          </p:nvSpPr>
          <p:spPr>
            <a:xfrm flipH="false" flipV="false" rot="0">
              <a:off x="0" y="0"/>
              <a:ext cx="4632960" cy="1341120"/>
            </a:xfrm>
            <a:custGeom>
              <a:avLst/>
              <a:gdLst/>
              <a:ahLst/>
              <a:cxnLst/>
              <a:rect r="r" b="b" t="t" l="l"/>
              <a:pathLst>
                <a:path h="1341120" w="4632960">
                  <a:moveTo>
                    <a:pt x="0" y="0"/>
                  </a:moveTo>
                  <a:lnTo>
                    <a:pt x="4632960" y="0"/>
                  </a:lnTo>
                  <a:lnTo>
                    <a:pt x="4632960" y="1341120"/>
                  </a:lnTo>
                  <a:lnTo>
                    <a:pt x="0" y="1341120"/>
                  </a:lnTo>
                  <a:close/>
                </a:path>
              </a:pathLst>
            </a:custGeom>
            <a:blipFill>
              <a:blip r:embed="rId3">
                <a:alphaModFix amt="0"/>
              </a:blip>
              <a:stretch>
                <a:fillRect l="0" t="-17311" r="0" b="-17311"/>
              </a:stretch>
            </a:blipFill>
          </p:spPr>
        </p:sp>
        <p:sp>
          <p:nvSpPr>
            <p:cNvPr name="TextBox 93" id="93"/>
            <p:cNvSpPr txBox="true"/>
            <p:nvPr/>
          </p:nvSpPr>
          <p:spPr>
            <a:xfrm>
              <a:off x="0" y="-38100"/>
              <a:ext cx="4632960" cy="1379220"/>
            </a:xfrm>
            <a:prstGeom prst="rect">
              <a:avLst/>
            </a:prstGeom>
          </p:spPr>
          <p:txBody>
            <a:bodyPr anchor="ctr" rtlCol="false" tIns="0" lIns="0" bIns="0" rIns="0"/>
            <a:lstStyle/>
            <a:p>
              <a:pPr algn="ctr">
                <a:lnSpc>
                  <a:spcPts val="2160"/>
                </a:lnSpc>
              </a:pPr>
              <a:r>
                <a:rPr lang="en-US" sz="1800" i="true">
                  <a:solidFill>
                    <a:srgbClr val="334155"/>
                  </a:solidFill>
                  <a:latin typeface="Calibri (MS) Italics"/>
                  <a:ea typeface="Calibri (MS) Italics"/>
                  <a:cs typeface="Calibri (MS) Italics"/>
                  <a:sym typeface="Calibri (MS) Italics"/>
                </a:rPr>
                <a:t>MPIW · exp(−50·(PICP/100−0.95))</a:t>
              </a:r>
            </a:p>
            <a:p>
              <a:pPr algn="ctr">
                <a:lnSpc>
                  <a:spcPts val="2160"/>
                </a:lnSpc>
              </a:pPr>
              <a:r>
                <a:rPr lang="en-US" sz="1800" i="true">
                  <a:solidFill>
                    <a:srgbClr val="334155"/>
                  </a:solidFill>
                  <a:latin typeface="Calibri (MS) Italics"/>
                  <a:ea typeface="Calibri (MS) Italics"/>
                  <a:cs typeface="Calibri (MS) Italics"/>
                  <a:sym typeface="Calibri (MS) Italics"/>
                </a:rPr>
                <a:t>if PICP &lt; 95%, else MPIW</a:t>
              </a:r>
            </a:p>
          </p:txBody>
        </p:sp>
      </p:grpSp>
      <p:grpSp>
        <p:nvGrpSpPr>
          <p:cNvPr name="Group 94" id="94"/>
          <p:cNvGrpSpPr/>
          <p:nvPr/>
        </p:nvGrpSpPr>
        <p:grpSpPr>
          <a:xfrm rot="0">
            <a:off x="13801087" y="5845807"/>
            <a:ext cx="2847337" cy="12697"/>
            <a:chOff x="0" y="0"/>
            <a:chExt cx="3796449" cy="16929"/>
          </a:xfrm>
        </p:grpSpPr>
        <p:sp>
          <p:nvSpPr>
            <p:cNvPr name="Freeform 95" id="95"/>
            <p:cNvSpPr/>
            <p:nvPr/>
          </p:nvSpPr>
          <p:spPr>
            <a:xfrm flipH="false" flipV="false" rot="0">
              <a:off x="8509" y="0"/>
              <a:ext cx="3779520" cy="16891"/>
            </a:xfrm>
            <a:custGeom>
              <a:avLst/>
              <a:gdLst/>
              <a:ahLst/>
              <a:cxnLst/>
              <a:rect r="r" b="b" t="t" l="l"/>
              <a:pathLst>
                <a:path h="16891" w="3779520">
                  <a:moveTo>
                    <a:pt x="0" y="0"/>
                  </a:moveTo>
                  <a:lnTo>
                    <a:pt x="3779520" y="0"/>
                  </a:lnTo>
                  <a:lnTo>
                    <a:pt x="3779520" y="16891"/>
                  </a:lnTo>
                  <a:lnTo>
                    <a:pt x="0" y="16891"/>
                  </a:lnTo>
                  <a:close/>
                </a:path>
              </a:pathLst>
            </a:custGeom>
            <a:solidFill>
              <a:srgbClr val="DDDDDD"/>
            </a:solidFill>
          </p:spPr>
        </p:sp>
      </p:grpSp>
      <p:grpSp>
        <p:nvGrpSpPr>
          <p:cNvPr name="Group 96" id="96"/>
          <p:cNvGrpSpPr/>
          <p:nvPr/>
        </p:nvGrpSpPr>
        <p:grpSpPr>
          <a:xfrm rot="0">
            <a:off x="13496544" y="5998464"/>
            <a:ext cx="3474720" cy="512064"/>
            <a:chOff x="0" y="0"/>
            <a:chExt cx="4632960" cy="682752"/>
          </a:xfrm>
        </p:grpSpPr>
        <p:sp>
          <p:nvSpPr>
            <p:cNvPr name="Freeform 97" id="97"/>
            <p:cNvSpPr/>
            <p:nvPr/>
          </p:nvSpPr>
          <p:spPr>
            <a:xfrm flipH="false" flipV="false" rot="0">
              <a:off x="0" y="0"/>
              <a:ext cx="4632960" cy="682752"/>
            </a:xfrm>
            <a:custGeom>
              <a:avLst/>
              <a:gdLst/>
              <a:ahLst/>
              <a:cxnLst/>
              <a:rect r="r" b="b" t="t" l="l"/>
              <a:pathLst>
                <a:path h="682752" w="4632960">
                  <a:moveTo>
                    <a:pt x="0" y="0"/>
                  </a:moveTo>
                  <a:lnTo>
                    <a:pt x="4632960" y="0"/>
                  </a:lnTo>
                  <a:lnTo>
                    <a:pt x="4632960" y="682752"/>
                  </a:lnTo>
                  <a:lnTo>
                    <a:pt x="0" y="682752"/>
                  </a:lnTo>
                  <a:close/>
                </a:path>
              </a:pathLst>
            </a:custGeom>
            <a:blipFill>
              <a:blip r:embed="rId3">
                <a:alphaModFix amt="0"/>
              </a:blip>
              <a:stretch>
                <a:fillRect l="0" t="-82219" r="0" b="-82219"/>
              </a:stretch>
            </a:blipFill>
          </p:spPr>
        </p:sp>
        <p:sp>
          <p:nvSpPr>
            <p:cNvPr name="TextBox 98" id="98"/>
            <p:cNvSpPr txBox="true"/>
            <p:nvPr/>
          </p:nvSpPr>
          <p:spPr>
            <a:xfrm>
              <a:off x="0" y="-38100"/>
              <a:ext cx="4632960" cy="720852"/>
            </a:xfrm>
            <a:prstGeom prst="rect">
              <a:avLst/>
            </a:prstGeom>
          </p:spPr>
          <p:txBody>
            <a:bodyPr anchor="ctr" rtlCol="false" tIns="0" lIns="0" bIns="0" rIns="0"/>
            <a:lstStyle/>
            <a:p>
              <a:pPr algn="ctr">
                <a:lnSpc>
                  <a:spcPts val="2400"/>
                </a:lnSpc>
              </a:pPr>
              <a:r>
                <a:rPr lang="en-US" sz="2000" b="true">
                  <a:solidFill>
                    <a:srgbClr val="059669"/>
                  </a:solidFill>
                  <a:latin typeface="Calibri (MS) Bold"/>
                  <a:ea typeface="Calibri (MS) Bold"/>
                  <a:cs typeface="Calibri (MS) Bold"/>
                  <a:sym typeface="Calibri (MS) Bold"/>
                </a:rPr>
                <a:t>Lower = better</a:t>
              </a:r>
            </a:p>
          </p:txBody>
        </p:sp>
      </p:grpSp>
      <p:grpSp>
        <p:nvGrpSpPr>
          <p:cNvPr name="Group 99" id="99"/>
          <p:cNvGrpSpPr/>
          <p:nvPr/>
        </p:nvGrpSpPr>
        <p:grpSpPr>
          <a:xfrm rot="0">
            <a:off x="13496544" y="6583680"/>
            <a:ext cx="3474720" cy="2194560"/>
            <a:chOff x="0" y="0"/>
            <a:chExt cx="4632960" cy="2926080"/>
          </a:xfrm>
        </p:grpSpPr>
        <p:sp>
          <p:nvSpPr>
            <p:cNvPr name="Freeform 100" id="100"/>
            <p:cNvSpPr/>
            <p:nvPr/>
          </p:nvSpPr>
          <p:spPr>
            <a:xfrm flipH="false" flipV="false" rot="0">
              <a:off x="0" y="0"/>
              <a:ext cx="4632960" cy="2926080"/>
            </a:xfrm>
            <a:custGeom>
              <a:avLst/>
              <a:gdLst/>
              <a:ahLst/>
              <a:cxnLst/>
              <a:rect r="r" b="b" t="t" l="l"/>
              <a:pathLst>
                <a:path h="2926080" w="4632960">
                  <a:moveTo>
                    <a:pt x="0" y="0"/>
                  </a:moveTo>
                  <a:lnTo>
                    <a:pt x="4632960" y="0"/>
                  </a:lnTo>
                  <a:lnTo>
                    <a:pt x="4632960" y="2926080"/>
                  </a:lnTo>
                  <a:lnTo>
                    <a:pt x="0" y="2926080"/>
                  </a:lnTo>
                  <a:close/>
                </a:path>
              </a:pathLst>
            </a:custGeom>
            <a:blipFill>
              <a:blip r:embed="rId3">
                <a:alphaModFix amt="0"/>
              </a:blip>
              <a:stretch>
                <a:fillRect l="-31033" t="0" r="-31033" b="0"/>
              </a:stretch>
            </a:blipFill>
          </p:spPr>
        </p:sp>
        <p:sp>
          <p:nvSpPr>
            <p:cNvPr name="TextBox 101" id="101"/>
            <p:cNvSpPr txBox="true"/>
            <p:nvPr/>
          </p:nvSpPr>
          <p:spPr>
            <a:xfrm>
              <a:off x="0" y="-38100"/>
              <a:ext cx="4632960" cy="2964180"/>
            </a:xfrm>
            <a:prstGeom prst="rect">
              <a:avLst/>
            </a:prstGeom>
          </p:spPr>
          <p:txBody>
            <a:bodyPr anchor="ctr" rtlCol="false" tIns="0" lIns="0" bIns="0" rIns="0"/>
            <a:lstStyle/>
            <a:p>
              <a:pPr algn="ctr">
                <a:lnSpc>
                  <a:spcPts val="2160"/>
                </a:lnSpc>
              </a:pPr>
              <a:r>
                <a:rPr lang="en-US" sz="1800">
                  <a:solidFill>
                    <a:srgbClr val="64748B"/>
                  </a:solidFill>
                  <a:latin typeface="Calibri (MS)"/>
                  <a:ea typeface="Calibri (MS)"/>
                  <a:cs typeface="Calibri (MS)"/>
                  <a:sym typeface="Calibri (MS)"/>
                </a:rPr>
                <a:t>Exponential penalty for under-coverage</a:t>
              </a:r>
            </a:p>
            <a:p>
              <a:pPr algn="ctr">
                <a:lnSpc>
                  <a:spcPts val="2160"/>
                </a:lnSpc>
              </a:pPr>
              <a:r>
                <a:rPr lang="en-US" sz="1800">
                  <a:solidFill>
                    <a:srgbClr val="64748B"/>
                  </a:solidFill>
                  <a:latin typeface="Calibri (MS)"/>
                  <a:ea typeface="Calibri (MS)"/>
                  <a:cs typeface="Calibri (MS)"/>
                  <a:sym typeface="Calibri (MS)"/>
                </a:rPr>
                <a:t>At PICP=90%: CWC = 12.2×MPIW</a:t>
              </a: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73152"/>
            <a:chOff x="0" y="0"/>
            <a:chExt cx="24384000" cy="97536"/>
          </a:xfrm>
        </p:grpSpPr>
        <p:sp>
          <p:nvSpPr>
            <p:cNvPr name="Freeform 3" id="3"/>
            <p:cNvSpPr/>
            <p:nvPr/>
          </p:nvSpPr>
          <p:spPr>
            <a:xfrm flipH="false" flipV="false" rot="0">
              <a:off x="0" y="0"/>
              <a:ext cx="24384000" cy="97536"/>
            </a:xfrm>
            <a:custGeom>
              <a:avLst/>
              <a:gdLst/>
              <a:ahLst/>
              <a:cxnLst/>
              <a:rect r="r" b="b" t="t" l="l"/>
              <a:pathLst>
                <a:path h="97536" w="24384000">
                  <a:moveTo>
                    <a:pt x="0" y="0"/>
                  </a:moveTo>
                  <a:lnTo>
                    <a:pt x="24384000" y="0"/>
                  </a:lnTo>
                  <a:lnTo>
                    <a:pt x="24384000" y="97536"/>
                  </a:lnTo>
                  <a:lnTo>
                    <a:pt x="0" y="97536"/>
                  </a:lnTo>
                  <a:close/>
                </a:path>
              </a:pathLst>
            </a:custGeom>
            <a:solidFill>
              <a:srgbClr val="3B82F6"/>
            </a:solidFill>
          </p:spPr>
        </p:sp>
      </p:grpSp>
      <p:grpSp>
        <p:nvGrpSpPr>
          <p:cNvPr name="Group 4" id="4"/>
          <p:cNvGrpSpPr/>
          <p:nvPr/>
        </p:nvGrpSpPr>
        <p:grpSpPr>
          <a:xfrm rot="0">
            <a:off x="1005840" y="585216"/>
            <a:ext cx="2926080" cy="512064"/>
            <a:chOff x="0" y="0"/>
            <a:chExt cx="3901440" cy="682752"/>
          </a:xfrm>
        </p:grpSpPr>
        <p:sp>
          <p:nvSpPr>
            <p:cNvPr name="Freeform 5" id="5"/>
            <p:cNvSpPr/>
            <p:nvPr/>
          </p:nvSpPr>
          <p:spPr>
            <a:xfrm flipH="false" flipV="false" rot="0">
              <a:off x="0" y="0"/>
              <a:ext cx="3901440" cy="682752"/>
            </a:xfrm>
            <a:custGeom>
              <a:avLst/>
              <a:gdLst/>
              <a:ahLst/>
              <a:cxnLst/>
              <a:rect r="r" b="b" t="t" l="l"/>
              <a:pathLst>
                <a:path h="682752" w="3901440">
                  <a:moveTo>
                    <a:pt x="0" y="341376"/>
                  </a:moveTo>
                  <a:cubicBezTo>
                    <a:pt x="0" y="152781"/>
                    <a:pt x="152781" y="0"/>
                    <a:pt x="341376" y="0"/>
                  </a:cubicBezTo>
                  <a:lnTo>
                    <a:pt x="3560064" y="0"/>
                  </a:lnTo>
                  <a:cubicBezTo>
                    <a:pt x="3748659" y="0"/>
                    <a:pt x="3901440" y="152781"/>
                    <a:pt x="3901440" y="341376"/>
                  </a:cubicBezTo>
                  <a:cubicBezTo>
                    <a:pt x="3901440" y="529971"/>
                    <a:pt x="3748659" y="682752"/>
                    <a:pt x="3560064" y="682752"/>
                  </a:cubicBezTo>
                  <a:lnTo>
                    <a:pt x="341376" y="682752"/>
                  </a:lnTo>
                  <a:cubicBezTo>
                    <a:pt x="152781" y="682752"/>
                    <a:pt x="0" y="529971"/>
                    <a:pt x="0" y="341376"/>
                  </a:cubicBezTo>
                  <a:close/>
                </a:path>
              </a:pathLst>
            </a:custGeom>
            <a:solidFill>
              <a:srgbClr val="3B82F6"/>
            </a:solidFill>
          </p:spPr>
        </p:sp>
      </p:grpSp>
      <p:grpSp>
        <p:nvGrpSpPr>
          <p:cNvPr name="Group 6" id="6"/>
          <p:cNvGrpSpPr/>
          <p:nvPr/>
        </p:nvGrpSpPr>
        <p:grpSpPr>
          <a:xfrm rot="0">
            <a:off x="1005840" y="585216"/>
            <a:ext cx="2926080" cy="512064"/>
            <a:chOff x="0" y="0"/>
            <a:chExt cx="3901440" cy="682752"/>
          </a:xfrm>
        </p:grpSpPr>
        <p:sp>
          <p:nvSpPr>
            <p:cNvPr name="Freeform 7" id="7"/>
            <p:cNvSpPr/>
            <p:nvPr/>
          </p:nvSpPr>
          <p:spPr>
            <a:xfrm flipH="false" flipV="false" rot="0">
              <a:off x="0" y="0"/>
              <a:ext cx="3901440" cy="682752"/>
            </a:xfrm>
            <a:custGeom>
              <a:avLst/>
              <a:gdLst/>
              <a:ahLst/>
              <a:cxnLst/>
              <a:rect r="r" b="b" t="t" l="l"/>
              <a:pathLst>
                <a:path h="682752" w="3901440">
                  <a:moveTo>
                    <a:pt x="0" y="0"/>
                  </a:moveTo>
                  <a:lnTo>
                    <a:pt x="3901440" y="0"/>
                  </a:lnTo>
                  <a:lnTo>
                    <a:pt x="3901440" y="682752"/>
                  </a:lnTo>
                  <a:lnTo>
                    <a:pt x="0" y="682752"/>
                  </a:lnTo>
                  <a:close/>
                </a:path>
              </a:pathLst>
            </a:custGeom>
            <a:blipFill>
              <a:blip r:embed="rId3">
                <a:alphaModFix amt="0"/>
              </a:blip>
              <a:stretch>
                <a:fillRect l="0" t="-61343" r="0" b="-61343"/>
              </a:stretch>
            </a:blipFill>
          </p:spPr>
        </p:sp>
        <p:sp>
          <p:nvSpPr>
            <p:cNvPr name="TextBox 8" id="8"/>
            <p:cNvSpPr txBox="true"/>
            <p:nvPr/>
          </p:nvSpPr>
          <p:spPr>
            <a:xfrm>
              <a:off x="0" y="-38100"/>
              <a:ext cx="3901440" cy="72085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SLA</a:t>
              </a:r>
            </a:p>
          </p:txBody>
        </p:sp>
      </p:grpSp>
      <p:grpSp>
        <p:nvGrpSpPr>
          <p:cNvPr name="Group 9" id="9"/>
          <p:cNvGrpSpPr/>
          <p:nvPr/>
        </p:nvGrpSpPr>
        <p:grpSpPr>
          <a:xfrm rot="0">
            <a:off x="1005840" y="1060704"/>
            <a:ext cx="16276320" cy="877824"/>
            <a:chOff x="0" y="0"/>
            <a:chExt cx="21701760" cy="1170432"/>
          </a:xfrm>
        </p:grpSpPr>
        <p:sp>
          <p:nvSpPr>
            <p:cNvPr name="Freeform 10" id="10"/>
            <p:cNvSpPr/>
            <p:nvPr/>
          </p:nvSpPr>
          <p:spPr>
            <a:xfrm flipH="false" flipV="false" rot="0">
              <a:off x="0" y="0"/>
              <a:ext cx="21701761" cy="1170432"/>
            </a:xfrm>
            <a:custGeom>
              <a:avLst/>
              <a:gdLst/>
              <a:ahLst/>
              <a:cxnLst/>
              <a:rect r="r" b="b" t="t" l="l"/>
              <a:pathLst>
                <a:path h="1170432" w="21701761">
                  <a:moveTo>
                    <a:pt x="0" y="0"/>
                  </a:moveTo>
                  <a:lnTo>
                    <a:pt x="21701761" y="0"/>
                  </a:lnTo>
                  <a:lnTo>
                    <a:pt x="21701761" y="1170432"/>
                  </a:lnTo>
                  <a:lnTo>
                    <a:pt x="0" y="1170432"/>
                  </a:lnTo>
                  <a:close/>
                </a:path>
              </a:pathLst>
            </a:custGeom>
            <a:blipFill>
              <a:blip r:embed="rId3">
                <a:alphaModFix amt="0"/>
              </a:blip>
              <a:stretch>
                <a:fillRect l="0" t="-311285" r="0" b="-311285"/>
              </a:stretch>
            </a:blipFill>
          </p:spPr>
        </p:sp>
        <p:sp>
          <p:nvSpPr>
            <p:cNvPr name="TextBox 11" id="11"/>
            <p:cNvSpPr txBox="true"/>
            <p:nvPr/>
          </p:nvSpPr>
          <p:spPr>
            <a:xfrm>
              <a:off x="0" y="-76200"/>
              <a:ext cx="21701760" cy="1246632"/>
            </a:xfrm>
            <a:prstGeom prst="rect">
              <a:avLst/>
            </a:prstGeom>
          </p:spPr>
          <p:txBody>
            <a:bodyPr anchor="ctr" rtlCol="false" tIns="0" lIns="0" bIns="0" rIns="0"/>
            <a:lstStyle/>
            <a:p>
              <a:pPr algn="l">
                <a:lnSpc>
                  <a:spcPts val="5280"/>
                </a:lnSpc>
              </a:pPr>
              <a:r>
                <a:rPr lang="en-US" sz="4400" b="true">
                  <a:solidFill>
                    <a:srgbClr val="1A2744"/>
                  </a:solidFill>
                  <a:latin typeface="Calibri (MS) Bold"/>
                  <a:ea typeface="Calibri (MS) Bold"/>
                  <a:cs typeface="Calibri (MS) Bold"/>
                  <a:sym typeface="Calibri (MS) Bold"/>
                </a:rPr>
                <a:t>Sea Level Anomaly — What &amp; Why</a:t>
              </a:r>
            </a:p>
          </p:txBody>
        </p:sp>
      </p:grpSp>
      <p:grpSp>
        <p:nvGrpSpPr>
          <p:cNvPr name="Group 12" id="12"/>
          <p:cNvGrpSpPr/>
          <p:nvPr/>
        </p:nvGrpSpPr>
        <p:grpSpPr>
          <a:xfrm rot="0">
            <a:off x="1005840" y="1938528"/>
            <a:ext cx="16276320" cy="457200"/>
            <a:chOff x="0" y="0"/>
            <a:chExt cx="21701760" cy="609600"/>
          </a:xfrm>
        </p:grpSpPr>
        <p:sp>
          <p:nvSpPr>
            <p:cNvPr name="Freeform 13" id="13"/>
            <p:cNvSpPr/>
            <p:nvPr/>
          </p:nvSpPr>
          <p:spPr>
            <a:xfrm flipH="false" flipV="false" rot="0">
              <a:off x="0" y="0"/>
              <a:ext cx="21701761" cy="609600"/>
            </a:xfrm>
            <a:custGeom>
              <a:avLst/>
              <a:gdLst/>
              <a:ahLst/>
              <a:cxnLst/>
              <a:rect r="r" b="b" t="t" l="l"/>
              <a:pathLst>
                <a:path h="609600" w="21701761">
                  <a:moveTo>
                    <a:pt x="0" y="0"/>
                  </a:moveTo>
                  <a:lnTo>
                    <a:pt x="21701761" y="0"/>
                  </a:lnTo>
                  <a:lnTo>
                    <a:pt x="21701761" y="609600"/>
                  </a:lnTo>
                  <a:lnTo>
                    <a:pt x="0" y="609600"/>
                  </a:lnTo>
                  <a:close/>
                </a:path>
              </a:pathLst>
            </a:custGeom>
            <a:blipFill>
              <a:blip r:embed="rId3">
                <a:alphaModFix amt="0"/>
              </a:blip>
              <a:stretch>
                <a:fillRect l="0" t="-643667" r="0" b="-643667"/>
              </a:stretch>
            </a:blipFill>
          </p:spPr>
        </p:sp>
        <p:sp>
          <p:nvSpPr>
            <p:cNvPr name="TextBox 14" id="14"/>
            <p:cNvSpPr txBox="true"/>
            <p:nvPr/>
          </p:nvSpPr>
          <p:spPr>
            <a:xfrm>
              <a:off x="0" y="-47625"/>
              <a:ext cx="21701760" cy="657225"/>
            </a:xfrm>
            <a:prstGeom prst="rect">
              <a:avLst/>
            </a:prstGeom>
          </p:spPr>
          <p:txBody>
            <a:bodyPr anchor="ctr" rtlCol="false" tIns="0" lIns="0" bIns="0" rIns="0"/>
            <a:lstStyle/>
            <a:p>
              <a:pPr algn="l">
                <a:lnSpc>
                  <a:spcPts val="2640"/>
                </a:lnSpc>
              </a:pPr>
              <a:r>
                <a:rPr lang="en-US" sz="2200" i="true">
                  <a:solidFill>
                    <a:srgbClr val="64748B"/>
                  </a:solidFill>
                  <a:latin typeface="Calibri (MS) Italics"/>
                  <a:ea typeface="Calibri (MS) Italics"/>
                  <a:cs typeface="Calibri (MS) Italics"/>
                  <a:sym typeface="Calibri (MS) Italics"/>
                </a:rPr>
                <a:t>Deviation of instantaneous sea surface height from the long-term mean</a:t>
              </a:r>
            </a:p>
          </p:txBody>
        </p:sp>
      </p:grpSp>
      <p:grpSp>
        <p:nvGrpSpPr>
          <p:cNvPr name="Group 15" id="15"/>
          <p:cNvGrpSpPr/>
          <p:nvPr/>
        </p:nvGrpSpPr>
        <p:grpSpPr>
          <a:xfrm rot="0">
            <a:off x="17190720" y="9646920"/>
            <a:ext cx="731520" cy="457200"/>
            <a:chOff x="0" y="0"/>
            <a:chExt cx="975360" cy="609600"/>
          </a:xfrm>
        </p:grpSpPr>
        <p:sp>
          <p:nvSpPr>
            <p:cNvPr name="Freeform 16" id="16"/>
            <p:cNvSpPr/>
            <p:nvPr/>
          </p:nvSpPr>
          <p:spPr>
            <a:xfrm flipH="false" flipV="false" rot="0">
              <a:off x="0" y="0"/>
              <a:ext cx="975360" cy="609600"/>
            </a:xfrm>
            <a:custGeom>
              <a:avLst/>
              <a:gdLst/>
              <a:ahLst/>
              <a:cxnLst/>
              <a:rect r="r" b="b" t="t" l="l"/>
              <a:pathLst>
                <a:path h="609600" w="975360">
                  <a:moveTo>
                    <a:pt x="0" y="0"/>
                  </a:moveTo>
                  <a:lnTo>
                    <a:pt x="975360" y="0"/>
                  </a:lnTo>
                  <a:lnTo>
                    <a:pt x="975360" y="609600"/>
                  </a:lnTo>
                  <a:lnTo>
                    <a:pt x="0" y="609600"/>
                  </a:lnTo>
                  <a:close/>
                </a:path>
              </a:pathLst>
            </a:custGeom>
            <a:blipFill>
              <a:blip r:embed="rId3">
                <a:alphaModFix amt="0"/>
              </a:blip>
              <a:stretch>
                <a:fillRect l="-30189" t="0" r="-30189" b="0"/>
              </a:stretch>
            </a:blipFill>
          </p:spPr>
        </p:sp>
        <p:sp>
          <p:nvSpPr>
            <p:cNvPr name="TextBox 17" id="17"/>
            <p:cNvSpPr txBox="true"/>
            <p:nvPr/>
          </p:nvSpPr>
          <p:spPr>
            <a:xfrm>
              <a:off x="0" y="-38100"/>
              <a:ext cx="975360" cy="647700"/>
            </a:xfrm>
            <a:prstGeom prst="rect">
              <a:avLst/>
            </a:prstGeom>
          </p:spPr>
          <p:txBody>
            <a:bodyPr anchor="ctr" rtlCol="false" tIns="0" lIns="0" bIns="0" rIns="0"/>
            <a:lstStyle/>
            <a:p>
              <a:pPr algn="r">
                <a:lnSpc>
                  <a:spcPts val="2160"/>
                </a:lnSpc>
              </a:pPr>
              <a:r>
                <a:rPr lang="en-US" sz="1800">
                  <a:solidFill>
                    <a:srgbClr val="64748B"/>
                  </a:solidFill>
                  <a:latin typeface="Calibri (MS)"/>
                  <a:ea typeface="Calibri (MS)"/>
                  <a:cs typeface="Calibri (MS)"/>
                  <a:sym typeface="Calibri (MS)"/>
                </a:rPr>
                <a:t>11</a:t>
              </a:r>
            </a:p>
          </p:txBody>
        </p:sp>
      </p:grpSp>
      <p:grpSp>
        <p:nvGrpSpPr>
          <p:cNvPr name="Group 18" id="18"/>
          <p:cNvGrpSpPr/>
          <p:nvPr/>
        </p:nvGrpSpPr>
        <p:grpSpPr>
          <a:xfrm rot="0">
            <a:off x="1005840" y="2468880"/>
            <a:ext cx="7680960" cy="7132320"/>
            <a:chOff x="0" y="0"/>
            <a:chExt cx="10241280" cy="9509760"/>
          </a:xfrm>
        </p:grpSpPr>
        <p:sp>
          <p:nvSpPr>
            <p:cNvPr name="Freeform 19" id="19"/>
            <p:cNvSpPr/>
            <p:nvPr/>
          </p:nvSpPr>
          <p:spPr>
            <a:xfrm flipH="false" flipV="false" rot="0">
              <a:off x="0" y="0"/>
              <a:ext cx="10241280" cy="9509760"/>
            </a:xfrm>
            <a:custGeom>
              <a:avLst/>
              <a:gdLst/>
              <a:ahLst/>
              <a:cxnLst/>
              <a:rect r="r" b="b" t="t" l="l"/>
              <a:pathLst>
                <a:path h="9509760" w="10241280">
                  <a:moveTo>
                    <a:pt x="0" y="292608"/>
                  </a:moveTo>
                  <a:cubicBezTo>
                    <a:pt x="0" y="131064"/>
                    <a:pt x="131064" y="0"/>
                    <a:pt x="292608" y="0"/>
                  </a:cubicBezTo>
                  <a:lnTo>
                    <a:pt x="9948672" y="0"/>
                  </a:lnTo>
                  <a:cubicBezTo>
                    <a:pt x="10110215" y="0"/>
                    <a:pt x="10241280" y="131064"/>
                    <a:pt x="10241280" y="292608"/>
                  </a:cubicBezTo>
                  <a:lnTo>
                    <a:pt x="10241280" y="9217152"/>
                  </a:lnTo>
                  <a:cubicBezTo>
                    <a:pt x="10241280" y="9378697"/>
                    <a:pt x="10110216" y="9509760"/>
                    <a:pt x="9948672" y="9509760"/>
                  </a:cubicBezTo>
                  <a:lnTo>
                    <a:pt x="292608" y="9509760"/>
                  </a:lnTo>
                  <a:cubicBezTo>
                    <a:pt x="131064" y="9509760"/>
                    <a:pt x="0" y="9378696"/>
                    <a:pt x="0" y="9217152"/>
                  </a:cubicBezTo>
                  <a:close/>
                </a:path>
              </a:pathLst>
            </a:custGeom>
            <a:solidFill>
              <a:srgbClr val="EFF6FF"/>
            </a:solidFill>
          </p:spPr>
        </p:sp>
      </p:grpSp>
      <p:grpSp>
        <p:nvGrpSpPr>
          <p:cNvPr name="Group 20" id="20"/>
          <p:cNvGrpSpPr/>
          <p:nvPr/>
        </p:nvGrpSpPr>
        <p:grpSpPr>
          <a:xfrm rot="0">
            <a:off x="1225296" y="2596896"/>
            <a:ext cx="7132320" cy="585216"/>
            <a:chOff x="0" y="0"/>
            <a:chExt cx="9509760" cy="780288"/>
          </a:xfrm>
        </p:grpSpPr>
        <p:sp>
          <p:nvSpPr>
            <p:cNvPr name="Freeform 21" id="21"/>
            <p:cNvSpPr/>
            <p:nvPr/>
          </p:nvSpPr>
          <p:spPr>
            <a:xfrm flipH="false" flipV="false" rot="0">
              <a:off x="0" y="0"/>
              <a:ext cx="9509760" cy="780288"/>
            </a:xfrm>
            <a:custGeom>
              <a:avLst/>
              <a:gdLst/>
              <a:ahLst/>
              <a:cxnLst/>
              <a:rect r="r" b="b" t="t" l="l"/>
              <a:pathLst>
                <a:path h="780288" w="9509760">
                  <a:moveTo>
                    <a:pt x="0" y="0"/>
                  </a:moveTo>
                  <a:lnTo>
                    <a:pt x="9509760" y="0"/>
                  </a:lnTo>
                  <a:lnTo>
                    <a:pt x="9509760" y="780288"/>
                  </a:lnTo>
                  <a:lnTo>
                    <a:pt x="0" y="780288"/>
                  </a:lnTo>
                  <a:close/>
                </a:path>
              </a:pathLst>
            </a:custGeom>
            <a:blipFill>
              <a:blip r:embed="rId3">
                <a:alphaModFix amt="0"/>
              </a:blip>
              <a:stretch>
                <a:fillRect l="0" t="-187473" r="0" b="-187473"/>
              </a:stretch>
            </a:blipFill>
          </p:spPr>
        </p:sp>
        <p:sp>
          <p:nvSpPr>
            <p:cNvPr name="TextBox 22" id="22"/>
            <p:cNvSpPr txBox="true"/>
            <p:nvPr/>
          </p:nvSpPr>
          <p:spPr>
            <a:xfrm>
              <a:off x="0" y="-57150"/>
              <a:ext cx="9509760" cy="837438"/>
            </a:xfrm>
            <a:prstGeom prst="rect">
              <a:avLst/>
            </a:prstGeom>
          </p:spPr>
          <p:txBody>
            <a:bodyPr anchor="ctr" rtlCol="false" tIns="0" lIns="0" bIns="0" rIns="0"/>
            <a:lstStyle/>
            <a:p>
              <a:pPr algn="l">
                <a:lnSpc>
                  <a:spcPts val="3120"/>
                </a:lnSpc>
              </a:pPr>
              <a:r>
                <a:rPr lang="en-US" sz="2600" b="true">
                  <a:solidFill>
                    <a:srgbClr val="1A2744"/>
                  </a:solidFill>
                  <a:latin typeface="Calibri (MS) Bold"/>
                  <a:ea typeface="Calibri (MS) Bold"/>
                  <a:cs typeface="Calibri (MS) Bold"/>
                  <a:sym typeface="Calibri (MS) Bold"/>
                </a:rPr>
                <a:t>What is SLA?</a:t>
              </a:r>
            </a:p>
          </p:txBody>
        </p:sp>
      </p:grpSp>
      <p:grpSp>
        <p:nvGrpSpPr>
          <p:cNvPr name="Group 23" id="23"/>
          <p:cNvGrpSpPr/>
          <p:nvPr/>
        </p:nvGrpSpPr>
        <p:grpSpPr>
          <a:xfrm rot="0">
            <a:off x="1280160" y="3291840"/>
            <a:ext cx="7132320" cy="5852160"/>
            <a:chOff x="0" y="0"/>
            <a:chExt cx="9509760" cy="7802880"/>
          </a:xfrm>
        </p:grpSpPr>
        <p:sp>
          <p:nvSpPr>
            <p:cNvPr name="Freeform 24" id="24"/>
            <p:cNvSpPr/>
            <p:nvPr/>
          </p:nvSpPr>
          <p:spPr>
            <a:xfrm flipH="false" flipV="false" rot="0">
              <a:off x="0" y="0"/>
              <a:ext cx="9509760" cy="7802880"/>
            </a:xfrm>
            <a:custGeom>
              <a:avLst/>
              <a:gdLst/>
              <a:ahLst/>
              <a:cxnLst/>
              <a:rect r="r" b="b" t="t" l="l"/>
              <a:pathLst>
                <a:path h="7802880" w="9509760">
                  <a:moveTo>
                    <a:pt x="0" y="0"/>
                  </a:moveTo>
                  <a:lnTo>
                    <a:pt x="9509760" y="0"/>
                  </a:lnTo>
                  <a:lnTo>
                    <a:pt x="9509760" y="7802880"/>
                  </a:lnTo>
                  <a:lnTo>
                    <a:pt x="0" y="7802880"/>
                  </a:lnTo>
                  <a:close/>
                </a:path>
              </a:pathLst>
            </a:custGeom>
            <a:blipFill>
              <a:blip r:embed="rId3">
                <a:alphaModFix amt="0"/>
              </a:blip>
              <a:stretch>
                <a:fillRect l="-55274" t="0" r="-55274" b="0"/>
              </a:stretch>
            </a:blipFill>
          </p:spPr>
        </p:sp>
        <p:sp>
          <p:nvSpPr>
            <p:cNvPr name="TextBox 25" id="25"/>
            <p:cNvSpPr txBox="true"/>
            <p:nvPr/>
          </p:nvSpPr>
          <p:spPr>
            <a:xfrm>
              <a:off x="0" y="-47625"/>
              <a:ext cx="9509760" cy="7850505"/>
            </a:xfrm>
            <a:prstGeom prst="rect">
              <a:avLst/>
            </a:prstGeom>
          </p:spPr>
          <p:txBody>
            <a:bodyPr anchor="ctr" rtlCol="false" tIns="0" lIns="0" bIns="0" rIns="0"/>
            <a:lstStyle/>
            <a:p>
              <a:pPr algn="l">
                <a:lnSpc>
                  <a:spcPts val="2520"/>
                </a:lnSpc>
              </a:pPr>
              <a:r>
                <a:rPr lang="en-US" sz="2100">
                  <a:solidFill>
                    <a:srgbClr val="334155"/>
                  </a:solidFill>
                  <a:latin typeface="Calibri (MS)"/>
                  <a:ea typeface="Calibri (MS)"/>
                  <a:cs typeface="Calibri (MS)"/>
                  <a:sym typeface="Calibri (MS)"/>
                </a:rPr>
                <a:t>SLA (Sea Level Anomaly) = the difference between today's sea surface height and the long-term average at that location.</a:t>
              </a:r>
            </a:p>
            <a:p>
              <a:pPr algn="l">
                <a:lnSpc>
                  <a:spcPts val="2520"/>
                </a:lnSpc>
              </a:pPr>
            </a:p>
            <a:p>
              <a:pPr algn="l">
                <a:lnSpc>
                  <a:spcPts val="2520"/>
                </a:lnSpc>
              </a:pPr>
              <a:r>
                <a:rPr lang="en-US" sz="2100">
                  <a:solidFill>
                    <a:srgbClr val="334155"/>
                  </a:solidFill>
                  <a:latin typeface="Calibri (MS)"/>
                  <a:ea typeface="Calibri (MS)"/>
                  <a:cs typeface="Calibri (MS)"/>
                  <a:sym typeface="Calibri (MS)"/>
                </a:rPr>
                <a:t>• Positive SLA = sea level higher than usual</a:t>
              </a:r>
            </a:p>
            <a:p>
              <a:pPr algn="l">
                <a:lnSpc>
                  <a:spcPts val="2520"/>
                </a:lnSpc>
              </a:pPr>
              <a:r>
                <a:rPr lang="en-US" sz="2100">
                  <a:solidFill>
                    <a:srgbClr val="334155"/>
                  </a:solidFill>
                  <a:latin typeface="Calibri (MS)"/>
                  <a:ea typeface="Calibri (MS)"/>
                  <a:cs typeface="Calibri (MS)"/>
                  <a:sym typeface="Calibri (MS)"/>
                </a:rPr>
                <a:t>• Negative SLA = sea level lower than usual</a:t>
              </a:r>
            </a:p>
            <a:p>
              <a:pPr algn="l">
                <a:lnSpc>
                  <a:spcPts val="2520"/>
                </a:lnSpc>
              </a:pPr>
              <a:r>
                <a:rPr lang="en-US" sz="2100">
                  <a:solidFill>
                    <a:srgbClr val="334155"/>
                  </a:solidFill>
                  <a:latin typeface="Calibri (MS)"/>
                  <a:ea typeface="Calibri (MS)"/>
                  <a:cs typeface="Calibri (MS)"/>
                  <a:sym typeface="Calibri (MS)"/>
                </a:rPr>
                <a:t>• Typical range: ±0.05 to ±0.10 m (centimetre scale)</a:t>
              </a:r>
            </a:p>
            <a:p>
              <a:pPr algn="l">
                <a:lnSpc>
                  <a:spcPts val="2520"/>
                </a:lnSpc>
              </a:pPr>
              <a:r>
                <a:rPr lang="en-US" sz="2100">
                  <a:solidFill>
                    <a:srgbClr val="334155"/>
                  </a:solidFill>
                  <a:latin typeface="Calibri (MS)"/>
                  <a:ea typeface="Calibri (MS)"/>
                  <a:cs typeface="Calibri (MS)"/>
                  <a:sym typeface="Calibri (MS)"/>
                </a:rPr>
                <a:t>• Driven by: mesoscale eddies, steric heating, monsoon winds, remote teleconnections</a:t>
              </a:r>
            </a:p>
            <a:p>
              <a:pPr algn="l">
                <a:lnSpc>
                  <a:spcPts val="2520"/>
                </a:lnSpc>
              </a:pPr>
            </a:p>
            <a:p>
              <a:pPr algn="l">
                <a:lnSpc>
                  <a:spcPts val="2520"/>
                </a:lnSpc>
              </a:pPr>
              <a:r>
                <a:rPr lang="en-US" sz="2100">
                  <a:solidFill>
                    <a:srgbClr val="334155"/>
                  </a:solidFill>
                  <a:latin typeface="Calibri (MS)"/>
                  <a:ea typeface="Calibri (MS)"/>
                  <a:cs typeface="Calibri (MS)"/>
                  <a:sym typeface="Calibri (MS)"/>
                </a:rPr>
                <a:t>This subtle, cm-scale signal is the harder forecasting variable in our study — only 51% of model-location pairs achieve ≥95% PICP.</a:t>
              </a:r>
            </a:p>
          </p:txBody>
        </p:sp>
      </p:grpSp>
      <p:grpSp>
        <p:nvGrpSpPr>
          <p:cNvPr name="Group 26" id="26"/>
          <p:cNvGrpSpPr/>
          <p:nvPr/>
        </p:nvGrpSpPr>
        <p:grpSpPr>
          <a:xfrm rot="0">
            <a:off x="9418320" y="2468880"/>
            <a:ext cx="7863840" cy="7132320"/>
            <a:chOff x="0" y="0"/>
            <a:chExt cx="10485120" cy="9509760"/>
          </a:xfrm>
        </p:grpSpPr>
        <p:sp>
          <p:nvSpPr>
            <p:cNvPr name="Freeform 27" id="27"/>
            <p:cNvSpPr/>
            <p:nvPr/>
          </p:nvSpPr>
          <p:spPr>
            <a:xfrm flipH="false" flipV="false" rot="0">
              <a:off x="0" y="0"/>
              <a:ext cx="10485120" cy="9509760"/>
            </a:xfrm>
            <a:custGeom>
              <a:avLst/>
              <a:gdLst/>
              <a:ahLst/>
              <a:cxnLst/>
              <a:rect r="r" b="b" t="t" l="l"/>
              <a:pathLst>
                <a:path h="9509760" w="10485120">
                  <a:moveTo>
                    <a:pt x="0" y="292608"/>
                  </a:moveTo>
                  <a:cubicBezTo>
                    <a:pt x="0" y="131064"/>
                    <a:pt x="131064" y="0"/>
                    <a:pt x="292608" y="0"/>
                  </a:cubicBezTo>
                  <a:lnTo>
                    <a:pt x="10192512" y="0"/>
                  </a:lnTo>
                  <a:cubicBezTo>
                    <a:pt x="10354056" y="0"/>
                    <a:pt x="10485120" y="131064"/>
                    <a:pt x="10485120" y="292608"/>
                  </a:cubicBezTo>
                  <a:lnTo>
                    <a:pt x="10485120" y="9217152"/>
                  </a:lnTo>
                  <a:cubicBezTo>
                    <a:pt x="10485120" y="9378697"/>
                    <a:pt x="10354056" y="9509760"/>
                    <a:pt x="10192512" y="9509760"/>
                  </a:cubicBezTo>
                  <a:lnTo>
                    <a:pt x="292608" y="9509760"/>
                  </a:lnTo>
                  <a:cubicBezTo>
                    <a:pt x="131064" y="9509760"/>
                    <a:pt x="0" y="9378696"/>
                    <a:pt x="0" y="9217152"/>
                  </a:cubicBezTo>
                  <a:close/>
                </a:path>
              </a:pathLst>
            </a:custGeom>
            <a:solidFill>
              <a:srgbClr val="EFF6FF"/>
            </a:solidFill>
          </p:spPr>
        </p:sp>
      </p:grpSp>
      <p:grpSp>
        <p:nvGrpSpPr>
          <p:cNvPr name="Group 28" id="28"/>
          <p:cNvGrpSpPr/>
          <p:nvPr/>
        </p:nvGrpSpPr>
        <p:grpSpPr>
          <a:xfrm rot="0">
            <a:off x="9692640" y="2596896"/>
            <a:ext cx="7315200" cy="585216"/>
            <a:chOff x="0" y="0"/>
            <a:chExt cx="9753600" cy="780288"/>
          </a:xfrm>
        </p:grpSpPr>
        <p:sp>
          <p:nvSpPr>
            <p:cNvPr name="Freeform 29" id="29"/>
            <p:cNvSpPr/>
            <p:nvPr/>
          </p:nvSpPr>
          <p:spPr>
            <a:xfrm flipH="false" flipV="false" rot="0">
              <a:off x="0" y="0"/>
              <a:ext cx="9753600" cy="780288"/>
            </a:xfrm>
            <a:custGeom>
              <a:avLst/>
              <a:gdLst/>
              <a:ahLst/>
              <a:cxnLst/>
              <a:rect r="r" b="b" t="t" l="l"/>
              <a:pathLst>
                <a:path h="780288" w="9753600">
                  <a:moveTo>
                    <a:pt x="0" y="0"/>
                  </a:moveTo>
                  <a:lnTo>
                    <a:pt x="9753600" y="0"/>
                  </a:lnTo>
                  <a:lnTo>
                    <a:pt x="9753600" y="780288"/>
                  </a:lnTo>
                  <a:lnTo>
                    <a:pt x="0" y="780288"/>
                  </a:lnTo>
                  <a:close/>
                </a:path>
              </a:pathLst>
            </a:custGeom>
            <a:blipFill>
              <a:blip r:embed="rId3">
                <a:alphaModFix amt="0"/>
              </a:blip>
              <a:stretch>
                <a:fillRect l="0" t="-193562" r="0" b="-193562"/>
              </a:stretch>
            </a:blipFill>
          </p:spPr>
        </p:sp>
        <p:sp>
          <p:nvSpPr>
            <p:cNvPr name="TextBox 30" id="30"/>
            <p:cNvSpPr txBox="true"/>
            <p:nvPr/>
          </p:nvSpPr>
          <p:spPr>
            <a:xfrm>
              <a:off x="0" y="-57150"/>
              <a:ext cx="9753600" cy="837438"/>
            </a:xfrm>
            <a:prstGeom prst="rect">
              <a:avLst/>
            </a:prstGeom>
          </p:spPr>
          <p:txBody>
            <a:bodyPr anchor="ctr" rtlCol="false" tIns="0" lIns="0" bIns="0" rIns="0"/>
            <a:lstStyle/>
            <a:p>
              <a:pPr algn="l">
                <a:lnSpc>
                  <a:spcPts val="3120"/>
                </a:lnSpc>
              </a:pPr>
              <a:r>
                <a:rPr lang="en-US" sz="2600" b="true">
                  <a:solidFill>
                    <a:srgbClr val="1A2744"/>
                  </a:solidFill>
                  <a:latin typeface="Calibri (MS) Bold"/>
                  <a:ea typeface="Calibri (MS) Bold"/>
                  <a:cs typeface="Calibri (MS) Bold"/>
                  <a:sym typeface="Calibri (MS) Bold"/>
                </a:rPr>
                <a:t>Why SLA Prediction Matters</a:t>
              </a:r>
            </a:p>
          </p:txBody>
        </p:sp>
      </p:grpSp>
      <p:grpSp>
        <p:nvGrpSpPr>
          <p:cNvPr name="Group 31" id="31"/>
          <p:cNvGrpSpPr/>
          <p:nvPr/>
        </p:nvGrpSpPr>
        <p:grpSpPr>
          <a:xfrm rot="0">
            <a:off x="9692640" y="3291840"/>
            <a:ext cx="7315200" cy="5852160"/>
            <a:chOff x="0" y="0"/>
            <a:chExt cx="9753600" cy="7802880"/>
          </a:xfrm>
        </p:grpSpPr>
        <p:sp>
          <p:nvSpPr>
            <p:cNvPr name="Freeform 32" id="32"/>
            <p:cNvSpPr/>
            <p:nvPr/>
          </p:nvSpPr>
          <p:spPr>
            <a:xfrm flipH="false" flipV="false" rot="0">
              <a:off x="0" y="0"/>
              <a:ext cx="9753600" cy="7802880"/>
            </a:xfrm>
            <a:custGeom>
              <a:avLst/>
              <a:gdLst/>
              <a:ahLst/>
              <a:cxnLst/>
              <a:rect r="r" b="b" t="t" l="l"/>
              <a:pathLst>
                <a:path h="7802880" w="9753600">
                  <a:moveTo>
                    <a:pt x="0" y="0"/>
                  </a:moveTo>
                  <a:lnTo>
                    <a:pt x="9753600" y="0"/>
                  </a:lnTo>
                  <a:lnTo>
                    <a:pt x="9753600" y="7802880"/>
                  </a:lnTo>
                  <a:lnTo>
                    <a:pt x="0" y="7802880"/>
                  </a:lnTo>
                  <a:close/>
                </a:path>
              </a:pathLst>
            </a:custGeom>
            <a:blipFill>
              <a:blip r:embed="rId3">
                <a:alphaModFix amt="0"/>
              </a:blip>
              <a:stretch>
                <a:fillRect l="-52642" t="0" r="-52642" b="0"/>
              </a:stretch>
            </a:blipFill>
          </p:spPr>
        </p:sp>
        <p:sp>
          <p:nvSpPr>
            <p:cNvPr name="TextBox 33" id="33"/>
            <p:cNvSpPr txBox="true"/>
            <p:nvPr/>
          </p:nvSpPr>
          <p:spPr>
            <a:xfrm>
              <a:off x="0" y="-47625"/>
              <a:ext cx="9753600" cy="7850505"/>
            </a:xfrm>
            <a:prstGeom prst="rect">
              <a:avLst/>
            </a:prstGeom>
          </p:spPr>
          <p:txBody>
            <a:bodyPr anchor="ctr" rtlCol="false" tIns="0" lIns="0" bIns="0" rIns="0"/>
            <a:lstStyle/>
            <a:p>
              <a:pPr algn="l">
                <a:lnSpc>
                  <a:spcPts val="2520"/>
                </a:lnSpc>
              </a:pPr>
              <a:r>
                <a:rPr lang="en-US" sz="2100">
                  <a:solidFill>
                    <a:srgbClr val="334155"/>
                  </a:solidFill>
                  <a:latin typeface="Calibri (MS)"/>
                  <a:ea typeface="Calibri (MS)"/>
                  <a:cs typeface="Calibri (MS)"/>
                  <a:sym typeface="Calibri (MS)"/>
                </a:rPr>
                <a:t>Port Operations</a:t>
              </a:r>
            </a:p>
            <a:p>
              <a:pPr algn="l">
                <a:lnSpc>
                  <a:spcPts val="2520"/>
                </a:lnSpc>
              </a:pPr>
              <a:r>
                <a:rPr lang="en-US" sz="2100">
                  <a:solidFill>
                    <a:srgbClr val="334155"/>
                  </a:solidFill>
                  <a:latin typeface="Calibri (MS)"/>
                  <a:ea typeface="Calibri (MS)"/>
                  <a:cs typeface="Calibri (MS)"/>
                  <a:sym typeface="Calibri (MS)"/>
                </a:rPr>
                <a:t>SLA modulates effective water depth. A −3 cm SLA at a port with 11.5 m draft clearance can cause a deep-draft vessel to run aground.</a:t>
              </a:r>
            </a:p>
            <a:p>
              <a:pPr algn="l">
                <a:lnSpc>
                  <a:spcPts val="2520"/>
                </a:lnSpc>
              </a:pPr>
            </a:p>
            <a:p>
              <a:pPr algn="l">
                <a:lnSpc>
                  <a:spcPts val="2520"/>
                </a:lnSpc>
              </a:pPr>
              <a:r>
                <a:rPr lang="en-US" sz="2100">
                  <a:solidFill>
                    <a:srgbClr val="334155"/>
                  </a:solidFill>
                  <a:latin typeface="Calibri (MS)"/>
                  <a:ea typeface="Calibri (MS)"/>
                  <a:cs typeface="Calibri (MS)"/>
                  <a:sym typeface="Calibri (MS)"/>
                </a:rPr>
                <a:t>Coastal Flooding</a:t>
              </a:r>
            </a:p>
            <a:p>
              <a:pPr algn="l">
                <a:lnSpc>
                  <a:spcPts val="2520"/>
                </a:lnSpc>
              </a:pPr>
              <a:r>
                <a:rPr lang="en-US" sz="2100">
                  <a:solidFill>
                    <a:srgbClr val="334155"/>
                  </a:solidFill>
                  <a:latin typeface="Calibri (MS)"/>
                  <a:ea typeface="Calibri (MS)"/>
                  <a:cs typeface="Calibri (MS)"/>
                  <a:sym typeface="Calibri (MS)"/>
                </a:rPr>
                <a:t>SLA acts as a "background sea level" on top of which storm surges are added. A +5 cm SLA during a cyclone can mean the difference between a surge overtopping a seawall or not.</a:t>
              </a:r>
            </a:p>
            <a:p>
              <a:pPr algn="l">
                <a:lnSpc>
                  <a:spcPts val="2520"/>
                </a:lnSpc>
              </a:pPr>
            </a:p>
            <a:p>
              <a:pPr algn="l">
                <a:lnSpc>
                  <a:spcPts val="2520"/>
                </a:lnSpc>
              </a:pPr>
              <a:r>
                <a:rPr lang="en-US" sz="2100">
                  <a:solidFill>
                    <a:srgbClr val="334155"/>
                  </a:solidFill>
                  <a:latin typeface="Calibri (MS)"/>
                  <a:ea typeface="Calibri (MS)"/>
                  <a:cs typeface="Calibri (MS)"/>
                  <a:sym typeface="Calibri (MS)"/>
                </a:rPr>
                <a:t>Cable &amp; Infrastructure</a:t>
              </a:r>
            </a:p>
            <a:p>
              <a:pPr algn="l">
                <a:lnSpc>
                  <a:spcPts val="2520"/>
                </a:lnSpc>
              </a:pPr>
              <a:r>
                <a:rPr lang="en-US" sz="2100">
                  <a:solidFill>
                    <a:srgbClr val="334155"/>
                  </a:solidFill>
                  <a:latin typeface="Calibri (MS)"/>
                  <a:ea typeface="Calibri (MS)"/>
                  <a:cs typeface="Calibri (MS)"/>
                  <a:sym typeface="Calibri (MS)"/>
                </a:rPr>
                <a:t>Sustained SLA anomalies drive bottom currents that increase sediment transport risk to submarine cables.</a:t>
              </a:r>
            </a:p>
            <a:p>
              <a:pPr algn="l">
                <a:lnSpc>
                  <a:spcPts val="2520"/>
                </a:lnSpc>
              </a:pPr>
            </a:p>
            <a:p>
              <a:pPr algn="l">
                <a:lnSpc>
                  <a:spcPts val="2520"/>
                </a:lnSpc>
              </a:pPr>
              <a:r>
                <a:rPr lang="en-US" sz="2100">
                  <a:solidFill>
                    <a:srgbClr val="334155"/>
                  </a:solidFill>
                  <a:latin typeface="Calibri (MS)"/>
                  <a:ea typeface="Calibri (MS)"/>
                  <a:cs typeface="Calibri (MS)"/>
                  <a:sym typeface="Calibri (MS)"/>
                </a:rPr>
                <a:t>Climate Monitoring</a:t>
              </a:r>
            </a:p>
            <a:p>
              <a:pPr algn="l">
                <a:lnSpc>
                  <a:spcPts val="2520"/>
                </a:lnSpc>
              </a:pPr>
              <a:r>
                <a:rPr lang="en-US" sz="2100">
                  <a:solidFill>
                    <a:srgbClr val="334155"/>
                  </a:solidFill>
                  <a:latin typeface="Calibri (MS)"/>
                  <a:ea typeface="Calibri (MS)"/>
                  <a:cs typeface="Calibri (MS)"/>
                  <a:sym typeface="Calibri (MS)"/>
                </a:rPr>
                <a:t>Long-term SLA trends indicate regional sea level rise and ocean heat content changes.</a:t>
              </a:r>
            </a:p>
          </p:txBody>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73152"/>
            <a:chOff x="0" y="0"/>
            <a:chExt cx="24384000" cy="97536"/>
          </a:xfrm>
        </p:grpSpPr>
        <p:sp>
          <p:nvSpPr>
            <p:cNvPr name="Freeform 3" id="3"/>
            <p:cNvSpPr/>
            <p:nvPr/>
          </p:nvSpPr>
          <p:spPr>
            <a:xfrm flipH="false" flipV="false" rot="0">
              <a:off x="0" y="0"/>
              <a:ext cx="24384000" cy="97536"/>
            </a:xfrm>
            <a:custGeom>
              <a:avLst/>
              <a:gdLst/>
              <a:ahLst/>
              <a:cxnLst/>
              <a:rect r="r" b="b" t="t" l="l"/>
              <a:pathLst>
                <a:path h="97536" w="24384000">
                  <a:moveTo>
                    <a:pt x="0" y="0"/>
                  </a:moveTo>
                  <a:lnTo>
                    <a:pt x="24384000" y="0"/>
                  </a:lnTo>
                  <a:lnTo>
                    <a:pt x="24384000" y="97536"/>
                  </a:lnTo>
                  <a:lnTo>
                    <a:pt x="0" y="97536"/>
                  </a:lnTo>
                  <a:close/>
                </a:path>
              </a:pathLst>
            </a:custGeom>
            <a:solidFill>
              <a:srgbClr val="3B82F6"/>
            </a:solidFill>
          </p:spPr>
        </p:sp>
      </p:grpSp>
      <p:grpSp>
        <p:nvGrpSpPr>
          <p:cNvPr name="Group 4" id="4"/>
          <p:cNvGrpSpPr/>
          <p:nvPr/>
        </p:nvGrpSpPr>
        <p:grpSpPr>
          <a:xfrm rot="0">
            <a:off x="1005840" y="585216"/>
            <a:ext cx="2926080" cy="512064"/>
            <a:chOff x="0" y="0"/>
            <a:chExt cx="3901440" cy="682752"/>
          </a:xfrm>
        </p:grpSpPr>
        <p:sp>
          <p:nvSpPr>
            <p:cNvPr name="Freeform 5" id="5"/>
            <p:cNvSpPr/>
            <p:nvPr/>
          </p:nvSpPr>
          <p:spPr>
            <a:xfrm flipH="false" flipV="false" rot="0">
              <a:off x="0" y="0"/>
              <a:ext cx="3901440" cy="682752"/>
            </a:xfrm>
            <a:custGeom>
              <a:avLst/>
              <a:gdLst/>
              <a:ahLst/>
              <a:cxnLst/>
              <a:rect r="r" b="b" t="t" l="l"/>
              <a:pathLst>
                <a:path h="682752" w="3901440">
                  <a:moveTo>
                    <a:pt x="0" y="341376"/>
                  </a:moveTo>
                  <a:cubicBezTo>
                    <a:pt x="0" y="152781"/>
                    <a:pt x="152781" y="0"/>
                    <a:pt x="341376" y="0"/>
                  </a:cubicBezTo>
                  <a:lnTo>
                    <a:pt x="3560064" y="0"/>
                  </a:lnTo>
                  <a:cubicBezTo>
                    <a:pt x="3748659" y="0"/>
                    <a:pt x="3901440" y="152781"/>
                    <a:pt x="3901440" y="341376"/>
                  </a:cubicBezTo>
                  <a:cubicBezTo>
                    <a:pt x="3901440" y="529971"/>
                    <a:pt x="3748659" y="682752"/>
                    <a:pt x="3560064" y="682752"/>
                  </a:cubicBezTo>
                  <a:lnTo>
                    <a:pt x="341376" y="682752"/>
                  </a:lnTo>
                  <a:cubicBezTo>
                    <a:pt x="152781" y="682752"/>
                    <a:pt x="0" y="529971"/>
                    <a:pt x="0" y="341376"/>
                  </a:cubicBezTo>
                  <a:close/>
                </a:path>
              </a:pathLst>
            </a:custGeom>
            <a:solidFill>
              <a:srgbClr val="3B82F6"/>
            </a:solidFill>
          </p:spPr>
        </p:sp>
      </p:grpSp>
      <p:grpSp>
        <p:nvGrpSpPr>
          <p:cNvPr name="Group 6" id="6"/>
          <p:cNvGrpSpPr/>
          <p:nvPr/>
        </p:nvGrpSpPr>
        <p:grpSpPr>
          <a:xfrm rot="0">
            <a:off x="1005840" y="585216"/>
            <a:ext cx="2926080" cy="512064"/>
            <a:chOff x="0" y="0"/>
            <a:chExt cx="3901440" cy="682752"/>
          </a:xfrm>
        </p:grpSpPr>
        <p:sp>
          <p:nvSpPr>
            <p:cNvPr name="Freeform 7" id="7"/>
            <p:cNvSpPr/>
            <p:nvPr/>
          </p:nvSpPr>
          <p:spPr>
            <a:xfrm flipH="false" flipV="false" rot="0">
              <a:off x="0" y="0"/>
              <a:ext cx="3901440" cy="682752"/>
            </a:xfrm>
            <a:custGeom>
              <a:avLst/>
              <a:gdLst/>
              <a:ahLst/>
              <a:cxnLst/>
              <a:rect r="r" b="b" t="t" l="l"/>
              <a:pathLst>
                <a:path h="682752" w="3901440">
                  <a:moveTo>
                    <a:pt x="0" y="0"/>
                  </a:moveTo>
                  <a:lnTo>
                    <a:pt x="3901440" y="0"/>
                  </a:lnTo>
                  <a:lnTo>
                    <a:pt x="3901440" y="682752"/>
                  </a:lnTo>
                  <a:lnTo>
                    <a:pt x="0" y="682752"/>
                  </a:lnTo>
                  <a:close/>
                </a:path>
              </a:pathLst>
            </a:custGeom>
            <a:blipFill>
              <a:blip r:embed="rId3">
                <a:alphaModFix amt="0"/>
              </a:blip>
              <a:stretch>
                <a:fillRect l="0" t="-61343" r="0" b="-61343"/>
              </a:stretch>
            </a:blipFill>
          </p:spPr>
        </p:sp>
        <p:sp>
          <p:nvSpPr>
            <p:cNvPr name="TextBox 8" id="8"/>
            <p:cNvSpPr txBox="true"/>
            <p:nvPr/>
          </p:nvSpPr>
          <p:spPr>
            <a:xfrm>
              <a:off x="0" y="-38100"/>
              <a:ext cx="3901440" cy="72085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SLA RESULTS</a:t>
              </a:r>
            </a:p>
          </p:txBody>
        </p:sp>
      </p:grpSp>
      <p:grpSp>
        <p:nvGrpSpPr>
          <p:cNvPr name="Group 9" id="9"/>
          <p:cNvGrpSpPr/>
          <p:nvPr/>
        </p:nvGrpSpPr>
        <p:grpSpPr>
          <a:xfrm rot="0">
            <a:off x="1005840" y="1060704"/>
            <a:ext cx="16276320" cy="877824"/>
            <a:chOff x="0" y="0"/>
            <a:chExt cx="21701760" cy="1170432"/>
          </a:xfrm>
        </p:grpSpPr>
        <p:sp>
          <p:nvSpPr>
            <p:cNvPr name="Freeform 10" id="10"/>
            <p:cNvSpPr/>
            <p:nvPr/>
          </p:nvSpPr>
          <p:spPr>
            <a:xfrm flipH="false" flipV="false" rot="0">
              <a:off x="0" y="0"/>
              <a:ext cx="21701761" cy="1170432"/>
            </a:xfrm>
            <a:custGeom>
              <a:avLst/>
              <a:gdLst/>
              <a:ahLst/>
              <a:cxnLst/>
              <a:rect r="r" b="b" t="t" l="l"/>
              <a:pathLst>
                <a:path h="1170432" w="21701761">
                  <a:moveTo>
                    <a:pt x="0" y="0"/>
                  </a:moveTo>
                  <a:lnTo>
                    <a:pt x="21701761" y="0"/>
                  </a:lnTo>
                  <a:lnTo>
                    <a:pt x="21701761" y="1170432"/>
                  </a:lnTo>
                  <a:lnTo>
                    <a:pt x="0" y="1170432"/>
                  </a:lnTo>
                  <a:close/>
                </a:path>
              </a:pathLst>
            </a:custGeom>
            <a:blipFill>
              <a:blip r:embed="rId3">
                <a:alphaModFix amt="0"/>
              </a:blip>
              <a:stretch>
                <a:fillRect l="0" t="-311285" r="0" b="-311285"/>
              </a:stretch>
            </a:blipFill>
          </p:spPr>
        </p:sp>
        <p:sp>
          <p:nvSpPr>
            <p:cNvPr name="TextBox 11" id="11"/>
            <p:cNvSpPr txBox="true"/>
            <p:nvPr/>
          </p:nvSpPr>
          <p:spPr>
            <a:xfrm>
              <a:off x="0" y="-76200"/>
              <a:ext cx="21701760" cy="1246632"/>
            </a:xfrm>
            <a:prstGeom prst="rect">
              <a:avLst/>
            </a:prstGeom>
          </p:spPr>
          <p:txBody>
            <a:bodyPr anchor="ctr" rtlCol="false" tIns="0" lIns="0" bIns="0" rIns="0"/>
            <a:lstStyle/>
            <a:p>
              <a:pPr algn="l">
                <a:lnSpc>
                  <a:spcPts val="5280"/>
                </a:lnSpc>
              </a:pPr>
              <a:r>
                <a:rPr lang="en-US" sz="4400" b="true">
                  <a:solidFill>
                    <a:srgbClr val="1A2744"/>
                  </a:solidFill>
                  <a:latin typeface="Calibri (MS) Bold"/>
                  <a:ea typeface="Calibri (MS) Bold"/>
                  <a:cs typeface="Calibri (MS) Bold"/>
                  <a:sym typeface="Calibri (MS) Bold"/>
                </a:rPr>
                <a:t>SLA Prediction Intervals: Best vs Worst</a:t>
              </a:r>
            </a:p>
          </p:txBody>
        </p:sp>
      </p:grpSp>
      <p:grpSp>
        <p:nvGrpSpPr>
          <p:cNvPr name="Group 12" id="12"/>
          <p:cNvGrpSpPr/>
          <p:nvPr/>
        </p:nvGrpSpPr>
        <p:grpSpPr>
          <a:xfrm rot="0">
            <a:off x="17190720" y="9646920"/>
            <a:ext cx="731520" cy="457200"/>
            <a:chOff x="0" y="0"/>
            <a:chExt cx="975360" cy="609600"/>
          </a:xfrm>
        </p:grpSpPr>
        <p:sp>
          <p:nvSpPr>
            <p:cNvPr name="Freeform 13" id="13"/>
            <p:cNvSpPr/>
            <p:nvPr/>
          </p:nvSpPr>
          <p:spPr>
            <a:xfrm flipH="false" flipV="false" rot="0">
              <a:off x="0" y="0"/>
              <a:ext cx="975360" cy="609600"/>
            </a:xfrm>
            <a:custGeom>
              <a:avLst/>
              <a:gdLst/>
              <a:ahLst/>
              <a:cxnLst/>
              <a:rect r="r" b="b" t="t" l="l"/>
              <a:pathLst>
                <a:path h="609600" w="975360">
                  <a:moveTo>
                    <a:pt x="0" y="0"/>
                  </a:moveTo>
                  <a:lnTo>
                    <a:pt x="975360" y="0"/>
                  </a:lnTo>
                  <a:lnTo>
                    <a:pt x="975360" y="609600"/>
                  </a:lnTo>
                  <a:lnTo>
                    <a:pt x="0" y="609600"/>
                  </a:lnTo>
                  <a:close/>
                </a:path>
              </a:pathLst>
            </a:custGeom>
            <a:blipFill>
              <a:blip r:embed="rId3">
                <a:alphaModFix amt="0"/>
              </a:blip>
              <a:stretch>
                <a:fillRect l="-30189" t="0" r="-30189" b="0"/>
              </a:stretch>
            </a:blipFill>
          </p:spPr>
        </p:sp>
        <p:sp>
          <p:nvSpPr>
            <p:cNvPr name="TextBox 14" id="14"/>
            <p:cNvSpPr txBox="true"/>
            <p:nvPr/>
          </p:nvSpPr>
          <p:spPr>
            <a:xfrm>
              <a:off x="0" y="-38100"/>
              <a:ext cx="975360" cy="647700"/>
            </a:xfrm>
            <a:prstGeom prst="rect">
              <a:avLst/>
            </a:prstGeom>
          </p:spPr>
          <p:txBody>
            <a:bodyPr anchor="ctr" rtlCol="false" tIns="0" lIns="0" bIns="0" rIns="0"/>
            <a:lstStyle/>
            <a:p>
              <a:pPr algn="r">
                <a:lnSpc>
                  <a:spcPts val="2160"/>
                </a:lnSpc>
              </a:pPr>
              <a:r>
                <a:rPr lang="en-US" sz="1800">
                  <a:solidFill>
                    <a:srgbClr val="64748B"/>
                  </a:solidFill>
                  <a:latin typeface="Calibri (MS)"/>
                  <a:ea typeface="Calibri (MS)"/>
                  <a:cs typeface="Calibri (MS)"/>
                  <a:sym typeface="Calibri (MS)"/>
                </a:rPr>
                <a:t>12</a:t>
              </a:r>
            </a:p>
          </p:txBody>
        </p:sp>
      </p:grpSp>
      <p:grpSp>
        <p:nvGrpSpPr>
          <p:cNvPr name="Group 15" id="15"/>
          <p:cNvGrpSpPr/>
          <p:nvPr/>
        </p:nvGrpSpPr>
        <p:grpSpPr>
          <a:xfrm rot="0">
            <a:off x="1005840" y="7680960"/>
            <a:ext cx="16276320" cy="2011680"/>
            <a:chOff x="0" y="0"/>
            <a:chExt cx="21701760" cy="2682240"/>
          </a:xfrm>
        </p:grpSpPr>
        <p:sp>
          <p:nvSpPr>
            <p:cNvPr name="Freeform 16" id="16"/>
            <p:cNvSpPr/>
            <p:nvPr/>
          </p:nvSpPr>
          <p:spPr>
            <a:xfrm flipH="false" flipV="false" rot="0">
              <a:off x="0" y="0"/>
              <a:ext cx="21701761" cy="2682240"/>
            </a:xfrm>
            <a:custGeom>
              <a:avLst/>
              <a:gdLst/>
              <a:ahLst/>
              <a:cxnLst/>
              <a:rect r="r" b="b" t="t" l="l"/>
              <a:pathLst>
                <a:path h="2682240" w="21701761">
                  <a:moveTo>
                    <a:pt x="0" y="292608"/>
                  </a:moveTo>
                  <a:cubicBezTo>
                    <a:pt x="0" y="131064"/>
                    <a:pt x="131064" y="0"/>
                    <a:pt x="292608" y="0"/>
                  </a:cubicBezTo>
                  <a:lnTo>
                    <a:pt x="21409152" y="0"/>
                  </a:lnTo>
                  <a:cubicBezTo>
                    <a:pt x="21570696" y="0"/>
                    <a:pt x="21701761" y="131064"/>
                    <a:pt x="21701761" y="292608"/>
                  </a:cubicBezTo>
                  <a:lnTo>
                    <a:pt x="21701761" y="2389632"/>
                  </a:lnTo>
                  <a:cubicBezTo>
                    <a:pt x="21701761" y="2551176"/>
                    <a:pt x="21570696" y="2682240"/>
                    <a:pt x="21409152" y="2682240"/>
                  </a:cubicBezTo>
                  <a:lnTo>
                    <a:pt x="292608" y="2682240"/>
                  </a:lnTo>
                  <a:cubicBezTo>
                    <a:pt x="131064" y="2682240"/>
                    <a:pt x="0" y="2551176"/>
                    <a:pt x="0" y="2389632"/>
                  </a:cubicBezTo>
                  <a:close/>
                </a:path>
              </a:pathLst>
            </a:custGeom>
            <a:solidFill>
              <a:srgbClr val="DBEAFE"/>
            </a:solidFill>
          </p:spPr>
        </p:sp>
      </p:grpSp>
      <p:grpSp>
        <p:nvGrpSpPr>
          <p:cNvPr name="Group 17" id="17"/>
          <p:cNvGrpSpPr/>
          <p:nvPr/>
        </p:nvGrpSpPr>
        <p:grpSpPr>
          <a:xfrm rot="0">
            <a:off x="1188720" y="7827264"/>
            <a:ext cx="2889504" cy="768096"/>
            <a:chOff x="0" y="0"/>
            <a:chExt cx="3852672" cy="1024128"/>
          </a:xfrm>
        </p:grpSpPr>
        <p:sp>
          <p:nvSpPr>
            <p:cNvPr name="Freeform 18" id="18"/>
            <p:cNvSpPr/>
            <p:nvPr/>
          </p:nvSpPr>
          <p:spPr>
            <a:xfrm flipH="false" flipV="false" rot="0">
              <a:off x="0" y="0"/>
              <a:ext cx="3852672" cy="1024128"/>
            </a:xfrm>
            <a:custGeom>
              <a:avLst/>
              <a:gdLst/>
              <a:ahLst/>
              <a:cxnLst/>
              <a:rect r="r" b="b" t="t" l="l"/>
              <a:pathLst>
                <a:path h="1024128" w="3852672">
                  <a:moveTo>
                    <a:pt x="0" y="0"/>
                  </a:moveTo>
                  <a:lnTo>
                    <a:pt x="3852672" y="0"/>
                  </a:lnTo>
                  <a:lnTo>
                    <a:pt x="3852672" y="1024128"/>
                  </a:lnTo>
                  <a:lnTo>
                    <a:pt x="0" y="1024128"/>
                  </a:lnTo>
                  <a:close/>
                </a:path>
              </a:pathLst>
            </a:custGeom>
            <a:blipFill>
              <a:blip r:embed="rId3">
                <a:alphaModFix amt="0"/>
              </a:blip>
              <a:stretch>
                <a:fillRect l="0" t="-23300" r="0" b="-23300"/>
              </a:stretch>
            </a:blipFill>
          </p:spPr>
        </p:sp>
        <p:sp>
          <p:nvSpPr>
            <p:cNvPr name="TextBox 19" id="19"/>
            <p:cNvSpPr txBox="true"/>
            <p:nvPr/>
          </p:nvSpPr>
          <p:spPr>
            <a:xfrm>
              <a:off x="0" y="-57150"/>
              <a:ext cx="3852672" cy="1081278"/>
            </a:xfrm>
            <a:prstGeom prst="rect">
              <a:avLst/>
            </a:prstGeom>
          </p:spPr>
          <p:txBody>
            <a:bodyPr anchor="ctr" rtlCol="false" tIns="0" lIns="0" bIns="0" rIns="0"/>
            <a:lstStyle/>
            <a:p>
              <a:pPr algn="ctr">
                <a:lnSpc>
                  <a:spcPts val="3840"/>
                </a:lnSpc>
              </a:pPr>
              <a:r>
                <a:rPr lang="en-US" sz="3200" b="true">
                  <a:solidFill>
                    <a:srgbClr val="1A2744"/>
                  </a:solidFill>
                  <a:latin typeface="Calibri (MS) Bold"/>
                  <a:ea typeface="Calibri (MS) Bold"/>
                  <a:cs typeface="Calibri (MS) Bold"/>
                  <a:sym typeface="Calibri (MS) Bold"/>
                </a:rPr>
                <a:t>98.99%</a:t>
              </a:r>
            </a:p>
          </p:txBody>
        </p:sp>
      </p:grpSp>
      <p:grpSp>
        <p:nvGrpSpPr>
          <p:cNvPr name="Group 20" id="20"/>
          <p:cNvGrpSpPr/>
          <p:nvPr/>
        </p:nvGrpSpPr>
        <p:grpSpPr>
          <a:xfrm rot="0">
            <a:off x="1188720" y="8595360"/>
            <a:ext cx="2889504" cy="877824"/>
            <a:chOff x="0" y="0"/>
            <a:chExt cx="3852672" cy="1170432"/>
          </a:xfrm>
        </p:grpSpPr>
        <p:sp>
          <p:nvSpPr>
            <p:cNvPr name="Freeform 21" id="21"/>
            <p:cNvSpPr/>
            <p:nvPr/>
          </p:nvSpPr>
          <p:spPr>
            <a:xfrm flipH="false" flipV="false" rot="0">
              <a:off x="0" y="0"/>
              <a:ext cx="3852672" cy="1170432"/>
            </a:xfrm>
            <a:custGeom>
              <a:avLst/>
              <a:gdLst/>
              <a:ahLst/>
              <a:cxnLst/>
              <a:rect r="r" b="b" t="t" l="l"/>
              <a:pathLst>
                <a:path h="1170432" w="3852672">
                  <a:moveTo>
                    <a:pt x="0" y="0"/>
                  </a:moveTo>
                  <a:lnTo>
                    <a:pt x="3852672" y="0"/>
                  </a:lnTo>
                  <a:lnTo>
                    <a:pt x="3852672" y="1170432"/>
                  </a:lnTo>
                  <a:lnTo>
                    <a:pt x="0" y="1170432"/>
                  </a:lnTo>
                  <a:close/>
                </a:path>
              </a:pathLst>
            </a:custGeom>
            <a:blipFill>
              <a:blip r:embed="rId3">
                <a:alphaModFix amt="0"/>
              </a:blip>
              <a:stretch>
                <a:fillRect l="0" t="-14138" r="0" b="-14138"/>
              </a:stretch>
            </a:blipFill>
          </p:spPr>
        </p:sp>
        <p:sp>
          <p:nvSpPr>
            <p:cNvPr name="TextBox 22" id="22"/>
            <p:cNvSpPr txBox="true"/>
            <p:nvPr/>
          </p:nvSpPr>
          <p:spPr>
            <a:xfrm>
              <a:off x="0" y="-38100"/>
              <a:ext cx="3852672" cy="1208532"/>
            </a:xfrm>
            <a:prstGeom prst="rect">
              <a:avLst/>
            </a:prstGeom>
          </p:spPr>
          <p:txBody>
            <a:bodyPr anchor="ctr" rtlCol="false" tIns="0" lIns="0" bIns="0" rIns="0"/>
            <a:lstStyle/>
            <a:p>
              <a:pPr algn="ctr">
                <a:lnSpc>
                  <a:spcPts val="2039"/>
                </a:lnSpc>
              </a:pPr>
              <a:r>
                <a:rPr lang="en-US" sz="1700">
                  <a:solidFill>
                    <a:srgbClr val="64748B"/>
                  </a:solidFill>
                  <a:latin typeface="Calibri (MS)"/>
                  <a:ea typeface="Calibri (MS)"/>
                  <a:cs typeface="Calibri (MS)"/>
                  <a:sym typeface="Calibri (MS)"/>
                </a:rPr>
                <a:t>Best PICP</a:t>
              </a:r>
            </a:p>
            <a:p>
              <a:pPr algn="ctr">
                <a:lnSpc>
                  <a:spcPts val="2039"/>
                </a:lnSpc>
              </a:pPr>
              <a:r>
                <a:rPr lang="en-US" sz="1700">
                  <a:solidFill>
                    <a:srgbClr val="64748B"/>
                  </a:solidFill>
                  <a:latin typeface="Calibri (MS)"/>
                  <a:ea typeface="Calibri (MS)"/>
                  <a:cs typeface="Calibri (MS)"/>
                  <a:sym typeface="Calibri (MS)"/>
                </a:rPr>
                <a:t>(GRU-Q, Arabian)</a:t>
              </a:r>
            </a:p>
          </p:txBody>
        </p:sp>
      </p:grpSp>
      <p:grpSp>
        <p:nvGrpSpPr>
          <p:cNvPr name="Group 23" id="23"/>
          <p:cNvGrpSpPr/>
          <p:nvPr/>
        </p:nvGrpSpPr>
        <p:grpSpPr>
          <a:xfrm rot="0">
            <a:off x="4443984" y="7827264"/>
            <a:ext cx="2889504" cy="768096"/>
            <a:chOff x="0" y="0"/>
            <a:chExt cx="3852672" cy="1024128"/>
          </a:xfrm>
        </p:grpSpPr>
        <p:sp>
          <p:nvSpPr>
            <p:cNvPr name="Freeform 24" id="24"/>
            <p:cNvSpPr/>
            <p:nvPr/>
          </p:nvSpPr>
          <p:spPr>
            <a:xfrm flipH="false" flipV="false" rot="0">
              <a:off x="0" y="0"/>
              <a:ext cx="3852672" cy="1024128"/>
            </a:xfrm>
            <a:custGeom>
              <a:avLst/>
              <a:gdLst/>
              <a:ahLst/>
              <a:cxnLst/>
              <a:rect r="r" b="b" t="t" l="l"/>
              <a:pathLst>
                <a:path h="1024128" w="3852672">
                  <a:moveTo>
                    <a:pt x="0" y="0"/>
                  </a:moveTo>
                  <a:lnTo>
                    <a:pt x="3852672" y="0"/>
                  </a:lnTo>
                  <a:lnTo>
                    <a:pt x="3852672" y="1024128"/>
                  </a:lnTo>
                  <a:lnTo>
                    <a:pt x="0" y="1024128"/>
                  </a:lnTo>
                  <a:close/>
                </a:path>
              </a:pathLst>
            </a:custGeom>
            <a:blipFill>
              <a:blip r:embed="rId3">
                <a:alphaModFix amt="0"/>
              </a:blip>
              <a:stretch>
                <a:fillRect l="0" t="-23300" r="0" b="-23300"/>
              </a:stretch>
            </a:blipFill>
          </p:spPr>
        </p:sp>
        <p:sp>
          <p:nvSpPr>
            <p:cNvPr name="TextBox 25" id="25"/>
            <p:cNvSpPr txBox="true"/>
            <p:nvPr/>
          </p:nvSpPr>
          <p:spPr>
            <a:xfrm>
              <a:off x="0" y="-57150"/>
              <a:ext cx="3852672" cy="1081278"/>
            </a:xfrm>
            <a:prstGeom prst="rect">
              <a:avLst/>
            </a:prstGeom>
          </p:spPr>
          <p:txBody>
            <a:bodyPr anchor="ctr" rtlCol="false" tIns="0" lIns="0" bIns="0" rIns="0"/>
            <a:lstStyle/>
            <a:p>
              <a:pPr algn="ctr">
                <a:lnSpc>
                  <a:spcPts val="3840"/>
                </a:lnSpc>
              </a:pPr>
              <a:r>
                <a:rPr lang="en-US" sz="3200" b="true">
                  <a:solidFill>
                    <a:srgbClr val="1A2744"/>
                  </a:solidFill>
                  <a:latin typeface="Calibri (MS) Bold"/>
                  <a:ea typeface="Calibri (MS) Bold"/>
                  <a:cs typeface="Calibri (MS) Bold"/>
                  <a:sym typeface="Calibri (MS) Bold"/>
                </a:rPr>
                <a:t>0.89cm</a:t>
              </a:r>
            </a:p>
          </p:txBody>
        </p:sp>
      </p:grpSp>
      <p:grpSp>
        <p:nvGrpSpPr>
          <p:cNvPr name="Group 26" id="26"/>
          <p:cNvGrpSpPr/>
          <p:nvPr/>
        </p:nvGrpSpPr>
        <p:grpSpPr>
          <a:xfrm rot="0">
            <a:off x="4443984" y="8595360"/>
            <a:ext cx="2889504" cy="877824"/>
            <a:chOff x="0" y="0"/>
            <a:chExt cx="3852672" cy="1170432"/>
          </a:xfrm>
        </p:grpSpPr>
        <p:sp>
          <p:nvSpPr>
            <p:cNvPr name="Freeform 27" id="27"/>
            <p:cNvSpPr/>
            <p:nvPr/>
          </p:nvSpPr>
          <p:spPr>
            <a:xfrm flipH="false" flipV="false" rot="0">
              <a:off x="0" y="0"/>
              <a:ext cx="3852672" cy="1170432"/>
            </a:xfrm>
            <a:custGeom>
              <a:avLst/>
              <a:gdLst/>
              <a:ahLst/>
              <a:cxnLst/>
              <a:rect r="r" b="b" t="t" l="l"/>
              <a:pathLst>
                <a:path h="1170432" w="3852672">
                  <a:moveTo>
                    <a:pt x="0" y="0"/>
                  </a:moveTo>
                  <a:lnTo>
                    <a:pt x="3852672" y="0"/>
                  </a:lnTo>
                  <a:lnTo>
                    <a:pt x="3852672" y="1170432"/>
                  </a:lnTo>
                  <a:lnTo>
                    <a:pt x="0" y="1170432"/>
                  </a:lnTo>
                  <a:close/>
                </a:path>
              </a:pathLst>
            </a:custGeom>
            <a:blipFill>
              <a:blip r:embed="rId3">
                <a:alphaModFix amt="0"/>
              </a:blip>
              <a:stretch>
                <a:fillRect l="0" t="-14138" r="0" b="-14138"/>
              </a:stretch>
            </a:blipFill>
          </p:spPr>
        </p:sp>
        <p:sp>
          <p:nvSpPr>
            <p:cNvPr name="TextBox 28" id="28"/>
            <p:cNvSpPr txBox="true"/>
            <p:nvPr/>
          </p:nvSpPr>
          <p:spPr>
            <a:xfrm>
              <a:off x="0" y="-38100"/>
              <a:ext cx="3852672" cy="1208532"/>
            </a:xfrm>
            <a:prstGeom prst="rect">
              <a:avLst/>
            </a:prstGeom>
          </p:spPr>
          <p:txBody>
            <a:bodyPr anchor="ctr" rtlCol="false" tIns="0" lIns="0" bIns="0" rIns="0"/>
            <a:lstStyle/>
            <a:p>
              <a:pPr algn="ctr">
                <a:lnSpc>
                  <a:spcPts val="2039"/>
                </a:lnSpc>
              </a:pPr>
              <a:r>
                <a:rPr lang="en-US" sz="1700">
                  <a:solidFill>
                    <a:srgbClr val="64748B"/>
                  </a:solidFill>
                  <a:latin typeface="Calibri (MS)"/>
                  <a:ea typeface="Calibri (MS)"/>
                  <a:cs typeface="Calibri (MS)"/>
                  <a:sym typeface="Calibri (MS)"/>
                </a:rPr>
                <a:t>Best MPIW</a:t>
              </a:r>
            </a:p>
            <a:p>
              <a:pPr algn="ctr">
                <a:lnSpc>
                  <a:spcPts val="2039"/>
                </a:lnSpc>
              </a:pPr>
              <a:r>
                <a:rPr lang="en-US" sz="1700">
                  <a:solidFill>
                    <a:srgbClr val="64748B"/>
                  </a:solidFill>
                  <a:latin typeface="Calibri (MS)"/>
                  <a:ea typeface="Calibri (MS)"/>
                  <a:cs typeface="Calibri (MS)"/>
                  <a:sym typeface="Calibri (MS)"/>
                </a:rPr>
                <a:t>(narrowest interval)</a:t>
              </a:r>
            </a:p>
          </p:txBody>
        </p:sp>
      </p:grpSp>
      <p:grpSp>
        <p:nvGrpSpPr>
          <p:cNvPr name="Group 29" id="29"/>
          <p:cNvGrpSpPr/>
          <p:nvPr/>
        </p:nvGrpSpPr>
        <p:grpSpPr>
          <a:xfrm rot="0">
            <a:off x="7699248" y="7827264"/>
            <a:ext cx="2889504" cy="768096"/>
            <a:chOff x="0" y="0"/>
            <a:chExt cx="3852672" cy="1024128"/>
          </a:xfrm>
        </p:grpSpPr>
        <p:sp>
          <p:nvSpPr>
            <p:cNvPr name="Freeform 30" id="30"/>
            <p:cNvSpPr/>
            <p:nvPr/>
          </p:nvSpPr>
          <p:spPr>
            <a:xfrm flipH="false" flipV="false" rot="0">
              <a:off x="0" y="0"/>
              <a:ext cx="3852672" cy="1024128"/>
            </a:xfrm>
            <a:custGeom>
              <a:avLst/>
              <a:gdLst/>
              <a:ahLst/>
              <a:cxnLst/>
              <a:rect r="r" b="b" t="t" l="l"/>
              <a:pathLst>
                <a:path h="1024128" w="3852672">
                  <a:moveTo>
                    <a:pt x="0" y="0"/>
                  </a:moveTo>
                  <a:lnTo>
                    <a:pt x="3852672" y="0"/>
                  </a:lnTo>
                  <a:lnTo>
                    <a:pt x="3852672" y="1024128"/>
                  </a:lnTo>
                  <a:lnTo>
                    <a:pt x="0" y="1024128"/>
                  </a:lnTo>
                  <a:close/>
                </a:path>
              </a:pathLst>
            </a:custGeom>
            <a:blipFill>
              <a:blip r:embed="rId3">
                <a:alphaModFix amt="0"/>
              </a:blip>
              <a:stretch>
                <a:fillRect l="0" t="-23300" r="0" b="-23300"/>
              </a:stretch>
            </a:blipFill>
          </p:spPr>
        </p:sp>
        <p:sp>
          <p:nvSpPr>
            <p:cNvPr name="TextBox 31" id="31"/>
            <p:cNvSpPr txBox="true"/>
            <p:nvPr/>
          </p:nvSpPr>
          <p:spPr>
            <a:xfrm>
              <a:off x="0" y="-57150"/>
              <a:ext cx="3852672" cy="1081278"/>
            </a:xfrm>
            <a:prstGeom prst="rect">
              <a:avLst/>
            </a:prstGeom>
          </p:spPr>
          <p:txBody>
            <a:bodyPr anchor="ctr" rtlCol="false" tIns="0" lIns="0" bIns="0" rIns="0"/>
            <a:lstStyle/>
            <a:p>
              <a:pPr algn="ctr">
                <a:lnSpc>
                  <a:spcPts val="3840"/>
                </a:lnSpc>
              </a:pPr>
              <a:r>
                <a:rPr lang="en-US" sz="3200" b="true">
                  <a:solidFill>
                    <a:srgbClr val="1A2744"/>
                  </a:solidFill>
                  <a:latin typeface="Calibri (MS) Bold"/>
                  <a:ea typeface="Calibri (MS) Bold"/>
                  <a:cs typeface="Calibri (MS) Bold"/>
                  <a:sym typeface="Calibri (MS) Bold"/>
                </a:rPr>
                <a:t>5 / 5</a:t>
              </a:r>
            </a:p>
          </p:txBody>
        </p:sp>
      </p:grpSp>
      <p:grpSp>
        <p:nvGrpSpPr>
          <p:cNvPr name="Group 32" id="32"/>
          <p:cNvGrpSpPr/>
          <p:nvPr/>
        </p:nvGrpSpPr>
        <p:grpSpPr>
          <a:xfrm rot="0">
            <a:off x="7699248" y="8595360"/>
            <a:ext cx="2889504" cy="877824"/>
            <a:chOff x="0" y="0"/>
            <a:chExt cx="3852672" cy="1170432"/>
          </a:xfrm>
        </p:grpSpPr>
        <p:sp>
          <p:nvSpPr>
            <p:cNvPr name="Freeform 33" id="33"/>
            <p:cNvSpPr/>
            <p:nvPr/>
          </p:nvSpPr>
          <p:spPr>
            <a:xfrm flipH="false" flipV="false" rot="0">
              <a:off x="0" y="0"/>
              <a:ext cx="3852672" cy="1170432"/>
            </a:xfrm>
            <a:custGeom>
              <a:avLst/>
              <a:gdLst/>
              <a:ahLst/>
              <a:cxnLst/>
              <a:rect r="r" b="b" t="t" l="l"/>
              <a:pathLst>
                <a:path h="1170432" w="3852672">
                  <a:moveTo>
                    <a:pt x="0" y="0"/>
                  </a:moveTo>
                  <a:lnTo>
                    <a:pt x="3852672" y="0"/>
                  </a:lnTo>
                  <a:lnTo>
                    <a:pt x="3852672" y="1170432"/>
                  </a:lnTo>
                  <a:lnTo>
                    <a:pt x="0" y="1170432"/>
                  </a:lnTo>
                  <a:close/>
                </a:path>
              </a:pathLst>
            </a:custGeom>
            <a:blipFill>
              <a:blip r:embed="rId3">
                <a:alphaModFix amt="0"/>
              </a:blip>
              <a:stretch>
                <a:fillRect l="0" t="-14138" r="0" b="-14138"/>
              </a:stretch>
            </a:blipFill>
          </p:spPr>
        </p:sp>
        <p:sp>
          <p:nvSpPr>
            <p:cNvPr name="TextBox 34" id="34"/>
            <p:cNvSpPr txBox="true"/>
            <p:nvPr/>
          </p:nvSpPr>
          <p:spPr>
            <a:xfrm>
              <a:off x="0" y="-38100"/>
              <a:ext cx="3852672" cy="1208532"/>
            </a:xfrm>
            <a:prstGeom prst="rect">
              <a:avLst/>
            </a:prstGeom>
          </p:spPr>
          <p:txBody>
            <a:bodyPr anchor="ctr" rtlCol="false" tIns="0" lIns="0" bIns="0" rIns="0"/>
            <a:lstStyle/>
            <a:p>
              <a:pPr algn="ctr">
                <a:lnSpc>
                  <a:spcPts val="2039"/>
                </a:lnSpc>
              </a:pPr>
              <a:r>
                <a:rPr lang="en-US" sz="1700">
                  <a:solidFill>
                    <a:srgbClr val="64748B"/>
                  </a:solidFill>
                  <a:latin typeface="Calibri (MS)"/>
                  <a:ea typeface="Calibri (MS)"/>
                  <a:cs typeface="Calibri (MS)"/>
                  <a:sym typeface="Calibri (MS)"/>
                </a:rPr>
                <a:t>SimpleRNN-Q</a:t>
              </a:r>
            </a:p>
            <a:p>
              <a:pPr algn="ctr">
                <a:lnSpc>
                  <a:spcPts val="2039"/>
                </a:lnSpc>
              </a:pPr>
              <a:r>
                <a:rPr lang="en-US" sz="1700">
                  <a:solidFill>
                    <a:srgbClr val="64748B"/>
                  </a:solidFill>
                  <a:latin typeface="Calibri (MS)"/>
                  <a:ea typeface="Calibri (MS)"/>
                  <a:cs typeface="Calibri (MS)"/>
                  <a:sym typeface="Calibri (MS)"/>
                </a:rPr>
                <a:t>passes all locations</a:t>
              </a:r>
            </a:p>
          </p:txBody>
        </p:sp>
      </p:grpSp>
      <p:grpSp>
        <p:nvGrpSpPr>
          <p:cNvPr name="Group 35" id="35"/>
          <p:cNvGrpSpPr/>
          <p:nvPr/>
        </p:nvGrpSpPr>
        <p:grpSpPr>
          <a:xfrm rot="0">
            <a:off x="10954512" y="7827264"/>
            <a:ext cx="2889504" cy="768096"/>
            <a:chOff x="0" y="0"/>
            <a:chExt cx="3852672" cy="1024128"/>
          </a:xfrm>
        </p:grpSpPr>
        <p:sp>
          <p:nvSpPr>
            <p:cNvPr name="Freeform 36" id="36"/>
            <p:cNvSpPr/>
            <p:nvPr/>
          </p:nvSpPr>
          <p:spPr>
            <a:xfrm flipH="false" flipV="false" rot="0">
              <a:off x="0" y="0"/>
              <a:ext cx="3852672" cy="1024128"/>
            </a:xfrm>
            <a:custGeom>
              <a:avLst/>
              <a:gdLst/>
              <a:ahLst/>
              <a:cxnLst/>
              <a:rect r="r" b="b" t="t" l="l"/>
              <a:pathLst>
                <a:path h="1024128" w="3852672">
                  <a:moveTo>
                    <a:pt x="0" y="0"/>
                  </a:moveTo>
                  <a:lnTo>
                    <a:pt x="3852672" y="0"/>
                  </a:lnTo>
                  <a:lnTo>
                    <a:pt x="3852672" y="1024128"/>
                  </a:lnTo>
                  <a:lnTo>
                    <a:pt x="0" y="1024128"/>
                  </a:lnTo>
                  <a:close/>
                </a:path>
              </a:pathLst>
            </a:custGeom>
            <a:blipFill>
              <a:blip r:embed="rId3">
                <a:alphaModFix amt="0"/>
              </a:blip>
              <a:stretch>
                <a:fillRect l="0" t="-23300" r="0" b="-23300"/>
              </a:stretch>
            </a:blipFill>
          </p:spPr>
        </p:sp>
        <p:sp>
          <p:nvSpPr>
            <p:cNvPr name="TextBox 37" id="37"/>
            <p:cNvSpPr txBox="true"/>
            <p:nvPr/>
          </p:nvSpPr>
          <p:spPr>
            <a:xfrm>
              <a:off x="0" y="-57150"/>
              <a:ext cx="3852672" cy="1081278"/>
            </a:xfrm>
            <a:prstGeom prst="rect">
              <a:avLst/>
            </a:prstGeom>
          </p:spPr>
          <p:txBody>
            <a:bodyPr anchor="ctr" rtlCol="false" tIns="0" lIns="0" bIns="0" rIns="0"/>
            <a:lstStyle/>
            <a:p>
              <a:pPr algn="ctr">
                <a:lnSpc>
                  <a:spcPts val="3840"/>
                </a:lnSpc>
              </a:pPr>
              <a:r>
                <a:rPr lang="en-US" sz="3200" b="true">
                  <a:solidFill>
                    <a:srgbClr val="1A2744"/>
                  </a:solidFill>
                  <a:latin typeface="Calibri (MS) Bold"/>
                  <a:ea typeface="Calibri (MS) Bold"/>
                  <a:cs typeface="Calibri (MS) Bold"/>
                  <a:sym typeface="Calibri (MS) Bold"/>
                </a:rPr>
                <a:t>4 / 5</a:t>
              </a:r>
            </a:p>
          </p:txBody>
        </p:sp>
      </p:grpSp>
      <p:grpSp>
        <p:nvGrpSpPr>
          <p:cNvPr name="Group 38" id="38"/>
          <p:cNvGrpSpPr/>
          <p:nvPr/>
        </p:nvGrpSpPr>
        <p:grpSpPr>
          <a:xfrm rot="0">
            <a:off x="10954512" y="8595360"/>
            <a:ext cx="2889504" cy="877824"/>
            <a:chOff x="0" y="0"/>
            <a:chExt cx="3852672" cy="1170432"/>
          </a:xfrm>
        </p:grpSpPr>
        <p:sp>
          <p:nvSpPr>
            <p:cNvPr name="Freeform 39" id="39"/>
            <p:cNvSpPr/>
            <p:nvPr/>
          </p:nvSpPr>
          <p:spPr>
            <a:xfrm flipH="false" flipV="false" rot="0">
              <a:off x="0" y="0"/>
              <a:ext cx="3852672" cy="1170432"/>
            </a:xfrm>
            <a:custGeom>
              <a:avLst/>
              <a:gdLst/>
              <a:ahLst/>
              <a:cxnLst/>
              <a:rect r="r" b="b" t="t" l="l"/>
              <a:pathLst>
                <a:path h="1170432" w="3852672">
                  <a:moveTo>
                    <a:pt x="0" y="0"/>
                  </a:moveTo>
                  <a:lnTo>
                    <a:pt x="3852672" y="0"/>
                  </a:lnTo>
                  <a:lnTo>
                    <a:pt x="3852672" y="1170432"/>
                  </a:lnTo>
                  <a:lnTo>
                    <a:pt x="0" y="1170432"/>
                  </a:lnTo>
                  <a:close/>
                </a:path>
              </a:pathLst>
            </a:custGeom>
            <a:blipFill>
              <a:blip r:embed="rId3">
                <a:alphaModFix amt="0"/>
              </a:blip>
              <a:stretch>
                <a:fillRect l="0" t="-14138" r="0" b="-14138"/>
              </a:stretch>
            </a:blipFill>
          </p:spPr>
        </p:sp>
        <p:sp>
          <p:nvSpPr>
            <p:cNvPr name="TextBox 40" id="40"/>
            <p:cNvSpPr txBox="true"/>
            <p:nvPr/>
          </p:nvSpPr>
          <p:spPr>
            <a:xfrm>
              <a:off x="0" y="-38100"/>
              <a:ext cx="3852672" cy="1208532"/>
            </a:xfrm>
            <a:prstGeom prst="rect">
              <a:avLst/>
            </a:prstGeom>
          </p:spPr>
          <p:txBody>
            <a:bodyPr anchor="ctr" rtlCol="false" tIns="0" lIns="0" bIns="0" rIns="0"/>
            <a:lstStyle/>
            <a:p>
              <a:pPr algn="ctr">
                <a:lnSpc>
                  <a:spcPts val="2039"/>
                </a:lnSpc>
              </a:pPr>
              <a:r>
                <a:rPr lang="en-US" sz="1700">
                  <a:solidFill>
                    <a:srgbClr val="64748B"/>
                  </a:solidFill>
                  <a:latin typeface="Calibri (MS)"/>
                  <a:ea typeface="Calibri (MS)"/>
                  <a:cs typeface="Calibri (MS)"/>
                  <a:sym typeface="Calibri (MS)"/>
                </a:rPr>
                <a:t>GRU-Q passes</a:t>
              </a:r>
            </a:p>
            <a:p>
              <a:pPr algn="ctr">
                <a:lnSpc>
                  <a:spcPts val="2039"/>
                </a:lnSpc>
              </a:pPr>
              <a:r>
                <a:rPr lang="en-US" sz="1700">
                  <a:solidFill>
                    <a:srgbClr val="64748B"/>
                  </a:solidFill>
                  <a:latin typeface="Calibri (MS)"/>
                  <a:ea typeface="Calibri (MS)"/>
                  <a:cs typeface="Calibri (MS)"/>
                  <a:sym typeface="Calibri (MS)"/>
                </a:rPr>
                <a:t>(misses Andaman)</a:t>
              </a:r>
            </a:p>
          </p:txBody>
        </p:sp>
      </p:grpSp>
      <p:grpSp>
        <p:nvGrpSpPr>
          <p:cNvPr name="Group 41" id="41"/>
          <p:cNvGrpSpPr/>
          <p:nvPr/>
        </p:nvGrpSpPr>
        <p:grpSpPr>
          <a:xfrm rot="0">
            <a:off x="14209776" y="7827264"/>
            <a:ext cx="2889504" cy="768096"/>
            <a:chOff x="0" y="0"/>
            <a:chExt cx="3852672" cy="1024128"/>
          </a:xfrm>
        </p:grpSpPr>
        <p:sp>
          <p:nvSpPr>
            <p:cNvPr name="Freeform 42" id="42"/>
            <p:cNvSpPr/>
            <p:nvPr/>
          </p:nvSpPr>
          <p:spPr>
            <a:xfrm flipH="false" flipV="false" rot="0">
              <a:off x="0" y="0"/>
              <a:ext cx="3852672" cy="1024128"/>
            </a:xfrm>
            <a:custGeom>
              <a:avLst/>
              <a:gdLst/>
              <a:ahLst/>
              <a:cxnLst/>
              <a:rect r="r" b="b" t="t" l="l"/>
              <a:pathLst>
                <a:path h="1024128" w="3852672">
                  <a:moveTo>
                    <a:pt x="0" y="0"/>
                  </a:moveTo>
                  <a:lnTo>
                    <a:pt x="3852672" y="0"/>
                  </a:lnTo>
                  <a:lnTo>
                    <a:pt x="3852672" y="1024128"/>
                  </a:lnTo>
                  <a:lnTo>
                    <a:pt x="0" y="1024128"/>
                  </a:lnTo>
                  <a:close/>
                </a:path>
              </a:pathLst>
            </a:custGeom>
            <a:blipFill>
              <a:blip r:embed="rId3">
                <a:alphaModFix amt="0"/>
              </a:blip>
              <a:stretch>
                <a:fillRect l="0" t="-23300" r="0" b="-23300"/>
              </a:stretch>
            </a:blipFill>
          </p:spPr>
        </p:sp>
        <p:sp>
          <p:nvSpPr>
            <p:cNvPr name="TextBox 43" id="43"/>
            <p:cNvSpPr txBox="true"/>
            <p:nvPr/>
          </p:nvSpPr>
          <p:spPr>
            <a:xfrm>
              <a:off x="0" y="-57150"/>
              <a:ext cx="3852672" cy="1081278"/>
            </a:xfrm>
            <a:prstGeom prst="rect">
              <a:avLst/>
            </a:prstGeom>
          </p:spPr>
          <p:txBody>
            <a:bodyPr anchor="ctr" rtlCol="false" tIns="0" lIns="0" bIns="0" rIns="0"/>
            <a:lstStyle/>
            <a:p>
              <a:pPr algn="ctr">
                <a:lnSpc>
                  <a:spcPts val="3840"/>
                </a:lnSpc>
              </a:pPr>
              <a:r>
                <a:rPr lang="en-US" sz="3200" b="true">
                  <a:solidFill>
                    <a:srgbClr val="1A2744"/>
                  </a:solidFill>
                  <a:latin typeface="Calibri (MS) Bold"/>
                  <a:ea typeface="Calibri (MS) Bold"/>
                  <a:cs typeface="Calibri (MS) Bold"/>
                  <a:sym typeface="Calibri (MS) Bold"/>
                </a:rPr>
                <a:t>46.6%</a:t>
              </a:r>
            </a:p>
          </p:txBody>
        </p:sp>
      </p:grpSp>
      <p:grpSp>
        <p:nvGrpSpPr>
          <p:cNvPr name="Group 44" id="44"/>
          <p:cNvGrpSpPr/>
          <p:nvPr/>
        </p:nvGrpSpPr>
        <p:grpSpPr>
          <a:xfrm rot="0">
            <a:off x="14209776" y="8595360"/>
            <a:ext cx="2889504" cy="877824"/>
            <a:chOff x="0" y="0"/>
            <a:chExt cx="3852672" cy="1170432"/>
          </a:xfrm>
        </p:grpSpPr>
        <p:sp>
          <p:nvSpPr>
            <p:cNvPr name="Freeform 45" id="45"/>
            <p:cNvSpPr/>
            <p:nvPr/>
          </p:nvSpPr>
          <p:spPr>
            <a:xfrm flipH="false" flipV="false" rot="0">
              <a:off x="0" y="0"/>
              <a:ext cx="3852672" cy="1170432"/>
            </a:xfrm>
            <a:custGeom>
              <a:avLst/>
              <a:gdLst/>
              <a:ahLst/>
              <a:cxnLst/>
              <a:rect r="r" b="b" t="t" l="l"/>
              <a:pathLst>
                <a:path h="1170432" w="3852672">
                  <a:moveTo>
                    <a:pt x="0" y="0"/>
                  </a:moveTo>
                  <a:lnTo>
                    <a:pt x="3852672" y="0"/>
                  </a:lnTo>
                  <a:lnTo>
                    <a:pt x="3852672" y="1170432"/>
                  </a:lnTo>
                  <a:lnTo>
                    <a:pt x="0" y="1170432"/>
                  </a:lnTo>
                  <a:close/>
                </a:path>
              </a:pathLst>
            </a:custGeom>
            <a:blipFill>
              <a:blip r:embed="rId3">
                <a:alphaModFix amt="0"/>
              </a:blip>
              <a:stretch>
                <a:fillRect l="0" t="-14138" r="0" b="-14138"/>
              </a:stretch>
            </a:blipFill>
          </p:spPr>
        </p:sp>
        <p:sp>
          <p:nvSpPr>
            <p:cNvPr name="TextBox 46" id="46"/>
            <p:cNvSpPr txBox="true"/>
            <p:nvPr/>
          </p:nvSpPr>
          <p:spPr>
            <a:xfrm>
              <a:off x="0" y="-38100"/>
              <a:ext cx="3852672" cy="1208532"/>
            </a:xfrm>
            <a:prstGeom prst="rect">
              <a:avLst/>
            </a:prstGeom>
          </p:spPr>
          <p:txBody>
            <a:bodyPr anchor="ctr" rtlCol="false" tIns="0" lIns="0" bIns="0" rIns="0"/>
            <a:lstStyle/>
            <a:p>
              <a:pPr algn="ctr">
                <a:lnSpc>
                  <a:spcPts val="2039"/>
                </a:lnSpc>
              </a:pPr>
              <a:r>
                <a:rPr lang="en-US" sz="1700">
                  <a:solidFill>
                    <a:srgbClr val="64748B"/>
                  </a:solidFill>
                  <a:latin typeface="Calibri (MS)"/>
                  <a:ea typeface="Calibri (MS)"/>
                  <a:cs typeface="Calibri (MS)"/>
                  <a:sym typeface="Calibri (MS)"/>
                </a:rPr>
                <a:t>Worst PICP</a:t>
              </a:r>
            </a:p>
            <a:p>
              <a:pPr algn="ctr">
                <a:lnSpc>
                  <a:spcPts val="2039"/>
                </a:lnSpc>
              </a:pPr>
              <a:r>
                <a:rPr lang="en-US" sz="1700">
                  <a:solidFill>
                    <a:srgbClr val="64748B"/>
                  </a:solidFill>
                  <a:latin typeface="Calibri (MS)"/>
                  <a:ea typeface="Calibri (MS)"/>
                  <a:cs typeface="Calibri (MS)"/>
                  <a:sym typeface="Calibri (MS)"/>
                </a:rPr>
                <a:t>(Transformer, S.IO)</a:t>
              </a:r>
            </a:p>
          </p:txBody>
        </p:sp>
      </p:grpSp>
      <p:sp>
        <p:nvSpPr>
          <p:cNvPr name="Freeform 47" id="47"/>
          <p:cNvSpPr/>
          <p:nvPr/>
        </p:nvSpPr>
        <p:spPr>
          <a:xfrm flipH="false" flipV="false" rot="0">
            <a:off x="138790" y="2418654"/>
            <a:ext cx="8610387" cy="4875632"/>
          </a:xfrm>
          <a:custGeom>
            <a:avLst/>
            <a:gdLst/>
            <a:ahLst/>
            <a:cxnLst/>
            <a:rect r="r" b="b" t="t" l="l"/>
            <a:pathLst>
              <a:path h="4875632" w="8610387">
                <a:moveTo>
                  <a:pt x="0" y="0"/>
                </a:moveTo>
                <a:lnTo>
                  <a:pt x="8610388" y="0"/>
                </a:lnTo>
                <a:lnTo>
                  <a:pt x="8610388" y="4875632"/>
                </a:lnTo>
                <a:lnTo>
                  <a:pt x="0" y="4875632"/>
                </a:lnTo>
                <a:lnTo>
                  <a:pt x="0" y="0"/>
                </a:lnTo>
                <a:close/>
              </a:path>
            </a:pathLst>
          </a:custGeom>
          <a:blipFill>
            <a:blip r:embed="rId4"/>
            <a:stretch>
              <a:fillRect l="0" t="0" r="0" b="0"/>
            </a:stretch>
          </a:blipFill>
        </p:spPr>
      </p:sp>
      <p:sp>
        <p:nvSpPr>
          <p:cNvPr name="Freeform 48" id="48"/>
          <p:cNvSpPr/>
          <p:nvPr/>
        </p:nvSpPr>
        <p:spPr>
          <a:xfrm flipH="false" flipV="false" rot="0">
            <a:off x="9111128" y="2418654"/>
            <a:ext cx="8445352" cy="4782181"/>
          </a:xfrm>
          <a:custGeom>
            <a:avLst/>
            <a:gdLst/>
            <a:ahLst/>
            <a:cxnLst/>
            <a:rect r="r" b="b" t="t" l="l"/>
            <a:pathLst>
              <a:path h="4782181" w="8445352">
                <a:moveTo>
                  <a:pt x="0" y="0"/>
                </a:moveTo>
                <a:lnTo>
                  <a:pt x="8445352" y="0"/>
                </a:lnTo>
                <a:lnTo>
                  <a:pt x="8445352" y="4782180"/>
                </a:lnTo>
                <a:lnTo>
                  <a:pt x="0" y="4782180"/>
                </a:lnTo>
                <a:lnTo>
                  <a:pt x="0" y="0"/>
                </a:lnTo>
                <a:close/>
              </a:path>
            </a:pathLst>
          </a:custGeom>
          <a:blipFill>
            <a:blip r:embed="rId5"/>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73152"/>
            <a:chOff x="0" y="0"/>
            <a:chExt cx="24384000" cy="97536"/>
          </a:xfrm>
        </p:grpSpPr>
        <p:sp>
          <p:nvSpPr>
            <p:cNvPr name="Freeform 3" id="3"/>
            <p:cNvSpPr/>
            <p:nvPr/>
          </p:nvSpPr>
          <p:spPr>
            <a:xfrm flipH="false" flipV="false" rot="0">
              <a:off x="0" y="0"/>
              <a:ext cx="24384000" cy="97536"/>
            </a:xfrm>
            <a:custGeom>
              <a:avLst/>
              <a:gdLst/>
              <a:ahLst/>
              <a:cxnLst/>
              <a:rect r="r" b="b" t="t" l="l"/>
              <a:pathLst>
                <a:path h="97536" w="24384000">
                  <a:moveTo>
                    <a:pt x="0" y="0"/>
                  </a:moveTo>
                  <a:lnTo>
                    <a:pt x="24384000" y="0"/>
                  </a:lnTo>
                  <a:lnTo>
                    <a:pt x="24384000" y="97536"/>
                  </a:lnTo>
                  <a:lnTo>
                    <a:pt x="0" y="97536"/>
                  </a:lnTo>
                  <a:close/>
                </a:path>
              </a:pathLst>
            </a:custGeom>
            <a:solidFill>
              <a:srgbClr val="3B82F6"/>
            </a:solidFill>
          </p:spPr>
        </p:sp>
      </p:grpSp>
      <p:grpSp>
        <p:nvGrpSpPr>
          <p:cNvPr name="Group 4" id="4"/>
          <p:cNvGrpSpPr/>
          <p:nvPr/>
        </p:nvGrpSpPr>
        <p:grpSpPr>
          <a:xfrm rot="0">
            <a:off x="1005840" y="585216"/>
            <a:ext cx="2926080" cy="512064"/>
            <a:chOff x="0" y="0"/>
            <a:chExt cx="3901440" cy="682752"/>
          </a:xfrm>
        </p:grpSpPr>
        <p:sp>
          <p:nvSpPr>
            <p:cNvPr name="Freeform 5" id="5"/>
            <p:cNvSpPr/>
            <p:nvPr/>
          </p:nvSpPr>
          <p:spPr>
            <a:xfrm flipH="false" flipV="false" rot="0">
              <a:off x="0" y="0"/>
              <a:ext cx="3901440" cy="682752"/>
            </a:xfrm>
            <a:custGeom>
              <a:avLst/>
              <a:gdLst/>
              <a:ahLst/>
              <a:cxnLst/>
              <a:rect r="r" b="b" t="t" l="l"/>
              <a:pathLst>
                <a:path h="682752" w="3901440">
                  <a:moveTo>
                    <a:pt x="0" y="341376"/>
                  </a:moveTo>
                  <a:cubicBezTo>
                    <a:pt x="0" y="152781"/>
                    <a:pt x="152781" y="0"/>
                    <a:pt x="341376" y="0"/>
                  </a:cubicBezTo>
                  <a:lnTo>
                    <a:pt x="3560064" y="0"/>
                  </a:lnTo>
                  <a:cubicBezTo>
                    <a:pt x="3748659" y="0"/>
                    <a:pt x="3901440" y="152781"/>
                    <a:pt x="3901440" y="341376"/>
                  </a:cubicBezTo>
                  <a:cubicBezTo>
                    <a:pt x="3901440" y="529971"/>
                    <a:pt x="3748659" y="682752"/>
                    <a:pt x="3560064" y="682752"/>
                  </a:cubicBezTo>
                  <a:lnTo>
                    <a:pt x="341376" y="682752"/>
                  </a:lnTo>
                  <a:cubicBezTo>
                    <a:pt x="152781" y="682752"/>
                    <a:pt x="0" y="529971"/>
                    <a:pt x="0" y="341376"/>
                  </a:cubicBezTo>
                  <a:close/>
                </a:path>
              </a:pathLst>
            </a:custGeom>
            <a:solidFill>
              <a:srgbClr val="3B82F6"/>
            </a:solidFill>
          </p:spPr>
        </p:sp>
      </p:grpSp>
      <p:grpSp>
        <p:nvGrpSpPr>
          <p:cNvPr name="Group 6" id="6"/>
          <p:cNvGrpSpPr/>
          <p:nvPr/>
        </p:nvGrpSpPr>
        <p:grpSpPr>
          <a:xfrm rot="0">
            <a:off x="1005840" y="585216"/>
            <a:ext cx="2926080" cy="512064"/>
            <a:chOff x="0" y="0"/>
            <a:chExt cx="3901440" cy="682752"/>
          </a:xfrm>
        </p:grpSpPr>
        <p:sp>
          <p:nvSpPr>
            <p:cNvPr name="Freeform 7" id="7"/>
            <p:cNvSpPr/>
            <p:nvPr/>
          </p:nvSpPr>
          <p:spPr>
            <a:xfrm flipH="false" flipV="false" rot="0">
              <a:off x="0" y="0"/>
              <a:ext cx="3901440" cy="682752"/>
            </a:xfrm>
            <a:custGeom>
              <a:avLst/>
              <a:gdLst/>
              <a:ahLst/>
              <a:cxnLst/>
              <a:rect r="r" b="b" t="t" l="l"/>
              <a:pathLst>
                <a:path h="682752" w="3901440">
                  <a:moveTo>
                    <a:pt x="0" y="0"/>
                  </a:moveTo>
                  <a:lnTo>
                    <a:pt x="3901440" y="0"/>
                  </a:lnTo>
                  <a:lnTo>
                    <a:pt x="3901440" y="682752"/>
                  </a:lnTo>
                  <a:lnTo>
                    <a:pt x="0" y="682752"/>
                  </a:lnTo>
                  <a:close/>
                </a:path>
              </a:pathLst>
            </a:custGeom>
            <a:blipFill>
              <a:blip r:embed="rId3">
                <a:alphaModFix amt="0"/>
              </a:blip>
              <a:stretch>
                <a:fillRect l="0" t="-61343" r="0" b="-61343"/>
              </a:stretch>
            </a:blipFill>
          </p:spPr>
        </p:sp>
        <p:sp>
          <p:nvSpPr>
            <p:cNvPr name="TextBox 8" id="8"/>
            <p:cNvSpPr txBox="true"/>
            <p:nvPr/>
          </p:nvSpPr>
          <p:spPr>
            <a:xfrm>
              <a:off x="0" y="-38100"/>
              <a:ext cx="3901440" cy="72085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SLA RESULTS</a:t>
              </a:r>
            </a:p>
          </p:txBody>
        </p:sp>
      </p:grpSp>
      <p:grpSp>
        <p:nvGrpSpPr>
          <p:cNvPr name="Group 9" id="9"/>
          <p:cNvGrpSpPr/>
          <p:nvPr/>
        </p:nvGrpSpPr>
        <p:grpSpPr>
          <a:xfrm rot="0">
            <a:off x="1005840" y="1060704"/>
            <a:ext cx="16276320" cy="1550417"/>
            <a:chOff x="0" y="0"/>
            <a:chExt cx="21701760" cy="2067223"/>
          </a:xfrm>
        </p:grpSpPr>
        <p:sp>
          <p:nvSpPr>
            <p:cNvPr name="Freeform 10" id="10"/>
            <p:cNvSpPr/>
            <p:nvPr/>
          </p:nvSpPr>
          <p:spPr>
            <a:xfrm flipH="false" flipV="false" rot="0">
              <a:off x="0" y="0"/>
              <a:ext cx="21701761" cy="2067223"/>
            </a:xfrm>
            <a:custGeom>
              <a:avLst/>
              <a:gdLst/>
              <a:ahLst/>
              <a:cxnLst/>
              <a:rect r="r" b="b" t="t" l="l"/>
              <a:pathLst>
                <a:path h="2067223" w="21701761">
                  <a:moveTo>
                    <a:pt x="0" y="0"/>
                  </a:moveTo>
                  <a:lnTo>
                    <a:pt x="21701761" y="0"/>
                  </a:lnTo>
                  <a:lnTo>
                    <a:pt x="21701761" y="2067223"/>
                  </a:lnTo>
                  <a:lnTo>
                    <a:pt x="0" y="2067223"/>
                  </a:lnTo>
                  <a:close/>
                </a:path>
              </a:pathLst>
            </a:custGeom>
            <a:blipFill>
              <a:blip r:embed="rId3">
                <a:alphaModFix amt="0"/>
              </a:blip>
              <a:stretch>
                <a:fillRect l="0" t="-176245" r="0" b="-132863"/>
              </a:stretch>
            </a:blipFill>
          </p:spPr>
        </p:sp>
        <p:sp>
          <p:nvSpPr>
            <p:cNvPr name="TextBox 11" id="11"/>
            <p:cNvSpPr txBox="true"/>
            <p:nvPr/>
          </p:nvSpPr>
          <p:spPr>
            <a:xfrm>
              <a:off x="0" y="-76200"/>
              <a:ext cx="21701760" cy="2143423"/>
            </a:xfrm>
            <a:prstGeom prst="rect">
              <a:avLst/>
            </a:prstGeom>
          </p:spPr>
          <p:txBody>
            <a:bodyPr anchor="ctr" rtlCol="false" tIns="0" lIns="0" bIns="0" rIns="0"/>
            <a:lstStyle/>
            <a:p>
              <a:pPr algn="l">
                <a:lnSpc>
                  <a:spcPts val="5280"/>
                </a:lnSpc>
              </a:pPr>
              <a:r>
                <a:rPr lang="en-US" sz="4400" b="true">
                  <a:solidFill>
                    <a:srgbClr val="1A2744"/>
                  </a:solidFill>
                  <a:latin typeface="Calibri (MS) Bold"/>
                  <a:ea typeface="Calibri (MS) Bold"/>
                  <a:cs typeface="Calibri (MS) Bold"/>
                  <a:sym typeface="Calibri (MS) Bold"/>
                </a:rPr>
                <a:t> Complete </a:t>
              </a:r>
              <a:r>
                <a:rPr lang="en-US" sz="4400" b="true">
                  <a:solidFill>
                    <a:srgbClr val="1A2744"/>
                  </a:solidFill>
                  <a:latin typeface="Calibri (MS) Bold"/>
                  <a:ea typeface="Calibri (MS) Bold"/>
                  <a:cs typeface="Calibri (MS) Bold"/>
                  <a:sym typeface="Calibri (MS) Bold"/>
                </a:rPr>
                <a:t>SLA evaluation metrics across all five Indian Ocean locations</a:t>
              </a:r>
            </a:p>
          </p:txBody>
        </p:sp>
      </p:grpSp>
      <p:grpSp>
        <p:nvGrpSpPr>
          <p:cNvPr name="Group 12" id="12"/>
          <p:cNvGrpSpPr/>
          <p:nvPr/>
        </p:nvGrpSpPr>
        <p:grpSpPr>
          <a:xfrm rot="0">
            <a:off x="17190720" y="9646920"/>
            <a:ext cx="731520" cy="457200"/>
            <a:chOff x="0" y="0"/>
            <a:chExt cx="975360" cy="609600"/>
          </a:xfrm>
        </p:grpSpPr>
        <p:sp>
          <p:nvSpPr>
            <p:cNvPr name="Freeform 13" id="13"/>
            <p:cNvSpPr/>
            <p:nvPr/>
          </p:nvSpPr>
          <p:spPr>
            <a:xfrm flipH="false" flipV="false" rot="0">
              <a:off x="0" y="0"/>
              <a:ext cx="975360" cy="609600"/>
            </a:xfrm>
            <a:custGeom>
              <a:avLst/>
              <a:gdLst/>
              <a:ahLst/>
              <a:cxnLst/>
              <a:rect r="r" b="b" t="t" l="l"/>
              <a:pathLst>
                <a:path h="609600" w="975360">
                  <a:moveTo>
                    <a:pt x="0" y="0"/>
                  </a:moveTo>
                  <a:lnTo>
                    <a:pt x="975360" y="0"/>
                  </a:lnTo>
                  <a:lnTo>
                    <a:pt x="975360" y="609600"/>
                  </a:lnTo>
                  <a:lnTo>
                    <a:pt x="0" y="609600"/>
                  </a:lnTo>
                  <a:close/>
                </a:path>
              </a:pathLst>
            </a:custGeom>
            <a:blipFill>
              <a:blip r:embed="rId3">
                <a:alphaModFix amt="0"/>
              </a:blip>
              <a:stretch>
                <a:fillRect l="-30189" t="0" r="-30189" b="0"/>
              </a:stretch>
            </a:blipFill>
          </p:spPr>
        </p:sp>
        <p:sp>
          <p:nvSpPr>
            <p:cNvPr name="TextBox 14" id="14"/>
            <p:cNvSpPr txBox="true"/>
            <p:nvPr/>
          </p:nvSpPr>
          <p:spPr>
            <a:xfrm>
              <a:off x="0" y="-38100"/>
              <a:ext cx="975360" cy="647700"/>
            </a:xfrm>
            <a:prstGeom prst="rect">
              <a:avLst/>
            </a:prstGeom>
          </p:spPr>
          <p:txBody>
            <a:bodyPr anchor="ctr" rtlCol="false" tIns="0" lIns="0" bIns="0" rIns="0"/>
            <a:lstStyle/>
            <a:p>
              <a:pPr algn="r">
                <a:lnSpc>
                  <a:spcPts val="2160"/>
                </a:lnSpc>
              </a:pPr>
              <a:r>
                <a:rPr lang="en-US" sz="1800">
                  <a:solidFill>
                    <a:srgbClr val="64748B"/>
                  </a:solidFill>
                  <a:latin typeface="Calibri (MS)"/>
                  <a:ea typeface="Calibri (MS)"/>
                  <a:cs typeface="Calibri (MS)"/>
                  <a:sym typeface="Calibri (MS)"/>
                </a:rPr>
                <a:t>12</a:t>
              </a:r>
            </a:p>
          </p:txBody>
        </p:sp>
      </p:grpSp>
      <p:sp>
        <p:nvSpPr>
          <p:cNvPr name="Freeform 15" id="15"/>
          <p:cNvSpPr/>
          <p:nvPr/>
        </p:nvSpPr>
        <p:spPr>
          <a:xfrm flipH="false" flipV="false" rot="0">
            <a:off x="1028700" y="2554070"/>
            <a:ext cx="6964921" cy="7550050"/>
          </a:xfrm>
          <a:custGeom>
            <a:avLst/>
            <a:gdLst/>
            <a:ahLst/>
            <a:cxnLst/>
            <a:rect r="r" b="b" t="t" l="l"/>
            <a:pathLst>
              <a:path h="7550050" w="6964921">
                <a:moveTo>
                  <a:pt x="0" y="0"/>
                </a:moveTo>
                <a:lnTo>
                  <a:pt x="6964921" y="0"/>
                </a:lnTo>
                <a:lnTo>
                  <a:pt x="6964921" y="7550050"/>
                </a:lnTo>
                <a:lnTo>
                  <a:pt x="0" y="7550050"/>
                </a:lnTo>
                <a:lnTo>
                  <a:pt x="0" y="0"/>
                </a:lnTo>
                <a:close/>
              </a:path>
            </a:pathLst>
          </a:custGeom>
          <a:blipFill>
            <a:blip r:embed="rId4"/>
            <a:stretch>
              <a:fillRect l="0" t="0" r="0" b="0"/>
            </a:stretch>
          </a:blipFill>
        </p:spPr>
      </p:sp>
      <p:sp>
        <p:nvSpPr>
          <p:cNvPr name="Freeform 16" id="16"/>
          <p:cNvSpPr/>
          <p:nvPr/>
        </p:nvSpPr>
        <p:spPr>
          <a:xfrm flipH="false" flipV="false" rot="0">
            <a:off x="8287707" y="2554070"/>
            <a:ext cx="8187995" cy="5926061"/>
          </a:xfrm>
          <a:custGeom>
            <a:avLst/>
            <a:gdLst/>
            <a:ahLst/>
            <a:cxnLst/>
            <a:rect r="r" b="b" t="t" l="l"/>
            <a:pathLst>
              <a:path h="5926061" w="8187995">
                <a:moveTo>
                  <a:pt x="0" y="0"/>
                </a:moveTo>
                <a:lnTo>
                  <a:pt x="8187995" y="0"/>
                </a:lnTo>
                <a:lnTo>
                  <a:pt x="8187995" y="5926061"/>
                </a:lnTo>
                <a:lnTo>
                  <a:pt x="0" y="5926061"/>
                </a:lnTo>
                <a:lnTo>
                  <a:pt x="0" y="0"/>
                </a:lnTo>
                <a:close/>
              </a:path>
            </a:pathLst>
          </a:custGeom>
          <a:blipFill>
            <a:blip r:embed="rId5"/>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73152"/>
            <a:chOff x="0" y="0"/>
            <a:chExt cx="24384000" cy="97536"/>
          </a:xfrm>
        </p:grpSpPr>
        <p:sp>
          <p:nvSpPr>
            <p:cNvPr name="Freeform 3" id="3"/>
            <p:cNvSpPr/>
            <p:nvPr/>
          </p:nvSpPr>
          <p:spPr>
            <a:xfrm flipH="false" flipV="false" rot="0">
              <a:off x="0" y="0"/>
              <a:ext cx="24384000" cy="97536"/>
            </a:xfrm>
            <a:custGeom>
              <a:avLst/>
              <a:gdLst/>
              <a:ahLst/>
              <a:cxnLst/>
              <a:rect r="r" b="b" t="t" l="l"/>
              <a:pathLst>
                <a:path h="97536" w="24384000">
                  <a:moveTo>
                    <a:pt x="0" y="0"/>
                  </a:moveTo>
                  <a:lnTo>
                    <a:pt x="24384000" y="0"/>
                  </a:lnTo>
                  <a:lnTo>
                    <a:pt x="24384000" y="97536"/>
                  </a:lnTo>
                  <a:lnTo>
                    <a:pt x="0" y="97536"/>
                  </a:lnTo>
                  <a:close/>
                </a:path>
              </a:pathLst>
            </a:custGeom>
            <a:solidFill>
              <a:srgbClr val="3B82F6"/>
            </a:solidFill>
          </p:spPr>
        </p:sp>
      </p:grpSp>
      <p:grpSp>
        <p:nvGrpSpPr>
          <p:cNvPr name="Group 4" id="4"/>
          <p:cNvGrpSpPr/>
          <p:nvPr/>
        </p:nvGrpSpPr>
        <p:grpSpPr>
          <a:xfrm rot="0">
            <a:off x="1005840" y="585216"/>
            <a:ext cx="2926080" cy="512064"/>
            <a:chOff x="0" y="0"/>
            <a:chExt cx="3901440" cy="682752"/>
          </a:xfrm>
        </p:grpSpPr>
        <p:sp>
          <p:nvSpPr>
            <p:cNvPr name="Freeform 5" id="5"/>
            <p:cNvSpPr/>
            <p:nvPr/>
          </p:nvSpPr>
          <p:spPr>
            <a:xfrm flipH="false" flipV="false" rot="0">
              <a:off x="0" y="0"/>
              <a:ext cx="3901440" cy="682752"/>
            </a:xfrm>
            <a:custGeom>
              <a:avLst/>
              <a:gdLst/>
              <a:ahLst/>
              <a:cxnLst/>
              <a:rect r="r" b="b" t="t" l="l"/>
              <a:pathLst>
                <a:path h="682752" w="3901440">
                  <a:moveTo>
                    <a:pt x="0" y="341376"/>
                  </a:moveTo>
                  <a:cubicBezTo>
                    <a:pt x="0" y="152781"/>
                    <a:pt x="152781" y="0"/>
                    <a:pt x="341376" y="0"/>
                  </a:cubicBezTo>
                  <a:lnTo>
                    <a:pt x="3560064" y="0"/>
                  </a:lnTo>
                  <a:cubicBezTo>
                    <a:pt x="3748659" y="0"/>
                    <a:pt x="3901440" y="152781"/>
                    <a:pt x="3901440" y="341376"/>
                  </a:cubicBezTo>
                  <a:cubicBezTo>
                    <a:pt x="3901440" y="529971"/>
                    <a:pt x="3748659" y="682752"/>
                    <a:pt x="3560064" y="682752"/>
                  </a:cubicBezTo>
                  <a:lnTo>
                    <a:pt x="341376" y="682752"/>
                  </a:lnTo>
                  <a:cubicBezTo>
                    <a:pt x="152781" y="682752"/>
                    <a:pt x="0" y="529971"/>
                    <a:pt x="0" y="341376"/>
                  </a:cubicBezTo>
                  <a:close/>
                </a:path>
              </a:pathLst>
            </a:custGeom>
            <a:solidFill>
              <a:srgbClr val="3B82F6"/>
            </a:solidFill>
          </p:spPr>
        </p:sp>
      </p:grpSp>
      <p:grpSp>
        <p:nvGrpSpPr>
          <p:cNvPr name="Group 6" id="6"/>
          <p:cNvGrpSpPr/>
          <p:nvPr/>
        </p:nvGrpSpPr>
        <p:grpSpPr>
          <a:xfrm rot="0">
            <a:off x="1005840" y="585216"/>
            <a:ext cx="2926080" cy="512064"/>
            <a:chOff x="0" y="0"/>
            <a:chExt cx="3901440" cy="682752"/>
          </a:xfrm>
        </p:grpSpPr>
        <p:sp>
          <p:nvSpPr>
            <p:cNvPr name="Freeform 7" id="7"/>
            <p:cNvSpPr/>
            <p:nvPr/>
          </p:nvSpPr>
          <p:spPr>
            <a:xfrm flipH="false" flipV="false" rot="0">
              <a:off x="0" y="0"/>
              <a:ext cx="3901440" cy="682752"/>
            </a:xfrm>
            <a:custGeom>
              <a:avLst/>
              <a:gdLst/>
              <a:ahLst/>
              <a:cxnLst/>
              <a:rect r="r" b="b" t="t" l="l"/>
              <a:pathLst>
                <a:path h="682752" w="3901440">
                  <a:moveTo>
                    <a:pt x="0" y="0"/>
                  </a:moveTo>
                  <a:lnTo>
                    <a:pt x="3901440" y="0"/>
                  </a:lnTo>
                  <a:lnTo>
                    <a:pt x="3901440" y="682752"/>
                  </a:lnTo>
                  <a:lnTo>
                    <a:pt x="0" y="682752"/>
                  </a:lnTo>
                  <a:close/>
                </a:path>
              </a:pathLst>
            </a:custGeom>
            <a:blipFill>
              <a:blip r:embed="rId3">
                <a:alphaModFix amt="0"/>
              </a:blip>
              <a:stretch>
                <a:fillRect l="0" t="-61343" r="0" b="-61343"/>
              </a:stretch>
            </a:blipFill>
          </p:spPr>
        </p:sp>
        <p:sp>
          <p:nvSpPr>
            <p:cNvPr name="TextBox 8" id="8"/>
            <p:cNvSpPr txBox="true"/>
            <p:nvPr/>
          </p:nvSpPr>
          <p:spPr>
            <a:xfrm>
              <a:off x="0" y="-38100"/>
              <a:ext cx="3901440" cy="72085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SWH</a:t>
              </a:r>
            </a:p>
          </p:txBody>
        </p:sp>
      </p:grpSp>
      <p:grpSp>
        <p:nvGrpSpPr>
          <p:cNvPr name="Group 9" id="9"/>
          <p:cNvGrpSpPr/>
          <p:nvPr/>
        </p:nvGrpSpPr>
        <p:grpSpPr>
          <a:xfrm rot="0">
            <a:off x="1005840" y="1060704"/>
            <a:ext cx="16276320" cy="877824"/>
            <a:chOff x="0" y="0"/>
            <a:chExt cx="21701760" cy="1170432"/>
          </a:xfrm>
        </p:grpSpPr>
        <p:sp>
          <p:nvSpPr>
            <p:cNvPr name="Freeform 10" id="10"/>
            <p:cNvSpPr/>
            <p:nvPr/>
          </p:nvSpPr>
          <p:spPr>
            <a:xfrm flipH="false" flipV="false" rot="0">
              <a:off x="0" y="0"/>
              <a:ext cx="21701761" cy="1170432"/>
            </a:xfrm>
            <a:custGeom>
              <a:avLst/>
              <a:gdLst/>
              <a:ahLst/>
              <a:cxnLst/>
              <a:rect r="r" b="b" t="t" l="l"/>
              <a:pathLst>
                <a:path h="1170432" w="21701761">
                  <a:moveTo>
                    <a:pt x="0" y="0"/>
                  </a:moveTo>
                  <a:lnTo>
                    <a:pt x="21701761" y="0"/>
                  </a:lnTo>
                  <a:lnTo>
                    <a:pt x="21701761" y="1170432"/>
                  </a:lnTo>
                  <a:lnTo>
                    <a:pt x="0" y="1170432"/>
                  </a:lnTo>
                  <a:close/>
                </a:path>
              </a:pathLst>
            </a:custGeom>
            <a:blipFill>
              <a:blip r:embed="rId3">
                <a:alphaModFix amt="0"/>
              </a:blip>
              <a:stretch>
                <a:fillRect l="0" t="-311285" r="0" b="-311285"/>
              </a:stretch>
            </a:blipFill>
          </p:spPr>
        </p:sp>
        <p:sp>
          <p:nvSpPr>
            <p:cNvPr name="TextBox 11" id="11"/>
            <p:cNvSpPr txBox="true"/>
            <p:nvPr/>
          </p:nvSpPr>
          <p:spPr>
            <a:xfrm>
              <a:off x="0" y="-76200"/>
              <a:ext cx="21701760" cy="1246632"/>
            </a:xfrm>
            <a:prstGeom prst="rect">
              <a:avLst/>
            </a:prstGeom>
          </p:spPr>
          <p:txBody>
            <a:bodyPr anchor="ctr" rtlCol="false" tIns="0" lIns="0" bIns="0" rIns="0"/>
            <a:lstStyle/>
            <a:p>
              <a:pPr algn="l">
                <a:lnSpc>
                  <a:spcPts val="5280"/>
                </a:lnSpc>
              </a:pPr>
              <a:r>
                <a:rPr lang="en-US" sz="4400" b="true">
                  <a:solidFill>
                    <a:srgbClr val="1A2744"/>
                  </a:solidFill>
                  <a:latin typeface="Calibri (MS) Bold"/>
                  <a:ea typeface="Calibri (MS) Bold"/>
                  <a:cs typeface="Calibri (MS) Bold"/>
                  <a:sym typeface="Calibri (MS) Bold"/>
                </a:rPr>
                <a:t>Significant Wave Height — What &amp; Why</a:t>
              </a:r>
            </a:p>
          </p:txBody>
        </p:sp>
      </p:grpSp>
      <p:grpSp>
        <p:nvGrpSpPr>
          <p:cNvPr name="Group 12" id="12"/>
          <p:cNvGrpSpPr/>
          <p:nvPr/>
        </p:nvGrpSpPr>
        <p:grpSpPr>
          <a:xfrm rot="0">
            <a:off x="1005840" y="1938528"/>
            <a:ext cx="16276320" cy="457200"/>
            <a:chOff x="0" y="0"/>
            <a:chExt cx="21701760" cy="609600"/>
          </a:xfrm>
        </p:grpSpPr>
        <p:sp>
          <p:nvSpPr>
            <p:cNvPr name="Freeform 13" id="13"/>
            <p:cNvSpPr/>
            <p:nvPr/>
          </p:nvSpPr>
          <p:spPr>
            <a:xfrm flipH="false" flipV="false" rot="0">
              <a:off x="0" y="0"/>
              <a:ext cx="21701761" cy="609600"/>
            </a:xfrm>
            <a:custGeom>
              <a:avLst/>
              <a:gdLst/>
              <a:ahLst/>
              <a:cxnLst/>
              <a:rect r="r" b="b" t="t" l="l"/>
              <a:pathLst>
                <a:path h="609600" w="21701761">
                  <a:moveTo>
                    <a:pt x="0" y="0"/>
                  </a:moveTo>
                  <a:lnTo>
                    <a:pt x="21701761" y="0"/>
                  </a:lnTo>
                  <a:lnTo>
                    <a:pt x="21701761" y="609600"/>
                  </a:lnTo>
                  <a:lnTo>
                    <a:pt x="0" y="609600"/>
                  </a:lnTo>
                  <a:close/>
                </a:path>
              </a:pathLst>
            </a:custGeom>
            <a:blipFill>
              <a:blip r:embed="rId3">
                <a:alphaModFix amt="0"/>
              </a:blip>
              <a:stretch>
                <a:fillRect l="0" t="-643667" r="0" b="-643667"/>
              </a:stretch>
            </a:blipFill>
          </p:spPr>
        </p:sp>
        <p:sp>
          <p:nvSpPr>
            <p:cNvPr name="TextBox 14" id="14"/>
            <p:cNvSpPr txBox="true"/>
            <p:nvPr/>
          </p:nvSpPr>
          <p:spPr>
            <a:xfrm>
              <a:off x="0" y="-47625"/>
              <a:ext cx="21701760" cy="657225"/>
            </a:xfrm>
            <a:prstGeom prst="rect">
              <a:avLst/>
            </a:prstGeom>
          </p:spPr>
          <p:txBody>
            <a:bodyPr anchor="ctr" rtlCol="false" tIns="0" lIns="0" bIns="0" rIns="0"/>
            <a:lstStyle/>
            <a:p>
              <a:pPr algn="l">
                <a:lnSpc>
                  <a:spcPts val="2640"/>
                </a:lnSpc>
              </a:pPr>
              <a:r>
                <a:rPr lang="en-US" sz="2200" i="true">
                  <a:solidFill>
                    <a:srgbClr val="64748B"/>
                  </a:solidFill>
                  <a:latin typeface="Calibri (MS) Italics"/>
                  <a:ea typeface="Calibri (MS) Italics"/>
                  <a:cs typeface="Calibri (MS) Italics"/>
                  <a:sym typeface="Calibri (MS) Italics"/>
                </a:rPr>
                <a:t>Average height of the highest one-third of waves in a sea state</a:t>
              </a:r>
            </a:p>
          </p:txBody>
        </p:sp>
      </p:grpSp>
      <p:grpSp>
        <p:nvGrpSpPr>
          <p:cNvPr name="Group 15" id="15"/>
          <p:cNvGrpSpPr/>
          <p:nvPr/>
        </p:nvGrpSpPr>
        <p:grpSpPr>
          <a:xfrm rot="0">
            <a:off x="17190720" y="9646920"/>
            <a:ext cx="731520" cy="457200"/>
            <a:chOff x="0" y="0"/>
            <a:chExt cx="975360" cy="609600"/>
          </a:xfrm>
        </p:grpSpPr>
        <p:sp>
          <p:nvSpPr>
            <p:cNvPr name="Freeform 16" id="16"/>
            <p:cNvSpPr/>
            <p:nvPr/>
          </p:nvSpPr>
          <p:spPr>
            <a:xfrm flipH="false" flipV="false" rot="0">
              <a:off x="0" y="0"/>
              <a:ext cx="975360" cy="609600"/>
            </a:xfrm>
            <a:custGeom>
              <a:avLst/>
              <a:gdLst/>
              <a:ahLst/>
              <a:cxnLst/>
              <a:rect r="r" b="b" t="t" l="l"/>
              <a:pathLst>
                <a:path h="609600" w="975360">
                  <a:moveTo>
                    <a:pt x="0" y="0"/>
                  </a:moveTo>
                  <a:lnTo>
                    <a:pt x="975360" y="0"/>
                  </a:lnTo>
                  <a:lnTo>
                    <a:pt x="975360" y="609600"/>
                  </a:lnTo>
                  <a:lnTo>
                    <a:pt x="0" y="609600"/>
                  </a:lnTo>
                  <a:close/>
                </a:path>
              </a:pathLst>
            </a:custGeom>
            <a:blipFill>
              <a:blip r:embed="rId3">
                <a:alphaModFix amt="0"/>
              </a:blip>
              <a:stretch>
                <a:fillRect l="-30189" t="0" r="-30189" b="0"/>
              </a:stretch>
            </a:blipFill>
          </p:spPr>
        </p:sp>
        <p:sp>
          <p:nvSpPr>
            <p:cNvPr name="TextBox 17" id="17"/>
            <p:cNvSpPr txBox="true"/>
            <p:nvPr/>
          </p:nvSpPr>
          <p:spPr>
            <a:xfrm>
              <a:off x="0" y="-38100"/>
              <a:ext cx="975360" cy="647700"/>
            </a:xfrm>
            <a:prstGeom prst="rect">
              <a:avLst/>
            </a:prstGeom>
          </p:spPr>
          <p:txBody>
            <a:bodyPr anchor="ctr" rtlCol="false" tIns="0" lIns="0" bIns="0" rIns="0"/>
            <a:lstStyle/>
            <a:p>
              <a:pPr algn="r">
                <a:lnSpc>
                  <a:spcPts val="2160"/>
                </a:lnSpc>
              </a:pPr>
              <a:r>
                <a:rPr lang="en-US" sz="1800">
                  <a:solidFill>
                    <a:srgbClr val="64748B"/>
                  </a:solidFill>
                  <a:latin typeface="Calibri (MS)"/>
                  <a:ea typeface="Calibri (MS)"/>
                  <a:cs typeface="Calibri (MS)"/>
                  <a:sym typeface="Calibri (MS)"/>
                </a:rPr>
                <a:t>13</a:t>
              </a:r>
            </a:p>
          </p:txBody>
        </p:sp>
      </p:grpSp>
      <p:grpSp>
        <p:nvGrpSpPr>
          <p:cNvPr name="Group 18" id="18"/>
          <p:cNvGrpSpPr/>
          <p:nvPr/>
        </p:nvGrpSpPr>
        <p:grpSpPr>
          <a:xfrm rot="0">
            <a:off x="1005840" y="2468880"/>
            <a:ext cx="7680960" cy="7132320"/>
            <a:chOff x="0" y="0"/>
            <a:chExt cx="10241280" cy="9509760"/>
          </a:xfrm>
        </p:grpSpPr>
        <p:sp>
          <p:nvSpPr>
            <p:cNvPr name="Freeform 19" id="19"/>
            <p:cNvSpPr/>
            <p:nvPr/>
          </p:nvSpPr>
          <p:spPr>
            <a:xfrm flipH="false" flipV="false" rot="0">
              <a:off x="0" y="0"/>
              <a:ext cx="10241280" cy="9509760"/>
            </a:xfrm>
            <a:custGeom>
              <a:avLst/>
              <a:gdLst/>
              <a:ahLst/>
              <a:cxnLst/>
              <a:rect r="r" b="b" t="t" l="l"/>
              <a:pathLst>
                <a:path h="9509760" w="10241280">
                  <a:moveTo>
                    <a:pt x="0" y="292608"/>
                  </a:moveTo>
                  <a:cubicBezTo>
                    <a:pt x="0" y="131064"/>
                    <a:pt x="131064" y="0"/>
                    <a:pt x="292608" y="0"/>
                  </a:cubicBezTo>
                  <a:lnTo>
                    <a:pt x="9948672" y="0"/>
                  </a:lnTo>
                  <a:cubicBezTo>
                    <a:pt x="10110215" y="0"/>
                    <a:pt x="10241280" y="131064"/>
                    <a:pt x="10241280" y="292608"/>
                  </a:cubicBezTo>
                  <a:lnTo>
                    <a:pt x="10241280" y="9217152"/>
                  </a:lnTo>
                  <a:cubicBezTo>
                    <a:pt x="10241280" y="9378697"/>
                    <a:pt x="10110216" y="9509760"/>
                    <a:pt x="9948672" y="9509760"/>
                  </a:cubicBezTo>
                  <a:lnTo>
                    <a:pt x="292608" y="9509760"/>
                  </a:lnTo>
                  <a:cubicBezTo>
                    <a:pt x="131064" y="9509760"/>
                    <a:pt x="0" y="9378696"/>
                    <a:pt x="0" y="9217152"/>
                  </a:cubicBezTo>
                  <a:close/>
                </a:path>
              </a:pathLst>
            </a:custGeom>
            <a:solidFill>
              <a:srgbClr val="EFF6FF"/>
            </a:solidFill>
          </p:spPr>
        </p:sp>
      </p:grpSp>
      <p:grpSp>
        <p:nvGrpSpPr>
          <p:cNvPr name="Group 20" id="20"/>
          <p:cNvGrpSpPr/>
          <p:nvPr/>
        </p:nvGrpSpPr>
        <p:grpSpPr>
          <a:xfrm rot="0">
            <a:off x="1225296" y="2596896"/>
            <a:ext cx="7132320" cy="585216"/>
            <a:chOff x="0" y="0"/>
            <a:chExt cx="9509760" cy="780288"/>
          </a:xfrm>
        </p:grpSpPr>
        <p:sp>
          <p:nvSpPr>
            <p:cNvPr name="Freeform 21" id="21"/>
            <p:cNvSpPr/>
            <p:nvPr/>
          </p:nvSpPr>
          <p:spPr>
            <a:xfrm flipH="false" flipV="false" rot="0">
              <a:off x="0" y="0"/>
              <a:ext cx="9509760" cy="780288"/>
            </a:xfrm>
            <a:custGeom>
              <a:avLst/>
              <a:gdLst/>
              <a:ahLst/>
              <a:cxnLst/>
              <a:rect r="r" b="b" t="t" l="l"/>
              <a:pathLst>
                <a:path h="780288" w="9509760">
                  <a:moveTo>
                    <a:pt x="0" y="0"/>
                  </a:moveTo>
                  <a:lnTo>
                    <a:pt x="9509760" y="0"/>
                  </a:lnTo>
                  <a:lnTo>
                    <a:pt x="9509760" y="780288"/>
                  </a:lnTo>
                  <a:lnTo>
                    <a:pt x="0" y="780288"/>
                  </a:lnTo>
                  <a:close/>
                </a:path>
              </a:pathLst>
            </a:custGeom>
            <a:blipFill>
              <a:blip r:embed="rId3">
                <a:alphaModFix amt="0"/>
              </a:blip>
              <a:stretch>
                <a:fillRect l="0" t="-187473" r="0" b="-187473"/>
              </a:stretch>
            </a:blipFill>
          </p:spPr>
        </p:sp>
        <p:sp>
          <p:nvSpPr>
            <p:cNvPr name="TextBox 22" id="22"/>
            <p:cNvSpPr txBox="true"/>
            <p:nvPr/>
          </p:nvSpPr>
          <p:spPr>
            <a:xfrm>
              <a:off x="0" y="-57150"/>
              <a:ext cx="9509760" cy="837438"/>
            </a:xfrm>
            <a:prstGeom prst="rect">
              <a:avLst/>
            </a:prstGeom>
          </p:spPr>
          <p:txBody>
            <a:bodyPr anchor="ctr" rtlCol="false" tIns="0" lIns="0" bIns="0" rIns="0"/>
            <a:lstStyle/>
            <a:p>
              <a:pPr algn="l">
                <a:lnSpc>
                  <a:spcPts val="3120"/>
                </a:lnSpc>
              </a:pPr>
              <a:r>
                <a:rPr lang="en-US" sz="2600" b="true">
                  <a:solidFill>
                    <a:srgbClr val="1A2744"/>
                  </a:solidFill>
                  <a:latin typeface="Calibri (MS) Bold"/>
                  <a:ea typeface="Calibri (MS) Bold"/>
                  <a:cs typeface="Calibri (MS) Bold"/>
                  <a:sym typeface="Calibri (MS) Bold"/>
                </a:rPr>
                <a:t>What is SWH?</a:t>
              </a:r>
            </a:p>
          </p:txBody>
        </p:sp>
      </p:grpSp>
      <p:grpSp>
        <p:nvGrpSpPr>
          <p:cNvPr name="Group 23" id="23"/>
          <p:cNvGrpSpPr/>
          <p:nvPr/>
        </p:nvGrpSpPr>
        <p:grpSpPr>
          <a:xfrm rot="0">
            <a:off x="1280160" y="3291840"/>
            <a:ext cx="7132320" cy="5852160"/>
            <a:chOff x="0" y="0"/>
            <a:chExt cx="9509760" cy="7802880"/>
          </a:xfrm>
        </p:grpSpPr>
        <p:sp>
          <p:nvSpPr>
            <p:cNvPr name="Freeform 24" id="24"/>
            <p:cNvSpPr/>
            <p:nvPr/>
          </p:nvSpPr>
          <p:spPr>
            <a:xfrm flipH="false" flipV="false" rot="0">
              <a:off x="0" y="0"/>
              <a:ext cx="9509760" cy="7802880"/>
            </a:xfrm>
            <a:custGeom>
              <a:avLst/>
              <a:gdLst/>
              <a:ahLst/>
              <a:cxnLst/>
              <a:rect r="r" b="b" t="t" l="l"/>
              <a:pathLst>
                <a:path h="7802880" w="9509760">
                  <a:moveTo>
                    <a:pt x="0" y="0"/>
                  </a:moveTo>
                  <a:lnTo>
                    <a:pt x="9509760" y="0"/>
                  </a:lnTo>
                  <a:lnTo>
                    <a:pt x="9509760" y="7802880"/>
                  </a:lnTo>
                  <a:lnTo>
                    <a:pt x="0" y="7802880"/>
                  </a:lnTo>
                  <a:close/>
                </a:path>
              </a:pathLst>
            </a:custGeom>
            <a:blipFill>
              <a:blip r:embed="rId3">
                <a:alphaModFix amt="0"/>
              </a:blip>
              <a:stretch>
                <a:fillRect l="-55274" t="0" r="-55274" b="0"/>
              </a:stretch>
            </a:blipFill>
          </p:spPr>
        </p:sp>
        <p:sp>
          <p:nvSpPr>
            <p:cNvPr name="TextBox 25" id="25"/>
            <p:cNvSpPr txBox="true"/>
            <p:nvPr/>
          </p:nvSpPr>
          <p:spPr>
            <a:xfrm>
              <a:off x="0" y="-47625"/>
              <a:ext cx="9509760" cy="7850505"/>
            </a:xfrm>
            <a:prstGeom prst="rect">
              <a:avLst/>
            </a:prstGeom>
          </p:spPr>
          <p:txBody>
            <a:bodyPr anchor="ctr" rtlCol="false" tIns="0" lIns="0" bIns="0" rIns="0"/>
            <a:lstStyle/>
            <a:p>
              <a:pPr algn="l">
                <a:lnSpc>
                  <a:spcPts val="2520"/>
                </a:lnSpc>
              </a:pPr>
              <a:r>
                <a:rPr lang="en-US" sz="2100">
                  <a:solidFill>
                    <a:srgbClr val="334155"/>
                  </a:solidFill>
                  <a:latin typeface="Calibri (MS)"/>
                  <a:ea typeface="Calibri (MS)"/>
                  <a:cs typeface="Calibri (MS)"/>
                  <a:sym typeface="Calibri (MS)"/>
                </a:rPr>
                <a:t>SWH (Significant Wave Height, H_s) = the statistical measure of wave energy in a sea state.</a:t>
              </a:r>
            </a:p>
            <a:p>
              <a:pPr algn="l">
                <a:lnSpc>
                  <a:spcPts val="2520"/>
                </a:lnSpc>
              </a:pPr>
            </a:p>
            <a:p>
              <a:pPr algn="l">
                <a:lnSpc>
                  <a:spcPts val="2520"/>
                </a:lnSpc>
              </a:pPr>
              <a:r>
                <a:rPr lang="en-US" sz="2100">
                  <a:solidFill>
                    <a:srgbClr val="334155"/>
                  </a:solidFill>
                  <a:latin typeface="Calibri (MS)"/>
                  <a:ea typeface="Calibri (MS)"/>
                  <a:cs typeface="Calibri (MS)"/>
                  <a:sym typeface="Calibri (MS)"/>
                </a:rPr>
                <a:t>• Typical Indian Ocean range: 0.5 – 4.0 m</a:t>
              </a:r>
            </a:p>
            <a:p>
              <a:pPr algn="l">
                <a:lnSpc>
                  <a:spcPts val="2520"/>
                </a:lnSpc>
              </a:pPr>
              <a:r>
                <a:rPr lang="en-US" sz="2100">
                  <a:solidFill>
                    <a:srgbClr val="334155"/>
                  </a:solidFill>
                  <a:latin typeface="Calibri (MS)"/>
                  <a:ea typeface="Calibri (MS)"/>
                  <a:cs typeface="Calibri (MS)"/>
                  <a:sym typeface="Calibri (MS)"/>
                </a:rPr>
                <a:t>• SW Monsoon (Jun–Sep): peaks at 2–4 m</a:t>
              </a:r>
            </a:p>
            <a:p>
              <a:pPr algn="l">
                <a:lnSpc>
                  <a:spcPts val="2520"/>
                </a:lnSpc>
              </a:pPr>
              <a:r>
                <a:rPr lang="en-US" sz="2100">
                  <a:solidFill>
                    <a:srgbClr val="334155"/>
                  </a:solidFill>
                  <a:latin typeface="Calibri (MS)"/>
                  <a:ea typeface="Calibri (MS)"/>
                  <a:cs typeface="Calibri (MS)"/>
                  <a:sym typeface="Calibri (MS)"/>
                </a:rPr>
                <a:t>• NE Monsoon (Dec–Feb): 0.5–1.5 m</a:t>
              </a:r>
            </a:p>
            <a:p>
              <a:pPr algn="l">
                <a:lnSpc>
                  <a:spcPts val="2520"/>
                </a:lnSpc>
              </a:pPr>
              <a:r>
                <a:rPr lang="en-US" sz="2100">
                  <a:solidFill>
                    <a:srgbClr val="334155"/>
                  </a:solidFill>
                  <a:latin typeface="Calibri (MS)"/>
                  <a:ea typeface="Calibri (MS)"/>
                  <a:cs typeface="Calibri (MS)"/>
                  <a:sym typeface="Calibri (MS)"/>
                </a:rPr>
                <a:t>• Dominated by the annual monsoon cycle — a strong, regular, large-amplitude forcing</a:t>
              </a:r>
            </a:p>
            <a:p>
              <a:pPr algn="l">
                <a:lnSpc>
                  <a:spcPts val="2520"/>
                </a:lnSpc>
              </a:pPr>
            </a:p>
            <a:p>
              <a:pPr algn="l">
                <a:lnSpc>
                  <a:spcPts val="2520"/>
                </a:lnSpc>
              </a:pPr>
              <a:r>
                <a:rPr lang="en-US" sz="2100">
                  <a:solidFill>
                    <a:srgbClr val="334155"/>
                  </a:solidFill>
                  <a:latin typeface="Calibri (MS)"/>
                  <a:ea typeface="Calibri (MS)"/>
                  <a:cs typeface="Calibri (MS)"/>
                  <a:sym typeface="Calibri (MS)"/>
                </a:rPr>
                <a:t>SWH is the EASIER forecasting variable: 62% of model-location pairs achieve ≥95% PICP (vs 51% for SLA). Even Transformer recovers to 95%+.</a:t>
              </a:r>
            </a:p>
          </p:txBody>
        </p:sp>
      </p:grpSp>
      <p:grpSp>
        <p:nvGrpSpPr>
          <p:cNvPr name="Group 26" id="26"/>
          <p:cNvGrpSpPr/>
          <p:nvPr/>
        </p:nvGrpSpPr>
        <p:grpSpPr>
          <a:xfrm rot="0">
            <a:off x="9418320" y="2468880"/>
            <a:ext cx="7863840" cy="7132320"/>
            <a:chOff x="0" y="0"/>
            <a:chExt cx="10485120" cy="9509760"/>
          </a:xfrm>
        </p:grpSpPr>
        <p:sp>
          <p:nvSpPr>
            <p:cNvPr name="Freeform 27" id="27"/>
            <p:cNvSpPr/>
            <p:nvPr/>
          </p:nvSpPr>
          <p:spPr>
            <a:xfrm flipH="false" flipV="false" rot="0">
              <a:off x="0" y="0"/>
              <a:ext cx="10485120" cy="9509760"/>
            </a:xfrm>
            <a:custGeom>
              <a:avLst/>
              <a:gdLst/>
              <a:ahLst/>
              <a:cxnLst/>
              <a:rect r="r" b="b" t="t" l="l"/>
              <a:pathLst>
                <a:path h="9509760" w="10485120">
                  <a:moveTo>
                    <a:pt x="0" y="292608"/>
                  </a:moveTo>
                  <a:cubicBezTo>
                    <a:pt x="0" y="131064"/>
                    <a:pt x="131064" y="0"/>
                    <a:pt x="292608" y="0"/>
                  </a:cubicBezTo>
                  <a:lnTo>
                    <a:pt x="10192512" y="0"/>
                  </a:lnTo>
                  <a:cubicBezTo>
                    <a:pt x="10354056" y="0"/>
                    <a:pt x="10485120" y="131064"/>
                    <a:pt x="10485120" y="292608"/>
                  </a:cubicBezTo>
                  <a:lnTo>
                    <a:pt x="10485120" y="9217152"/>
                  </a:lnTo>
                  <a:cubicBezTo>
                    <a:pt x="10485120" y="9378697"/>
                    <a:pt x="10354056" y="9509760"/>
                    <a:pt x="10192512" y="9509760"/>
                  </a:cubicBezTo>
                  <a:lnTo>
                    <a:pt x="292608" y="9509760"/>
                  </a:lnTo>
                  <a:cubicBezTo>
                    <a:pt x="131064" y="9509760"/>
                    <a:pt x="0" y="9378696"/>
                    <a:pt x="0" y="9217152"/>
                  </a:cubicBezTo>
                  <a:close/>
                </a:path>
              </a:pathLst>
            </a:custGeom>
            <a:solidFill>
              <a:srgbClr val="EFF6FF"/>
            </a:solidFill>
          </p:spPr>
        </p:sp>
      </p:grpSp>
      <p:grpSp>
        <p:nvGrpSpPr>
          <p:cNvPr name="Group 28" id="28"/>
          <p:cNvGrpSpPr/>
          <p:nvPr/>
        </p:nvGrpSpPr>
        <p:grpSpPr>
          <a:xfrm rot="0">
            <a:off x="9692640" y="2596896"/>
            <a:ext cx="7315200" cy="585216"/>
            <a:chOff x="0" y="0"/>
            <a:chExt cx="9753600" cy="780288"/>
          </a:xfrm>
        </p:grpSpPr>
        <p:sp>
          <p:nvSpPr>
            <p:cNvPr name="Freeform 29" id="29"/>
            <p:cNvSpPr/>
            <p:nvPr/>
          </p:nvSpPr>
          <p:spPr>
            <a:xfrm flipH="false" flipV="false" rot="0">
              <a:off x="0" y="0"/>
              <a:ext cx="9753600" cy="780288"/>
            </a:xfrm>
            <a:custGeom>
              <a:avLst/>
              <a:gdLst/>
              <a:ahLst/>
              <a:cxnLst/>
              <a:rect r="r" b="b" t="t" l="l"/>
              <a:pathLst>
                <a:path h="780288" w="9753600">
                  <a:moveTo>
                    <a:pt x="0" y="0"/>
                  </a:moveTo>
                  <a:lnTo>
                    <a:pt x="9753600" y="0"/>
                  </a:lnTo>
                  <a:lnTo>
                    <a:pt x="9753600" y="780288"/>
                  </a:lnTo>
                  <a:lnTo>
                    <a:pt x="0" y="780288"/>
                  </a:lnTo>
                  <a:close/>
                </a:path>
              </a:pathLst>
            </a:custGeom>
            <a:blipFill>
              <a:blip r:embed="rId3">
                <a:alphaModFix amt="0"/>
              </a:blip>
              <a:stretch>
                <a:fillRect l="0" t="-193562" r="0" b="-193562"/>
              </a:stretch>
            </a:blipFill>
          </p:spPr>
        </p:sp>
        <p:sp>
          <p:nvSpPr>
            <p:cNvPr name="TextBox 30" id="30"/>
            <p:cNvSpPr txBox="true"/>
            <p:nvPr/>
          </p:nvSpPr>
          <p:spPr>
            <a:xfrm>
              <a:off x="0" y="-57150"/>
              <a:ext cx="9753600" cy="837438"/>
            </a:xfrm>
            <a:prstGeom prst="rect">
              <a:avLst/>
            </a:prstGeom>
          </p:spPr>
          <p:txBody>
            <a:bodyPr anchor="ctr" rtlCol="false" tIns="0" lIns="0" bIns="0" rIns="0"/>
            <a:lstStyle/>
            <a:p>
              <a:pPr algn="l">
                <a:lnSpc>
                  <a:spcPts val="3120"/>
                </a:lnSpc>
              </a:pPr>
              <a:r>
                <a:rPr lang="en-US" sz="2600" b="true">
                  <a:solidFill>
                    <a:srgbClr val="1A2744"/>
                  </a:solidFill>
                  <a:latin typeface="Calibri (MS) Bold"/>
                  <a:ea typeface="Calibri (MS) Bold"/>
                  <a:cs typeface="Calibri (MS) Bold"/>
                  <a:sym typeface="Calibri (MS) Bold"/>
                </a:rPr>
                <a:t>Why SWH Prediction Matters</a:t>
              </a:r>
            </a:p>
          </p:txBody>
        </p:sp>
      </p:grpSp>
      <p:grpSp>
        <p:nvGrpSpPr>
          <p:cNvPr name="Group 31" id="31"/>
          <p:cNvGrpSpPr/>
          <p:nvPr/>
        </p:nvGrpSpPr>
        <p:grpSpPr>
          <a:xfrm rot="0">
            <a:off x="9692640" y="3291840"/>
            <a:ext cx="7315200" cy="5852160"/>
            <a:chOff x="0" y="0"/>
            <a:chExt cx="9753600" cy="7802880"/>
          </a:xfrm>
        </p:grpSpPr>
        <p:sp>
          <p:nvSpPr>
            <p:cNvPr name="Freeform 32" id="32"/>
            <p:cNvSpPr/>
            <p:nvPr/>
          </p:nvSpPr>
          <p:spPr>
            <a:xfrm flipH="false" flipV="false" rot="0">
              <a:off x="0" y="0"/>
              <a:ext cx="9753600" cy="7802880"/>
            </a:xfrm>
            <a:custGeom>
              <a:avLst/>
              <a:gdLst/>
              <a:ahLst/>
              <a:cxnLst/>
              <a:rect r="r" b="b" t="t" l="l"/>
              <a:pathLst>
                <a:path h="7802880" w="9753600">
                  <a:moveTo>
                    <a:pt x="0" y="0"/>
                  </a:moveTo>
                  <a:lnTo>
                    <a:pt x="9753600" y="0"/>
                  </a:lnTo>
                  <a:lnTo>
                    <a:pt x="9753600" y="7802880"/>
                  </a:lnTo>
                  <a:lnTo>
                    <a:pt x="0" y="7802880"/>
                  </a:lnTo>
                  <a:close/>
                </a:path>
              </a:pathLst>
            </a:custGeom>
            <a:blipFill>
              <a:blip r:embed="rId3">
                <a:alphaModFix amt="0"/>
              </a:blip>
              <a:stretch>
                <a:fillRect l="-52642" t="0" r="-52642" b="0"/>
              </a:stretch>
            </a:blipFill>
          </p:spPr>
        </p:sp>
        <p:sp>
          <p:nvSpPr>
            <p:cNvPr name="TextBox 33" id="33"/>
            <p:cNvSpPr txBox="true"/>
            <p:nvPr/>
          </p:nvSpPr>
          <p:spPr>
            <a:xfrm>
              <a:off x="0" y="-47625"/>
              <a:ext cx="9753600" cy="7850505"/>
            </a:xfrm>
            <a:prstGeom prst="rect">
              <a:avLst/>
            </a:prstGeom>
          </p:spPr>
          <p:txBody>
            <a:bodyPr anchor="ctr" rtlCol="false" tIns="0" lIns="0" bIns="0" rIns="0"/>
            <a:lstStyle/>
            <a:p>
              <a:pPr algn="l">
                <a:lnSpc>
                  <a:spcPts val="2520"/>
                </a:lnSpc>
              </a:pPr>
              <a:r>
                <a:rPr lang="en-US" sz="2100">
                  <a:solidFill>
                    <a:srgbClr val="334155"/>
                  </a:solidFill>
                  <a:latin typeface="Calibri (MS)"/>
                  <a:ea typeface="Calibri (MS)"/>
                  <a:cs typeface="Calibri (MS)"/>
                  <a:sym typeface="Calibri (MS)"/>
                </a:rPr>
                <a:t>Maritime Safety</a:t>
              </a:r>
            </a:p>
            <a:p>
              <a:pPr algn="l">
                <a:lnSpc>
                  <a:spcPts val="2520"/>
                </a:lnSpc>
              </a:pPr>
              <a:r>
                <a:rPr lang="en-US" sz="2100">
                  <a:solidFill>
                    <a:srgbClr val="334155"/>
                  </a:solidFill>
                  <a:latin typeface="Calibri (MS)"/>
                  <a:ea typeface="Calibri (MS)"/>
                  <a:cs typeface="Calibri (MS)"/>
                  <a:sym typeface="Calibri (MS)"/>
                </a:rPr>
                <a:t>Small fishing boats (&lt;10 m) cannot operate in SWH &gt; 1.5 m. INCOIS issues wave warnings for 4 million Indian fishers.</a:t>
              </a:r>
            </a:p>
            <a:p>
              <a:pPr algn="l">
                <a:lnSpc>
                  <a:spcPts val="2520"/>
                </a:lnSpc>
              </a:pPr>
            </a:p>
            <a:p>
              <a:pPr algn="l">
                <a:lnSpc>
                  <a:spcPts val="2520"/>
                </a:lnSpc>
              </a:pPr>
              <a:r>
                <a:rPr lang="en-US" sz="2100">
                  <a:solidFill>
                    <a:srgbClr val="334155"/>
                  </a:solidFill>
                  <a:latin typeface="Calibri (MS)"/>
                  <a:ea typeface="Calibri (MS)"/>
                  <a:cs typeface="Calibri (MS)"/>
                  <a:sym typeface="Calibri (MS)"/>
                </a:rPr>
                <a:t>Wave Energy</a:t>
              </a:r>
            </a:p>
            <a:p>
              <a:pPr algn="l">
                <a:lnSpc>
                  <a:spcPts val="2520"/>
                </a:lnSpc>
              </a:pPr>
              <a:r>
                <a:rPr lang="en-US" sz="2100">
                  <a:solidFill>
                    <a:srgbClr val="334155"/>
                  </a:solidFill>
                  <a:latin typeface="Calibri (MS)"/>
                  <a:ea typeface="Calibri (MS)"/>
                  <a:cs typeface="Calibri (MS)"/>
                  <a:sym typeface="Calibri (MS)"/>
                </a:rPr>
                <a:t>WEC devices have structural limits (SWH ≤ 3.5 m). Operations scheduled using probabilistic SWH intervals.</a:t>
              </a:r>
            </a:p>
            <a:p>
              <a:pPr algn="l">
                <a:lnSpc>
                  <a:spcPts val="2520"/>
                </a:lnSpc>
              </a:pPr>
            </a:p>
            <a:p>
              <a:pPr algn="l">
                <a:lnSpc>
                  <a:spcPts val="2520"/>
                </a:lnSpc>
              </a:pPr>
              <a:r>
                <a:rPr lang="en-US" sz="2100">
                  <a:solidFill>
                    <a:srgbClr val="334155"/>
                  </a:solidFill>
                  <a:latin typeface="Calibri (MS)"/>
                  <a:ea typeface="Calibri (MS)"/>
                  <a:cs typeface="Calibri (MS)"/>
                  <a:sym typeface="Calibri (MS)"/>
                </a:rPr>
                <a:t>Offshore Wind</a:t>
              </a:r>
            </a:p>
            <a:p>
              <a:pPr algn="l">
                <a:lnSpc>
                  <a:spcPts val="2520"/>
                </a:lnSpc>
              </a:pPr>
              <a:r>
                <a:rPr lang="en-US" sz="2100">
                  <a:solidFill>
                    <a:srgbClr val="334155"/>
                  </a:solidFill>
                  <a:latin typeface="Calibri (MS)"/>
                  <a:ea typeface="Calibri (MS)"/>
                  <a:cs typeface="Calibri (MS)"/>
                  <a:sym typeface="Calibri (MS)"/>
                </a:rPr>
                <a:t>Crew transfer vessels (CTVs) for turbine maintenance operate only in SWH ≤ 1.5 m. 1 cancelled deployment = ₹85,000.</a:t>
              </a:r>
            </a:p>
            <a:p>
              <a:pPr algn="l">
                <a:lnSpc>
                  <a:spcPts val="2520"/>
                </a:lnSpc>
              </a:pPr>
            </a:p>
            <a:p>
              <a:pPr algn="l">
                <a:lnSpc>
                  <a:spcPts val="2520"/>
                </a:lnSpc>
              </a:pPr>
              <a:r>
                <a:rPr lang="en-US" sz="2100">
                  <a:solidFill>
                    <a:srgbClr val="334155"/>
                  </a:solidFill>
                  <a:latin typeface="Calibri (MS)"/>
                  <a:ea typeface="Calibri (MS)"/>
                  <a:cs typeface="Calibri (MS)"/>
                  <a:sym typeface="Calibri (MS)"/>
                </a:rPr>
                <a:t>Shipping Routes</a:t>
              </a:r>
            </a:p>
            <a:p>
              <a:pPr algn="l">
                <a:lnSpc>
                  <a:spcPts val="2520"/>
                </a:lnSpc>
              </a:pPr>
              <a:r>
                <a:rPr lang="en-US" sz="2100">
                  <a:solidFill>
                    <a:srgbClr val="334155"/>
                  </a:solidFill>
                  <a:latin typeface="Calibri (MS)"/>
                  <a:ea typeface="Calibri (MS)"/>
                  <a:cs typeface="Calibri (MS)"/>
                  <a:sym typeface="Calibri (MS)"/>
                </a:rPr>
                <a:t>Bulk carriers slow down 20% in SWH &gt; 3.5 m. Route choice (Great Circle vs detour) saves $52,200/voyage with accurate SWH forecast.</a:t>
              </a:r>
            </a:p>
          </p:txBody>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73152"/>
            <a:chOff x="0" y="0"/>
            <a:chExt cx="24384000" cy="97536"/>
          </a:xfrm>
        </p:grpSpPr>
        <p:sp>
          <p:nvSpPr>
            <p:cNvPr name="Freeform 3" id="3"/>
            <p:cNvSpPr/>
            <p:nvPr/>
          </p:nvSpPr>
          <p:spPr>
            <a:xfrm flipH="false" flipV="false" rot="0">
              <a:off x="0" y="0"/>
              <a:ext cx="24384000" cy="97536"/>
            </a:xfrm>
            <a:custGeom>
              <a:avLst/>
              <a:gdLst/>
              <a:ahLst/>
              <a:cxnLst/>
              <a:rect r="r" b="b" t="t" l="l"/>
              <a:pathLst>
                <a:path h="97536" w="24384000">
                  <a:moveTo>
                    <a:pt x="0" y="0"/>
                  </a:moveTo>
                  <a:lnTo>
                    <a:pt x="24384000" y="0"/>
                  </a:lnTo>
                  <a:lnTo>
                    <a:pt x="24384000" y="97536"/>
                  </a:lnTo>
                  <a:lnTo>
                    <a:pt x="0" y="97536"/>
                  </a:lnTo>
                  <a:close/>
                </a:path>
              </a:pathLst>
            </a:custGeom>
            <a:solidFill>
              <a:srgbClr val="3B82F6"/>
            </a:solidFill>
          </p:spPr>
        </p:sp>
      </p:grpSp>
      <p:grpSp>
        <p:nvGrpSpPr>
          <p:cNvPr name="Group 4" id="4"/>
          <p:cNvGrpSpPr/>
          <p:nvPr/>
        </p:nvGrpSpPr>
        <p:grpSpPr>
          <a:xfrm rot="0">
            <a:off x="1005840" y="585216"/>
            <a:ext cx="2926080" cy="512064"/>
            <a:chOff x="0" y="0"/>
            <a:chExt cx="3901440" cy="682752"/>
          </a:xfrm>
        </p:grpSpPr>
        <p:sp>
          <p:nvSpPr>
            <p:cNvPr name="Freeform 5" id="5"/>
            <p:cNvSpPr/>
            <p:nvPr/>
          </p:nvSpPr>
          <p:spPr>
            <a:xfrm flipH="false" flipV="false" rot="0">
              <a:off x="0" y="0"/>
              <a:ext cx="3901440" cy="682752"/>
            </a:xfrm>
            <a:custGeom>
              <a:avLst/>
              <a:gdLst/>
              <a:ahLst/>
              <a:cxnLst/>
              <a:rect r="r" b="b" t="t" l="l"/>
              <a:pathLst>
                <a:path h="682752" w="3901440">
                  <a:moveTo>
                    <a:pt x="0" y="341376"/>
                  </a:moveTo>
                  <a:cubicBezTo>
                    <a:pt x="0" y="152781"/>
                    <a:pt x="152781" y="0"/>
                    <a:pt x="341376" y="0"/>
                  </a:cubicBezTo>
                  <a:lnTo>
                    <a:pt x="3560064" y="0"/>
                  </a:lnTo>
                  <a:cubicBezTo>
                    <a:pt x="3748659" y="0"/>
                    <a:pt x="3901440" y="152781"/>
                    <a:pt x="3901440" y="341376"/>
                  </a:cubicBezTo>
                  <a:cubicBezTo>
                    <a:pt x="3901440" y="529971"/>
                    <a:pt x="3748659" y="682752"/>
                    <a:pt x="3560064" y="682752"/>
                  </a:cubicBezTo>
                  <a:lnTo>
                    <a:pt x="341376" y="682752"/>
                  </a:lnTo>
                  <a:cubicBezTo>
                    <a:pt x="152781" y="682752"/>
                    <a:pt x="0" y="529971"/>
                    <a:pt x="0" y="341376"/>
                  </a:cubicBezTo>
                  <a:close/>
                </a:path>
              </a:pathLst>
            </a:custGeom>
            <a:solidFill>
              <a:srgbClr val="3B82F6"/>
            </a:solidFill>
          </p:spPr>
        </p:sp>
      </p:grpSp>
      <p:grpSp>
        <p:nvGrpSpPr>
          <p:cNvPr name="Group 6" id="6"/>
          <p:cNvGrpSpPr/>
          <p:nvPr/>
        </p:nvGrpSpPr>
        <p:grpSpPr>
          <a:xfrm rot="0">
            <a:off x="1005840" y="585216"/>
            <a:ext cx="2926080" cy="512064"/>
            <a:chOff x="0" y="0"/>
            <a:chExt cx="3901440" cy="682752"/>
          </a:xfrm>
        </p:grpSpPr>
        <p:sp>
          <p:nvSpPr>
            <p:cNvPr name="Freeform 7" id="7"/>
            <p:cNvSpPr/>
            <p:nvPr/>
          </p:nvSpPr>
          <p:spPr>
            <a:xfrm flipH="false" flipV="false" rot="0">
              <a:off x="0" y="0"/>
              <a:ext cx="3901440" cy="682752"/>
            </a:xfrm>
            <a:custGeom>
              <a:avLst/>
              <a:gdLst/>
              <a:ahLst/>
              <a:cxnLst/>
              <a:rect r="r" b="b" t="t" l="l"/>
              <a:pathLst>
                <a:path h="682752" w="3901440">
                  <a:moveTo>
                    <a:pt x="0" y="0"/>
                  </a:moveTo>
                  <a:lnTo>
                    <a:pt x="3901440" y="0"/>
                  </a:lnTo>
                  <a:lnTo>
                    <a:pt x="3901440" y="682752"/>
                  </a:lnTo>
                  <a:lnTo>
                    <a:pt x="0" y="682752"/>
                  </a:lnTo>
                  <a:close/>
                </a:path>
              </a:pathLst>
            </a:custGeom>
            <a:blipFill>
              <a:blip r:embed="rId3">
                <a:alphaModFix amt="0"/>
              </a:blip>
              <a:stretch>
                <a:fillRect l="0" t="-61343" r="0" b="-61343"/>
              </a:stretch>
            </a:blipFill>
          </p:spPr>
        </p:sp>
        <p:sp>
          <p:nvSpPr>
            <p:cNvPr name="TextBox 8" id="8"/>
            <p:cNvSpPr txBox="true"/>
            <p:nvPr/>
          </p:nvSpPr>
          <p:spPr>
            <a:xfrm>
              <a:off x="0" y="-38100"/>
              <a:ext cx="3901440" cy="72085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SWH RESULTS</a:t>
              </a:r>
            </a:p>
          </p:txBody>
        </p:sp>
      </p:grpSp>
      <p:grpSp>
        <p:nvGrpSpPr>
          <p:cNvPr name="Group 9" id="9"/>
          <p:cNvGrpSpPr/>
          <p:nvPr/>
        </p:nvGrpSpPr>
        <p:grpSpPr>
          <a:xfrm rot="0">
            <a:off x="1005840" y="1060704"/>
            <a:ext cx="16276320" cy="877824"/>
            <a:chOff x="0" y="0"/>
            <a:chExt cx="21701760" cy="1170432"/>
          </a:xfrm>
        </p:grpSpPr>
        <p:sp>
          <p:nvSpPr>
            <p:cNvPr name="Freeform 10" id="10"/>
            <p:cNvSpPr/>
            <p:nvPr/>
          </p:nvSpPr>
          <p:spPr>
            <a:xfrm flipH="false" flipV="false" rot="0">
              <a:off x="0" y="0"/>
              <a:ext cx="21701761" cy="1170432"/>
            </a:xfrm>
            <a:custGeom>
              <a:avLst/>
              <a:gdLst/>
              <a:ahLst/>
              <a:cxnLst/>
              <a:rect r="r" b="b" t="t" l="l"/>
              <a:pathLst>
                <a:path h="1170432" w="21701761">
                  <a:moveTo>
                    <a:pt x="0" y="0"/>
                  </a:moveTo>
                  <a:lnTo>
                    <a:pt x="21701761" y="0"/>
                  </a:lnTo>
                  <a:lnTo>
                    <a:pt x="21701761" y="1170432"/>
                  </a:lnTo>
                  <a:lnTo>
                    <a:pt x="0" y="1170432"/>
                  </a:lnTo>
                  <a:close/>
                </a:path>
              </a:pathLst>
            </a:custGeom>
            <a:blipFill>
              <a:blip r:embed="rId3">
                <a:alphaModFix amt="0"/>
              </a:blip>
              <a:stretch>
                <a:fillRect l="0" t="-311285" r="0" b="-311285"/>
              </a:stretch>
            </a:blipFill>
          </p:spPr>
        </p:sp>
        <p:sp>
          <p:nvSpPr>
            <p:cNvPr name="TextBox 11" id="11"/>
            <p:cNvSpPr txBox="true"/>
            <p:nvPr/>
          </p:nvSpPr>
          <p:spPr>
            <a:xfrm>
              <a:off x="0" y="-76200"/>
              <a:ext cx="21701760" cy="1246632"/>
            </a:xfrm>
            <a:prstGeom prst="rect">
              <a:avLst/>
            </a:prstGeom>
          </p:spPr>
          <p:txBody>
            <a:bodyPr anchor="ctr" rtlCol="false" tIns="0" lIns="0" bIns="0" rIns="0"/>
            <a:lstStyle/>
            <a:p>
              <a:pPr algn="l">
                <a:lnSpc>
                  <a:spcPts val="5280"/>
                </a:lnSpc>
              </a:pPr>
              <a:r>
                <a:rPr lang="en-US" sz="4400" b="true">
                  <a:solidFill>
                    <a:srgbClr val="1A2744"/>
                  </a:solidFill>
                  <a:latin typeface="Calibri (MS) Bold"/>
                  <a:ea typeface="Calibri (MS) Bold"/>
                  <a:cs typeface="Calibri (MS) Bold"/>
                  <a:sym typeface="Calibri (MS) Bold"/>
                </a:rPr>
                <a:t>SWH Prediction Intervals: Architecture Recovery</a:t>
              </a:r>
            </a:p>
          </p:txBody>
        </p:sp>
      </p:grpSp>
      <p:grpSp>
        <p:nvGrpSpPr>
          <p:cNvPr name="Group 12" id="12"/>
          <p:cNvGrpSpPr/>
          <p:nvPr/>
        </p:nvGrpSpPr>
        <p:grpSpPr>
          <a:xfrm rot="0">
            <a:off x="17190720" y="9646920"/>
            <a:ext cx="731520" cy="457200"/>
            <a:chOff x="0" y="0"/>
            <a:chExt cx="975360" cy="609600"/>
          </a:xfrm>
        </p:grpSpPr>
        <p:sp>
          <p:nvSpPr>
            <p:cNvPr name="Freeform 13" id="13"/>
            <p:cNvSpPr/>
            <p:nvPr/>
          </p:nvSpPr>
          <p:spPr>
            <a:xfrm flipH="false" flipV="false" rot="0">
              <a:off x="0" y="0"/>
              <a:ext cx="975360" cy="609600"/>
            </a:xfrm>
            <a:custGeom>
              <a:avLst/>
              <a:gdLst/>
              <a:ahLst/>
              <a:cxnLst/>
              <a:rect r="r" b="b" t="t" l="l"/>
              <a:pathLst>
                <a:path h="609600" w="975360">
                  <a:moveTo>
                    <a:pt x="0" y="0"/>
                  </a:moveTo>
                  <a:lnTo>
                    <a:pt x="975360" y="0"/>
                  </a:lnTo>
                  <a:lnTo>
                    <a:pt x="975360" y="609600"/>
                  </a:lnTo>
                  <a:lnTo>
                    <a:pt x="0" y="609600"/>
                  </a:lnTo>
                  <a:close/>
                </a:path>
              </a:pathLst>
            </a:custGeom>
            <a:blipFill>
              <a:blip r:embed="rId3">
                <a:alphaModFix amt="0"/>
              </a:blip>
              <a:stretch>
                <a:fillRect l="-30189" t="0" r="-30189" b="0"/>
              </a:stretch>
            </a:blipFill>
          </p:spPr>
        </p:sp>
        <p:sp>
          <p:nvSpPr>
            <p:cNvPr name="TextBox 14" id="14"/>
            <p:cNvSpPr txBox="true"/>
            <p:nvPr/>
          </p:nvSpPr>
          <p:spPr>
            <a:xfrm>
              <a:off x="0" y="-38100"/>
              <a:ext cx="975360" cy="647700"/>
            </a:xfrm>
            <a:prstGeom prst="rect">
              <a:avLst/>
            </a:prstGeom>
          </p:spPr>
          <p:txBody>
            <a:bodyPr anchor="ctr" rtlCol="false" tIns="0" lIns="0" bIns="0" rIns="0"/>
            <a:lstStyle/>
            <a:p>
              <a:pPr algn="r">
                <a:lnSpc>
                  <a:spcPts val="2160"/>
                </a:lnSpc>
              </a:pPr>
              <a:r>
                <a:rPr lang="en-US" sz="1800">
                  <a:solidFill>
                    <a:srgbClr val="64748B"/>
                  </a:solidFill>
                  <a:latin typeface="Calibri (MS)"/>
                  <a:ea typeface="Calibri (MS)"/>
                  <a:cs typeface="Calibri (MS)"/>
                  <a:sym typeface="Calibri (MS)"/>
                </a:rPr>
                <a:t>14</a:t>
              </a:r>
            </a:p>
          </p:txBody>
        </p:sp>
      </p:grpSp>
      <p:grpSp>
        <p:nvGrpSpPr>
          <p:cNvPr name="Group 15" id="15"/>
          <p:cNvGrpSpPr/>
          <p:nvPr/>
        </p:nvGrpSpPr>
        <p:grpSpPr>
          <a:xfrm rot="0">
            <a:off x="1005840" y="7680960"/>
            <a:ext cx="16276320" cy="2011680"/>
            <a:chOff x="0" y="0"/>
            <a:chExt cx="21701760" cy="2682240"/>
          </a:xfrm>
        </p:grpSpPr>
        <p:sp>
          <p:nvSpPr>
            <p:cNvPr name="Freeform 16" id="16"/>
            <p:cNvSpPr/>
            <p:nvPr/>
          </p:nvSpPr>
          <p:spPr>
            <a:xfrm flipH="false" flipV="false" rot="0">
              <a:off x="0" y="0"/>
              <a:ext cx="21701761" cy="2682240"/>
            </a:xfrm>
            <a:custGeom>
              <a:avLst/>
              <a:gdLst/>
              <a:ahLst/>
              <a:cxnLst/>
              <a:rect r="r" b="b" t="t" l="l"/>
              <a:pathLst>
                <a:path h="2682240" w="21701761">
                  <a:moveTo>
                    <a:pt x="0" y="292608"/>
                  </a:moveTo>
                  <a:cubicBezTo>
                    <a:pt x="0" y="131064"/>
                    <a:pt x="131064" y="0"/>
                    <a:pt x="292608" y="0"/>
                  </a:cubicBezTo>
                  <a:lnTo>
                    <a:pt x="21409152" y="0"/>
                  </a:lnTo>
                  <a:cubicBezTo>
                    <a:pt x="21570696" y="0"/>
                    <a:pt x="21701761" y="131064"/>
                    <a:pt x="21701761" y="292608"/>
                  </a:cubicBezTo>
                  <a:lnTo>
                    <a:pt x="21701761" y="2389632"/>
                  </a:lnTo>
                  <a:cubicBezTo>
                    <a:pt x="21701761" y="2551176"/>
                    <a:pt x="21570696" y="2682240"/>
                    <a:pt x="21409152" y="2682240"/>
                  </a:cubicBezTo>
                  <a:lnTo>
                    <a:pt x="292608" y="2682240"/>
                  </a:lnTo>
                  <a:cubicBezTo>
                    <a:pt x="131064" y="2682240"/>
                    <a:pt x="0" y="2551176"/>
                    <a:pt x="0" y="2389632"/>
                  </a:cubicBezTo>
                  <a:close/>
                </a:path>
              </a:pathLst>
            </a:custGeom>
            <a:solidFill>
              <a:srgbClr val="DBEAFE"/>
            </a:solidFill>
          </p:spPr>
        </p:sp>
      </p:grpSp>
      <p:grpSp>
        <p:nvGrpSpPr>
          <p:cNvPr name="Group 17" id="17"/>
          <p:cNvGrpSpPr/>
          <p:nvPr/>
        </p:nvGrpSpPr>
        <p:grpSpPr>
          <a:xfrm rot="0">
            <a:off x="1225296" y="7827264"/>
            <a:ext cx="15837408" cy="1682496"/>
            <a:chOff x="0" y="0"/>
            <a:chExt cx="21116544" cy="2243328"/>
          </a:xfrm>
        </p:grpSpPr>
        <p:sp>
          <p:nvSpPr>
            <p:cNvPr name="Freeform 18" id="18"/>
            <p:cNvSpPr/>
            <p:nvPr/>
          </p:nvSpPr>
          <p:spPr>
            <a:xfrm flipH="false" flipV="false" rot="0">
              <a:off x="0" y="0"/>
              <a:ext cx="21116544" cy="2243328"/>
            </a:xfrm>
            <a:custGeom>
              <a:avLst/>
              <a:gdLst/>
              <a:ahLst/>
              <a:cxnLst/>
              <a:rect r="r" b="b" t="t" l="l"/>
              <a:pathLst>
                <a:path h="2243328" w="21116544">
                  <a:moveTo>
                    <a:pt x="0" y="0"/>
                  </a:moveTo>
                  <a:lnTo>
                    <a:pt x="21116544" y="0"/>
                  </a:lnTo>
                  <a:lnTo>
                    <a:pt x="21116544" y="2243328"/>
                  </a:lnTo>
                  <a:lnTo>
                    <a:pt x="0" y="2243328"/>
                  </a:lnTo>
                  <a:close/>
                </a:path>
              </a:pathLst>
            </a:custGeom>
            <a:blipFill>
              <a:blip r:embed="rId3">
                <a:alphaModFix amt="0"/>
              </a:blip>
              <a:stretch>
                <a:fillRect l="0" t="-133413" r="0" b="-133413"/>
              </a:stretch>
            </a:blipFill>
          </p:spPr>
        </p:sp>
        <p:sp>
          <p:nvSpPr>
            <p:cNvPr name="TextBox 19" id="19"/>
            <p:cNvSpPr txBox="true"/>
            <p:nvPr/>
          </p:nvSpPr>
          <p:spPr>
            <a:xfrm>
              <a:off x="0" y="-47625"/>
              <a:ext cx="21116544" cy="2290953"/>
            </a:xfrm>
            <a:prstGeom prst="rect">
              <a:avLst/>
            </a:prstGeom>
          </p:spPr>
          <p:txBody>
            <a:bodyPr anchor="ctr" rtlCol="false" tIns="0" lIns="0" bIns="0" rIns="0"/>
            <a:lstStyle/>
            <a:p>
              <a:pPr algn="l">
                <a:lnSpc>
                  <a:spcPts val="2640"/>
                </a:lnSpc>
              </a:pPr>
              <a:r>
                <a:rPr lang="en-US" sz="2200" b="true">
                  <a:solidFill>
                    <a:srgbClr val="1A2744"/>
                  </a:solidFill>
                  <a:latin typeface="Calibri (MS) Bold"/>
                  <a:ea typeface="Calibri (MS) Bold"/>
                  <a:cs typeface="Calibri (MS) Bold"/>
                  <a:sym typeface="Calibri (MS) Bold"/>
                </a:rPr>
                <a:t>Key Insight: </a:t>
              </a:r>
              <a:r>
                <a:rPr lang="en-US" sz="2200">
                  <a:solidFill>
                    <a:srgbClr val="334155"/>
                  </a:solidFill>
                  <a:latin typeface="Calibri (MS)"/>
                  <a:ea typeface="Calibri (MS)"/>
                  <a:cs typeface="Calibri (MS)"/>
                  <a:sym typeface="Calibri (MS)"/>
                </a:rPr>
                <a:t>Same Transformer architecture: 46.6% PICP on SLA → 95.5% on SWH. This architecture-variable interaction is the central finding. SWH MPIW is 29-77× larger than SLA — not a model failure, just the physical scale of wave height vs sea level anomaly.</a:t>
              </a:r>
            </a:p>
          </p:txBody>
        </p:sp>
      </p:grpSp>
      <p:sp>
        <p:nvSpPr>
          <p:cNvPr name="Freeform 20" id="20"/>
          <p:cNvSpPr/>
          <p:nvPr/>
        </p:nvSpPr>
        <p:spPr>
          <a:xfrm flipH="false" flipV="false" rot="0">
            <a:off x="399174" y="2254552"/>
            <a:ext cx="8410133" cy="4762238"/>
          </a:xfrm>
          <a:custGeom>
            <a:avLst/>
            <a:gdLst/>
            <a:ahLst/>
            <a:cxnLst/>
            <a:rect r="r" b="b" t="t" l="l"/>
            <a:pathLst>
              <a:path h="4762238" w="8410133">
                <a:moveTo>
                  <a:pt x="0" y="0"/>
                </a:moveTo>
                <a:lnTo>
                  <a:pt x="8410133" y="0"/>
                </a:lnTo>
                <a:lnTo>
                  <a:pt x="8410133" y="4762238"/>
                </a:lnTo>
                <a:lnTo>
                  <a:pt x="0" y="4762238"/>
                </a:lnTo>
                <a:lnTo>
                  <a:pt x="0" y="0"/>
                </a:lnTo>
                <a:close/>
              </a:path>
            </a:pathLst>
          </a:custGeom>
          <a:blipFill>
            <a:blip r:embed="rId4"/>
            <a:stretch>
              <a:fillRect l="0" t="0" r="0" b="0"/>
            </a:stretch>
          </a:blipFill>
        </p:spPr>
      </p:sp>
      <p:sp>
        <p:nvSpPr>
          <p:cNvPr name="Freeform 21" id="21"/>
          <p:cNvSpPr/>
          <p:nvPr/>
        </p:nvSpPr>
        <p:spPr>
          <a:xfrm flipH="false" flipV="false" rot="0">
            <a:off x="9144000" y="2254552"/>
            <a:ext cx="8551917" cy="4842523"/>
          </a:xfrm>
          <a:custGeom>
            <a:avLst/>
            <a:gdLst/>
            <a:ahLst/>
            <a:cxnLst/>
            <a:rect r="r" b="b" t="t" l="l"/>
            <a:pathLst>
              <a:path h="4842523" w="8551917">
                <a:moveTo>
                  <a:pt x="0" y="0"/>
                </a:moveTo>
                <a:lnTo>
                  <a:pt x="8551917" y="0"/>
                </a:lnTo>
                <a:lnTo>
                  <a:pt x="8551917" y="4842523"/>
                </a:lnTo>
                <a:lnTo>
                  <a:pt x="0" y="4842523"/>
                </a:lnTo>
                <a:lnTo>
                  <a:pt x="0" y="0"/>
                </a:lnTo>
                <a:close/>
              </a:path>
            </a:pathLst>
          </a:custGeom>
          <a:blipFill>
            <a:blip r:embed="rId5"/>
            <a:stretch>
              <a:fillRect l="0" t="0" r="0" b="0"/>
            </a:stretch>
          </a:blipFill>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73152"/>
            <a:chOff x="0" y="0"/>
            <a:chExt cx="24384000" cy="97536"/>
          </a:xfrm>
        </p:grpSpPr>
        <p:sp>
          <p:nvSpPr>
            <p:cNvPr name="Freeform 3" id="3"/>
            <p:cNvSpPr/>
            <p:nvPr/>
          </p:nvSpPr>
          <p:spPr>
            <a:xfrm flipH="false" flipV="false" rot="0">
              <a:off x="0" y="0"/>
              <a:ext cx="24384000" cy="97536"/>
            </a:xfrm>
            <a:custGeom>
              <a:avLst/>
              <a:gdLst/>
              <a:ahLst/>
              <a:cxnLst/>
              <a:rect r="r" b="b" t="t" l="l"/>
              <a:pathLst>
                <a:path h="97536" w="24384000">
                  <a:moveTo>
                    <a:pt x="0" y="0"/>
                  </a:moveTo>
                  <a:lnTo>
                    <a:pt x="24384000" y="0"/>
                  </a:lnTo>
                  <a:lnTo>
                    <a:pt x="24384000" y="97536"/>
                  </a:lnTo>
                  <a:lnTo>
                    <a:pt x="0" y="97536"/>
                  </a:lnTo>
                  <a:close/>
                </a:path>
              </a:pathLst>
            </a:custGeom>
            <a:solidFill>
              <a:srgbClr val="3B82F6"/>
            </a:solidFill>
          </p:spPr>
        </p:sp>
      </p:grpSp>
      <p:grpSp>
        <p:nvGrpSpPr>
          <p:cNvPr name="Group 4" id="4"/>
          <p:cNvGrpSpPr/>
          <p:nvPr/>
        </p:nvGrpSpPr>
        <p:grpSpPr>
          <a:xfrm rot="0">
            <a:off x="1005840" y="585216"/>
            <a:ext cx="2926080" cy="512064"/>
            <a:chOff x="0" y="0"/>
            <a:chExt cx="3901440" cy="682752"/>
          </a:xfrm>
        </p:grpSpPr>
        <p:sp>
          <p:nvSpPr>
            <p:cNvPr name="Freeform 5" id="5"/>
            <p:cNvSpPr/>
            <p:nvPr/>
          </p:nvSpPr>
          <p:spPr>
            <a:xfrm flipH="false" flipV="false" rot="0">
              <a:off x="0" y="0"/>
              <a:ext cx="3901440" cy="682752"/>
            </a:xfrm>
            <a:custGeom>
              <a:avLst/>
              <a:gdLst/>
              <a:ahLst/>
              <a:cxnLst/>
              <a:rect r="r" b="b" t="t" l="l"/>
              <a:pathLst>
                <a:path h="682752" w="3901440">
                  <a:moveTo>
                    <a:pt x="0" y="341376"/>
                  </a:moveTo>
                  <a:cubicBezTo>
                    <a:pt x="0" y="152781"/>
                    <a:pt x="152781" y="0"/>
                    <a:pt x="341376" y="0"/>
                  </a:cubicBezTo>
                  <a:lnTo>
                    <a:pt x="3560064" y="0"/>
                  </a:lnTo>
                  <a:cubicBezTo>
                    <a:pt x="3748659" y="0"/>
                    <a:pt x="3901440" y="152781"/>
                    <a:pt x="3901440" y="341376"/>
                  </a:cubicBezTo>
                  <a:cubicBezTo>
                    <a:pt x="3901440" y="529971"/>
                    <a:pt x="3748659" y="682752"/>
                    <a:pt x="3560064" y="682752"/>
                  </a:cubicBezTo>
                  <a:lnTo>
                    <a:pt x="341376" y="682752"/>
                  </a:lnTo>
                  <a:cubicBezTo>
                    <a:pt x="152781" y="682752"/>
                    <a:pt x="0" y="529971"/>
                    <a:pt x="0" y="341376"/>
                  </a:cubicBezTo>
                  <a:close/>
                </a:path>
              </a:pathLst>
            </a:custGeom>
            <a:solidFill>
              <a:srgbClr val="3B82F6"/>
            </a:solidFill>
          </p:spPr>
        </p:sp>
      </p:grpSp>
      <p:grpSp>
        <p:nvGrpSpPr>
          <p:cNvPr name="Group 6" id="6"/>
          <p:cNvGrpSpPr/>
          <p:nvPr/>
        </p:nvGrpSpPr>
        <p:grpSpPr>
          <a:xfrm rot="0">
            <a:off x="1005840" y="585216"/>
            <a:ext cx="2926080" cy="512064"/>
            <a:chOff x="0" y="0"/>
            <a:chExt cx="3901440" cy="682752"/>
          </a:xfrm>
        </p:grpSpPr>
        <p:sp>
          <p:nvSpPr>
            <p:cNvPr name="Freeform 7" id="7"/>
            <p:cNvSpPr/>
            <p:nvPr/>
          </p:nvSpPr>
          <p:spPr>
            <a:xfrm flipH="false" flipV="false" rot="0">
              <a:off x="0" y="0"/>
              <a:ext cx="3901440" cy="682752"/>
            </a:xfrm>
            <a:custGeom>
              <a:avLst/>
              <a:gdLst/>
              <a:ahLst/>
              <a:cxnLst/>
              <a:rect r="r" b="b" t="t" l="l"/>
              <a:pathLst>
                <a:path h="682752" w="3901440">
                  <a:moveTo>
                    <a:pt x="0" y="0"/>
                  </a:moveTo>
                  <a:lnTo>
                    <a:pt x="3901440" y="0"/>
                  </a:lnTo>
                  <a:lnTo>
                    <a:pt x="3901440" y="682752"/>
                  </a:lnTo>
                  <a:lnTo>
                    <a:pt x="0" y="682752"/>
                  </a:lnTo>
                  <a:close/>
                </a:path>
              </a:pathLst>
            </a:custGeom>
            <a:blipFill>
              <a:blip r:embed="rId3">
                <a:alphaModFix amt="0"/>
              </a:blip>
              <a:stretch>
                <a:fillRect l="0" t="-61343" r="0" b="-61343"/>
              </a:stretch>
            </a:blipFill>
          </p:spPr>
        </p:sp>
        <p:sp>
          <p:nvSpPr>
            <p:cNvPr name="TextBox 8" id="8"/>
            <p:cNvSpPr txBox="true"/>
            <p:nvPr/>
          </p:nvSpPr>
          <p:spPr>
            <a:xfrm>
              <a:off x="0" y="-38100"/>
              <a:ext cx="3901440" cy="72085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SWH RESULTS</a:t>
              </a:r>
            </a:p>
          </p:txBody>
        </p:sp>
      </p:grpSp>
      <p:grpSp>
        <p:nvGrpSpPr>
          <p:cNvPr name="Group 9" id="9"/>
          <p:cNvGrpSpPr/>
          <p:nvPr/>
        </p:nvGrpSpPr>
        <p:grpSpPr>
          <a:xfrm rot="0">
            <a:off x="1005840" y="1060704"/>
            <a:ext cx="16276320" cy="1550417"/>
            <a:chOff x="0" y="0"/>
            <a:chExt cx="21701760" cy="2067223"/>
          </a:xfrm>
        </p:grpSpPr>
        <p:sp>
          <p:nvSpPr>
            <p:cNvPr name="Freeform 10" id="10"/>
            <p:cNvSpPr/>
            <p:nvPr/>
          </p:nvSpPr>
          <p:spPr>
            <a:xfrm flipH="false" flipV="false" rot="0">
              <a:off x="0" y="0"/>
              <a:ext cx="21701761" cy="2067223"/>
            </a:xfrm>
            <a:custGeom>
              <a:avLst/>
              <a:gdLst/>
              <a:ahLst/>
              <a:cxnLst/>
              <a:rect r="r" b="b" t="t" l="l"/>
              <a:pathLst>
                <a:path h="2067223" w="21701761">
                  <a:moveTo>
                    <a:pt x="0" y="0"/>
                  </a:moveTo>
                  <a:lnTo>
                    <a:pt x="21701761" y="0"/>
                  </a:lnTo>
                  <a:lnTo>
                    <a:pt x="21701761" y="2067223"/>
                  </a:lnTo>
                  <a:lnTo>
                    <a:pt x="0" y="2067223"/>
                  </a:lnTo>
                  <a:close/>
                </a:path>
              </a:pathLst>
            </a:custGeom>
            <a:blipFill>
              <a:blip r:embed="rId3">
                <a:alphaModFix amt="0"/>
              </a:blip>
              <a:stretch>
                <a:fillRect l="0" t="-176245" r="0" b="-132863"/>
              </a:stretch>
            </a:blipFill>
          </p:spPr>
        </p:sp>
        <p:sp>
          <p:nvSpPr>
            <p:cNvPr name="TextBox 11" id="11"/>
            <p:cNvSpPr txBox="true"/>
            <p:nvPr/>
          </p:nvSpPr>
          <p:spPr>
            <a:xfrm>
              <a:off x="0" y="-76200"/>
              <a:ext cx="21701760" cy="2143423"/>
            </a:xfrm>
            <a:prstGeom prst="rect">
              <a:avLst/>
            </a:prstGeom>
          </p:spPr>
          <p:txBody>
            <a:bodyPr anchor="ctr" rtlCol="false" tIns="0" lIns="0" bIns="0" rIns="0"/>
            <a:lstStyle/>
            <a:p>
              <a:pPr algn="l">
                <a:lnSpc>
                  <a:spcPts val="5280"/>
                </a:lnSpc>
              </a:pPr>
              <a:r>
                <a:rPr lang="en-US" sz="4400" b="true">
                  <a:solidFill>
                    <a:srgbClr val="1A2744"/>
                  </a:solidFill>
                  <a:latin typeface="Calibri (MS) Bold"/>
                  <a:ea typeface="Calibri (MS) Bold"/>
                  <a:cs typeface="Calibri (MS) Bold"/>
                  <a:sym typeface="Calibri (MS) Bold"/>
                </a:rPr>
                <a:t>Complete </a:t>
              </a:r>
              <a:r>
                <a:rPr lang="en-US" sz="4400" b="true">
                  <a:solidFill>
                    <a:srgbClr val="1A2744"/>
                  </a:solidFill>
                  <a:latin typeface="Calibri (MS) Bold"/>
                  <a:ea typeface="Calibri (MS) Bold"/>
                  <a:cs typeface="Calibri (MS) Bold"/>
                  <a:sym typeface="Calibri (MS) Bold"/>
                </a:rPr>
                <a:t>SWH evaluation metrics across all five Indian Ocean locations.</a:t>
              </a:r>
            </a:p>
          </p:txBody>
        </p:sp>
      </p:grpSp>
      <p:grpSp>
        <p:nvGrpSpPr>
          <p:cNvPr name="Group 12" id="12"/>
          <p:cNvGrpSpPr/>
          <p:nvPr/>
        </p:nvGrpSpPr>
        <p:grpSpPr>
          <a:xfrm rot="0">
            <a:off x="17190720" y="9646920"/>
            <a:ext cx="731520" cy="457200"/>
            <a:chOff x="0" y="0"/>
            <a:chExt cx="975360" cy="609600"/>
          </a:xfrm>
        </p:grpSpPr>
        <p:sp>
          <p:nvSpPr>
            <p:cNvPr name="Freeform 13" id="13"/>
            <p:cNvSpPr/>
            <p:nvPr/>
          </p:nvSpPr>
          <p:spPr>
            <a:xfrm flipH="false" flipV="false" rot="0">
              <a:off x="0" y="0"/>
              <a:ext cx="975360" cy="609600"/>
            </a:xfrm>
            <a:custGeom>
              <a:avLst/>
              <a:gdLst/>
              <a:ahLst/>
              <a:cxnLst/>
              <a:rect r="r" b="b" t="t" l="l"/>
              <a:pathLst>
                <a:path h="609600" w="975360">
                  <a:moveTo>
                    <a:pt x="0" y="0"/>
                  </a:moveTo>
                  <a:lnTo>
                    <a:pt x="975360" y="0"/>
                  </a:lnTo>
                  <a:lnTo>
                    <a:pt x="975360" y="609600"/>
                  </a:lnTo>
                  <a:lnTo>
                    <a:pt x="0" y="609600"/>
                  </a:lnTo>
                  <a:close/>
                </a:path>
              </a:pathLst>
            </a:custGeom>
            <a:blipFill>
              <a:blip r:embed="rId3">
                <a:alphaModFix amt="0"/>
              </a:blip>
              <a:stretch>
                <a:fillRect l="-30189" t="0" r="-30189" b="0"/>
              </a:stretch>
            </a:blipFill>
          </p:spPr>
        </p:sp>
        <p:sp>
          <p:nvSpPr>
            <p:cNvPr name="TextBox 14" id="14"/>
            <p:cNvSpPr txBox="true"/>
            <p:nvPr/>
          </p:nvSpPr>
          <p:spPr>
            <a:xfrm>
              <a:off x="0" y="-38100"/>
              <a:ext cx="975360" cy="647700"/>
            </a:xfrm>
            <a:prstGeom prst="rect">
              <a:avLst/>
            </a:prstGeom>
          </p:spPr>
          <p:txBody>
            <a:bodyPr anchor="ctr" rtlCol="false" tIns="0" lIns="0" bIns="0" rIns="0"/>
            <a:lstStyle/>
            <a:p>
              <a:pPr algn="r">
                <a:lnSpc>
                  <a:spcPts val="2160"/>
                </a:lnSpc>
              </a:pPr>
              <a:r>
                <a:rPr lang="en-US" sz="1800">
                  <a:solidFill>
                    <a:srgbClr val="64748B"/>
                  </a:solidFill>
                  <a:latin typeface="Calibri (MS)"/>
                  <a:ea typeface="Calibri (MS)"/>
                  <a:cs typeface="Calibri (MS)"/>
                  <a:sym typeface="Calibri (MS)"/>
                </a:rPr>
                <a:t>14</a:t>
              </a:r>
            </a:p>
          </p:txBody>
        </p:sp>
      </p:grpSp>
      <p:sp>
        <p:nvSpPr>
          <p:cNvPr name="Freeform 15" id="15"/>
          <p:cNvSpPr/>
          <p:nvPr/>
        </p:nvSpPr>
        <p:spPr>
          <a:xfrm flipH="false" flipV="false" rot="0">
            <a:off x="1136408" y="2611121"/>
            <a:ext cx="7209244" cy="7136239"/>
          </a:xfrm>
          <a:custGeom>
            <a:avLst/>
            <a:gdLst/>
            <a:ahLst/>
            <a:cxnLst/>
            <a:rect r="r" b="b" t="t" l="l"/>
            <a:pathLst>
              <a:path h="7136239" w="7209244">
                <a:moveTo>
                  <a:pt x="0" y="0"/>
                </a:moveTo>
                <a:lnTo>
                  <a:pt x="7209243" y="0"/>
                </a:lnTo>
                <a:lnTo>
                  <a:pt x="7209243" y="7136239"/>
                </a:lnTo>
                <a:lnTo>
                  <a:pt x="0" y="7136239"/>
                </a:lnTo>
                <a:lnTo>
                  <a:pt x="0" y="0"/>
                </a:lnTo>
                <a:close/>
              </a:path>
            </a:pathLst>
          </a:custGeom>
          <a:blipFill>
            <a:blip r:embed="rId4"/>
            <a:stretch>
              <a:fillRect l="0" t="0" r="0" b="0"/>
            </a:stretch>
          </a:blipFill>
        </p:spPr>
      </p:sp>
      <p:sp>
        <p:nvSpPr>
          <p:cNvPr name="Freeform 16" id="16"/>
          <p:cNvSpPr/>
          <p:nvPr/>
        </p:nvSpPr>
        <p:spPr>
          <a:xfrm flipH="false" flipV="false" rot="0">
            <a:off x="8994191" y="2611121"/>
            <a:ext cx="8196529" cy="5286761"/>
          </a:xfrm>
          <a:custGeom>
            <a:avLst/>
            <a:gdLst/>
            <a:ahLst/>
            <a:cxnLst/>
            <a:rect r="r" b="b" t="t" l="l"/>
            <a:pathLst>
              <a:path h="5286761" w="8196529">
                <a:moveTo>
                  <a:pt x="0" y="0"/>
                </a:moveTo>
                <a:lnTo>
                  <a:pt x="8196529" y="0"/>
                </a:lnTo>
                <a:lnTo>
                  <a:pt x="8196529" y="5286761"/>
                </a:lnTo>
                <a:lnTo>
                  <a:pt x="0" y="5286761"/>
                </a:lnTo>
                <a:lnTo>
                  <a:pt x="0" y="0"/>
                </a:lnTo>
                <a:close/>
              </a:path>
            </a:pathLst>
          </a:custGeom>
          <a:blipFill>
            <a:blip r:embed="rId5"/>
            <a:stretch>
              <a:fillRect l="0" t="0" r="0" b="0"/>
            </a:stretch>
          </a:blipFill>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9222" r="0" b="-9222"/>
            </a:stretch>
          </a:blipFill>
        </p:spPr>
      </p:sp>
      <p:grpSp>
        <p:nvGrpSpPr>
          <p:cNvPr name="Group 3" id="3"/>
          <p:cNvGrpSpPr/>
          <p:nvPr/>
        </p:nvGrpSpPr>
        <p:grpSpPr>
          <a:xfrm rot="0">
            <a:off x="0" y="0"/>
            <a:ext cx="18288000" cy="73152"/>
            <a:chOff x="0" y="0"/>
            <a:chExt cx="24384000" cy="97536"/>
          </a:xfrm>
        </p:grpSpPr>
        <p:sp>
          <p:nvSpPr>
            <p:cNvPr name="Freeform 4" id="4"/>
            <p:cNvSpPr/>
            <p:nvPr/>
          </p:nvSpPr>
          <p:spPr>
            <a:xfrm flipH="false" flipV="false" rot="0">
              <a:off x="0" y="0"/>
              <a:ext cx="24384000" cy="97536"/>
            </a:xfrm>
            <a:custGeom>
              <a:avLst/>
              <a:gdLst/>
              <a:ahLst/>
              <a:cxnLst/>
              <a:rect r="r" b="b" t="t" l="l"/>
              <a:pathLst>
                <a:path h="97536" w="24384000">
                  <a:moveTo>
                    <a:pt x="0" y="0"/>
                  </a:moveTo>
                  <a:lnTo>
                    <a:pt x="24384000" y="0"/>
                  </a:lnTo>
                  <a:lnTo>
                    <a:pt x="24384000" y="97536"/>
                  </a:lnTo>
                  <a:lnTo>
                    <a:pt x="0" y="97536"/>
                  </a:lnTo>
                  <a:close/>
                </a:path>
              </a:pathLst>
            </a:custGeom>
            <a:solidFill>
              <a:srgbClr val="3B82F6"/>
            </a:solidFill>
          </p:spPr>
        </p:sp>
      </p:grpSp>
      <p:grpSp>
        <p:nvGrpSpPr>
          <p:cNvPr name="Group 5" id="5"/>
          <p:cNvGrpSpPr/>
          <p:nvPr/>
        </p:nvGrpSpPr>
        <p:grpSpPr>
          <a:xfrm rot="0">
            <a:off x="5056112" y="4428120"/>
            <a:ext cx="8175775" cy="1430761"/>
            <a:chOff x="0" y="0"/>
            <a:chExt cx="3901440" cy="682752"/>
          </a:xfrm>
        </p:grpSpPr>
        <p:sp>
          <p:nvSpPr>
            <p:cNvPr name="Freeform 6" id="6"/>
            <p:cNvSpPr/>
            <p:nvPr/>
          </p:nvSpPr>
          <p:spPr>
            <a:xfrm flipH="false" flipV="false" rot="0">
              <a:off x="0" y="0"/>
              <a:ext cx="3901440" cy="682752"/>
            </a:xfrm>
            <a:custGeom>
              <a:avLst/>
              <a:gdLst/>
              <a:ahLst/>
              <a:cxnLst/>
              <a:rect r="r" b="b" t="t" l="l"/>
              <a:pathLst>
                <a:path h="682752" w="3901440">
                  <a:moveTo>
                    <a:pt x="0" y="341376"/>
                  </a:moveTo>
                  <a:cubicBezTo>
                    <a:pt x="0" y="152781"/>
                    <a:pt x="152781" y="0"/>
                    <a:pt x="341376" y="0"/>
                  </a:cubicBezTo>
                  <a:lnTo>
                    <a:pt x="3560064" y="0"/>
                  </a:lnTo>
                  <a:cubicBezTo>
                    <a:pt x="3748659" y="0"/>
                    <a:pt x="3901440" y="152781"/>
                    <a:pt x="3901440" y="341376"/>
                  </a:cubicBezTo>
                  <a:cubicBezTo>
                    <a:pt x="3901440" y="529971"/>
                    <a:pt x="3748659" y="682752"/>
                    <a:pt x="3560064" y="682752"/>
                  </a:cubicBezTo>
                  <a:lnTo>
                    <a:pt x="341376" y="682752"/>
                  </a:lnTo>
                  <a:cubicBezTo>
                    <a:pt x="152781" y="682752"/>
                    <a:pt x="0" y="529971"/>
                    <a:pt x="0" y="341376"/>
                  </a:cubicBezTo>
                  <a:close/>
                </a:path>
              </a:pathLst>
            </a:custGeom>
            <a:solidFill>
              <a:srgbClr val="3B82F6"/>
            </a:solidFill>
          </p:spPr>
        </p:sp>
      </p:grpSp>
      <p:grpSp>
        <p:nvGrpSpPr>
          <p:cNvPr name="Group 7" id="7"/>
          <p:cNvGrpSpPr/>
          <p:nvPr/>
        </p:nvGrpSpPr>
        <p:grpSpPr>
          <a:xfrm rot="0">
            <a:off x="4814132" y="4385773"/>
            <a:ext cx="8659735" cy="1515454"/>
            <a:chOff x="0" y="0"/>
            <a:chExt cx="3901440" cy="682752"/>
          </a:xfrm>
        </p:grpSpPr>
        <p:sp>
          <p:nvSpPr>
            <p:cNvPr name="Freeform 8" id="8"/>
            <p:cNvSpPr/>
            <p:nvPr/>
          </p:nvSpPr>
          <p:spPr>
            <a:xfrm flipH="false" flipV="false" rot="0">
              <a:off x="0" y="0"/>
              <a:ext cx="3901440" cy="682752"/>
            </a:xfrm>
            <a:custGeom>
              <a:avLst/>
              <a:gdLst/>
              <a:ahLst/>
              <a:cxnLst/>
              <a:rect r="r" b="b" t="t" l="l"/>
              <a:pathLst>
                <a:path h="682752" w="3901440">
                  <a:moveTo>
                    <a:pt x="0" y="0"/>
                  </a:moveTo>
                  <a:lnTo>
                    <a:pt x="3901440" y="0"/>
                  </a:lnTo>
                  <a:lnTo>
                    <a:pt x="3901440" y="682752"/>
                  </a:lnTo>
                  <a:lnTo>
                    <a:pt x="0" y="682752"/>
                  </a:lnTo>
                  <a:close/>
                </a:path>
              </a:pathLst>
            </a:custGeom>
            <a:blipFill>
              <a:blip r:embed="rId4">
                <a:alphaModFix amt="0"/>
              </a:blip>
              <a:stretch>
                <a:fillRect l="0" t="-61343" r="0" b="-61343"/>
              </a:stretch>
            </a:blipFill>
          </p:spPr>
        </p:sp>
        <p:sp>
          <p:nvSpPr>
            <p:cNvPr name="TextBox 9" id="9"/>
            <p:cNvSpPr txBox="true"/>
            <p:nvPr/>
          </p:nvSpPr>
          <p:spPr>
            <a:xfrm>
              <a:off x="0" y="-123825"/>
              <a:ext cx="3901440" cy="806577"/>
            </a:xfrm>
            <a:prstGeom prst="rect">
              <a:avLst/>
            </a:prstGeom>
          </p:spPr>
          <p:txBody>
            <a:bodyPr anchor="ctr" rtlCol="false" tIns="0" lIns="0" bIns="0" rIns="0"/>
            <a:lstStyle/>
            <a:p>
              <a:pPr algn="ctr">
                <a:lnSpc>
                  <a:spcPts val="6239"/>
                </a:lnSpc>
              </a:pPr>
              <a:r>
                <a:rPr lang="en-US" sz="5199" b="true">
                  <a:solidFill>
                    <a:srgbClr val="FFFFFF"/>
                  </a:solidFill>
                  <a:latin typeface="Calibri (MS) Bold"/>
                  <a:ea typeface="Calibri (MS) Bold"/>
                  <a:cs typeface="Calibri (MS) Bold"/>
                  <a:sym typeface="Calibri (MS) Bold"/>
                </a:rPr>
                <a:t>ANALYSIS</a:t>
              </a:r>
            </a:p>
          </p:txBody>
        </p:sp>
      </p:grpSp>
      <p:grpSp>
        <p:nvGrpSpPr>
          <p:cNvPr name="Group 10" id="10"/>
          <p:cNvGrpSpPr/>
          <p:nvPr/>
        </p:nvGrpSpPr>
        <p:grpSpPr>
          <a:xfrm rot="0">
            <a:off x="17190720" y="9646920"/>
            <a:ext cx="731520" cy="457200"/>
            <a:chOff x="0" y="0"/>
            <a:chExt cx="975360" cy="609600"/>
          </a:xfrm>
        </p:grpSpPr>
        <p:sp>
          <p:nvSpPr>
            <p:cNvPr name="Freeform 11" id="11"/>
            <p:cNvSpPr/>
            <p:nvPr/>
          </p:nvSpPr>
          <p:spPr>
            <a:xfrm flipH="false" flipV="false" rot="0">
              <a:off x="0" y="0"/>
              <a:ext cx="975360" cy="609600"/>
            </a:xfrm>
            <a:custGeom>
              <a:avLst/>
              <a:gdLst/>
              <a:ahLst/>
              <a:cxnLst/>
              <a:rect r="r" b="b" t="t" l="l"/>
              <a:pathLst>
                <a:path h="609600" w="975360">
                  <a:moveTo>
                    <a:pt x="0" y="0"/>
                  </a:moveTo>
                  <a:lnTo>
                    <a:pt x="975360" y="0"/>
                  </a:lnTo>
                  <a:lnTo>
                    <a:pt x="975360" y="609600"/>
                  </a:lnTo>
                  <a:lnTo>
                    <a:pt x="0" y="609600"/>
                  </a:lnTo>
                  <a:close/>
                </a:path>
              </a:pathLst>
            </a:custGeom>
            <a:blipFill>
              <a:blip r:embed="rId4">
                <a:alphaModFix amt="0"/>
              </a:blip>
              <a:stretch>
                <a:fillRect l="-30189" t="0" r="-30189" b="0"/>
              </a:stretch>
            </a:blipFill>
          </p:spPr>
        </p:sp>
        <p:sp>
          <p:nvSpPr>
            <p:cNvPr name="TextBox 12" id="12"/>
            <p:cNvSpPr txBox="true"/>
            <p:nvPr/>
          </p:nvSpPr>
          <p:spPr>
            <a:xfrm>
              <a:off x="0" y="-38100"/>
              <a:ext cx="975360" cy="647700"/>
            </a:xfrm>
            <a:prstGeom prst="rect">
              <a:avLst/>
            </a:prstGeom>
          </p:spPr>
          <p:txBody>
            <a:bodyPr anchor="ctr" rtlCol="false" tIns="0" lIns="0" bIns="0" rIns="0"/>
            <a:lstStyle/>
            <a:p>
              <a:pPr algn="r">
                <a:lnSpc>
                  <a:spcPts val="2160"/>
                </a:lnSpc>
              </a:pPr>
              <a:r>
                <a:rPr lang="en-US" sz="1800">
                  <a:solidFill>
                    <a:srgbClr val="64748B"/>
                  </a:solidFill>
                  <a:latin typeface="Calibri (MS)"/>
                  <a:ea typeface="Calibri (MS)"/>
                  <a:cs typeface="Calibri (MS)"/>
                  <a:sym typeface="Calibri (MS)"/>
                </a:rPr>
                <a:t>14</a:t>
              </a:r>
            </a:p>
          </p:txBody>
        </p:sp>
      </p:gr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73152"/>
            <a:chOff x="0" y="0"/>
            <a:chExt cx="24384000" cy="97536"/>
          </a:xfrm>
        </p:grpSpPr>
        <p:sp>
          <p:nvSpPr>
            <p:cNvPr name="Freeform 3" id="3"/>
            <p:cNvSpPr/>
            <p:nvPr/>
          </p:nvSpPr>
          <p:spPr>
            <a:xfrm flipH="false" flipV="false" rot="0">
              <a:off x="0" y="0"/>
              <a:ext cx="24384000" cy="97536"/>
            </a:xfrm>
            <a:custGeom>
              <a:avLst/>
              <a:gdLst/>
              <a:ahLst/>
              <a:cxnLst/>
              <a:rect r="r" b="b" t="t" l="l"/>
              <a:pathLst>
                <a:path h="97536" w="24384000">
                  <a:moveTo>
                    <a:pt x="0" y="0"/>
                  </a:moveTo>
                  <a:lnTo>
                    <a:pt x="24384000" y="0"/>
                  </a:lnTo>
                  <a:lnTo>
                    <a:pt x="24384000" y="97536"/>
                  </a:lnTo>
                  <a:lnTo>
                    <a:pt x="0" y="97536"/>
                  </a:lnTo>
                  <a:close/>
                </a:path>
              </a:pathLst>
            </a:custGeom>
            <a:solidFill>
              <a:srgbClr val="3B82F6"/>
            </a:solidFill>
          </p:spPr>
        </p:sp>
      </p:grpSp>
      <p:grpSp>
        <p:nvGrpSpPr>
          <p:cNvPr name="Group 4" id="4"/>
          <p:cNvGrpSpPr/>
          <p:nvPr/>
        </p:nvGrpSpPr>
        <p:grpSpPr>
          <a:xfrm rot="0">
            <a:off x="1005840" y="585216"/>
            <a:ext cx="2926080" cy="512064"/>
            <a:chOff x="0" y="0"/>
            <a:chExt cx="3901440" cy="682752"/>
          </a:xfrm>
        </p:grpSpPr>
        <p:sp>
          <p:nvSpPr>
            <p:cNvPr name="Freeform 5" id="5"/>
            <p:cNvSpPr/>
            <p:nvPr/>
          </p:nvSpPr>
          <p:spPr>
            <a:xfrm flipH="false" flipV="false" rot="0">
              <a:off x="0" y="0"/>
              <a:ext cx="3901440" cy="682752"/>
            </a:xfrm>
            <a:custGeom>
              <a:avLst/>
              <a:gdLst/>
              <a:ahLst/>
              <a:cxnLst/>
              <a:rect r="r" b="b" t="t" l="l"/>
              <a:pathLst>
                <a:path h="682752" w="3901440">
                  <a:moveTo>
                    <a:pt x="0" y="341376"/>
                  </a:moveTo>
                  <a:cubicBezTo>
                    <a:pt x="0" y="152781"/>
                    <a:pt x="152781" y="0"/>
                    <a:pt x="341376" y="0"/>
                  </a:cubicBezTo>
                  <a:lnTo>
                    <a:pt x="3560064" y="0"/>
                  </a:lnTo>
                  <a:cubicBezTo>
                    <a:pt x="3748659" y="0"/>
                    <a:pt x="3901440" y="152781"/>
                    <a:pt x="3901440" y="341376"/>
                  </a:cubicBezTo>
                  <a:cubicBezTo>
                    <a:pt x="3901440" y="529971"/>
                    <a:pt x="3748659" y="682752"/>
                    <a:pt x="3560064" y="682752"/>
                  </a:cubicBezTo>
                  <a:lnTo>
                    <a:pt x="341376" y="682752"/>
                  </a:lnTo>
                  <a:cubicBezTo>
                    <a:pt x="152781" y="682752"/>
                    <a:pt x="0" y="529971"/>
                    <a:pt x="0" y="341376"/>
                  </a:cubicBezTo>
                  <a:close/>
                </a:path>
              </a:pathLst>
            </a:custGeom>
            <a:solidFill>
              <a:srgbClr val="3B82F6"/>
            </a:solidFill>
          </p:spPr>
        </p:sp>
      </p:grpSp>
      <p:grpSp>
        <p:nvGrpSpPr>
          <p:cNvPr name="Group 6" id="6"/>
          <p:cNvGrpSpPr/>
          <p:nvPr/>
        </p:nvGrpSpPr>
        <p:grpSpPr>
          <a:xfrm rot="0">
            <a:off x="1005840" y="585216"/>
            <a:ext cx="2926080" cy="512064"/>
            <a:chOff x="0" y="0"/>
            <a:chExt cx="3901440" cy="682752"/>
          </a:xfrm>
        </p:grpSpPr>
        <p:sp>
          <p:nvSpPr>
            <p:cNvPr name="Freeform 7" id="7"/>
            <p:cNvSpPr/>
            <p:nvPr/>
          </p:nvSpPr>
          <p:spPr>
            <a:xfrm flipH="false" flipV="false" rot="0">
              <a:off x="0" y="0"/>
              <a:ext cx="3901440" cy="682752"/>
            </a:xfrm>
            <a:custGeom>
              <a:avLst/>
              <a:gdLst/>
              <a:ahLst/>
              <a:cxnLst/>
              <a:rect r="r" b="b" t="t" l="l"/>
              <a:pathLst>
                <a:path h="682752" w="3901440">
                  <a:moveTo>
                    <a:pt x="0" y="0"/>
                  </a:moveTo>
                  <a:lnTo>
                    <a:pt x="3901440" y="0"/>
                  </a:lnTo>
                  <a:lnTo>
                    <a:pt x="3901440" y="682752"/>
                  </a:lnTo>
                  <a:lnTo>
                    <a:pt x="0" y="682752"/>
                  </a:lnTo>
                  <a:close/>
                </a:path>
              </a:pathLst>
            </a:custGeom>
            <a:blipFill>
              <a:blip r:embed="rId3">
                <a:alphaModFix amt="0"/>
              </a:blip>
              <a:stretch>
                <a:fillRect l="0" t="-61343" r="0" b="-61343"/>
              </a:stretch>
            </a:blipFill>
          </p:spPr>
        </p:sp>
        <p:sp>
          <p:nvSpPr>
            <p:cNvPr name="TextBox 8" id="8"/>
            <p:cNvSpPr txBox="true"/>
            <p:nvPr/>
          </p:nvSpPr>
          <p:spPr>
            <a:xfrm>
              <a:off x="0" y="-38100"/>
              <a:ext cx="3901440" cy="72085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ANALYSIS</a:t>
              </a:r>
            </a:p>
          </p:txBody>
        </p:sp>
      </p:grpSp>
      <p:grpSp>
        <p:nvGrpSpPr>
          <p:cNvPr name="Group 9" id="9"/>
          <p:cNvGrpSpPr/>
          <p:nvPr/>
        </p:nvGrpSpPr>
        <p:grpSpPr>
          <a:xfrm rot="0">
            <a:off x="1005840" y="1060704"/>
            <a:ext cx="16276320" cy="877824"/>
            <a:chOff x="0" y="0"/>
            <a:chExt cx="21701760" cy="1170432"/>
          </a:xfrm>
        </p:grpSpPr>
        <p:sp>
          <p:nvSpPr>
            <p:cNvPr name="Freeform 10" id="10"/>
            <p:cNvSpPr/>
            <p:nvPr/>
          </p:nvSpPr>
          <p:spPr>
            <a:xfrm flipH="false" flipV="false" rot="0">
              <a:off x="0" y="0"/>
              <a:ext cx="21701761" cy="1170432"/>
            </a:xfrm>
            <a:custGeom>
              <a:avLst/>
              <a:gdLst/>
              <a:ahLst/>
              <a:cxnLst/>
              <a:rect r="r" b="b" t="t" l="l"/>
              <a:pathLst>
                <a:path h="1170432" w="21701761">
                  <a:moveTo>
                    <a:pt x="0" y="0"/>
                  </a:moveTo>
                  <a:lnTo>
                    <a:pt x="21701761" y="0"/>
                  </a:lnTo>
                  <a:lnTo>
                    <a:pt x="21701761" y="1170432"/>
                  </a:lnTo>
                  <a:lnTo>
                    <a:pt x="0" y="1170432"/>
                  </a:lnTo>
                  <a:close/>
                </a:path>
              </a:pathLst>
            </a:custGeom>
            <a:blipFill>
              <a:blip r:embed="rId3">
                <a:alphaModFix amt="0"/>
              </a:blip>
              <a:stretch>
                <a:fillRect l="0" t="-311285" r="0" b="-311285"/>
              </a:stretch>
            </a:blipFill>
          </p:spPr>
        </p:sp>
        <p:sp>
          <p:nvSpPr>
            <p:cNvPr name="TextBox 11" id="11"/>
            <p:cNvSpPr txBox="true"/>
            <p:nvPr/>
          </p:nvSpPr>
          <p:spPr>
            <a:xfrm>
              <a:off x="0" y="-76200"/>
              <a:ext cx="21701760" cy="1246632"/>
            </a:xfrm>
            <a:prstGeom prst="rect">
              <a:avLst/>
            </a:prstGeom>
          </p:spPr>
          <p:txBody>
            <a:bodyPr anchor="ctr" rtlCol="false" tIns="0" lIns="0" bIns="0" rIns="0"/>
            <a:lstStyle/>
            <a:p>
              <a:pPr algn="l">
                <a:lnSpc>
                  <a:spcPts val="5280"/>
                </a:lnSpc>
              </a:pPr>
              <a:r>
                <a:rPr lang="en-US" sz="4400" b="true">
                  <a:solidFill>
                    <a:srgbClr val="1A2744"/>
                  </a:solidFill>
                  <a:latin typeface="Calibri (MS) Bold"/>
                  <a:ea typeface="Calibri (MS) Bold"/>
                  <a:cs typeface="Calibri (MS) Bold"/>
                  <a:sym typeface="Calibri (MS) Bold"/>
                </a:rPr>
                <a:t>PICP vs MPIW: Coverage–Sharpness Trade-off</a:t>
              </a:r>
            </a:p>
          </p:txBody>
        </p:sp>
      </p:grpSp>
      <p:grpSp>
        <p:nvGrpSpPr>
          <p:cNvPr name="Group 12" id="12"/>
          <p:cNvGrpSpPr/>
          <p:nvPr/>
        </p:nvGrpSpPr>
        <p:grpSpPr>
          <a:xfrm rot="0">
            <a:off x="1005840" y="1938528"/>
            <a:ext cx="16276320" cy="457200"/>
            <a:chOff x="0" y="0"/>
            <a:chExt cx="21701760" cy="609600"/>
          </a:xfrm>
        </p:grpSpPr>
        <p:sp>
          <p:nvSpPr>
            <p:cNvPr name="Freeform 13" id="13"/>
            <p:cNvSpPr/>
            <p:nvPr/>
          </p:nvSpPr>
          <p:spPr>
            <a:xfrm flipH="false" flipV="false" rot="0">
              <a:off x="0" y="0"/>
              <a:ext cx="21701761" cy="609600"/>
            </a:xfrm>
            <a:custGeom>
              <a:avLst/>
              <a:gdLst/>
              <a:ahLst/>
              <a:cxnLst/>
              <a:rect r="r" b="b" t="t" l="l"/>
              <a:pathLst>
                <a:path h="609600" w="21701761">
                  <a:moveTo>
                    <a:pt x="0" y="0"/>
                  </a:moveTo>
                  <a:lnTo>
                    <a:pt x="21701761" y="0"/>
                  </a:lnTo>
                  <a:lnTo>
                    <a:pt x="21701761" y="609600"/>
                  </a:lnTo>
                  <a:lnTo>
                    <a:pt x="0" y="609600"/>
                  </a:lnTo>
                  <a:close/>
                </a:path>
              </a:pathLst>
            </a:custGeom>
            <a:blipFill>
              <a:blip r:embed="rId3">
                <a:alphaModFix amt="0"/>
              </a:blip>
              <a:stretch>
                <a:fillRect l="0" t="-643667" r="0" b="-643667"/>
              </a:stretch>
            </a:blipFill>
          </p:spPr>
        </p:sp>
        <p:sp>
          <p:nvSpPr>
            <p:cNvPr name="TextBox 14" id="14"/>
            <p:cNvSpPr txBox="true"/>
            <p:nvPr/>
          </p:nvSpPr>
          <p:spPr>
            <a:xfrm>
              <a:off x="0" y="-47625"/>
              <a:ext cx="21701760" cy="657225"/>
            </a:xfrm>
            <a:prstGeom prst="rect">
              <a:avLst/>
            </a:prstGeom>
          </p:spPr>
          <p:txBody>
            <a:bodyPr anchor="ctr" rtlCol="false" tIns="0" lIns="0" bIns="0" rIns="0"/>
            <a:lstStyle/>
            <a:p>
              <a:pPr algn="l">
                <a:lnSpc>
                  <a:spcPts val="2640"/>
                </a:lnSpc>
              </a:pPr>
              <a:r>
                <a:rPr lang="en-US" sz="2200" i="true">
                  <a:solidFill>
                    <a:srgbClr val="64748B"/>
                  </a:solidFill>
                  <a:latin typeface="Calibri (MS) Italics"/>
                  <a:ea typeface="Calibri (MS) Italics"/>
                  <a:cs typeface="Calibri (MS) Italics"/>
                  <a:sym typeface="Calibri (MS) Italics"/>
                </a:rPr>
                <a:t>The core result — ideal models are in the top-left corner (high PICP, low MPIW)</a:t>
              </a:r>
            </a:p>
          </p:txBody>
        </p:sp>
      </p:grpSp>
      <p:grpSp>
        <p:nvGrpSpPr>
          <p:cNvPr name="Group 15" id="15"/>
          <p:cNvGrpSpPr/>
          <p:nvPr/>
        </p:nvGrpSpPr>
        <p:grpSpPr>
          <a:xfrm rot="0">
            <a:off x="17190720" y="9646920"/>
            <a:ext cx="731520" cy="457200"/>
            <a:chOff x="0" y="0"/>
            <a:chExt cx="975360" cy="609600"/>
          </a:xfrm>
        </p:grpSpPr>
        <p:sp>
          <p:nvSpPr>
            <p:cNvPr name="Freeform 16" id="16"/>
            <p:cNvSpPr/>
            <p:nvPr/>
          </p:nvSpPr>
          <p:spPr>
            <a:xfrm flipH="false" flipV="false" rot="0">
              <a:off x="0" y="0"/>
              <a:ext cx="975360" cy="609600"/>
            </a:xfrm>
            <a:custGeom>
              <a:avLst/>
              <a:gdLst/>
              <a:ahLst/>
              <a:cxnLst/>
              <a:rect r="r" b="b" t="t" l="l"/>
              <a:pathLst>
                <a:path h="609600" w="975360">
                  <a:moveTo>
                    <a:pt x="0" y="0"/>
                  </a:moveTo>
                  <a:lnTo>
                    <a:pt x="975360" y="0"/>
                  </a:lnTo>
                  <a:lnTo>
                    <a:pt x="975360" y="609600"/>
                  </a:lnTo>
                  <a:lnTo>
                    <a:pt x="0" y="609600"/>
                  </a:lnTo>
                  <a:close/>
                </a:path>
              </a:pathLst>
            </a:custGeom>
            <a:blipFill>
              <a:blip r:embed="rId3">
                <a:alphaModFix amt="0"/>
              </a:blip>
              <a:stretch>
                <a:fillRect l="-30189" t="0" r="-30189" b="0"/>
              </a:stretch>
            </a:blipFill>
          </p:spPr>
        </p:sp>
        <p:sp>
          <p:nvSpPr>
            <p:cNvPr name="TextBox 17" id="17"/>
            <p:cNvSpPr txBox="true"/>
            <p:nvPr/>
          </p:nvSpPr>
          <p:spPr>
            <a:xfrm>
              <a:off x="0" y="-38100"/>
              <a:ext cx="975360" cy="647700"/>
            </a:xfrm>
            <a:prstGeom prst="rect">
              <a:avLst/>
            </a:prstGeom>
          </p:spPr>
          <p:txBody>
            <a:bodyPr anchor="ctr" rtlCol="false" tIns="0" lIns="0" bIns="0" rIns="0"/>
            <a:lstStyle/>
            <a:p>
              <a:pPr algn="r">
                <a:lnSpc>
                  <a:spcPts val="2160"/>
                </a:lnSpc>
              </a:pPr>
              <a:r>
                <a:rPr lang="en-US" sz="1800">
                  <a:solidFill>
                    <a:srgbClr val="64748B"/>
                  </a:solidFill>
                  <a:latin typeface="Calibri (MS)"/>
                  <a:ea typeface="Calibri (MS)"/>
                  <a:cs typeface="Calibri (MS)"/>
                  <a:sym typeface="Calibri (MS)"/>
                </a:rPr>
                <a:t>15</a:t>
              </a:r>
            </a:p>
          </p:txBody>
        </p:sp>
      </p:grpSp>
      <p:grpSp>
        <p:nvGrpSpPr>
          <p:cNvPr name="Group 18" id="18"/>
          <p:cNvGrpSpPr/>
          <p:nvPr/>
        </p:nvGrpSpPr>
        <p:grpSpPr>
          <a:xfrm rot="0">
            <a:off x="1005840" y="4023360"/>
            <a:ext cx="16276320" cy="1097280"/>
            <a:chOff x="0" y="0"/>
            <a:chExt cx="21701760" cy="1463040"/>
          </a:xfrm>
        </p:grpSpPr>
        <p:sp>
          <p:nvSpPr>
            <p:cNvPr name="Freeform 19" id="19"/>
            <p:cNvSpPr/>
            <p:nvPr/>
          </p:nvSpPr>
          <p:spPr>
            <a:xfrm flipH="false" flipV="false" rot="0">
              <a:off x="0" y="0"/>
              <a:ext cx="21701761" cy="1463040"/>
            </a:xfrm>
            <a:custGeom>
              <a:avLst/>
              <a:gdLst/>
              <a:ahLst/>
              <a:cxnLst/>
              <a:rect r="r" b="b" t="t" l="l"/>
              <a:pathLst>
                <a:path h="1463040" w="21701761">
                  <a:moveTo>
                    <a:pt x="0" y="0"/>
                  </a:moveTo>
                  <a:lnTo>
                    <a:pt x="21701761" y="0"/>
                  </a:lnTo>
                  <a:lnTo>
                    <a:pt x="21701761" y="1463040"/>
                  </a:lnTo>
                  <a:lnTo>
                    <a:pt x="0" y="1463040"/>
                  </a:lnTo>
                  <a:close/>
                </a:path>
              </a:pathLst>
            </a:custGeom>
            <a:blipFill>
              <a:blip r:embed="rId3">
                <a:alphaModFix amt="0"/>
              </a:blip>
              <a:stretch>
                <a:fillRect l="0" t="-239028" r="0" b="-239028"/>
              </a:stretch>
            </a:blipFill>
          </p:spPr>
        </p:sp>
        <p:sp>
          <p:nvSpPr>
            <p:cNvPr name="TextBox 20" id="20"/>
            <p:cNvSpPr txBox="true"/>
            <p:nvPr/>
          </p:nvSpPr>
          <p:spPr>
            <a:xfrm>
              <a:off x="0" y="-47625"/>
              <a:ext cx="21701760" cy="1510665"/>
            </a:xfrm>
            <a:prstGeom prst="rect">
              <a:avLst/>
            </a:prstGeom>
          </p:spPr>
          <p:txBody>
            <a:bodyPr anchor="ctr" rtlCol="false" tIns="0" lIns="0" bIns="0" rIns="0"/>
            <a:lstStyle/>
            <a:p>
              <a:pPr algn="ctr">
                <a:lnSpc>
                  <a:spcPts val="3359"/>
                </a:lnSpc>
              </a:pPr>
            </a:p>
          </p:txBody>
        </p:sp>
      </p:grpSp>
      <p:grpSp>
        <p:nvGrpSpPr>
          <p:cNvPr name="Group 21" id="21"/>
          <p:cNvGrpSpPr/>
          <p:nvPr/>
        </p:nvGrpSpPr>
        <p:grpSpPr>
          <a:xfrm rot="0">
            <a:off x="1005840" y="8741664"/>
            <a:ext cx="16276320" cy="1097280"/>
            <a:chOff x="0" y="0"/>
            <a:chExt cx="21701760" cy="1463040"/>
          </a:xfrm>
        </p:grpSpPr>
        <p:sp>
          <p:nvSpPr>
            <p:cNvPr name="Freeform 22" id="22"/>
            <p:cNvSpPr/>
            <p:nvPr/>
          </p:nvSpPr>
          <p:spPr>
            <a:xfrm flipH="false" flipV="false" rot="0">
              <a:off x="0" y="0"/>
              <a:ext cx="21701761" cy="1463040"/>
            </a:xfrm>
            <a:custGeom>
              <a:avLst/>
              <a:gdLst/>
              <a:ahLst/>
              <a:cxnLst/>
              <a:rect r="r" b="b" t="t" l="l"/>
              <a:pathLst>
                <a:path h="1463040" w="21701761">
                  <a:moveTo>
                    <a:pt x="0" y="292608"/>
                  </a:moveTo>
                  <a:cubicBezTo>
                    <a:pt x="0" y="131064"/>
                    <a:pt x="131064" y="0"/>
                    <a:pt x="292608" y="0"/>
                  </a:cubicBezTo>
                  <a:lnTo>
                    <a:pt x="21409152" y="0"/>
                  </a:lnTo>
                  <a:cubicBezTo>
                    <a:pt x="21570696" y="0"/>
                    <a:pt x="21701761" y="131064"/>
                    <a:pt x="21701761" y="292608"/>
                  </a:cubicBezTo>
                  <a:lnTo>
                    <a:pt x="21701761" y="1170432"/>
                  </a:lnTo>
                  <a:cubicBezTo>
                    <a:pt x="21701761" y="1331976"/>
                    <a:pt x="21570696" y="1463040"/>
                    <a:pt x="21409152" y="1463040"/>
                  </a:cubicBezTo>
                  <a:lnTo>
                    <a:pt x="292608" y="1463040"/>
                  </a:lnTo>
                  <a:cubicBezTo>
                    <a:pt x="131064" y="1463040"/>
                    <a:pt x="0" y="1331976"/>
                    <a:pt x="0" y="1170432"/>
                  </a:cubicBezTo>
                  <a:close/>
                </a:path>
              </a:pathLst>
            </a:custGeom>
            <a:solidFill>
              <a:srgbClr val="DBEAFE"/>
            </a:solidFill>
          </p:spPr>
        </p:sp>
      </p:grpSp>
      <p:grpSp>
        <p:nvGrpSpPr>
          <p:cNvPr name="Group 23" id="23"/>
          <p:cNvGrpSpPr/>
          <p:nvPr/>
        </p:nvGrpSpPr>
        <p:grpSpPr>
          <a:xfrm rot="0">
            <a:off x="1225296" y="8814816"/>
            <a:ext cx="15837408" cy="950976"/>
            <a:chOff x="0" y="0"/>
            <a:chExt cx="21116544" cy="1267968"/>
          </a:xfrm>
        </p:grpSpPr>
        <p:sp>
          <p:nvSpPr>
            <p:cNvPr name="Freeform 24" id="24"/>
            <p:cNvSpPr/>
            <p:nvPr/>
          </p:nvSpPr>
          <p:spPr>
            <a:xfrm flipH="false" flipV="false" rot="0">
              <a:off x="0" y="0"/>
              <a:ext cx="21116544" cy="1267968"/>
            </a:xfrm>
            <a:custGeom>
              <a:avLst/>
              <a:gdLst/>
              <a:ahLst/>
              <a:cxnLst/>
              <a:rect r="r" b="b" t="t" l="l"/>
              <a:pathLst>
                <a:path h="1267968" w="21116544">
                  <a:moveTo>
                    <a:pt x="0" y="0"/>
                  </a:moveTo>
                  <a:lnTo>
                    <a:pt x="21116544" y="0"/>
                  </a:lnTo>
                  <a:lnTo>
                    <a:pt x="21116544" y="1267968"/>
                  </a:lnTo>
                  <a:lnTo>
                    <a:pt x="0" y="1267968"/>
                  </a:lnTo>
                  <a:close/>
                </a:path>
              </a:pathLst>
            </a:custGeom>
            <a:blipFill>
              <a:blip r:embed="rId3">
                <a:alphaModFix amt="0"/>
              </a:blip>
              <a:stretch>
                <a:fillRect l="0" t="-274500" r="0" b="-274500"/>
              </a:stretch>
            </a:blipFill>
          </p:spPr>
        </p:sp>
        <p:sp>
          <p:nvSpPr>
            <p:cNvPr name="TextBox 25" id="25"/>
            <p:cNvSpPr txBox="true"/>
            <p:nvPr/>
          </p:nvSpPr>
          <p:spPr>
            <a:xfrm>
              <a:off x="0" y="-38100"/>
              <a:ext cx="21116544" cy="1306068"/>
            </a:xfrm>
            <a:prstGeom prst="rect">
              <a:avLst/>
            </a:prstGeom>
          </p:spPr>
          <p:txBody>
            <a:bodyPr anchor="ctr" rtlCol="false" tIns="0" lIns="0" bIns="0" rIns="0"/>
            <a:lstStyle/>
            <a:p>
              <a:pPr algn="l">
                <a:lnSpc>
                  <a:spcPts val="2400"/>
                </a:lnSpc>
              </a:pPr>
              <a:r>
                <a:rPr lang="en-US" sz="2000">
                  <a:solidFill>
                    <a:srgbClr val="334155"/>
                  </a:solidFill>
                  <a:latin typeface="Calibri (MS)"/>
                  <a:ea typeface="Calibri (MS)"/>
                  <a:cs typeface="Calibri (MS)"/>
                  <a:sym typeface="Calibri (MS)"/>
                </a:rPr>
                <a:t>Wider intervals do NOT mean better coverage. Transformer has 10× wider intervals than GRU yet 46-88% PICP vs 93-99%.</a:t>
              </a:r>
            </a:p>
          </p:txBody>
        </p:sp>
      </p:grpSp>
      <p:sp>
        <p:nvSpPr>
          <p:cNvPr name="Freeform 26" id="26"/>
          <p:cNvSpPr/>
          <p:nvPr/>
        </p:nvSpPr>
        <p:spPr>
          <a:xfrm flipH="false" flipV="false" rot="0">
            <a:off x="1028700" y="2395728"/>
            <a:ext cx="14063109" cy="6117453"/>
          </a:xfrm>
          <a:custGeom>
            <a:avLst/>
            <a:gdLst/>
            <a:ahLst/>
            <a:cxnLst/>
            <a:rect r="r" b="b" t="t" l="l"/>
            <a:pathLst>
              <a:path h="6117453" w="14063109">
                <a:moveTo>
                  <a:pt x="0" y="0"/>
                </a:moveTo>
                <a:lnTo>
                  <a:pt x="14063109" y="0"/>
                </a:lnTo>
                <a:lnTo>
                  <a:pt x="14063109" y="6117453"/>
                </a:lnTo>
                <a:lnTo>
                  <a:pt x="0" y="6117453"/>
                </a:lnTo>
                <a:lnTo>
                  <a:pt x="0" y="0"/>
                </a:lnTo>
                <a:close/>
              </a:path>
            </a:pathLst>
          </a:custGeom>
          <a:blipFill>
            <a:blip r:embed="rId4"/>
            <a:stretch>
              <a:fillRect l="0" t="0" r="0" b="0"/>
            </a:stretch>
          </a:blipFill>
        </p:spPr>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73152"/>
            <a:chOff x="0" y="0"/>
            <a:chExt cx="24384000" cy="97536"/>
          </a:xfrm>
        </p:grpSpPr>
        <p:sp>
          <p:nvSpPr>
            <p:cNvPr name="Freeform 3" id="3"/>
            <p:cNvSpPr/>
            <p:nvPr/>
          </p:nvSpPr>
          <p:spPr>
            <a:xfrm flipH="false" flipV="false" rot="0">
              <a:off x="0" y="0"/>
              <a:ext cx="24384000" cy="97536"/>
            </a:xfrm>
            <a:custGeom>
              <a:avLst/>
              <a:gdLst/>
              <a:ahLst/>
              <a:cxnLst/>
              <a:rect r="r" b="b" t="t" l="l"/>
              <a:pathLst>
                <a:path h="97536" w="24384000">
                  <a:moveTo>
                    <a:pt x="0" y="0"/>
                  </a:moveTo>
                  <a:lnTo>
                    <a:pt x="24384000" y="0"/>
                  </a:lnTo>
                  <a:lnTo>
                    <a:pt x="24384000" y="97536"/>
                  </a:lnTo>
                  <a:lnTo>
                    <a:pt x="0" y="97536"/>
                  </a:lnTo>
                  <a:close/>
                </a:path>
              </a:pathLst>
            </a:custGeom>
            <a:solidFill>
              <a:srgbClr val="3B82F6"/>
            </a:solidFill>
          </p:spPr>
        </p:sp>
      </p:grpSp>
      <p:grpSp>
        <p:nvGrpSpPr>
          <p:cNvPr name="Group 4" id="4"/>
          <p:cNvGrpSpPr/>
          <p:nvPr/>
        </p:nvGrpSpPr>
        <p:grpSpPr>
          <a:xfrm rot="0">
            <a:off x="1005840" y="585216"/>
            <a:ext cx="2926080" cy="512064"/>
            <a:chOff x="0" y="0"/>
            <a:chExt cx="3901440" cy="682752"/>
          </a:xfrm>
        </p:grpSpPr>
        <p:sp>
          <p:nvSpPr>
            <p:cNvPr name="Freeform 5" id="5"/>
            <p:cNvSpPr/>
            <p:nvPr/>
          </p:nvSpPr>
          <p:spPr>
            <a:xfrm flipH="false" flipV="false" rot="0">
              <a:off x="0" y="0"/>
              <a:ext cx="3901440" cy="682752"/>
            </a:xfrm>
            <a:custGeom>
              <a:avLst/>
              <a:gdLst/>
              <a:ahLst/>
              <a:cxnLst/>
              <a:rect r="r" b="b" t="t" l="l"/>
              <a:pathLst>
                <a:path h="682752" w="3901440">
                  <a:moveTo>
                    <a:pt x="0" y="341376"/>
                  </a:moveTo>
                  <a:cubicBezTo>
                    <a:pt x="0" y="152781"/>
                    <a:pt x="152781" y="0"/>
                    <a:pt x="341376" y="0"/>
                  </a:cubicBezTo>
                  <a:lnTo>
                    <a:pt x="3560064" y="0"/>
                  </a:lnTo>
                  <a:cubicBezTo>
                    <a:pt x="3748659" y="0"/>
                    <a:pt x="3901440" y="152781"/>
                    <a:pt x="3901440" y="341376"/>
                  </a:cubicBezTo>
                  <a:cubicBezTo>
                    <a:pt x="3901440" y="529971"/>
                    <a:pt x="3748659" y="682752"/>
                    <a:pt x="3560064" y="682752"/>
                  </a:cubicBezTo>
                  <a:lnTo>
                    <a:pt x="341376" y="682752"/>
                  </a:lnTo>
                  <a:cubicBezTo>
                    <a:pt x="152781" y="682752"/>
                    <a:pt x="0" y="529971"/>
                    <a:pt x="0" y="341376"/>
                  </a:cubicBezTo>
                  <a:close/>
                </a:path>
              </a:pathLst>
            </a:custGeom>
            <a:solidFill>
              <a:srgbClr val="3B82F6"/>
            </a:solidFill>
          </p:spPr>
        </p:sp>
      </p:grpSp>
      <p:grpSp>
        <p:nvGrpSpPr>
          <p:cNvPr name="Group 6" id="6"/>
          <p:cNvGrpSpPr/>
          <p:nvPr/>
        </p:nvGrpSpPr>
        <p:grpSpPr>
          <a:xfrm rot="0">
            <a:off x="1005840" y="585216"/>
            <a:ext cx="2926080" cy="512064"/>
            <a:chOff x="0" y="0"/>
            <a:chExt cx="3901440" cy="682752"/>
          </a:xfrm>
        </p:grpSpPr>
        <p:sp>
          <p:nvSpPr>
            <p:cNvPr name="Freeform 7" id="7"/>
            <p:cNvSpPr/>
            <p:nvPr/>
          </p:nvSpPr>
          <p:spPr>
            <a:xfrm flipH="false" flipV="false" rot="0">
              <a:off x="0" y="0"/>
              <a:ext cx="3901440" cy="682752"/>
            </a:xfrm>
            <a:custGeom>
              <a:avLst/>
              <a:gdLst/>
              <a:ahLst/>
              <a:cxnLst/>
              <a:rect r="r" b="b" t="t" l="l"/>
              <a:pathLst>
                <a:path h="682752" w="3901440">
                  <a:moveTo>
                    <a:pt x="0" y="0"/>
                  </a:moveTo>
                  <a:lnTo>
                    <a:pt x="3901440" y="0"/>
                  </a:lnTo>
                  <a:lnTo>
                    <a:pt x="3901440" y="682752"/>
                  </a:lnTo>
                  <a:lnTo>
                    <a:pt x="0" y="682752"/>
                  </a:lnTo>
                  <a:close/>
                </a:path>
              </a:pathLst>
            </a:custGeom>
            <a:blipFill>
              <a:blip r:embed="rId3">
                <a:alphaModFix amt="0"/>
              </a:blip>
              <a:stretch>
                <a:fillRect l="0" t="-61343" r="0" b="-61343"/>
              </a:stretch>
            </a:blipFill>
          </p:spPr>
        </p:sp>
        <p:sp>
          <p:nvSpPr>
            <p:cNvPr name="TextBox 8" id="8"/>
            <p:cNvSpPr txBox="true"/>
            <p:nvPr/>
          </p:nvSpPr>
          <p:spPr>
            <a:xfrm>
              <a:off x="0" y="-38100"/>
              <a:ext cx="3901440" cy="72085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ANALYSIS</a:t>
              </a:r>
            </a:p>
          </p:txBody>
        </p:sp>
      </p:grpSp>
      <p:grpSp>
        <p:nvGrpSpPr>
          <p:cNvPr name="Group 9" id="9"/>
          <p:cNvGrpSpPr/>
          <p:nvPr/>
        </p:nvGrpSpPr>
        <p:grpSpPr>
          <a:xfrm rot="0">
            <a:off x="1005840" y="1097280"/>
            <a:ext cx="16276320" cy="883667"/>
            <a:chOff x="0" y="0"/>
            <a:chExt cx="21701760" cy="1178223"/>
          </a:xfrm>
        </p:grpSpPr>
        <p:sp>
          <p:nvSpPr>
            <p:cNvPr name="Freeform 10" id="10"/>
            <p:cNvSpPr/>
            <p:nvPr/>
          </p:nvSpPr>
          <p:spPr>
            <a:xfrm flipH="false" flipV="false" rot="0">
              <a:off x="0" y="0"/>
              <a:ext cx="21701761" cy="1178223"/>
            </a:xfrm>
            <a:custGeom>
              <a:avLst/>
              <a:gdLst/>
              <a:ahLst/>
              <a:cxnLst/>
              <a:rect r="r" b="b" t="t" l="l"/>
              <a:pathLst>
                <a:path h="1178223" w="21701761">
                  <a:moveTo>
                    <a:pt x="0" y="0"/>
                  </a:moveTo>
                  <a:lnTo>
                    <a:pt x="21701761" y="0"/>
                  </a:lnTo>
                  <a:lnTo>
                    <a:pt x="21701761" y="1178223"/>
                  </a:lnTo>
                  <a:lnTo>
                    <a:pt x="0" y="1178223"/>
                  </a:lnTo>
                  <a:close/>
                </a:path>
              </a:pathLst>
            </a:custGeom>
            <a:blipFill>
              <a:blip r:embed="rId3">
                <a:alphaModFix amt="0"/>
              </a:blip>
              <a:stretch>
                <a:fillRect l="0" t="-309226" r="0" b="-308565"/>
              </a:stretch>
            </a:blipFill>
          </p:spPr>
        </p:sp>
        <p:sp>
          <p:nvSpPr>
            <p:cNvPr name="TextBox 11" id="11"/>
            <p:cNvSpPr txBox="true"/>
            <p:nvPr/>
          </p:nvSpPr>
          <p:spPr>
            <a:xfrm>
              <a:off x="0" y="-76200"/>
              <a:ext cx="21701760" cy="1254423"/>
            </a:xfrm>
            <a:prstGeom prst="rect">
              <a:avLst/>
            </a:prstGeom>
          </p:spPr>
          <p:txBody>
            <a:bodyPr anchor="ctr" rtlCol="false" tIns="0" lIns="0" bIns="0" rIns="0"/>
            <a:lstStyle/>
            <a:p>
              <a:pPr algn="l">
                <a:lnSpc>
                  <a:spcPts val="5280"/>
                </a:lnSpc>
              </a:pPr>
              <a:r>
                <a:rPr lang="en-US" sz="4400" b="true">
                  <a:solidFill>
                    <a:srgbClr val="1A2744"/>
                  </a:solidFill>
                  <a:latin typeface="Calibri (MS) Bold"/>
                  <a:ea typeface="Calibri (MS) Bold"/>
                  <a:cs typeface="Calibri (MS) Bold"/>
                  <a:sym typeface="Calibri (MS) Bold"/>
                </a:rPr>
                <a:t>Stability Analysis</a:t>
              </a:r>
            </a:p>
          </p:txBody>
        </p:sp>
      </p:grpSp>
      <p:grpSp>
        <p:nvGrpSpPr>
          <p:cNvPr name="Group 12" id="12"/>
          <p:cNvGrpSpPr/>
          <p:nvPr/>
        </p:nvGrpSpPr>
        <p:grpSpPr>
          <a:xfrm rot="0">
            <a:off x="17190720" y="9646920"/>
            <a:ext cx="731520" cy="457200"/>
            <a:chOff x="0" y="0"/>
            <a:chExt cx="975360" cy="609600"/>
          </a:xfrm>
        </p:grpSpPr>
        <p:sp>
          <p:nvSpPr>
            <p:cNvPr name="Freeform 13" id="13"/>
            <p:cNvSpPr/>
            <p:nvPr/>
          </p:nvSpPr>
          <p:spPr>
            <a:xfrm flipH="false" flipV="false" rot="0">
              <a:off x="0" y="0"/>
              <a:ext cx="975360" cy="609600"/>
            </a:xfrm>
            <a:custGeom>
              <a:avLst/>
              <a:gdLst/>
              <a:ahLst/>
              <a:cxnLst/>
              <a:rect r="r" b="b" t="t" l="l"/>
              <a:pathLst>
                <a:path h="609600" w="975360">
                  <a:moveTo>
                    <a:pt x="0" y="0"/>
                  </a:moveTo>
                  <a:lnTo>
                    <a:pt x="975360" y="0"/>
                  </a:lnTo>
                  <a:lnTo>
                    <a:pt x="975360" y="609600"/>
                  </a:lnTo>
                  <a:lnTo>
                    <a:pt x="0" y="609600"/>
                  </a:lnTo>
                  <a:close/>
                </a:path>
              </a:pathLst>
            </a:custGeom>
            <a:blipFill>
              <a:blip r:embed="rId3">
                <a:alphaModFix amt="0"/>
              </a:blip>
              <a:stretch>
                <a:fillRect l="-30189" t="0" r="-30189" b="0"/>
              </a:stretch>
            </a:blipFill>
          </p:spPr>
        </p:sp>
        <p:sp>
          <p:nvSpPr>
            <p:cNvPr name="TextBox 14" id="14"/>
            <p:cNvSpPr txBox="true"/>
            <p:nvPr/>
          </p:nvSpPr>
          <p:spPr>
            <a:xfrm>
              <a:off x="0" y="-38100"/>
              <a:ext cx="975360" cy="647700"/>
            </a:xfrm>
            <a:prstGeom prst="rect">
              <a:avLst/>
            </a:prstGeom>
          </p:spPr>
          <p:txBody>
            <a:bodyPr anchor="ctr" rtlCol="false" tIns="0" lIns="0" bIns="0" rIns="0"/>
            <a:lstStyle/>
            <a:p>
              <a:pPr algn="r">
                <a:lnSpc>
                  <a:spcPts val="2160"/>
                </a:lnSpc>
              </a:pPr>
              <a:r>
                <a:rPr lang="en-US" sz="1800">
                  <a:solidFill>
                    <a:srgbClr val="64748B"/>
                  </a:solidFill>
                  <a:latin typeface="Calibri (MS)"/>
                  <a:ea typeface="Calibri (MS)"/>
                  <a:cs typeface="Calibri (MS)"/>
                  <a:sym typeface="Calibri (MS)"/>
                </a:rPr>
                <a:t>16</a:t>
              </a:r>
            </a:p>
          </p:txBody>
        </p:sp>
      </p:grpSp>
      <p:grpSp>
        <p:nvGrpSpPr>
          <p:cNvPr name="Group 15" id="15"/>
          <p:cNvGrpSpPr/>
          <p:nvPr/>
        </p:nvGrpSpPr>
        <p:grpSpPr>
          <a:xfrm rot="0">
            <a:off x="1028700" y="9189720"/>
            <a:ext cx="16276320" cy="1097280"/>
            <a:chOff x="0" y="0"/>
            <a:chExt cx="21701760" cy="1463040"/>
          </a:xfrm>
        </p:grpSpPr>
        <p:sp>
          <p:nvSpPr>
            <p:cNvPr name="Freeform 16" id="16"/>
            <p:cNvSpPr/>
            <p:nvPr/>
          </p:nvSpPr>
          <p:spPr>
            <a:xfrm flipH="false" flipV="false" rot="0">
              <a:off x="0" y="0"/>
              <a:ext cx="21701761" cy="1463040"/>
            </a:xfrm>
            <a:custGeom>
              <a:avLst/>
              <a:gdLst/>
              <a:ahLst/>
              <a:cxnLst/>
              <a:rect r="r" b="b" t="t" l="l"/>
              <a:pathLst>
                <a:path h="1463040" w="21701761">
                  <a:moveTo>
                    <a:pt x="0" y="292608"/>
                  </a:moveTo>
                  <a:cubicBezTo>
                    <a:pt x="0" y="131064"/>
                    <a:pt x="131064" y="0"/>
                    <a:pt x="292608" y="0"/>
                  </a:cubicBezTo>
                  <a:lnTo>
                    <a:pt x="21409152" y="0"/>
                  </a:lnTo>
                  <a:cubicBezTo>
                    <a:pt x="21570696" y="0"/>
                    <a:pt x="21701761" y="131064"/>
                    <a:pt x="21701761" y="292608"/>
                  </a:cubicBezTo>
                  <a:lnTo>
                    <a:pt x="21701761" y="1170432"/>
                  </a:lnTo>
                  <a:cubicBezTo>
                    <a:pt x="21701761" y="1331976"/>
                    <a:pt x="21570696" y="1463040"/>
                    <a:pt x="21409152" y="1463040"/>
                  </a:cubicBezTo>
                  <a:lnTo>
                    <a:pt x="292608" y="1463040"/>
                  </a:lnTo>
                  <a:cubicBezTo>
                    <a:pt x="131064" y="1463040"/>
                    <a:pt x="0" y="1331976"/>
                    <a:pt x="0" y="1170432"/>
                  </a:cubicBezTo>
                  <a:close/>
                </a:path>
              </a:pathLst>
            </a:custGeom>
            <a:solidFill>
              <a:srgbClr val="DBEAFE"/>
            </a:solidFill>
          </p:spPr>
        </p:sp>
      </p:grpSp>
      <p:sp>
        <p:nvSpPr>
          <p:cNvPr name="Freeform 17" id="17"/>
          <p:cNvSpPr/>
          <p:nvPr/>
        </p:nvSpPr>
        <p:spPr>
          <a:xfrm flipH="false" flipV="false" rot="0">
            <a:off x="8986490" y="2430047"/>
            <a:ext cx="7421481" cy="5587901"/>
          </a:xfrm>
          <a:custGeom>
            <a:avLst/>
            <a:gdLst/>
            <a:ahLst/>
            <a:cxnLst/>
            <a:rect r="r" b="b" t="t" l="l"/>
            <a:pathLst>
              <a:path h="5587901" w="7421481">
                <a:moveTo>
                  <a:pt x="0" y="0"/>
                </a:moveTo>
                <a:lnTo>
                  <a:pt x="7421481" y="0"/>
                </a:lnTo>
                <a:lnTo>
                  <a:pt x="7421481" y="5587901"/>
                </a:lnTo>
                <a:lnTo>
                  <a:pt x="0" y="5587901"/>
                </a:lnTo>
                <a:lnTo>
                  <a:pt x="0" y="0"/>
                </a:lnTo>
                <a:close/>
              </a:path>
            </a:pathLst>
          </a:custGeom>
          <a:blipFill>
            <a:blip r:embed="rId4"/>
            <a:stretch>
              <a:fillRect l="-100000" t="-199461" r="0" b="-258"/>
            </a:stretch>
          </a:blipFill>
        </p:spPr>
      </p:sp>
      <p:sp>
        <p:nvSpPr>
          <p:cNvPr name="Freeform 18" id="18"/>
          <p:cNvSpPr/>
          <p:nvPr/>
        </p:nvSpPr>
        <p:spPr>
          <a:xfrm flipH="false" flipV="false" rot="0">
            <a:off x="1578412" y="2269052"/>
            <a:ext cx="7179991" cy="5748896"/>
          </a:xfrm>
          <a:custGeom>
            <a:avLst/>
            <a:gdLst/>
            <a:ahLst/>
            <a:cxnLst/>
            <a:rect r="r" b="b" t="t" l="l"/>
            <a:pathLst>
              <a:path h="5748896" w="7179991">
                <a:moveTo>
                  <a:pt x="0" y="0"/>
                </a:moveTo>
                <a:lnTo>
                  <a:pt x="7179991" y="0"/>
                </a:lnTo>
                <a:lnTo>
                  <a:pt x="7179991" y="5748896"/>
                </a:lnTo>
                <a:lnTo>
                  <a:pt x="0" y="5748896"/>
                </a:lnTo>
                <a:lnTo>
                  <a:pt x="0" y="0"/>
                </a:lnTo>
                <a:close/>
              </a:path>
            </a:pathLst>
          </a:custGeom>
          <a:blipFill>
            <a:blip r:embed="rId4"/>
            <a:stretch>
              <a:fillRect l="-100000" t="-89364" r="0" b="-92482"/>
            </a:stretch>
          </a:blipFill>
        </p:spPr>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73152"/>
            <a:chOff x="0" y="0"/>
            <a:chExt cx="24384000" cy="97536"/>
          </a:xfrm>
        </p:grpSpPr>
        <p:sp>
          <p:nvSpPr>
            <p:cNvPr name="Freeform 3" id="3"/>
            <p:cNvSpPr/>
            <p:nvPr/>
          </p:nvSpPr>
          <p:spPr>
            <a:xfrm flipH="false" flipV="false" rot="0">
              <a:off x="0" y="0"/>
              <a:ext cx="24384000" cy="97536"/>
            </a:xfrm>
            <a:custGeom>
              <a:avLst/>
              <a:gdLst/>
              <a:ahLst/>
              <a:cxnLst/>
              <a:rect r="r" b="b" t="t" l="l"/>
              <a:pathLst>
                <a:path h="97536" w="24384000">
                  <a:moveTo>
                    <a:pt x="0" y="0"/>
                  </a:moveTo>
                  <a:lnTo>
                    <a:pt x="24384000" y="0"/>
                  </a:lnTo>
                  <a:lnTo>
                    <a:pt x="24384000" y="97536"/>
                  </a:lnTo>
                  <a:lnTo>
                    <a:pt x="0" y="97536"/>
                  </a:lnTo>
                  <a:close/>
                </a:path>
              </a:pathLst>
            </a:custGeom>
            <a:solidFill>
              <a:srgbClr val="3B82F6"/>
            </a:solidFill>
          </p:spPr>
        </p:sp>
      </p:grpSp>
      <p:grpSp>
        <p:nvGrpSpPr>
          <p:cNvPr name="Group 4" id="4"/>
          <p:cNvGrpSpPr/>
          <p:nvPr/>
        </p:nvGrpSpPr>
        <p:grpSpPr>
          <a:xfrm rot="0">
            <a:off x="1005840" y="585216"/>
            <a:ext cx="2926080" cy="512064"/>
            <a:chOff x="0" y="0"/>
            <a:chExt cx="3901440" cy="682752"/>
          </a:xfrm>
        </p:grpSpPr>
        <p:sp>
          <p:nvSpPr>
            <p:cNvPr name="Freeform 5" id="5"/>
            <p:cNvSpPr/>
            <p:nvPr/>
          </p:nvSpPr>
          <p:spPr>
            <a:xfrm flipH="false" flipV="false" rot="0">
              <a:off x="0" y="0"/>
              <a:ext cx="3901440" cy="682752"/>
            </a:xfrm>
            <a:custGeom>
              <a:avLst/>
              <a:gdLst/>
              <a:ahLst/>
              <a:cxnLst/>
              <a:rect r="r" b="b" t="t" l="l"/>
              <a:pathLst>
                <a:path h="682752" w="3901440">
                  <a:moveTo>
                    <a:pt x="0" y="341376"/>
                  </a:moveTo>
                  <a:cubicBezTo>
                    <a:pt x="0" y="152781"/>
                    <a:pt x="152781" y="0"/>
                    <a:pt x="341376" y="0"/>
                  </a:cubicBezTo>
                  <a:lnTo>
                    <a:pt x="3560064" y="0"/>
                  </a:lnTo>
                  <a:cubicBezTo>
                    <a:pt x="3748659" y="0"/>
                    <a:pt x="3901440" y="152781"/>
                    <a:pt x="3901440" y="341376"/>
                  </a:cubicBezTo>
                  <a:cubicBezTo>
                    <a:pt x="3901440" y="529971"/>
                    <a:pt x="3748659" y="682752"/>
                    <a:pt x="3560064" y="682752"/>
                  </a:cubicBezTo>
                  <a:lnTo>
                    <a:pt x="341376" y="682752"/>
                  </a:lnTo>
                  <a:cubicBezTo>
                    <a:pt x="152781" y="682752"/>
                    <a:pt x="0" y="529971"/>
                    <a:pt x="0" y="341376"/>
                  </a:cubicBezTo>
                  <a:close/>
                </a:path>
              </a:pathLst>
            </a:custGeom>
            <a:solidFill>
              <a:srgbClr val="3B82F6"/>
            </a:solidFill>
          </p:spPr>
        </p:sp>
      </p:grpSp>
      <p:grpSp>
        <p:nvGrpSpPr>
          <p:cNvPr name="Group 6" id="6"/>
          <p:cNvGrpSpPr/>
          <p:nvPr/>
        </p:nvGrpSpPr>
        <p:grpSpPr>
          <a:xfrm rot="0">
            <a:off x="1005840" y="585216"/>
            <a:ext cx="2926080" cy="512064"/>
            <a:chOff x="0" y="0"/>
            <a:chExt cx="3901440" cy="682752"/>
          </a:xfrm>
        </p:grpSpPr>
        <p:sp>
          <p:nvSpPr>
            <p:cNvPr name="Freeform 7" id="7"/>
            <p:cNvSpPr/>
            <p:nvPr/>
          </p:nvSpPr>
          <p:spPr>
            <a:xfrm flipH="false" flipV="false" rot="0">
              <a:off x="0" y="0"/>
              <a:ext cx="3901440" cy="682752"/>
            </a:xfrm>
            <a:custGeom>
              <a:avLst/>
              <a:gdLst/>
              <a:ahLst/>
              <a:cxnLst/>
              <a:rect r="r" b="b" t="t" l="l"/>
              <a:pathLst>
                <a:path h="682752" w="3901440">
                  <a:moveTo>
                    <a:pt x="0" y="0"/>
                  </a:moveTo>
                  <a:lnTo>
                    <a:pt x="3901440" y="0"/>
                  </a:lnTo>
                  <a:lnTo>
                    <a:pt x="3901440" y="682752"/>
                  </a:lnTo>
                  <a:lnTo>
                    <a:pt x="0" y="682752"/>
                  </a:lnTo>
                  <a:close/>
                </a:path>
              </a:pathLst>
            </a:custGeom>
            <a:blipFill>
              <a:blip r:embed="rId3">
                <a:alphaModFix amt="0"/>
              </a:blip>
              <a:stretch>
                <a:fillRect l="0" t="-61343" r="0" b="-61343"/>
              </a:stretch>
            </a:blipFill>
          </p:spPr>
        </p:sp>
        <p:sp>
          <p:nvSpPr>
            <p:cNvPr name="TextBox 8" id="8"/>
            <p:cNvSpPr txBox="true"/>
            <p:nvPr/>
          </p:nvSpPr>
          <p:spPr>
            <a:xfrm>
              <a:off x="0" y="-38100"/>
              <a:ext cx="3901440" cy="72085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ANALYSIS</a:t>
              </a:r>
            </a:p>
          </p:txBody>
        </p:sp>
      </p:grpSp>
      <p:grpSp>
        <p:nvGrpSpPr>
          <p:cNvPr name="Group 9" id="9"/>
          <p:cNvGrpSpPr/>
          <p:nvPr/>
        </p:nvGrpSpPr>
        <p:grpSpPr>
          <a:xfrm rot="0">
            <a:off x="1005840" y="1060704"/>
            <a:ext cx="16276320" cy="877824"/>
            <a:chOff x="0" y="0"/>
            <a:chExt cx="21701760" cy="1170432"/>
          </a:xfrm>
        </p:grpSpPr>
        <p:sp>
          <p:nvSpPr>
            <p:cNvPr name="Freeform 10" id="10"/>
            <p:cNvSpPr/>
            <p:nvPr/>
          </p:nvSpPr>
          <p:spPr>
            <a:xfrm flipH="false" flipV="false" rot="0">
              <a:off x="0" y="0"/>
              <a:ext cx="21701761" cy="1170432"/>
            </a:xfrm>
            <a:custGeom>
              <a:avLst/>
              <a:gdLst/>
              <a:ahLst/>
              <a:cxnLst/>
              <a:rect r="r" b="b" t="t" l="l"/>
              <a:pathLst>
                <a:path h="1170432" w="21701761">
                  <a:moveTo>
                    <a:pt x="0" y="0"/>
                  </a:moveTo>
                  <a:lnTo>
                    <a:pt x="21701761" y="0"/>
                  </a:lnTo>
                  <a:lnTo>
                    <a:pt x="21701761" y="1170432"/>
                  </a:lnTo>
                  <a:lnTo>
                    <a:pt x="0" y="1170432"/>
                  </a:lnTo>
                  <a:close/>
                </a:path>
              </a:pathLst>
            </a:custGeom>
            <a:blipFill>
              <a:blip r:embed="rId3">
                <a:alphaModFix amt="0"/>
              </a:blip>
              <a:stretch>
                <a:fillRect l="0" t="-311285" r="0" b="-311285"/>
              </a:stretch>
            </a:blipFill>
          </p:spPr>
        </p:sp>
        <p:sp>
          <p:nvSpPr>
            <p:cNvPr name="TextBox 11" id="11"/>
            <p:cNvSpPr txBox="true"/>
            <p:nvPr/>
          </p:nvSpPr>
          <p:spPr>
            <a:xfrm>
              <a:off x="0" y="-76200"/>
              <a:ext cx="21701760" cy="1246632"/>
            </a:xfrm>
            <a:prstGeom prst="rect">
              <a:avLst/>
            </a:prstGeom>
          </p:spPr>
          <p:txBody>
            <a:bodyPr anchor="ctr" rtlCol="false" tIns="0" lIns="0" bIns="0" rIns="0"/>
            <a:lstStyle/>
            <a:p>
              <a:pPr algn="l">
                <a:lnSpc>
                  <a:spcPts val="5280"/>
                </a:lnSpc>
              </a:pPr>
              <a:r>
                <a:rPr lang="en-US" sz="4400" b="true">
                  <a:solidFill>
                    <a:srgbClr val="1A2744"/>
                  </a:solidFill>
                  <a:latin typeface="Calibri (MS) Bold"/>
                  <a:ea typeface="Calibri (MS) Bold"/>
                  <a:cs typeface="Calibri (MS) Bold"/>
                  <a:sym typeface="Calibri (MS) Bold"/>
                </a:rPr>
                <a:t>Architecture Family Comparison: Radar Chart</a:t>
              </a:r>
            </a:p>
          </p:txBody>
        </p:sp>
      </p:grpSp>
      <p:grpSp>
        <p:nvGrpSpPr>
          <p:cNvPr name="Group 12" id="12"/>
          <p:cNvGrpSpPr/>
          <p:nvPr/>
        </p:nvGrpSpPr>
        <p:grpSpPr>
          <a:xfrm rot="0">
            <a:off x="1005840" y="1938528"/>
            <a:ext cx="16276320" cy="457200"/>
            <a:chOff x="0" y="0"/>
            <a:chExt cx="21701760" cy="609600"/>
          </a:xfrm>
        </p:grpSpPr>
        <p:sp>
          <p:nvSpPr>
            <p:cNvPr name="Freeform 13" id="13"/>
            <p:cNvSpPr/>
            <p:nvPr/>
          </p:nvSpPr>
          <p:spPr>
            <a:xfrm flipH="false" flipV="false" rot="0">
              <a:off x="0" y="0"/>
              <a:ext cx="21701761" cy="609600"/>
            </a:xfrm>
            <a:custGeom>
              <a:avLst/>
              <a:gdLst/>
              <a:ahLst/>
              <a:cxnLst/>
              <a:rect r="r" b="b" t="t" l="l"/>
              <a:pathLst>
                <a:path h="609600" w="21701761">
                  <a:moveTo>
                    <a:pt x="0" y="0"/>
                  </a:moveTo>
                  <a:lnTo>
                    <a:pt x="21701761" y="0"/>
                  </a:lnTo>
                  <a:lnTo>
                    <a:pt x="21701761" y="609600"/>
                  </a:lnTo>
                  <a:lnTo>
                    <a:pt x="0" y="609600"/>
                  </a:lnTo>
                  <a:close/>
                </a:path>
              </a:pathLst>
            </a:custGeom>
            <a:blipFill>
              <a:blip r:embed="rId3">
                <a:alphaModFix amt="0"/>
              </a:blip>
              <a:stretch>
                <a:fillRect l="0" t="-643667" r="0" b="-643667"/>
              </a:stretch>
            </a:blipFill>
          </p:spPr>
        </p:sp>
        <p:sp>
          <p:nvSpPr>
            <p:cNvPr name="TextBox 14" id="14"/>
            <p:cNvSpPr txBox="true"/>
            <p:nvPr/>
          </p:nvSpPr>
          <p:spPr>
            <a:xfrm>
              <a:off x="0" y="-47625"/>
              <a:ext cx="21701760" cy="657225"/>
            </a:xfrm>
            <a:prstGeom prst="rect">
              <a:avLst/>
            </a:prstGeom>
          </p:spPr>
          <p:txBody>
            <a:bodyPr anchor="ctr" rtlCol="false" tIns="0" lIns="0" bIns="0" rIns="0"/>
            <a:lstStyle/>
            <a:p>
              <a:pPr algn="l">
                <a:lnSpc>
                  <a:spcPts val="2640"/>
                </a:lnSpc>
              </a:pPr>
              <a:r>
                <a:rPr lang="en-US" sz="2200" i="true">
                  <a:solidFill>
                    <a:srgbClr val="64748B"/>
                  </a:solidFill>
                  <a:latin typeface="Calibri (MS) Italics"/>
                  <a:ea typeface="Calibri (MS) Italics"/>
                  <a:cs typeface="Calibri (MS) Italics"/>
                  <a:sym typeface="Calibri (MS) Italics"/>
                </a:rPr>
                <a:t>RNN Family vs SSM/Attention vs Probabilistic — 5 metrics on each axis</a:t>
              </a:r>
            </a:p>
          </p:txBody>
        </p:sp>
      </p:grpSp>
      <p:grpSp>
        <p:nvGrpSpPr>
          <p:cNvPr name="Group 15" id="15"/>
          <p:cNvGrpSpPr/>
          <p:nvPr/>
        </p:nvGrpSpPr>
        <p:grpSpPr>
          <a:xfrm rot="0">
            <a:off x="17190720" y="9646920"/>
            <a:ext cx="731520" cy="457200"/>
            <a:chOff x="0" y="0"/>
            <a:chExt cx="975360" cy="609600"/>
          </a:xfrm>
        </p:grpSpPr>
        <p:sp>
          <p:nvSpPr>
            <p:cNvPr name="Freeform 16" id="16"/>
            <p:cNvSpPr/>
            <p:nvPr/>
          </p:nvSpPr>
          <p:spPr>
            <a:xfrm flipH="false" flipV="false" rot="0">
              <a:off x="0" y="0"/>
              <a:ext cx="975360" cy="609600"/>
            </a:xfrm>
            <a:custGeom>
              <a:avLst/>
              <a:gdLst/>
              <a:ahLst/>
              <a:cxnLst/>
              <a:rect r="r" b="b" t="t" l="l"/>
              <a:pathLst>
                <a:path h="609600" w="975360">
                  <a:moveTo>
                    <a:pt x="0" y="0"/>
                  </a:moveTo>
                  <a:lnTo>
                    <a:pt x="975360" y="0"/>
                  </a:lnTo>
                  <a:lnTo>
                    <a:pt x="975360" y="609600"/>
                  </a:lnTo>
                  <a:lnTo>
                    <a:pt x="0" y="609600"/>
                  </a:lnTo>
                  <a:close/>
                </a:path>
              </a:pathLst>
            </a:custGeom>
            <a:blipFill>
              <a:blip r:embed="rId3">
                <a:alphaModFix amt="0"/>
              </a:blip>
              <a:stretch>
                <a:fillRect l="-30189" t="0" r="-30189" b="0"/>
              </a:stretch>
            </a:blipFill>
          </p:spPr>
        </p:sp>
        <p:sp>
          <p:nvSpPr>
            <p:cNvPr name="TextBox 17" id="17"/>
            <p:cNvSpPr txBox="true"/>
            <p:nvPr/>
          </p:nvSpPr>
          <p:spPr>
            <a:xfrm>
              <a:off x="0" y="-38100"/>
              <a:ext cx="975360" cy="647700"/>
            </a:xfrm>
            <a:prstGeom prst="rect">
              <a:avLst/>
            </a:prstGeom>
          </p:spPr>
          <p:txBody>
            <a:bodyPr anchor="ctr" rtlCol="false" tIns="0" lIns="0" bIns="0" rIns="0"/>
            <a:lstStyle/>
            <a:p>
              <a:pPr algn="r">
                <a:lnSpc>
                  <a:spcPts val="2160"/>
                </a:lnSpc>
              </a:pPr>
              <a:r>
                <a:rPr lang="en-US" sz="1800">
                  <a:solidFill>
                    <a:srgbClr val="64748B"/>
                  </a:solidFill>
                  <a:latin typeface="Calibri (MS)"/>
                  <a:ea typeface="Calibri (MS)"/>
                  <a:cs typeface="Calibri (MS)"/>
                  <a:sym typeface="Calibri (MS)"/>
                </a:rPr>
                <a:t>17</a:t>
              </a:r>
            </a:p>
          </p:txBody>
        </p:sp>
      </p:grpSp>
      <p:grpSp>
        <p:nvGrpSpPr>
          <p:cNvPr name="Group 18" id="18"/>
          <p:cNvGrpSpPr/>
          <p:nvPr/>
        </p:nvGrpSpPr>
        <p:grpSpPr>
          <a:xfrm rot="0">
            <a:off x="1005840" y="8741664"/>
            <a:ext cx="16276320" cy="1097280"/>
            <a:chOff x="0" y="0"/>
            <a:chExt cx="21701760" cy="1463040"/>
          </a:xfrm>
        </p:grpSpPr>
        <p:sp>
          <p:nvSpPr>
            <p:cNvPr name="Freeform 19" id="19"/>
            <p:cNvSpPr/>
            <p:nvPr/>
          </p:nvSpPr>
          <p:spPr>
            <a:xfrm flipH="false" flipV="false" rot="0">
              <a:off x="0" y="0"/>
              <a:ext cx="21701761" cy="1463040"/>
            </a:xfrm>
            <a:custGeom>
              <a:avLst/>
              <a:gdLst/>
              <a:ahLst/>
              <a:cxnLst/>
              <a:rect r="r" b="b" t="t" l="l"/>
              <a:pathLst>
                <a:path h="1463040" w="21701761">
                  <a:moveTo>
                    <a:pt x="0" y="292608"/>
                  </a:moveTo>
                  <a:cubicBezTo>
                    <a:pt x="0" y="131064"/>
                    <a:pt x="131064" y="0"/>
                    <a:pt x="292608" y="0"/>
                  </a:cubicBezTo>
                  <a:lnTo>
                    <a:pt x="21409152" y="0"/>
                  </a:lnTo>
                  <a:cubicBezTo>
                    <a:pt x="21570696" y="0"/>
                    <a:pt x="21701761" y="131064"/>
                    <a:pt x="21701761" y="292608"/>
                  </a:cubicBezTo>
                  <a:lnTo>
                    <a:pt x="21701761" y="1170432"/>
                  </a:lnTo>
                  <a:cubicBezTo>
                    <a:pt x="21701761" y="1331976"/>
                    <a:pt x="21570696" y="1463040"/>
                    <a:pt x="21409152" y="1463040"/>
                  </a:cubicBezTo>
                  <a:lnTo>
                    <a:pt x="292608" y="1463040"/>
                  </a:lnTo>
                  <a:cubicBezTo>
                    <a:pt x="131064" y="1463040"/>
                    <a:pt x="0" y="1331976"/>
                    <a:pt x="0" y="1170432"/>
                  </a:cubicBezTo>
                  <a:close/>
                </a:path>
              </a:pathLst>
            </a:custGeom>
            <a:solidFill>
              <a:srgbClr val="DBEAFE"/>
            </a:solidFill>
          </p:spPr>
        </p:sp>
      </p:grpSp>
      <p:grpSp>
        <p:nvGrpSpPr>
          <p:cNvPr name="Group 20" id="20"/>
          <p:cNvGrpSpPr/>
          <p:nvPr/>
        </p:nvGrpSpPr>
        <p:grpSpPr>
          <a:xfrm rot="0">
            <a:off x="1225296" y="8814816"/>
            <a:ext cx="15837408" cy="950976"/>
            <a:chOff x="0" y="0"/>
            <a:chExt cx="21116544" cy="1267968"/>
          </a:xfrm>
        </p:grpSpPr>
        <p:sp>
          <p:nvSpPr>
            <p:cNvPr name="Freeform 21" id="21"/>
            <p:cNvSpPr/>
            <p:nvPr/>
          </p:nvSpPr>
          <p:spPr>
            <a:xfrm flipH="false" flipV="false" rot="0">
              <a:off x="0" y="0"/>
              <a:ext cx="21116544" cy="1267968"/>
            </a:xfrm>
            <a:custGeom>
              <a:avLst/>
              <a:gdLst/>
              <a:ahLst/>
              <a:cxnLst/>
              <a:rect r="r" b="b" t="t" l="l"/>
              <a:pathLst>
                <a:path h="1267968" w="21116544">
                  <a:moveTo>
                    <a:pt x="0" y="0"/>
                  </a:moveTo>
                  <a:lnTo>
                    <a:pt x="21116544" y="0"/>
                  </a:lnTo>
                  <a:lnTo>
                    <a:pt x="21116544" y="1267968"/>
                  </a:lnTo>
                  <a:lnTo>
                    <a:pt x="0" y="1267968"/>
                  </a:lnTo>
                  <a:close/>
                </a:path>
              </a:pathLst>
            </a:custGeom>
            <a:blipFill>
              <a:blip r:embed="rId3">
                <a:alphaModFix amt="0"/>
              </a:blip>
              <a:stretch>
                <a:fillRect l="0" t="-274500" r="0" b="-274500"/>
              </a:stretch>
            </a:blipFill>
          </p:spPr>
        </p:sp>
        <p:sp>
          <p:nvSpPr>
            <p:cNvPr name="TextBox 22" id="22"/>
            <p:cNvSpPr txBox="true"/>
            <p:nvPr/>
          </p:nvSpPr>
          <p:spPr>
            <a:xfrm>
              <a:off x="0" y="-38100"/>
              <a:ext cx="21116544" cy="1306068"/>
            </a:xfrm>
            <a:prstGeom prst="rect">
              <a:avLst/>
            </a:prstGeom>
          </p:spPr>
          <p:txBody>
            <a:bodyPr anchor="ctr" rtlCol="false" tIns="0" lIns="0" bIns="0" rIns="0"/>
            <a:lstStyle/>
            <a:p>
              <a:pPr algn="l">
                <a:lnSpc>
                  <a:spcPts val="2400"/>
                </a:lnSpc>
              </a:pPr>
              <a:r>
                <a:rPr lang="en-US" sz="2000">
                  <a:solidFill>
                    <a:srgbClr val="334155"/>
                  </a:solidFill>
                  <a:latin typeface="Calibri (MS)"/>
                  <a:ea typeface="Calibri (MS)"/>
                  <a:cs typeface="Calibri (MS)"/>
                  <a:sym typeface="Calibri (MS)"/>
                </a:rPr>
                <a:t>RNN Family dominates all axes for SLA. SSM/Attention recovers dramatically on SWH. Probabilistic (MDN) has highest coverage but widest intervals.</a:t>
              </a:r>
            </a:p>
          </p:txBody>
        </p:sp>
      </p:grpSp>
      <p:sp>
        <p:nvSpPr>
          <p:cNvPr name="Freeform 23" id="23"/>
          <p:cNvSpPr/>
          <p:nvPr/>
        </p:nvSpPr>
        <p:spPr>
          <a:xfrm flipH="false" flipV="false" rot="0">
            <a:off x="1028700" y="2395728"/>
            <a:ext cx="13574195" cy="6345936"/>
          </a:xfrm>
          <a:custGeom>
            <a:avLst/>
            <a:gdLst/>
            <a:ahLst/>
            <a:cxnLst/>
            <a:rect r="r" b="b" t="t" l="l"/>
            <a:pathLst>
              <a:path h="6345936" w="13574195">
                <a:moveTo>
                  <a:pt x="0" y="0"/>
                </a:moveTo>
                <a:lnTo>
                  <a:pt x="13574195" y="0"/>
                </a:lnTo>
                <a:lnTo>
                  <a:pt x="13574195" y="6345936"/>
                </a:lnTo>
                <a:lnTo>
                  <a:pt x="0" y="6345936"/>
                </a:lnTo>
                <a:lnTo>
                  <a:pt x="0" y="0"/>
                </a:lnTo>
                <a:close/>
              </a:path>
            </a:pathLst>
          </a:custGeom>
          <a:blipFill>
            <a:blip r:embed="rId4"/>
            <a:stretch>
              <a:fillRect l="0" t="0" r="0" b="0"/>
            </a:stretch>
          </a:blipFill>
        </p:spPr>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73152"/>
            <a:chOff x="0" y="0"/>
            <a:chExt cx="24384000" cy="97536"/>
          </a:xfrm>
        </p:grpSpPr>
        <p:sp>
          <p:nvSpPr>
            <p:cNvPr name="Freeform 3" id="3"/>
            <p:cNvSpPr/>
            <p:nvPr/>
          </p:nvSpPr>
          <p:spPr>
            <a:xfrm flipH="false" flipV="false" rot="0">
              <a:off x="0" y="0"/>
              <a:ext cx="24384000" cy="97536"/>
            </a:xfrm>
            <a:custGeom>
              <a:avLst/>
              <a:gdLst/>
              <a:ahLst/>
              <a:cxnLst/>
              <a:rect r="r" b="b" t="t" l="l"/>
              <a:pathLst>
                <a:path h="97536" w="24384000">
                  <a:moveTo>
                    <a:pt x="0" y="0"/>
                  </a:moveTo>
                  <a:lnTo>
                    <a:pt x="24384000" y="0"/>
                  </a:lnTo>
                  <a:lnTo>
                    <a:pt x="24384000" y="97536"/>
                  </a:lnTo>
                  <a:lnTo>
                    <a:pt x="0" y="97536"/>
                  </a:lnTo>
                  <a:close/>
                </a:path>
              </a:pathLst>
            </a:custGeom>
            <a:solidFill>
              <a:srgbClr val="3B82F6"/>
            </a:solidFill>
          </p:spPr>
        </p:sp>
      </p:grpSp>
      <p:grpSp>
        <p:nvGrpSpPr>
          <p:cNvPr name="Group 4" id="4"/>
          <p:cNvGrpSpPr/>
          <p:nvPr/>
        </p:nvGrpSpPr>
        <p:grpSpPr>
          <a:xfrm rot="0">
            <a:off x="1005840" y="585216"/>
            <a:ext cx="2926080" cy="512064"/>
            <a:chOff x="0" y="0"/>
            <a:chExt cx="3901440" cy="682752"/>
          </a:xfrm>
        </p:grpSpPr>
        <p:sp>
          <p:nvSpPr>
            <p:cNvPr name="Freeform 5" id="5"/>
            <p:cNvSpPr/>
            <p:nvPr/>
          </p:nvSpPr>
          <p:spPr>
            <a:xfrm flipH="false" flipV="false" rot="0">
              <a:off x="0" y="0"/>
              <a:ext cx="3901440" cy="682752"/>
            </a:xfrm>
            <a:custGeom>
              <a:avLst/>
              <a:gdLst/>
              <a:ahLst/>
              <a:cxnLst/>
              <a:rect r="r" b="b" t="t" l="l"/>
              <a:pathLst>
                <a:path h="682752" w="3901440">
                  <a:moveTo>
                    <a:pt x="0" y="341376"/>
                  </a:moveTo>
                  <a:cubicBezTo>
                    <a:pt x="0" y="152781"/>
                    <a:pt x="152781" y="0"/>
                    <a:pt x="341376" y="0"/>
                  </a:cubicBezTo>
                  <a:lnTo>
                    <a:pt x="3560064" y="0"/>
                  </a:lnTo>
                  <a:cubicBezTo>
                    <a:pt x="3748659" y="0"/>
                    <a:pt x="3901440" y="152781"/>
                    <a:pt x="3901440" y="341376"/>
                  </a:cubicBezTo>
                  <a:cubicBezTo>
                    <a:pt x="3901440" y="529971"/>
                    <a:pt x="3748659" y="682752"/>
                    <a:pt x="3560064" y="682752"/>
                  </a:cubicBezTo>
                  <a:lnTo>
                    <a:pt x="341376" y="682752"/>
                  </a:lnTo>
                  <a:cubicBezTo>
                    <a:pt x="152781" y="682752"/>
                    <a:pt x="0" y="529971"/>
                    <a:pt x="0" y="341376"/>
                  </a:cubicBezTo>
                  <a:close/>
                </a:path>
              </a:pathLst>
            </a:custGeom>
            <a:solidFill>
              <a:srgbClr val="3B82F6"/>
            </a:solidFill>
          </p:spPr>
        </p:sp>
      </p:grpSp>
      <p:grpSp>
        <p:nvGrpSpPr>
          <p:cNvPr name="Group 6" id="6"/>
          <p:cNvGrpSpPr/>
          <p:nvPr/>
        </p:nvGrpSpPr>
        <p:grpSpPr>
          <a:xfrm rot="0">
            <a:off x="1005840" y="585216"/>
            <a:ext cx="2926080" cy="512064"/>
            <a:chOff x="0" y="0"/>
            <a:chExt cx="3901440" cy="682752"/>
          </a:xfrm>
        </p:grpSpPr>
        <p:sp>
          <p:nvSpPr>
            <p:cNvPr name="Freeform 7" id="7"/>
            <p:cNvSpPr/>
            <p:nvPr/>
          </p:nvSpPr>
          <p:spPr>
            <a:xfrm flipH="false" flipV="false" rot="0">
              <a:off x="0" y="0"/>
              <a:ext cx="3901440" cy="682752"/>
            </a:xfrm>
            <a:custGeom>
              <a:avLst/>
              <a:gdLst/>
              <a:ahLst/>
              <a:cxnLst/>
              <a:rect r="r" b="b" t="t" l="l"/>
              <a:pathLst>
                <a:path h="682752" w="3901440">
                  <a:moveTo>
                    <a:pt x="0" y="0"/>
                  </a:moveTo>
                  <a:lnTo>
                    <a:pt x="3901440" y="0"/>
                  </a:lnTo>
                  <a:lnTo>
                    <a:pt x="3901440" y="682752"/>
                  </a:lnTo>
                  <a:lnTo>
                    <a:pt x="0" y="682752"/>
                  </a:lnTo>
                  <a:close/>
                </a:path>
              </a:pathLst>
            </a:custGeom>
            <a:blipFill>
              <a:blip r:embed="rId3">
                <a:alphaModFix amt="0"/>
              </a:blip>
              <a:stretch>
                <a:fillRect l="0" t="-61343" r="0" b="-61343"/>
              </a:stretch>
            </a:blipFill>
          </p:spPr>
        </p:sp>
        <p:sp>
          <p:nvSpPr>
            <p:cNvPr name="TextBox 8" id="8"/>
            <p:cNvSpPr txBox="true"/>
            <p:nvPr/>
          </p:nvSpPr>
          <p:spPr>
            <a:xfrm>
              <a:off x="0" y="-38100"/>
              <a:ext cx="3901440" cy="72085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ANALYSIS</a:t>
              </a:r>
            </a:p>
          </p:txBody>
        </p:sp>
      </p:grpSp>
      <p:grpSp>
        <p:nvGrpSpPr>
          <p:cNvPr name="Group 9" id="9"/>
          <p:cNvGrpSpPr/>
          <p:nvPr/>
        </p:nvGrpSpPr>
        <p:grpSpPr>
          <a:xfrm rot="0">
            <a:off x="1005840" y="1060704"/>
            <a:ext cx="16276320" cy="1550417"/>
            <a:chOff x="0" y="0"/>
            <a:chExt cx="21701760" cy="2067223"/>
          </a:xfrm>
        </p:grpSpPr>
        <p:sp>
          <p:nvSpPr>
            <p:cNvPr name="Freeform 10" id="10"/>
            <p:cNvSpPr/>
            <p:nvPr/>
          </p:nvSpPr>
          <p:spPr>
            <a:xfrm flipH="false" flipV="false" rot="0">
              <a:off x="0" y="0"/>
              <a:ext cx="21701761" cy="2067223"/>
            </a:xfrm>
            <a:custGeom>
              <a:avLst/>
              <a:gdLst/>
              <a:ahLst/>
              <a:cxnLst/>
              <a:rect r="r" b="b" t="t" l="l"/>
              <a:pathLst>
                <a:path h="2067223" w="21701761">
                  <a:moveTo>
                    <a:pt x="0" y="0"/>
                  </a:moveTo>
                  <a:lnTo>
                    <a:pt x="21701761" y="0"/>
                  </a:lnTo>
                  <a:lnTo>
                    <a:pt x="21701761" y="2067223"/>
                  </a:lnTo>
                  <a:lnTo>
                    <a:pt x="0" y="2067223"/>
                  </a:lnTo>
                  <a:close/>
                </a:path>
              </a:pathLst>
            </a:custGeom>
            <a:blipFill>
              <a:blip r:embed="rId3">
                <a:alphaModFix amt="0"/>
              </a:blip>
              <a:stretch>
                <a:fillRect l="0" t="-176245" r="0" b="-132863"/>
              </a:stretch>
            </a:blipFill>
          </p:spPr>
        </p:sp>
        <p:sp>
          <p:nvSpPr>
            <p:cNvPr name="TextBox 11" id="11"/>
            <p:cNvSpPr txBox="true"/>
            <p:nvPr/>
          </p:nvSpPr>
          <p:spPr>
            <a:xfrm>
              <a:off x="0" y="-76200"/>
              <a:ext cx="21701760" cy="2143423"/>
            </a:xfrm>
            <a:prstGeom prst="rect">
              <a:avLst/>
            </a:prstGeom>
          </p:spPr>
          <p:txBody>
            <a:bodyPr anchor="ctr" rtlCol="false" tIns="0" lIns="0" bIns="0" rIns="0"/>
            <a:lstStyle/>
            <a:p>
              <a:pPr algn="l">
                <a:lnSpc>
                  <a:spcPts val="5280"/>
                </a:lnSpc>
              </a:pPr>
              <a:r>
                <a:rPr lang="en-US" sz="4400" b="true">
                  <a:solidFill>
                    <a:srgbClr val="1A2744"/>
                  </a:solidFill>
                  <a:latin typeface="Calibri (MS) Bold"/>
                  <a:ea typeface="Calibri (MS) Bold"/>
                  <a:cs typeface="Calibri (MS) Bold"/>
                  <a:sym typeface="Calibri (MS) Bold"/>
                </a:rPr>
                <a:t>SL</a:t>
              </a:r>
              <a:r>
                <a:rPr lang="en-US" sz="4400" b="true">
                  <a:solidFill>
                    <a:srgbClr val="1A2744"/>
                  </a:solidFill>
                  <a:latin typeface="Calibri (MS) Bold"/>
                  <a:ea typeface="Calibri (MS) Bold"/>
                  <a:cs typeface="Calibri (MS) Bold"/>
                  <a:sym typeface="Calibri (MS) Bold"/>
                </a:rPr>
                <a:t>A — Model Head-to-Head: PICP &amp; WIS per Location</a:t>
              </a:r>
            </a:p>
            <a:p>
              <a:pPr algn="l">
                <a:lnSpc>
                  <a:spcPts val="5280"/>
                </a:lnSpc>
              </a:pPr>
            </a:p>
          </p:txBody>
        </p:sp>
      </p:grpSp>
      <p:grpSp>
        <p:nvGrpSpPr>
          <p:cNvPr name="Group 12" id="12"/>
          <p:cNvGrpSpPr/>
          <p:nvPr/>
        </p:nvGrpSpPr>
        <p:grpSpPr>
          <a:xfrm rot="0">
            <a:off x="17190720" y="9646920"/>
            <a:ext cx="731520" cy="457200"/>
            <a:chOff x="0" y="0"/>
            <a:chExt cx="975360" cy="609600"/>
          </a:xfrm>
        </p:grpSpPr>
        <p:sp>
          <p:nvSpPr>
            <p:cNvPr name="Freeform 13" id="13"/>
            <p:cNvSpPr/>
            <p:nvPr/>
          </p:nvSpPr>
          <p:spPr>
            <a:xfrm flipH="false" flipV="false" rot="0">
              <a:off x="0" y="0"/>
              <a:ext cx="975360" cy="609600"/>
            </a:xfrm>
            <a:custGeom>
              <a:avLst/>
              <a:gdLst/>
              <a:ahLst/>
              <a:cxnLst/>
              <a:rect r="r" b="b" t="t" l="l"/>
              <a:pathLst>
                <a:path h="609600" w="975360">
                  <a:moveTo>
                    <a:pt x="0" y="0"/>
                  </a:moveTo>
                  <a:lnTo>
                    <a:pt x="975360" y="0"/>
                  </a:lnTo>
                  <a:lnTo>
                    <a:pt x="975360" y="609600"/>
                  </a:lnTo>
                  <a:lnTo>
                    <a:pt x="0" y="609600"/>
                  </a:lnTo>
                  <a:close/>
                </a:path>
              </a:pathLst>
            </a:custGeom>
            <a:blipFill>
              <a:blip r:embed="rId3">
                <a:alphaModFix amt="0"/>
              </a:blip>
              <a:stretch>
                <a:fillRect l="-30189" t="0" r="-30189" b="0"/>
              </a:stretch>
            </a:blipFill>
          </p:spPr>
        </p:sp>
        <p:sp>
          <p:nvSpPr>
            <p:cNvPr name="TextBox 14" id="14"/>
            <p:cNvSpPr txBox="true"/>
            <p:nvPr/>
          </p:nvSpPr>
          <p:spPr>
            <a:xfrm>
              <a:off x="0" y="-38100"/>
              <a:ext cx="975360" cy="647700"/>
            </a:xfrm>
            <a:prstGeom prst="rect">
              <a:avLst/>
            </a:prstGeom>
          </p:spPr>
          <p:txBody>
            <a:bodyPr anchor="ctr" rtlCol="false" tIns="0" lIns="0" bIns="0" rIns="0"/>
            <a:lstStyle/>
            <a:p>
              <a:pPr algn="r">
                <a:lnSpc>
                  <a:spcPts val="2160"/>
                </a:lnSpc>
              </a:pPr>
              <a:r>
                <a:rPr lang="en-US" sz="1800">
                  <a:solidFill>
                    <a:srgbClr val="64748B"/>
                  </a:solidFill>
                  <a:latin typeface="Calibri (MS)"/>
                  <a:ea typeface="Calibri (MS)"/>
                  <a:cs typeface="Calibri (MS)"/>
                  <a:sym typeface="Calibri (MS)"/>
                </a:rPr>
                <a:t>18</a:t>
              </a:r>
            </a:p>
          </p:txBody>
        </p:sp>
      </p:grpSp>
      <p:grpSp>
        <p:nvGrpSpPr>
          <p:cNvPr name="Group 15" id="15"/>
          <p:cNvGrpSpPr/>
          <p:nvPr/>
        </p:nvGrpSpPr>
        <p:grpSpPr>
          <a:xfrm rot="0">
            <a:off x="1005840" y="8741664"/>
            <a:ext cx="16276320" cy="1097280"/>
            <a:chOff x="0" y="0"/>
            <a:chExt cx="21701760" cy="1463040"/>
          </a:xfrm>
        </p:grpSpPr>
        <p:sp>
          <p:nvSpPr>
            <p:cNvPr name="Freeform 16" id="16"/>
            <p:cNvSpPr/>
            <p:nvPr/>
          </p:nvSpPr>
          <p:spPr>
            <a:xfrm flipH="false" flipV="false" rot="0">
              <a:off x="0" y="0"/>
              <a:ext cx="21701761" cy="1463040"/>
            </a:xfrm>
            <a:custGeom>
              <a:avLst/>
              <a:gdLst/>
              <a:ahLst/>
              <a:cxnLst/>
              <a:rect r="r" b="b" t="t" l="l"/>
              <a:pathLst>
                <a:path h="1463040" w="21701761">
                  <a:moveTo>
                    <a:pt x="0" y="292608"/>
                  </a:moveTo>
                  <a:cubicBezTo>
                    <a:pt x="0" y="131064"/>
                    <a:pt x="131064" y="0"/>
                    <a:pt x="292608" y="0"/>
                  </a:cubicBezTo>
                  <a:lnTo>
                    <a:pt x="21409152" y="0"/>
                  </a:lnTo>
                  <a:cubicBezTo>
                    <a:pt x="21570696" y="0"/>
                    <a:pt x="21701761" y="131064"/>
                    <a:pt x="21701761" y="292608"/>
                  </a:cubicBezTo>
                  <a:lnTo>
                    <a:pt x="21701761" y="1170432"/>
                  </a:lnTo>
                  <a:cubicBezTo>
                    <a:pt x="21701761" y="1331976"/>
                    <a:pt x="21570696" y="1463040"/>
                    <a:pt x="21409152" y="1463040"/>
                  </a:cubicBezTo>
                  <a:lnTo>
                    <a:pt x="292608" y="1463040"/>
                  </a:lnTo>
                  <a:cubicBezTo>
                    <a:pt x="131064" y="1463040"/>
                    <a:pt x="0" y="1331976"/>
                    <a:pt x="0" y="1170432"/>
                  </a:cubicBezTo>
                  <a:close/>
                </a:path>
              </a:pathLst>
            </a:custGeom>
            <a:solidFill>
              <a:srgbClr val="DBEAFE"/>
            </a:solidFill>
          </p:spPr>
        </p:sp>
      </p:grpSp>
      <p:grpSp>
        <p:nvGrpSpPr>
          <p:cNvPr name="Group 17" id="17"/>
          <p:cNvGrpSpPr/>
          <p:nvPr/>
        </p:nvGrpSpPr>
        <p:grpSpPr>
          <a:xfrm rot="0">
            <a:off x="1225296" y="8814816"/>
            <a:ext cx="15837408" cy="950976"/>
            <a:chOff x="0" y="0"/>
            <a:chExt cx="21116544" cy="1267968"/>
          </a:xfrm>
        </p:grpSpPr>
        <p:sp>
          <p:nvSpPr>
            <p:cNvPr name="Freeform 18" id="18"/>
            <p:cNvSpPr/>
            <p:nvPr/>
          </p:nvSpPr>
          <p:spPr>
            <a:xfrm flipH="false" flipV="false" rot="0">
              <a:off x="0" y="0"/>
              <a:ext cx="21116544" cy="1267968"/>
            </a:xfrm>
            <a:custGeom>
              <a:avLst/>
              <a:gdLst/>
              <a:ahLst/>
              <a:cxnLst/>
              <a:rect r="r" b="b" t="t" l="l"/>
              <a:pathLst>
                <a:path h="1267968" w="21116544">
                  <a:moveTo>
                    <a:pt x="0" y="0"/>
                  </a:moveTo>
                  <a:lnTo>
                    <a:pt x="21116544" y="0"/>
                  </a:lnTo>
                  <a:lnTo>
                    <a:pt x="21116544" y="1267968"/>
                  </a:lnTo>
                  <a:lnTo>
                    <a:pt x="0" y="1267968"/>
                  </a:lnTo>
                  <a:close/>
                </a:path>
              </a:pathLst>
            </a:custGeom>
            <a:blipFill>
              <a:blip r:embed="rId3">
                <a:alphaModFix amt="0"/>
              </a:blip>
              <a:stretch>
                <a:fillRect l="0" t="-274500" r="0" b="-274500"/>
              </a:stretch>
            </a:blipFill>
          </p:spPr>
        </p:sp>
        <p:sp>
          <p:nvSpPr>
            <p:cNvPr name="TextBox 19" id="19"/>
            <p:cNvSpPr txBox="true"/>
            <p:nvPr/>
          </p:nvSpPr>
          <p:spPr>
            <a:xfrm>
              <a:off x="0" y="-38100"/>
              <a:ext cx="21116544" cy="1306068"/>
            </a:xfrm>
            <a:prstGeom prst="rect">
              <a:avLst/>
            </a:prstGeom>
          </p:spPr>
          <p:txBody>
            <a:bodyPr anchor="ctr" rtlCol="false" tIns="0" lIns="0" bIns="0" rIns="0"/>
            <a:lstStyle/>
            <a:p>
              <a:pPr algn="l">
                <a:lnSpc>
                  <a:spcPts val="2400"/>
                </a:lnSpc>
              </a:pPr>
              <a:r>
                <a:rPr lang="en-US" sz="2000">
                  <a:solidFill>
                    <a:srgbClr val="334155"/>
                  </a:solidFill>
                  <a:latin typeface="Calibri (MS)"/>
                  <a:ea typeface="Calibri (MS)"/>
                  <a:cs typeface="Calibri (MS)"/>
                  <a:sym typeface="Calibri (MS)"/>
                </a:rPr>
                <a:t>G</a:t>
              </a:r>
              <a:r>
                <a:rPr lang="en-US" sz="2000">
                  <a:solidFill>
                    <a:srgbClr val="334155"/>
                  </a:solidFill>
                  <a:latin typeface="Calibri (MS)"/>
                  <a:ea typeface="Calibri (MS)"/>
                  <a:cs typeface="Calibri (MS)"/>
                  <a:sym typeface="Calibri (MS)"/>
                </a:rPr>
                <a:t>RU-Q wins 4/5 on WIS (sharpest calibrated intervals). SimpleRNN-Q wins at Andaman Sea — bias-variance tradeoff in action.</a:t>
              </a:r>
            </a:p>
            <a:p>
              <a:pPr algn="l">
                <a:lnSpc>
                  <a:spcPts val="2400"/>
                </a:lnSpc>
              </a:pPr>
            </a:p>
          </p:txBody>
        </p:sp>
      </p:grpSp>
      <p:sp>
        <p:nvSpPr>
          <p:cNvPr name="Freeform 20" id="20"/>
          <p:cNvSpPr/>
          <p:nvPr/>
        </p:nvSpPr>
        <p:spPr>
          <a:xfrm flipH="false" flipV="false" rot="0">
            <a:off x="1028700" y="1835913"/>
            <a:ext cx="14316308" cy="6692874"/>
          </a:xfrm>
          <a:custGeom>
            <a:avLst/>
            <a:gdLst/>
            <a:ahLst/>
            <a:cxnLst/>
            <a:rect r="r" b="b" t="t" l="l"/>
            <a:pathLst>
              <a:path h="6692874" w="14316308">
                <a:moveTo>
                  <a:pt x="0" y="0"/>
                </a:moveTo>
                <a:lnTo>
                  <a:pt x="14316308" y="0"/>
                </a:lnTo>
                <a:lnTo>
                  <a:pt x="14316308" y="6692874"/>
                </a:lnTo>
                <a:lnTo>
                  <a:pt x="0" y="6692874"/>
                </a:lnTo>
                <a:lnTo>
                  <a:pt x="0" y="0"/>
                </a:lnTo>
                <a:close/>
              </a:path>
            </a:pathLst>
          </a:custGeom>
          <a:blipFill>
            <a:blip r:embed="rId4"/>
            <a:stretch>
              <a:fillRect l="0" t="0" r="0" b="0"/>
            </a:stretch>
          </a:blipFill>
        </p:spPr>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73152"/>
            <a:chOff x="0" y="0"/>
            <a:chExt cx="24384000" cy="97536"/>
          </a:xfrm>
        </p:grpSpPr>
        <p:sp>
          <p:nvSpPr>
            <p:cNvPr name="Freeform 3" id="3"/>
            <p:cNvSpPr/>
            <p:nvPr/>
          </p:nvSpPr>
          <p:spPr>
            <a:xfrm flipH="false" flipV="false" rot="0">
              <a:off x="0" y="0"/>
              <a:ext cx="24384000" cy="97536"/>
            </a:xfrm>
            <a:custGeom>
              <a:avLst/>
              <a:gdLst/>
              <a:ahLst/>
              <a:cxnLst/>
              <a:rect r="r" b="b" t="t" l="l"/>
              <a:pathLst>
                <a:path h="97536" w="24384000">
                  <a:moveTo>
                    <a:pt x="0" y="0"/>
                  </a:moveTo>
                  <a:lnTo>
                    <a:pt x="24384000" y="0"/>
                  </a:lnTo>
                  <a:lnTo>
                    <a:pt x="24384000" y="97536"/>
                  </a:lnTo>
                  <a:lnTo>
                    <a:pt x="0" y="97536"/>
                  </a:lnTo>
                  <a:close/>
                </a:path>
              </a:pathLst>
            </a:custGeom>
            <a:solidFill>
              <a:srgbClr val="3B82F6"/>
            </a:solidFill>
          </p:spPr>
        </p:sp>
      </p:grpSp>
      <p:grpSp>
        <p:nvGrpSpPr>
          <p:cNvPr name="Group 4" id="4"/>
          <p:cNvGrpSpPr/>
          <p:nvPr/>
        </p:nvGrpSpPr>
        <p:grpSpPr>
          <a:xfrm rot="0">
            <a:off x="1005840" y="585216"/>
            <a:ext cx="2926080" cy="512064"/>
            <a:chOff x="0" y="0"/>
            <a:chExt cx="3901440" cy="682752"/>
          </a:xfrm>
        </p:grpSpPr>
        <p:sp>
          <p:nvSpPr>
            <p:cNvPr name="Freeform 5" id="5"/>
            <p:cNvSpPr/>
            <p:nvPr/>
          </p:nvSpPr>
          <p:spPr>
            <a:xfrm flipH="false" flipV="false" rot="0">
              <a:off x="0" y="0"/>
              <a:ext cx="3901440" cy="682752"/>
            </a:xfrm>
            <a:custGeom>
              <a:avLst/>
              <a:gdLst/>
              <a:ahLst/>
              <a:cxnLst/>
              <a:rect r="r" b="b" t="t" l="l"/>
              <a:pathLst>
                <a:path h="682752" w="3901440">
                  <a:moveTo>
                    <a:pt x="0" y="341376"/>
                  </a:moveTo>
                  <a:cubicBezTo>
                    <a:pt x="0" y="152781"/>
                    <a:pt x="152781" y="0"/>
                    <a:pt x="341376" y="0"/>
                  </a:cubicBezTo>
                  <a:lnTo>
                    <a:pt x="3560064" y="0"/>
                  </a:lnTo>
                  <a:cubicBezTo>
                    <a:pt x="3748659" y="0"/>
                    <a:pt x="3901440" y="152781"/>
                    <a:pt x="3901440" y="341376"/>
                  </a:cubicBezTo>
                  <a:cubicBezTo>
                    <a:pt x="3901440" y="529971"/>
                    <a:pt x="3748659" y="682752"/>
                    <a:pt x="3560064" y="682752"/>
                  </a:cubicBezTo>
                  <a:lnTo>
                    <a:pt x="341376" y="682752"/>
                  </a:lnTo>
                  <a:cubicBezTo>
                    <a:pt x="152781" y="682752"/>
                    <a:pt x="0" y="529971"/>
                    <a:pt x="0" y="341376"/>
                  </a:cubicBezTo>
                  <a:close/>
                </a:path>
              </a:pathLst>
            </a:custGeom>
            <a:solidFill>
              <a:srgbClr val="3B82F6"/>
            </a:solidFill>
          </p:spPr>
        </p:sp>
      </p:grpSp>
      <p:grpSp>
        <p:nvGrpSpPr>
          <p:cNvPr name="Group 6" id="6"/>
          <p:cNvGrpSpPr/>
          <p:nvPr/>
        </p:nvGrpSpPr>
        <p:grpSpPr>
          <a:xfrm rot="0">
            <a:off x="1005840" y="585216"/>
            <a:ext cx="2926080" cy="512064"/>
            <a:chOff x="0" y="0"/>
            <a:chExt cx="3901440" cy="682752"/>
          </a:xfrm>
        </p:grpSpPr>
        <p:sp>
          <p:nvSpPr>
            <p:cNvPr name="Freeform 7" id="7"/>
            <p:cNvSpPr/>
            <p:nvPr/>
          </p:nvSpPr>
          <p:spPr>
            <a:xfrm flipH="false" flipV="false" rot="0">
              <a:off x="0" y="0"/>
              <a:ext cx="3901440" cy="682752"/>
            </a:xfrm>
            <a:custGeom>
              <a:avLst/>
              <a:gdLst/>
              <a:ahLst/>
              <a:cxnLst/>
              <a:rect r="r" b="b" t="t" l="l"/>
              <a:pathLst>
                <a:path h="682752" w="3901440">
                  <a:moveTo>
                    <a:pt x="0" y="0"/>
                  </a:moveTo>
                  <a:lnTo>
                    <a:pt x="3901440" y="0"/>
                  </a:lnTo>
                  <a:lnTo>
                    <a:pt x="3901440" y="682752"/>
                  </a:lnTo>
                  <a:lnTo>
                    <a:pt x="0" y="682752"/>
                  </a:lnTo>
                  <a:close/>
                </a:path>
              </a:pathLst>
            </a:custGeom>
            <a:blipFill>
              <a:blip r:embed="rId3">
                <a:alphaModFix amt="0"/>
              </a:blip>
              <a:stretch>
                <a:fillRect l="0" t="-61343" r="0" b="-61343"/>
              </a:stretch>
            </a:blipFill>
          </p:spPr>
        </p:sp>
        <p:sp>
          <p:nvSpPr>
            <p:cNvPr name="TextBox 8" id="8"/>
            <p:cNvSpPr txBox="true"/>
            <p:nvPr/>
          </p:nvSpPr>
          <p:spPr>
            <a:xfrm>
              <a:off x="0" y="-38100"/>
              <a:ext cx="3901440" cy="72085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ANALYSIS</a:t>
              </a:r>
            </a:p>
          </p:txBody>
        </p:sp>
      </p:grpSp>
      <p:grpSp>
        <p:nvGrpSpPr>
          <p:cNvPr name="Group 9" id="9"/>
          <p:cNvGrpSpPr/>
          <p:nvPr/>
        </p:nvGrpSpPr>
        <p:grpSpPr>
          <a:xfrm rot="0">
            <a:off x="1005840" y="1060704"/>
            <a:ext cx="16276320" cy="1550417"/>
            <a:chOff x="0" y="0"/>
            <a:chExt cx="21701760" cy="2067223"/>
          </a:xfrm>
        </p:grpSpPr>
        <p:sp>
          <p:nvSpPr>
            <p:cNvPr name="Freeform 10" id="10"/>
            <p:cNvSpPr/>
            <p:nvPr/>
          </p:nvSpPr>
          <p:spPr>
            <a:xfrm flipH="false" flipV="false" rot="0">
              <a:off x="0" y="0"/>
              <a:ext cx="21701761" cy="2067223"/>
            </a:xfrm>
            <a:custGeom>
              <a:avLst/>
              <a:gdLst/>
              <a:ahLst/>
              <a:cxnLst/>
              <a:rect r="r" b="b" t="t" l="l"/>
              <a:pathLst>
                <a:path h="2067223" w="21701761">
                  <a:moveTo>
                    <a:pt x="0" y="0"/>
                  </a:moveTo>
                  <a:lnTo>
                    <a:pt x="21701761" y="0"/>
                  </a:lnTo>
                  <a:lnTo>
                    <a:pt x="21701761" y="2067223"/>
                  </a:lnTo>
                  <a:lnTo>
                    <a:pt x="0" y="2067223"/>
                  </a:lnTo>
                  <a:close/>
                </a:path>
              </a:pathLst>
            </a:custGeom>
            <a:blipFill>
              <a:blip r:embed="rId3">
                <a:alphaModFix amt="0"/>
              </a:blip>
              <a:stretch>
                <a:fillRect l="0" t="-176245" r="0" b="-132863"/>
              </a:stretch>
            </a:blipFill>
          </p:spPr>
        </p:sp>
        <p:sp>
          <p:nvSpPr>
            <p:cNvPr name="TextBox 11" id="11"/>
            <p:cNvSpPr txBox="true"/>
            <p:nvPr/>
          </p:nvSpPr>
          <p:spPr>
            <a:xfrm>
              <a:off x="0" y="-76200"/>
              <a:ext cx="21701760" cy="2143423"/>
            </a:xfrm>
            <a:prstGeom prst="rect">
              <a:avLst/>
            </a:prstGeom>
          </p:spPr>
          <p:txBody>
            <a:bodyPr anchor="ctr" rtlCol="false" tIns="0" lIns="0" bIns="0" rIns="0"/>
            <a:lstStyle/>
            <a:p>
              <a:pPr algn="l">
                <a:lnSpc>
                  <a:spcPts val="5280"/>
                </a:lnSpc>
              </a:pPr>
              <a:r>
                <a:rPr lang="en-US" sz="4400" b="true">
                  <a:solidFill>
                    <a:srgbClr val="1A2744"/>
                  </a:solidFill>
                  <a:latin typeface="Calibri (MS) Bold"/>
                  <a:ea typeface="Calibri (MS) Bold"/>
                  <a:cs typeface="Calibri (MS) Bold"/>
                  <a:sym typeface="Calibri (MS) Bold"/>
                </a:rPr>
                <a:t>SWH — Mod</a:t>
              </a:r>
              <a:r>
                <a:rPr lang="en-US" sz="4400" b="true">
                  <a:solidFill>
                    <a:srgbClr val="1A2744"/>
                  </a:solidFill>
                  <a:latin typeface="Calibri (MS) Bold"/>
                  <a:ea typeface="Calibri (MS) Bold"/>
                  <a:cs typeface="Calibri (MS) Bold"/>
                  <a:sym typeface="Calibri (MS) Bold"/>
                </a:rPr>
                <a:t>el Head-to-Head: PICP &amp; WIS per Location</a:t>
              </a:r>
            </a:p>
            <a:p>
              <a:pPr algn="l">
                <a:lnSpc>
                  <a:spcPts val="5280"/>
                </a:lnSpc>
              </a:pPr>
            </a:p>
          </p:txBody>
        </p:sp>
      </p:grpSp>
      <p:grpSp>
        <p:nvGrpSpPr>
          <p:cNvPr name="Group 12" id="12"/>
          <p:cNvGrpSpPr/>
          <p:nvPr/>
        </p:nvGrpSpPr>
        <p:grpSpPr>
          <a:xfrm rot="0">
            <a:off x="17190720" y="9646920"/>
            <a:ext cx="731520" cy="457200"/>
            <a:chOff x="0" y="0"/>
            <a:chExt cx="975360" cy="609600"/>
          </a:xfrm>
        </p:grpSpPr>
        <p:sp>
          <p:nvSpPr>
            <p:cNvPr name="Freeform 13" id="13"/>
            <p:cNvSpPr/>
            <p:nvPr/>
          </p:nvSpPr>
          <p:spPr>
            <a:xfrm flipH="false" flipV="false" rot="0">
              <a:off x="0" y="0"/>
              <a:ext cx="975360" cy="609600"/>
            </a:xfrm>
            <a:custGeom>
              <a:avLst/>
              <a:gdLst/>
              <a:ahLst/>
              <a:cxnLst/>
              <a:rect r="r" b="b" t="t" l="l"/>
              <a:pathLst>
                <a:path h="609600" w="975360">
                  <a:moveTo>
                    <a:pt x="0" y="0"/>
                  </a:moveTo>
                  <a:lnTo>
                    <a:pt x="975360" y="0"/>
                  </a:lnTo>
                  <a:lnTo>
                    <a:pt x="975360" y="609600"/>
                  </a:lnTo>
                  <a:lnTo>
                    <a:pt x="0" y="609600"/>
                  </a:lnTo>
                  <a:close/>
                </a:path>
              </a:pathLst>
            </a:custGeom>
            <a:blipFill>
              <a:blip r:embed="rId3">
                <a:alphaModFix amt="0"/>
              </a:blip>
              <a:stretch>
                <a:fillRect l="-30189" t="0" r="-30189" b="0"/>
              </a:stretch>
            </a:blipFill>
          </p:spPr>
        </p:sp>
        <p:sp>
          <p:nvSpPr>
            <p:cNvPr name="TextBox 14" id="14"/>
            <p:cNvSpPr txBox="true"/>
            <p:nvPr/>
          </p:nvSpPr>
          <p:spPr>
            <a:xfrm>
              <a:off x="0" y="-38100"/>
              <a:ext cx="975360" cy="647700"/>
            </a:xfrm>
            <a:prstGeom prst="rect">
              <a:avLst/>
            </a:prstGeom>
          </p:spPr>
          <p:txBody>
            <a:bodyPr anchor="ctr" rtlCol="false" tIns="0" lIns="0" bIns="0" rIns="0"/>
            <a:lstStyle/>
            <a:p>
              <a:pPr algn="r">
                <a:lnSpc>
                  <a:spcPts val="2160"/>
                </a:lnSpc>
              </a:pPr>
              <a:r>
                <a:rPr lang="en-US" sz="1800">
                  <a:solidFill>
                    <a:srgbClr val="64748B"/>
                  </a:solidFill>
                  <a:latin typeface="Calibri (MS)"/>
                  <a:ea typeface="Calibri (MS)"/>
                  <a:cs typeface="Calibri (MS)"/>
                  <a:sym typeface="Calibri (MS)"/>
                </a:rPr>
                <a:t>19</a:t>
              </a:r>
            </a:p>
          </p:txBody>
        </p:sp>
      </p:grpSp>
      <p:grpSp>
        <p:nvGrpSpPr>
          <p:cNvPr name="Group 15" id="15"/>
          <p:cNvGrpSpPr/>
          <p:nvPr/>
        </p:nvGrpSpPr>
        <p:grpSpPr>
          <a:xfrm rot="0">
            <a:off x="1005840" y="8741664"/>
            <a:ext cx="16276320" cy="1097280"/>
            <a:chOff x="0" y="0"/>
            <a:chExt cx="21701760" cy="1463040"/>
          </a:xfrm>
        </p:grpSpPr>
        <p:sp>
          <p:nvSpPr>
            <p:cNvPr name="Freeform 16" id="16"/>
            <p:cNvSpPr/>
            <p:nvPr/>
          </p:nvSpPr>
          <p:spPr>
            <a:xfrm flipH="false" flipV="false" rot="0">
              <a:off x="0" y="0"/>
              <a:ext cx="21701761" cy="1463040"/>
            </a:xfrm>
            <a:custGeom>
              <a:avLst/>
              <a:gdLst/>
              <a:ahLst/>
              <a:cxnLst/>
              <a:rect r="r" b="b" t="t" l="l"/>
              <a:pathLst>
                <a:path h="1463040" w="21701761">
                  <a:moveTo>
                    <a:pt x="0" y="292608"/>
                  </a:moveTo>
                  <a:cubicBezTo>
                    <a:pt x="0" y="131064"/>
                    <a:pt x="131064" y="0"/>
                    <a:pt x="292608" y="0"/>
                  </a:cubicBezTo>
                  <a:lnTo>
                    <a:pt x="21409152" y="0"/>
                  </a:lnTo>
                  <a:cubicBezTo>
                    <a:pt x="21570696" y="0"/>
                    <a:pt x="21701761" y="131064"/>
                    <a:pt x="21701761" y="292608"/>
                  </a:cubicBezTo>
                  <a:lnTo>
                    <a:pt x="21701761" y="1170432"/>
                  </a:lnTo>
                  <a:cubicBezTo>
                    <a:pt x="21701761" y="1331976"/>
                    <a:pt x="21570696" y="1463040"/>
                    <a:pt x="21409152" y="1463040"/>
                  </a:cubicBezTo>
                  <a:lnTo>
                    <a:pt x="292608" y="1463040"/>
                  </a:lnTo>
                  <a:cubicBezTo>
                    <a:pt x="131064" y="1463040"/>
                    <a:pt x="0" y="1331976"/>
                    <a:pt x="0" y="1170432"/>
                  </a:cubicBezTo>
                  <a:close/>
                </a:path>
              </a:pathLst>
            </a:custGeom>
            <a:solidFill>
              <a:srgbClr val="DBEAFE"/>
            </a:solidFill>
          </p:spPr>
        </p:sp>
      </p:grpSp>
      <p:grpSp>
        <p:nvGrpSpPr>
          <p:cNvPr name="Group 17" id="17"/>
          <p:cNvGrpSpPr/>
          <p:nvPr/>
        </p:nvGrpSpPr>
        <p:grpSpPr>
          <a:xfrm rot="0">
            <a:off x="1225296" y="8814816"/>
            <a:ext cx="15837408" cy="950976"/>
            <a:chOff x="0" y="0"/>
            <a:chExt cx="21116544" cy="1267968"/>
          </a:xfrm>
        </p:grpSpPr>
        <p:sp>
          <p:nvSpPr>
            <p:cNvPr name="Freeform 18" id="18"/>
            <p:cNvSpPr/>
            <p:nvPr/>
          </p:nvSpPr>
          <p:spPr>
            <a:xfrm flipH="false" flipV="false" rot="0">
              <a:off x="0" y="0"/>
              <a:ext cx="21116544" cy="1267968"/>
            </a:xfrm>
            <a:custGeom>
              <a:avLst/>
              <a:gdLst/>
              <a:ahLst/>
              <a:cxnLst/>
              <a:rect r="r" b="b" t="t" l="l"/>
              <a:pathLst>
                <a:path h="1267968" w="21116544">
                  <a:moveTo>
                    <a:pt x="0" y="0"/>
                  </a:moveTo>
                  <a:lnTo>
                    <a:pt x="21116544" y="0"/>
                  </a:lnTo>
                  <a:lnTo>
                    <a:pt x="21116544" y="1267968"/>
                  </a:lnTo>
                  <a:lnTo>
                    <a:pt x="0" y="1267968"/>
                  </a:lnTo>
                  <a:close/>
                </a:path>
              </a:pathLst>
            </a:custGeom>
            <a:blipFill>
              <a:blip r:embed="rId3">
                <a:alphaModFix amt="0"/>
              </a:blip>
              <a:stretch>
                <a:fillRect l="0" t="-274500" r="0" b="-274500"/>
              </a:stretch>
            </a:blipFill>
          </p:spPr>
        </p:sp>
        <p:sp>
          <p:nvSpPr>
            <p:cNvPr name="TextBox 19" id="19"/>
            <p:cNvSpPr txBox="true"/>
            <p:nvPr/>
          </p:nvSpPr>
          <p:spPr>
            <a:xfrm>
              <a:off x="0" y="-38100"/>
              <a:ext cx="21116544" cy="1306068"/>
            </a:xfrm>
            <a:prstGeom prst="rect">
              <a:avLst/>
            </a:prstGeom>
          </p:spPr>
          <p:txBody>
            <a:bodyPr anchor="ctr" rtlCol="false" tIns="0" lIns="0" bIns="0" rIns="0"/>
            <a:lstStyle/>
            <a:p>
              <a:pPr algn="l">
                <a:lnSpc>
                  <a:spcPts val="2400"/>
                </a:lnSpc>
              </a:pPr>
              <a:r>
                <a:rPr lang="en-US" sz="2000">
                  <a:solidFill>
                    <a:srgbClr val="334155"/>
                  </a:solidFill>
                  <a:latin typeface="Calibri (MS)"/>
                  <a:ea typeface="Calibri (MS)"/>
                  <a:cs typeface="Calibri (MS)"/>
                  <a:sym typeface="Calibri (MS)"/>
                </a:rPr>
                <a:t>MD</a:t>
              </a:r>
              <a:r>
                <a:rPr lang="en-US" sz="2000">
                  <a:solidFill>
                    <a:srgbClr val="334155"/>
                  </a:solidFill>
                  <a:latin typeface="Calibri (MS)"/>
                  <a:ea typeface="Calibri (MS)"/>
                  <a:cs typeface="Calibri (MS)"/>
                  <a:sym typeface="Calibri (MS)"/>
                </a:rPr>
                <a:t>N-GRU-K3 dominates at Arabian Sea, BoB, and Lakshadweep. GRU-Q best at Southern IO. Much tighter competition than SLA.</a:t>
              </a:r>
            </a:p>
            <a:p>
              <a:pPr algn="l">
                <a:lnSpc>
                  <a:spcPts val="2400"/>
                </a:lnSpc>
              </a:pPr>
            </a:p>
          </p:txBody>
        </p:sp>
      </p:grpSp>
      <p:sp>
        <p:nvSpPr>
          <p:cNvPr name="Freeform 20" id="20"/>
          <p:cNvSpPr/>
          <p:nvPr/>
        </p:nvSpPr>
        <p:spPr>
          <a:xfrm flipH="false" flipV="false" rot="0">
            <a:off x="1028700" y="1835913"/>
            <a:ext cx="14218492" cy="6647145"/>
          </a:xfrm>
          <a:custGeom>
            <a:avLst/>
            <a:gdLst/>
            <a:ahLst/>
            <a:cxnLst/>
            <a:rect r="r" b="b" t="t" l="l"/>
            <a:pathLst>
              <a:path h="6647145" w="14218492">
                <a:moveTo>
                  <a:pt x="0" y="0"/>
                </a:moveTo>
                <a:lnTo>
                  <a:pt x="14218492" y="0"/>
                </a:lnTo>
                <a:lnTo>
                  <a:pt x="14218492" y="6647144"/>
                </a:lnTo>
                <a:lnTo>
                  <a:pt x="0" y="6647144"/>
                </a:lnTo>
                <a:lnTo>
                  <a:pt x="0" y="0"/>
                </a:lnTo>
                <a:close/>
              </a:path>
            </a:pathLst>
          </a:custGeom>
          <a:blipFill>
            <a:blip r:embed="rId4"/>
            <a:stretch>
              <a:fillRect l="0" t="0" r="0" b="0"/>
            </a:stretch>
          </a:blipFill>
        </p:spPr>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73152"/>
            <a:chOff x="0" y="0"/>
            <a:chExt cx="24384000" cy="97536"/>
          </a:xfrm>
        </p:grpSpPr>
        <p:sp>
          <p:nvSpPr>
            <p:cNvPr name="Freeform 3" id="3"/>
            <p:cNvSpPr/>
            <p:nvPr/>
          </p:nvSpPr>
          <p:spPr>
            <a:xfrm flipH="false" flipV="false" rot="0">
              <a:off x="0" y="0"/>
              <a:ext cx="24384000" cy="97536"/>
            </a:xfrm>
            <a:custGeom>
              <a:avLst/>
              <a:gdLst/>
              <a:ahLst/>
              <a:cxnLst/>
              <a:rect r="r" b="b" t="t" l="l"/>
              <a:pathLst>
                <a:path h="97536" w="24384000">
                  <a:moveTo>
                    <a:pt x="0" y="0"/>
                  </a:moveTo>
                  <a:lnTo>
                    <a:pt x="24384000" y="0"/>
                  </a:lnTo>
                  <a:lnTo>
                    <a:pt x="24384000" y="97536"/>
                  </a:lnTo>
                  <a:lnTo>
                    <a:pt x="0" y="97536"/>
                  </a:lnTo>
                  <a:close/>
                </a:path>
              </a:pathLst>
            </a:custGeom>
            <a:solidFill>
              <a:srgbClr val="3B82F6"/>
            </a:solidFill>
          </p:spPr>
        </p:sp>
      </p:grpSp>
      <p:grpSp>
        <p:nvGrpSpPr>
          <p:cNvPr name="Group 4" id="4"/>
          <p:cNvGrpSpPr/>
          <p:nvPr/>
        </p:nvGrpSpPr>
        <p:grpSpPr>
          <a:xfrm rot="0">
            <a:off x="1005840" y="585216"/>
            <a:ext cx="2926080" cy="512064"/>
            <a:chOff x="0" y="0"/>
            <a:chExt cx="3901440" cy="682752"/>
          </a:xfrm>
        </p:grpSpPr>
        <p:sp>
          <p:nvSpPr>
            <p:cNvPr name="Freeform 5" id="5"/>
            <p:cNvSpPr/>
            <p:nvPr/>
          </p:nvSpPr>
          <p:spPr>
            <a:xfrm flipH="false" flipV="false" rot="0">
              <a:off x="0" y="0"/>
              <a:ext cx="3901440" cy="682752"/>
            </a:xfrm>
            <a:custGeom>
              <a:avLst/>
              <a:gdLst/>
              <a:ahLst/>
              <a:cxnLst/>
              <a:rect r="r" b="b" t="t" l="l"/>
              <a:pathLst>
                <a:path h="682752" w="3901440">
                  <a:moveTo>
                    <a:pt x="0" y="341376"/>
                  </a:moveTo>
                  <a:cubicBezTo>
                    <a:pt x="0" y="152781"/>
                    <a:pt x="152781" y="0"/>
                    <a:pt x="341376" y="0"/>
                  </a:cubicBezTo>
                  <a:lnTo>
                    <a:pt x="3560064" y="0"/>
                  </a:lnTo>
                  <a:cubicBezTo>
                    <a:pt x="3748659" y="0"/>
                    <a:pt x="3901440" y="152781"/>
                    <a:pt x="3901440" y="341376"/>
                  </a:cubicBezTo>
                  <a:cubicBezTo>
                    <a:pt x="3901440" y="529971"/>
                    <a:pt x="3748659" y="682752"/>
                    <a:pt x="3560064" y="682752"/>
                  </a:cubicBezTo>
                  <a:lnTo>
                    <a:pt x="341376" y="682752"/>
                  </a:lnTo>
                  <a:cubicBezTo>
                    <a:pt x="152781" y="682752"/>
                    <a:pt x="0" y="529971"/>
                    <a:pt x="0" y="341376"/>
                  </a:cubicBezTo>
                  <a:close/>
                </a:path>
              </a:pathLst>
            </a:custGeom>
            <a:solidFill>
              <a:srgbClr val="3B82F6"/>
            </a:solidFill>
          </p:spPr>
        </p:sp>
      </p:grpSp>
      <p:grpSp>
        <p:nvGrpSpPr>
          <p:cNvPr name="Group 6" id="6"/>
          <p:cNvGrpSpPr/>
          <p:nvPr/>
        </p:nvGrpSpPr>
        <p:grpSpPr>
          <a:xfrm rot="0">
            <a:off x="1005840" y="585216"/>
            <a:ext cx="2926080" cy="512064"/>
            <a:chOff x="0" y="0"/>
            <a:chExt cx="3901440" cy="682752"/>
          </a:xfrm>
        </p:grpSpPr>
        <p:sp>
          <p:nvSpPr>
            <p:cNvPr name="Freeform 7" id="7"/>
            <p:cNvSpPr/>
            <p:nvPr/>
          </p:nvSpPr>
          <p:spPr>
            <a:xfrm flipH="false" flipV="false" rot="0">
              <a:off x="0" y="0"/>
              <a:ext cx="3901440" cy="682752"/>
            </a:xfrm>
            <a:custGeom>
              <a:avLst/>
              <a:gdLst/>
              <a:ahLst/>
              <a:cxnLst/>
              <a:rect r="r" b="b" t="t" l="l"/>
              <a:pathLst>
                <a:path h="682752" w="3901440">
                  <a:moveTo>
                    <a:pt x="0" y="0"/>
                  </a:moveTo>
                  <a:lnTo>
                    <a:pt x="3901440" y="0"/>
                  </a:lnTo>
                  <a:lnTo>
                    <a:pt x="3901440" y="682752"/>
                  </a:lnTo>
                  <a:lnTo>
                    <a:pt x="0" y="682752"/>
                  </a:lnTo>
                  <a:close/>
                </a:path>
              </a:pathLst>
            </a:custGeom>
            <a:blipFill>
              <a:blip r:embed="rId3">
                <a:alphaModFix amt="0"/>
              </a:blip>
              <a:stretch>
                <a:fillRect l="0" t="-61343" r="0" b="-61343"/>
              </a:stretch>
            </a:blipFill>
          </p:spPr>
        </p:sp>
        <p:sp>
          <p:nvSpPr>
            <p:cNvPr name="TextBox 8" id="8"/>
            <p:cNvSpPr txBox="true"/>
            <p:nvPr/>
          </p:nvSpPr>
          <p:spPr>
            <a:xfrm>
              <a:off x="0" y="-38100"/>
              <a:ext cx="3901440" cy="72085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ANALYSIS</a:t>
              </a:r>
            </a:p>
          </p:txBody>
        </p:sp>
      </p:grpSp>
      <p:grpSp>
        <p:nvGrpSpPr>
          <p:cNvPr name="Group 9" id="9"/>
          <p:cNvGrpSpPr/>
          <p:nvPr/>
        </p:nvGrpSpPr>
        <p:grpSpPr>
          <a:xfrm rot="0">
            <a:off x="1005840" y="1060704"/>
            <a:ext cx="16276320" cy="1550417"/>
            <a:chOff x="0" y="0"/>
            <a:chExt cx="21701760" cy="2067223"/>
          </a:xfrm>
        </p:grpSpPr>
        <p:sp>
          <p:nvSpPr>
            <p:cNvPr name="Freeform 10" id="10"/>
            <p:cNvSpPr/>
            <p:nvPr/>
          </p:nvSpPr>
          <p:spPr>
            <a:xfrm flipH="false" flipV="false" rot="0">
              <a:off x="0" y="0"/>
              <a:ext cx="21701761" cy="2067223"/>
            </a:xfrm>
            <a:custGeom>
              <a:avLst/>
              <a:gdLst/>
              <a:ahLst/>
              <a:cxnLst/>
              <a:rect r="r" b="b" t="t" l="l"/>
              <a:pathLst>
                <a:path h="2067223" w="21701761">
                  <a:moveTo>
                    <a:pt x="0" y="0"/>
                  </a:moveTo>
                  <a:lnTo>
                    <a:pt x="21701761" y="0"/>
                  </a:lnTo>
                  <a:lnTo>
                    <a:pt x="21701761" y="2067223"/>
                  </a:lnTo>
                  <a:lnTo>
                    <a:pt x="0" y="2067223"/>
                  </a:lnTo>
                  <a:close/>
                </a:path>
              </a:pathLst>
            </a:custGeom>
            <a:blipFill>
              <a:blip r:embed="rId3">
                <a:alphaModFix amt="0"/>
              </a:blip>
              <a:stretch>
                <a:fillRect l="0" t="-176245" r="0" b="-132863"/>
              </a:stretch>
            </a:blipFill>
          </p:spPr>
        </p:sp>
        <p:sp>
          <p:nvSpPr>
            <p:cNvPr name="TextBox 11" id="11"/>
            <p:cNvSpPr txBox="true"/>
            <p:nvPr/>
          </p:nvSpPr>
          <p:spPr>
            <a:xfrm>
              <a:off x="0" y="-76200"/>
              <a:ext cx="21701760" cy="2143423"/>
            </a:xfrm>
            <a:prstGeom prst="rect">
              <a:avLst/>
            </a:prstGeom>
          </p:spPr>
          <p:txBody>
            <a:bodyPr anchor="ctr" rtlCol="false" tIns="0" lIns="0" bIns="0" rIns="0"/>
            <a:lstStyle/>
            <a:p>
              <a:pPr algn="l">
                <a:lnSpc>
                  <a:spcPts val="5280"/>
                </a:lnSpc>
              </a:pPr>
              <a:r>
                <a:rPr lang="en-US" sz="4400" b="true">
                  <a:solidFill>
                    <a:srgbClr val="1A2744"/>
                  </a:solidFill>
                  <a:latin typeface="Calibri (MS) Bold"/>
                  <a:ea typeface="Calibri (MS) Bold"/>
                  <a:cs typeface="Calibri (MS) Bold"/>
                  <a:sym typeface="Calibri (MS) Bold"/>
                </a:rPr>
                <a:t>Quant</a:t>
              </a:r>
              <a:r>
                <a:rPr lang="en-US" sz="4400" b="true">
                  <a:solidFill>
                    <a:srgbClr val="1A2744"/>
                  </a:solidFill>
                  <a:latin typeface="Calibri (MS) Bold"/>
                  <a:ea typeface="Calibri (MS) Bold"/>
                  <a:cs typeface="Calibri (MS) Bold"/>
                  <a:sym typeface="Calibri (MS) Bold"/>
                </a:rPr>
                <a:t>ile vs Tube Loss — Paired Comparison (SLA &amp; SWH)</a:t>
              </a:r>
            </a:p>
            <a:p>
              <a:pPr algn="l">
                <a:lnSpc>
                  <a:spcPts val="5280"/>
                </a:lnSpc>
              </a:pPr>
            </a:p>
          </p:txBody>
        </p:sp>
      </p:grpSp>
      <p:grpSp>
        <p:nvGrpSpPr>
          <p:cNvPr name="Group 12" id="12"/>
          <p:cNvGrpSpPr/>
          <p:nvPr/>
        </p:nvGrpSpPr>
        <p:grpSpPr>
          <a:xfrm rot="0">
            <a:off x="1005840" y="1938528"/>
            <a:ext cx="16276320" cy="457200"/>
            <a:chOff x="0" y="0"/>
            <a:chExt cx="21701760" cy="609600"/>
          </a:xfrm>
        </p:grpSpPr>
        <p:sp>
          <p:nvSpPr>
            <p:cNvPr name="Freeform 13" id="13"/>
            <p:cNvSpPr/>
            <p:nvPr/>
          </p:nvSpPr>
          <p:spPr>
            <a:xfrm flipH="false" flipV="false" rot="0">
              <a:off x="0" y="0"/>
              <a:ext cx="21701761" cy="609600"/>
            </a:xfrm>
            <a:custGeom>
              <a:avLst/>
              <a:gdLst/>
              <a:ahLst/>
              <a:cxnLst/>
              <a:rect r="r" b="b" t="t" l="l"/>
              <a:pathLst>
                <a:path h="609600" w="21701761">
                  <a:moveTo>
                    <a:pt x="0" y="0"/>
                  </a:moveTo>
                  <a:lnTo>
                    <a:pt x="21701761" y="0"/>
                  </a:lnTo>
                  <a:lnTo>
                    <a:pt x="21701761" y="609600"/>
                  </a:lnTo>
                  <a:lnTo>
                    <a:pt x="0" y="609600"/>
                  </a:lnTo>
                  <a:close/>
                </a:path>
              </a:pathLst>
            </a:custGeom>
            <a:blipFill>
              <a:blip r:embed="rId3">
                <a:alphaModFix amt="0"/>
              </a:blip>
              <a:stretch>
                <a:fillRect l="0" t="-643667" r="0" b="-643667"/>
              </a:stretch>
            </a:blipFill>
          </p:spPr>
        </p:sp>
        <p:sp>
          <p:nvSpPr>
            <p:cNvPr name="TextBox 14" id="14"/>
            <p:cNvSpPr txBox="true"/>
            <p:nvPr/>
          </p:nvSpPr>
          <p:spPr>
            <a:xfrm>
              <a:off x="0" y="-47625"/>
              <a:ext cx="21701760" cy="657225"/>
            </a:xfrm>
            <a:prstGeom prst="rect">
              <a:avLst/>
            </a:prstGeom>
          </p:spPr>
          <p:txBody>
            <a:bodyPr anchor="ctr" rtlCol="false" tIns="0" lIns="0" bIns="0" rIns="0"/>
            <a:lstStyle/>
            <a:p>
              <a:pPr algn="l">
                <a:lnSpc>
                  <a:spcPts val="2640"/>
                </a:lnSpc>
              </a:pPr>
              <a:r>
                <a:rPr lang="en-US" sz="2200" i="true">
                  <a:solidFill>
                    <a:srgbClr val="64748B"/>
                  </a:solidFill>
                  <a:latin typeface="Calibri (MS) Italics"/>
                  <a:ea typeface="Calibri (MS) Italics"/>
                  <a:cs typeface="Calibri (MS) Italics"/>
                  <a:sym typeface="Calibri (MS) Italics"/>
                </a:rPr>
                <a:t>RNN Family vs SSM/Attention vs Probabilistic — 5 metrics on each axis</a:t>
              </a:r>
            </a:p>
          </p:txBody>
        </p:sp>
      </p:grpSp>
      <p:grpSp>
        <p:nvGrpSpPr>
          <p:cNvPr name="Group 15" id="15"/>
          <p:cNvGrpSpPr/>
          <p:nvPr/>
        </p:nvGrpSpPr>
        <p:grpSpPr>
          <a:xfrm rot="0">
            <a:off x="17190720" y="9646920"/>
            <a:ext cx="731520" cy="457200"/>
            <a:chOff x="0" y="0"/>
            <a:chExt cx="975360" cy="609600"/>
          </a:xfrm>
        </p:grpSpPr>
        <p:sp>
          <p:nvSpPr>
            <p:cNvPr name="Freeform 16" id="16"/>
            <p:cNvSpPr/>
            <p:nvPr/>
          </p:nvSpPr>
          <p:spPr>
            <a:xfrm flipH="false" flipV="false" rot="0">
              <a:off x="0" y="0"/>
              <a:ext cx="975360" cy="609600"/>
            </a:xfrm>
            <a:custGeom>
              <a:avLst/>
              <a:gdLst/>
              <a:ahLst/>
              <a:cxnLst/>
              <a:rect r="r" b="b" t="t" l="l"/>
              <a:pathLst>
                <a:path h="609600" w="975360">
                  <a:moveTo>
                    <a:pt x="0" y="0"/>
                  </a:moveTo>
                  <a:lnTo>
                    <a:pt x="975360" y="0"/>
                  </a:lnTo>
                  <a:lnTo>
                    <a:pt x="975360" y="609600"/>
                  </a:lnTo>
                  <a:lnTo>
                    <a:pt x="0" y="609600"/>
                  </a:lnTo>
                  <a:close/>
                </a:path>
              </a:pathLst>
            </a:custGeom>
            <a:blipFill>
              <a:blip r:embed="rId3">
                <a:alphaModFix amt="0"/>
              </a:blip>
              <a:stretch>
                <a:fillRect l="-30189" t="0" r="-30189" b="0"/>
              </a:stretch>
            </a:blipFill>
          </p:spPr>
        </p:sp>
        <p:sp>
          <p:nvSpPr>
            <p:cNvPr name="TextBox 17" id="17"/>
            <p:cNvSpPr txBox="true"/>
            <p:nvPr/>
          </p:nvSpPr>
          <p:spPr>
            <a:xfrm>
              <a:off x="0" y="-38100"/>
              <a:ext cx="975360" cy="647700"/>
            </a:xfrm>
            <a:prstGeom prst="rect">
              <a:avLst/>
            </a:prstGeom>
          </p:spPr>
          <p:txBody>
            <a:bodyPr anchor="ctr" rtlCol="false" tIns="0" lIns="0" bIns="0" rIns="0"/>
            <a:lstStyle/>
            <a:p>
              <a:pPr algn="r">
                <a:lnSpc>
                  <a:spcPts val="2160"/>
                </a:lnSpc>
              </a:pPr>
              <a:r>
                <a:rPr lang="en-US" sz="1800">
                  <a:solidFill>
                    <a:srgbClr val="64748B"/>
                  </a:solidFill>
                  <a:latin typeface="Calibri (MS)"/>
                  <a:ea typeface="Calibri (MS)"/>
                  <a:cs typeface="Calibri (MS)"/>
                  <a:sym typeface="Calibri (MS)"/>
                </a:rPr>
                <a:t>20</a:t>
              </a:r>
            </a:p>
          </p:txBody>
        </p:sp>
      </p:grpSp>
      <p:grpSp>
        <p:nvGrpSpPr>
          <p:cNvPr name="Group 18" id="18"/>
          <p:cNvGrpSpPr/>
          <p:nvPr/>
        </p:nvGrpSpPr>
        <p:grpSpPr>
          <a:xfrm rot="0">
            <a:off x="1005840" y="8741664"/>
            <a:ext cx="16276320" cy="1097280"/>
            <a:chOff x="0" y="0"/>
            <a:chExt cx="21701760" cy="1463040"/>
          </a:xfrm>
        </p:grpSpPr>
        <p:sp>
          <p:nvSpPr>
            <p:cNvPr name="Freeform 19" id="19"/>
            <p:cNvSpPr/>
            <p:nvPr/>
          </p:nvSpPr>
          <p:spPr>
            <a:xfrm flipH="false" flipV="false" rot="0">
              <a:off x="0" y="0"/>
              <a:ext cx="21701761" cy="1463040"/>
            </a:xfrm>
            <a:custGeom>
              <a:avLst/>
              <a:gdLst/>
              <a:ahLst/>
              <a:cxnLst/>
              <a:rect r="r" b="b" t="t" l="l"/>
              <a:pathLst>
                <a:path h="1463040" w="21701761">
                  <a:moveTo>
                    <a:pt x="0" y="292608"/>
                  </a:moveTo>
                  <a:cubicBezTo>
                    <a:pt x="0" y="131064"/>
                    <a:pt x="131064" y="0"/>
                    <a:pt x="292608" y="0"/>
                  </a:cubicBezTo>
                  <a:lnTo>
                    <a:pt x="21409152" y="0"/>
                  </a:lnTo>
                  <a:cubicBezTo>
                    <a:pt x="21570696" y="0"/>
                    <a:pt x="21701761" y="131064"/>
                    <a:pt x="21701761" y="292608"/>
                  </a:cubicBezTo>
                  <a:lnTo>
                    <a:pt x="21701761" y="1170432"/>
                  </a:lnTo>
                  <a:cubicBezTo>
                    <a:pt x="21701761" y="1331976"/>
                    <a:pt x="21570696" y="1463040"/>
                    <a:pt x="21409152" y="1463040"/>
                  </a:cubicBezTo>
                  <a:lnTo>
                    <a:pt x="292608" y="1463040"/>
                  </a:lnTo>
                  <a:cubicBezTo>
                    <a:pt x="131064" y="1463040"/>
                    <a:pt x="0" y="1331976"/>
                    <a:pt x="0" y="1170432"/>
                  </a:cubicBezTo>
                  <a:close/>
                </a:path>
              </a:pathLst>
            </a:custGeom>
            <a:solidFill>
              <a:srgbClr val="DBEAFE"/>
            </a:solidFill>
          </p:spPr>
        </p:sp>
      </p:grpSp>
      <p:grpSp>
        <p:nvGrpSpPr>
          <p:cNvPr name="Group 20" id="20"/>
          <p:cNvGrpSpPr/>
          <p:nvPr/>
        </p:nvGrpSpPr>
        <p:grpSpPr>
          <a:xfrm rot="0">
            <a:off x="1225296" y="8814816"/>
            <a:ext cx="15837408" cy="950976"/>
            <a:chOff x="0" y="0"/>
            <a:chExt cx="21116544" cy="1267968"/>
          </a:xfrm>
        </p:grpSpPr>
        <p:sp>
          <p:nvSpPr>
            <p:cNvPr name="Freeform 21" id="21"/>
            <p:cNvSpPr/>
            <p:nvPr/>
          </p:nvSpPr>
          <p:spPr>
            <a:xfrm flipH="false" flipV="false" rot="0">
              <a:off x="0" y="0"/>
              <a:ext cx="21116544" cy="1267968"/>
            </a:xfrm>
            <a:custGeom>
              <a:avLst/>
              <a:gdLst/>
              <a:ahLst/>
              <a:cxnLst/>
              <a:rect r="r" b="b" t="t" l="l"/>
              <a:pathLst>
                <a:path h="1267968" w="21116544">
                  <a:moveTo>
                    <a:pt x="0" y="0"/>
                  </a:moveTo>
                  <a:lnTo>
                    <a:pt x="21116544" y="0"/>
                  </a:lnTo>
                  <a:lnTo>
                    <a:pt x="21116544" y="1267968"/>
                  </a:lnTo>
                  <a:lnTo>
                    <a:pt x="0" y="1267968"/>
                  </a:lnTo>
                  <a:close/>
                </a:path>
              </a:pathLst>
            </a:custGeom>
            <a:blipFill>
              <a:blip r:embed="rId3">
                <a:alphaModFix amt="0"/>
              </a:blip>
              <a:stretch>
                <a:fillRect l="0" t="-274500" r="0" b="-274500"/>
              </a:stretch>
            </a:blipFill>
          </p:spPr>
        </p:sp>
        <p:sp>
          <p:nvSpPr>
            <p:cNvPr name="TextBox 22" id="22"/>
            <p:cNvSpPr txBox="true"/>
            <p:nvPr/>
          </p:nvSpPr>
          <p:spPr>
            <a:xfrm>
              <a:off x="0" y="-38100"/>
              <a:ext cx="21116544" cy="1306068"/>
            </a:xfrm>
            <a:prstGeom prst="rect">
              <a:avLst/>
            </a:prstGeom>
          </p:spPr>
          <p:txBody>
            <a:bodyPr anchor="ctr" rtlCol="false" tIns="0" lIns="0" bIns="0" rIns="0"/>
            <a:lstStyle/>
            <a:p>
              <a:pPr algn="l">
                <a:lnSpc>
                  <a:spcPts val="2400"/>
                </a:lnSpc>
              </a:pPr>
              <a:r>
                <a:rPr lang="en-US" sz="2000">
                  <a:solidFill>
                    <a:srgbClr val="334155"/>
                  </a:solidFill>
                  <a:latin typeface="Calibri (MS)"/>
                  <a:ea typeface="Calibri (MS)"/>
                  <a:cs typeface="Calibri (MS)"/>
                  <a:sym typeface="Calibri (MS)"/>
                </a:rPr>
                <a:t>Qu</a:t>
              </a:r>
              <a:r>
                <a:rPr lang="en-US" sz="2000">
                  <a:solidFill>
                    <a:srgbClr val="334155"/>
                  </a:solidFill>
                  <a:latin typeface="Calibri (MS)"/>
                  <a:ea typeface="Calibri (MS)"/>
                  <a:cs typeface="Calibri (MS)"/>
                  <a:sym typeface="Calibri (MS)"/>
                </a:rPr>
                <a:t>antile wins on WIS (narrower intervals). Tube gives slightly higher PICP but at 15–30% wider intervals. 2×3 grid: rows=SLA/SWH, cols=PICP/MPIW/WIS.</a:t>
              </a:r>
            </a:p>
            <a:p>
              <a:pPr algn="l">
                <a:lnSpc>
                  <a:spcPts val="2400"/>
                </a:lnSpc>
              </a:pPr>
            </a:p>
          </p:txBody>
        </p:sp>
      </p:grpSp>
      <p:sp>
        <p:nvSpPr>
          <p:cNvPr name="Freeform 23" id="23"/>
          <p:cNvSpPr/>
          <p:nvPr/>
        </p:nvSpPr>
        <p:spPr>
          <a:xfrm flipH="false" flipV="false" rot="0">
            <a:off x="1028700" y="2395728"/>
            <a:ext cx="13113774" cy="6130689"/>
          </a:xfrm>
          <a:custGeom>
            <a:avLst/>
            <a:gdLst/>
            <a:ahLst/>
            <a:cxnLst/>
            <a:rect r="r" b="b" t="t" l="l"/>
            <a:pathLst>
              <a:path h="6130689" w="13113774">
                <a:moveTo>
                  <a:pt x="0" y="0"/>
                </a:moveTo>
                <a:lnTo>
                  <a:pt x="13113774" y="0"/>
                </a:lnTo>
                <a:lnTo>
                  <a:pt x="13113774" y="6130689"/>
                </a:lnTo>
                <a:lnTo>
                  <a:pt x="0" y="6130689"/>
                </a:lnTo>
                <a:lnTo>
                  <a:pt x="0" y="0"/>
                </a:lnTo>
                <a:close/>
              </a:path>
            </a:pathLst>
          </a:custGeom>
          <a:blipFill>
            <a:blip r:embed="rId4"/>
            <a:stretch>
              <a:fillRect l="0" t="0" r="0" b="0"/>
            </a:stretch>
          </a:blipFill>
        </p:spPr>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73152"/>
            <a:chOff x="0" y="0"/>
            <a:chExt cx="24384000" cy="97536"/>
          </a:xfrm>
        </p:grpSpPr>
        <p:sp>
          <p:nvSpPr>
            <p:cNvPr name="Freeform 3" id="3"/>
            <p:cNvSpPr/>
            <p:nvPr/>
          </p:nvSpPr>
          <p:spPr>
            <a:xfrm flipH="false" flipV="false" rot="0">
              <a:off x="0" y="0"/>
              <a:ext cx="24384000" cy="97536"/>
            </a:xfrm>
            <a:custGeom>
              <a:avLst/>
              <a:gdLst/>
              <a:ahLst/>
              <a:cxnLst/>
              <a:rect r="r" b="b" t="t" l="l"/>
              <a:pathLst>
                <a:path h="97536" w="24384000">
                  <a:moveTo>
                    <a:pt x="0" y="0"/>
                  </a:moveTo>
                  <a:lnTo>
                    <a:pt x="24384000" y="0"/>
                  </a:lnTo>
                  <a:lnTo>
                    <a:pt x="24384000" y="97536"/>
                  </a:lnTo>
                  <a:lnTo>
                    <a:pt x="0" y="97536"/>
                  </a:lnTo>
                  <a:close/>
                </a:path>
              </a:pathLst>
            </a:custGeom>
            <a:solidFill>
              <a:srgbClr val="3B82F6"/>
            </a:solidFill>
          </p:spPr>
        </p:sp>
      </p:grpSp>
      <p:grpSp>
        <p:nvGrpSpPr>
          <p:cNvPr name="Group 4" id="4"/>
          <p:cNvGrpSpPr/>
          <p:nvPr/>
        </p:nvGrpSpPr>
        <p:grpSpPr>
          <a:xfrm rot="0">
            <a:off x="1005840" y="585216"/>
            <a:ext cx="2926080" cy="512064"/>
            <a:chOff x="0" y="0"/>
            <a:chExt cx="3901440" cy="682752"/>
          </a:xfrm>
        </p:grpSpPr>
        <p:sp>
          <p:nvSpPr>
            <p:cNvPr name="Freeform 5" id="5"/>
            <p:cNvSpPr/>
            <p:nvPr/>
          </p:nvSpPr>
          <p:spPr>
            <a:xfrm flipH="false" flipV="false" rot="0">
              <a:off x="0" y="0"/>
              <a:ext cx="3901440" cy="682752"/>
            </a:xfrm>
            <a:custGeom>
              <a:avLst/>
              <a:gdLst/>
              <a:ahLst/>
              <a:cxnLst/>
              <a:rect r="r" b="b" t="t" l="l"/>
              <a:pathLst>
                <a:path h="682752" w="3901440">
                  <a:moveTo>
                    <a:pt x="0" y="341376"/>
                  </a:moveTo>
                  <a:cubicBezTo>
                    <a:pt x="0" y="152781"/>
                    <a:pt x="152781" y="0"/>
                    <a:pt x="341376" y="0"/>
                  </a:cubicBezTo>
                  <a:lnTo>
                    <a:pt x="3560064" y="0"/>
                  </a:lnTo>
                  <a:cubicBezTo>
                    <a:pt x="3748659" y="0"/>
                    <a:pt x="3901440" y="152781"/>
                    <a:pt x="3901440" y="341376"/>
                  </a:cubicBezTo>
                  <a:cubicBezTo>
                    <a:pt x="3901440" y="529971"/>
                    <a:pt x="3748659" y="682752"/>
                    <a:pt x="3560064" y="682752"/>
                  </a:cubicBezTo>
                  <a:lnTo>
                    <a:pt x="341376" y="682752"/>
                  </a:lnTo>
                  <a:cubicBezTo>
                    <a:pt x="152781" y="682752"/>
                    <a:pt x="0" y="529971"/>
                    <a:pt x="0" y="341376"/>
                  </a:cubicBezTo>
                  <a:close/>
                </a:path>
              </a:pathLst>
            </a:custGeom>
            <a:solidFill>
              <a:srgbClr val="3B82F6"/>
            </a:solidFill>
          </p:spPr>
        </p:sp>
      </p:grpSp>
      <p:grpSp>
        <p:nvGrpSpPr>
          <p:cNvPr name="Group 6" id="6"/>
          <p:cNvGrpSpPr/>
          <p:nvPr/>
        </p:nvGrpSpPr>
        <p:grpSpPr>
          <a:xfrm rot="0">
            <a:off x="1005840" y="585216"/>
            <a:ext cx="2926080" cy="512064"/>
            <a:chOff x="0" y="0"/>
            <a:chExt cx="3901440" cy="682752"/>
          </a:xfrm>
        </p:grpSpPr>
        <p:sp>
          <p:nvSpPr>
            <p:cNvPr name="Freeform 7" id="7"/>
            <p:cNvSpPr/>
            <p:nvPr/>
          </p:nvSpPr>
          <p:spPr>
            <a:xfrm flipH="false" flipV="false" rot="0">
              <a:off x="0" y="0"/>
              <a:ext cx="3901440" cy="682752"/>
            </a:xfrm>
            <a:custGeom>
              <a:avLst/>
              <a:gdLst/>
              <a:ahLst/>
              <a:cxnLst/>
              <a:rect r="r" b="b" t="t" l="l"/>
              <a:pathLst>
                <a:path h="682752" w="3901440">
                  <a:moveTo>
                    <a:pt x="0" y="0"/>
                  </a:moveTo>
                  <a:lnTo>
                    <a:pt x="3901440" y="0"/>
                  </a:lnTo>
                  <a:lnTo>
                    <a:pt x="3901440" y="682752"/>
                  </a:lnTo>
                  <a:lnTo>
                    <a:pt x="0" y="682752"/>
                  </a:lnTo>
                  <a:close/>
                </a:path>
              </a:pathLst>
            </a:custGeom>
            <a:blipFill>
              <a:blip r:embed="rId3">
                <a:alphaModFix amt="0"/>
              </a:blip>
              <a:stretch>
                <a:fillRect l="0" t="-61343" r="0" b="-61343"/>
              </a:stretch>
            </a:blipFill>
          </p:spPr>
        </p:sp>
        <p:sp>
          <p:nvSpPr>
            <p:cNvPr name="TextBox 8" id="8"/>
            <p:cNvSpPr txBox="true"/>
            <p:nvPr/>
          </p:nvSpPr>
          <p:spPr>
            <a:xfrm>
              <a:off x="0" y="-38100"/>
              <a:ext cx="3901440" cy="72085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ANALYSIS</a:t>
              </a:r>
            </a:p>
          </p:txBody>
        </p:sp>
      </p:grpSp>
      <p:grpSp>
        <p:nvGrpSpPr>
          <p:cNvPr name="Group 9" id="9"/>
          <p:cNvGrpSpPr/>
          <p:nvPr/>
        </p:nvGrpSpPr>
        <p:grpSpPr>
          <a:xfrm rot="0">
            <a:off x="1005840" y="1060704"/>
            <a:ext cx="16276320" cy="1550417"/>
            <a:chOff x="0" y="0"/>
            <a:chExt cx="21701760" cy="2067223"/>
          </a:xfrm>
        </p:grpSpPr>
        <p:sp>
          <p:nvSpPr>
            <p:cNvPr name="Freeform 10" id="10"/>
            <p:cNvSpPr/>
            <p:nvPr/>
          </p:nvSpPr>
          <p:spPr>
            <a:xfrm flipH="false" flipV="false" rot="0">
              <a:off x="0" y="0"/>
              <a:ext cx="21701761" cy="2067223"/>
            </a:xfrm>
            <a:custGeom>
              <a:avLst/>
              <a:gdLst/>
              <a:ahLst/>
              <a:cxnLst/>
              <a:rect r="r" b="b" t="t" l="l"/>
              <a:pathLst>
                <a:path h="2067223" w="21701761">
                  <a:moveTo>
                    <a:pt x="0" y="0"/>
                  </a:moveTo>
                  <a:lnTo>
                    <a:pt x="21701761" y="0"/>
                  </a:lnTo>
                  <a:lnTo>
                    <a:pt x="21701761" y="2067223"/>
                  </a:lnTo>
                  <a:lnTo>
                    <a:pt x="0" y="2067223"/>
                  </a:lnTo>
                  <a:close/>
                </a:path>
              </a:pathLst>
            </a:custGeom>
            <a:blipFill>
              <a:blip r:embed="rId3">
                <a:alphaModFix amt="0"/>
              </a:blip>
              <a:stretch>
                <a:fillRect l="0" t="-176245" r="0" b="-132863"/>
              </a:stretch>
            </a:blipFill>
          </p:spPr>
        </p:sp>
        <p:sp>
          <p:nvSpPr>
            <p:cNvPr name="TextBox 11" id="11"/>
            <p:cNvSpPr txBox="true"/>
            <p:nvPr/>
          </p:nvSpPr>
          <p:spPr>
            <a:xfrm>
              <a:off x="0" y="-76200"/>
              <a:ext cx="21701760" cy="2143423"/>
            </a:xfrm>
            <a:prstGeom prst="rect">
              <a:avLst/>
            </a:prstGeom>
          </p:spPr>
          <p:txBody>
            <a:bodyPr anchor="ctr" rtlCol="false" tIns="0" lIns="0" bIns="0" rIns="0"/>
            <a:lstStyle/>
            <a:p>
              <a:pPr algn="l">
                <a:lnSpc>
                  <a:spcPts val="5280"/>
                </a:lnSpc>
              </a:pPr>
              <a:r>
                <a:rPr lang="en-US" sz="4400" b="true">
                  <a:solidFill>
                    <a:srgbClr val="1A2744"/>
                  </a:solidFill>
                  <a:latin typeface="Calibri (MS) Bold"/>
                  <a:ea typeface="Calibri (MS) Bold"/>
                  <a:cs typeface="Calibri (MS) Bold"/>
                  <a:sym typeface="Calibri (MS) Bold"/>
                </a:rPr>
                <a:t>W</a:t>
              </a:r>
              <a:r>
                <a:rPr lang="en-US" sz="4400" b="true">
                  <a:solidFill>
                    <a:srgbClr val="1A2744"/>
                  </a:solidFill>
                  <a:latin typeface="Calibri (MS) Bold"/>
                  <a:ea typeface="Calibri (MS) Bold"/>
                  <a:cs typeface="Calibri (MS) Bold"/>
                  <a:sym typeface="Calibri (MS) Bold"/>
                </a:rPr>
                <a:t>hy Transformer &amp; Mamba Fail on SLA but Recover on SWH</a:t>
              </a:r>
            </a:p>
            <a:p>
              <a:pPr algn="l">
                <a:lnSpc>
                  <a:spcPts val="5280"/>
                </a:lnSpc>
              </a:pPr>
            </a:p>
          </p:txBody>
        </p:sp>
      </p:grpSp>
      <p:grpSp>
        <p:nvGrpSpPr>
          <p:cNvPr name="Group 12" id="12"/>
          <p:cNvGrpSpPr/>
          <p:nvPr/>
        </p:nvGrpSpPr>
        <p:grpSpPr>
          <a:xfrm rot="0">
            <a:off x="1005840" y="1938528"/>
            <a:ext cx="16276320" cy="457200"/>
            <a:chOff x="0" y="0"/>
            <a:chExt cx="21701760" cy="609600"/>
          </a:xfrm>
        </p:grpSpPr>
        <p:sp>
          <p:nvSpPr>
            <p:cNvPr name="Freeform 13" id="13"/>
            <p:cNvSpPr/>
            <p:nvPr/>
          </p:nvSpPr>
          <p:spPr>
            <a:xfrm flipH="false" flipV="false" rot="0">
              <a:off x="0" y="0"/>
              <a:ext cx="21701761" cy="609600"/>
            </a:xfrm>
            <a:custGeom>
              <a:avLst/>
              <a:gdLst/>
              <a:ahLst/>
              <a:cxnLst/>
              <a:rect r="r" b="b" t="t" l="l"/>
              <a:pathLst>
                <a:path h="609600" w="21701761">
                  <a:moveTo>
                    <a:pt x="0" y="0"/>
                  </a:moveTo>
                  <a:lnTo>
                    <a:pt x="21701761" y="0"/>
                  </a:lnTo>
                  <a:lnTo>
                    <a:pt x="21701761" y="609600"/>
                  </a:lnTo>
                  <a:lnTo>
                    <a:pt x="0" y="609600"/>
                  </a:lnTo>
                  <a:close/>
                </a:path>
              </a:pathLst>
            </a:custGeom>
            <a:blipFill>
              <a:blip r:embed="rId3">
                <a:alphaModFix amt="0"/>
              </a:blip>
              <a:stretch>
                <a:fillRect l="0" t="-643667" r="0" b="-643667"/>
              </a:stretch>
            </a:blipFill>
          </p:spPr>
        </p:sp>
        <p:sp>
          <p:nvSpPr>
            <p:cNvPr name="TextBox 14" id="14"/>
            <p:cNvSpPr txBox="true"/>
            <p:nvPr/>
          </p:nvSpPr>
          <p:spPr>
            <a:xfrm>
              <a:off x="0" y="-47625"/>
              <a:ext cx="21701760" cy="657225"/>
            </a:xfrm>
            <a:prstGeom prst="rect">
              <a:avLst/>
            </a:prstGeom>
          </p:spPr>
          <p:txBody>
            <a:bodyPr anchor="ctr" rtlCol="false" tIns="0" lIns="0" bIns="0" rIns="0"/>
            <a:lstStyle/>
            <a:p>
              <a:pPr algn="l">
                <a:lnSpc>
                  <a:spcPts val="2640"/>
                </a:lnSpc>
              </a:pPr>
              <a:r>
                <a:rPr lang="en-US" sz="2200" i="true">
                  <a:solidFill>
                    <a:srgbClr val="64748B"/>
                  </a:solidFill>
                  <a:latin typeface="Calibri (MS) Italics"/>
                  <a:ea typeface="Calibri (MS) Italics"/>
                  <a:cs typeface="Calibri (MS) Italics"/>
                  <a:sym typeface="Calibri (MS) Italics"/>
                </a:rPr>
                <a:t>RNN Family vs SSM/Attention vs Probabilistic — 5 metrics on each axis</a:t>
              </a:r>
            </a:p>
          </p:txBody>
        </p:sp>
      </p:grpSp>
      <p:grpSp>
        <p:nvGrpSpPr>
          <p:cNvPr name="Group 15" id="15"/>
          <p:cNvGrpSpPr/>
          <p:nvPr/>
        </p:nvGrpSpPr>
        <p:grpSpPr>
          <a:xfrm rot="0">
            <a:off x="17190720" y="9646920"/>
            <a:ext cx="731520" cy="457200"/>
            <a:chOff x="0" y="0"/>
            <a:chExt cx="975360" cy="609600"/>
          </a:xfrm>
        </p:grpSpPr>
        <p:sp>
          <p:nvSpPr>
            <p:cNvPr name="Freeform 16" id="16"/>
            <p:cNvSpPr/>
            <p:nvPr/>
          </p:nvSpPr>
          <p:spPr>
            <a:xfrm flipH="false" flipV="false" rot="0">
              <a:off x="0" y="0"/>
              <a:ext cx="975360" cy="609600"/>
            </a:xfrm>
            <a:custGeom>
              <a:avLst/>
              <a:gdLst/>
              <a:ahLst/>
              <a:cxnLst/>
              <a:rect r="r" b="b" t="t" l="l"/>
              <a:pathLst>
                <a:path h="609600" w="975360">
                  <a:moveTo>
                    <a:pt x="0" y="0"/>
                  </a:moveTo>
                  <a:lnTo>
                    <a:pt x="975360" y="0"/>
                  </a:lnTo>
                  <a:lnTo>
                    <a:pt x="975360" y="609600"/>
                  </a:lnTo>
                  <a:lnTo>
                    <a:pt x="0" y="609600"/>
                  </a:lnTo>
                  <a:close/>
                </a:path>
              </a:pathLst>
            </a:custGeom>
            <a:blipFill>
              <a:blip r:embed="rId3">
                <a:alphaModFix amt="0"/>
              </a:blip>
              <a:stretch>
                <a:fillRect l="-30189" t="0" r="-30189" b="0"/>
              </a:stretch>
            </a:blipFill>
          </p:spPr>
        </p:sp>
        <p:sp>
          <p:nvSpPr>
            <p:cNvPr name="TextBox 17" id="17"/>
            <p:cNvSpPr txBox="true"/>
            <p:nvPr/>
          </p:nvSpPr>
          <p:spPr>
            <a:xfrm>
              <a:off x="0" y="-38100"/>
              <a:ext cx="975360" cy="647700"/>
            </a:xfrm>
            <a:prstGeom prst="rect">
              <a:avLst/>
            </a:prstGeom>
          </p:spPr>
          <p:txBody>
            <a:bodyPr anchor="ctr" rtlCol="false" tIns="0" lIns="0" bIns="0" rIns="0"/>
            <a:lstStyle/>
            <a:p>
              <a:pPr algn="r">
                <a:lnSpc>
                  <a:spcPts val="2160"/>
                </a:lnSpc>
              </a:pPr>
              <a:r>
                <a:rPr lang="en-US" sz="1800">
                  <a:solidFill>
                    <a:srgbClr val="64748B"/>
                  </a:solidFill>
                  <a:latin typeface="Calibri (MS)"/>
                  <a:ea typeface="Calibri (MS)"/>
                  <a:cs typeface="Calibri (MS)"/>
                  <a:sym typeface="Calibri (MS)"/>
                </a:rPr>
                <a:t>21</a:t>
              </a:r>
            </a:p>
          </p:txBody>
        </p:sp>
      </p:grpSp>
      <p:grpSp>
        <p:nvGrpSpPr>
          <p:cNvPr name="Group 18" id="18"/>
          <p:cNvGrpSpPr/>
          <p:nvPr/>
        </p:nvGrpSpPr>
        <p:grpSpPr>
          <a:xfrm rot="0">
            <a:off x="1005840" y="8741664"/>
            <a:ext cx="16276320" cy="1097280"/>
            <a:chOff x="0" y="0"/>
            <a:chExt cx="21701760" cy="1463040"/>
          </a:xfrm>
        </p:grpSpPr>
        <p:sp>
          <p:nvSpPr>
            <p:cNvPr name="Freeform 19" id="19"/>
            <p:cNvSpPr/>
            <p:nvPr/>
          </p:nvSpPr>
          <p:spPr>
            <a:xfrm flipH="false" flipV="false" rot="0">
              <a:off x="0" y="0"/>
              <a:ext cx="21701761" cy="1463040"/>
            </a:xfrm>
            <a:custGeom>
              <a:avLst/>
              <a:gdLst/>
              <a:ahLst/>
              <a:cxnLst/>
              <a:rect r="r" b="b" t="t" l="l"/>
              <a:pathLst>
                <a:path h="1463040" w="21701761">
                  <a:moveTo>
                    <a:pt x="0" y="292608"/>
                  </a:moveTo>
                  <a:cubicBezTo>
                    <a:pt x="0" y="131064"/>
                    <a:pt x="131064" y="0"/>
                    <a:pt x="292608" y="0"/>
                  </a:cubicBezTo>
                  <a:lnTo>
                    <a:pt x="21409152" y="0"/>
                  </a:lnTo>
                  <a:cubicBezTo>
                    <a:pt x="21570696" y="0"/>
                    <a:pt x="21701761" y="131064"/>
                    <a:pt x="21701761" y="292608"/>
                  </a:cubicBezTo>
                  <a:lnTo>
                    <a:pt x="21701761" y="1170432"/>
                  </a:lnTo>
                  <a:cubicBezTo>
                    <a:pt x="21701761" y="1331976"/>
                    <a:pt x="21570696" y="1463040"/>
                    <a:pt x="21409152" y="1463040"/>
                  </a:cubicBezTo>
                  <a:lnTo>
                    <a:pt x="292608" y="1463040"/>
                  </a:lnTo>
                  <a:cubicBezTo>
                    <a:pt x="131064" y="1463040"/>
                    <a:pt x="0" y="1331976"/>
                    <a:pt x="0" y="1170432"/>
                  </a:cubicBezTo>
                  <a:close/>
                </a:path>
              </a:pathLst>
            </a:custGeom>
            <a:solidFill>
              <a:srgbClr val="DBEAFE"/>
            </a:solidFill>
          </p:spPr>
        </p:sp>
      </p:grpSp>
      <p:grpSp>
        <p:nvGrpSpPr>
          <p:cNvPr name="Group 20" id="20"/>
          <p:cNvGrpSpPr/>
          <p:nvPr/>
        </p:nvGrpSpPr>
        <p:grpSpPr>
          <a:xfrm rot="0">
            <a:off x="1225296" y="8814816"/>
            <a:ext cx="15837408" cy="993949"/>
            <a:chOff x="0" y="0"/>
            <a:chExt cx="21116544" cy="1325265"/>
          </a:xfrm>
        </p:grpSpPr>
        <p:sp>
          <p:nvSpPr>
            <p:cNvPr name="Freeform 21" id="21"/>
            <p:cNvSpPr/>
            <p:nvPr/>
          </p:nvSpPr>
          <p:spPr>
            <a:xfrm flipH="false" flipV="false" rot="0">
              <a:off x="0" y="0"/>
              <a:ext cx="21116544" cy="1325265"/>
            </a:xfrm>
            <a:custGeom>
              <a:avLst/>
              <a:gdLst/>
              <a:ahLst/>
              <a:cxnLst/>
              <a:rect r="r" b="b" t="t" l="l"/>
              <a:pathLst>
                <a:path h="1325265" w="21116544">
                  <a:moveTo>
                    <a:pt x="0" y="0"/>
                  </a:moveTo>
                  <a:lnTo>
                    <a:pt x="21116544" y="0"/>
                  </a:lnTo>
                  <a:lnTo>
                    <a:pt x="21116544" y="1325265"/>
                  </a:lnTo>
                  <a:lnTo>
                    <a:pt x="0" y="1325265"/>
                  </a:lnTo>
                  <a:close/>
                </a:path>
              </a:pathLst>
            </a:custGeom>
            <a:blipFill>
              <a:blip r:embed="rId3">
                <a:alphaModFix amt="0"/>
              </a:blip>
              <a:stretch>
                <a:fillRect l="0" t="-262632" r="0" b="-258309"/>
              </a:stretch>
            </a:blipFill>
          </p:spPr>
        </p:sp>
        <p:sp>
          <p:nvSpPr>
            <p:cNvPr name="TextBox 22" id="22"/>
            <p:cNvSpPr txBox="true"/>
            <p:nvPr/>
          </p:nvSpPr>
          <p:spPr>
            <a:xfrm>
              <a:off x="0" y="-38100"/>
              <a:ext cx="21116544" cy="1363365"/>
            </a:xfrm>
            <a:prstGeom prst="rect">
              <a:avLst/>
            </a:prstGeom>
          </p:spPr>
          <p:txBody>
            <a:bodyPr anchor="ctr" rtlCol="false" tIns="0" lIns="0" bIns="0" rIns="0"/>
            <a:lstStyle/>
            <a:p>
              <a:pPr algn="l">
                <a:lnSpc>
                  <a:spcPts val="2400"/>
                </a:lnSpc>
              </a:pPr>
              <a:r>
                <a:rPr lang="en-US" sz="2000">
                  <a:solidFill>
                    <a:srgbClr val="334155"/>
                  </a:solidFill>
                  <a:latin typeface="Calibri (MS)"/>
                  <a:ea typeface="Calibri (MS)"/>
                  <a:cs typeface="Calibri (MS)"/>
                  <a:sym typeface="Calibri (MS)"/>
                </a:rPr>
                <a:t>3</a:t>
              </a:r>
              <a:r>
                <a:rPr lang="en-US" sz="2000">
                  <a:solidFill>
                    <a:srgbClr val="334155"/>
                  </a:solidFill>
                  <a:latin typeface="Calibri (MS)"/>
                  <a:ea typeface="Calibri (MS)"/>
                  <a:cs typeface="Calibri (MS)"/>
                  <a:sym typeface="Calibri (MS)"/>
                </a:rPr>
                <a:t> mechanisms: (1) 20× lower SLA signal amplitude, (2) no dominant monsoon cycle in SLA, (3) 90K params / 846 seqs = severe overfitting. Stability plot confirms.</a:t>
              </a:r>
            </a:p>
            <a:p>
              <a:pPr algn="l">
                <a:lnSpc>
                  <a:spcPts val="2400"/>
                </a:lnSpc>
              </a:pPr>
            </a:p>
          </p:txBody>
        </p:sp>
      </p:grpSp>
      <p:sp>
        <p:nvSpPr>
          <p:cNvPr name="Freeform 23" id="23"/>
          <p:cNvSpPr/>
          <p:nvPr/>
        </p:nvSpPr>
        <p:spPr>
          <a:xfrm flipH="false" flipV="false" rot="0">
            <a:off x="1028700" y="2395728"/>
            <a:ext cx="13169779" cy="6156872"/>
          </a:xfrm>
          <a:custGeom>
            <a:avLst/>
            <a:gdLst/>
            <a:ahLst/>
            <a:cxnLst/>
            <a:rect r="r" b="b" t="t" l="l"/>
            <a:pathLst>
              <a:path h="6156872" w="13169779">
                <a:moveTo>
                  <a:pt x="0" y="0"/>
                </a:moveTo>
                <a:lnTo>
                  <a:pt x="13169779" y="0"/>
                </a:lnTo>
                <a:lnTo>
                  <a:pt x="13169779" y="6156872"/>
                </a:lnTo>
                <a:lnTo>
                  <a:pt x="0" y="6156872"/>
                </a:lnTo>
                <a:lnTo>
                  <a:pt x="0" y="0"/>
                </a:lnTo>
                <a:close/>
              </a:path>
            </a:pathLst>
          </a:custGeom>
          <a:blipFill>
            <a:blip r:embed="rId4"/>
            <a:stretch>
              <a:fillRect l="0" t="0" r="0" b="0"/>
            </a:stretch>
          </a:blipFill>
        </p:spPr>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73152"/>
            <a:chOff x="0" y="0"/>
            <a:chExt cx="24384000" cy="97536"/>
          </a:xfrm>
        </p:grpSpPr>
        <p:sp>
          <p:nvSpPr>
            <p:cNvPr name="Freeform 3" id="3"/>
            <p:cNvSpPr/>
            <p:nvPr/>
          </p:nvSpPr>
          <p:spPr>
            <a:xfrm flipH="false" flipV="false" rot="0">
              <a:off x="0" y="0"/>
              <a:ext cx="24384000" cy="97536"/>
            </a:xfrm>
            <a:custGeom>
              <a:avLst/>
              <a:gdLst/>
              <a:ahLst/>
              <a:cxnLst/>
              <a:rect r="r" b="b" t="t" l="l"/>
              <a:pathLst>
                <a:path h="97536" w="24384000">
                  <a:moveTo>
                    <a:pt x="0" y="0"/>
                  </a:moveTo>
                  <a:lnTo>
                    <a:pt x="24384000" y="0"/>
                  </a:lnTo>
                  <a:lnTo>
                    <a:pt x="24384000" y="97536"/>
                  </a:lnTo>
                  <a:lnTo>
                    <a:pt x="0" y="97536"/>
                  </a:lnTo>
                  <a:close/>
                </a:path>
              </a:pathLst>
            </a:custGeom>
            <a:solidFill>
              <a:srgbClr val="3B82F6"/>
            </a:solidFill>
          </p:spPr>
        </p:sp>
      </p:grpSp>
      <p:grpSp>
        <p:nvGrpSpPr>
          <p:cNvPr name="Group 4" id="4"/>
          <p:cNvGrpSpPr/>
          <p:nvPr/>
        </p:nvGrpSpPr>
        <p:grpSpPr>
          <a:xfrm rot="0">
            <a:off x="1005840" y="585216"/>
            <a:ext cx="2926080" cy="512064"/>
            <a:chOff x="0" y="0"/>
            <a:chExt cx="3901440" cy="682752"/>
          </a:xfrm>
        </p:grpSpPr>
        <p:sp>
          <p:nvSpPr>
            <p:cNvPr name="Freeform 5" id="5"/>
            <p:cNvSpPr/>
            <p:nvPr/>
          </p:nvSpPr>
          <p:spPr>
            <a:xfrm flipH="false" flipV="false" rot="0">
              <a:off x="0" y="0"/>
              <a:ext cx="3901440" cy="682752"/>
            </a:xfrm>
            <a:custGeom>
              <a:avLst/>
              <a:gdLst/>
              <a:ahLst/>
              <a:cxnLst/>
              <a:rect r="r" b="b" t="t" l="l"/>
              <a:pathLst>
                <a:path h="682752" w="3901440">
                  <a:moveTo>
                    <a:pt x="0" y="341376"/>
                  </a:moveTo>
                  <a:cubicBezTo>
                    <a:pt x="0" y="152781"/>
                    <a:pt x="152781" y="0"/>
                    <a:pt x="341376" y="0"/>
                  </a:cubicBezTo>
                  <a:lnTo>
                    <a:pt x="3560064" y="0"/>
                  </a:lnTo>
                  <a:cubicBezTo>
                    <a:pt x="3748659" y="0"/>
                    <a:pt x="3901440" y="152781"/>
                    <a:pt x="3901440" y="341376"/>
                  </a:cubicBezTo>
                  <a:cubicBezTo>
                    <a:pt x="3901440" y="529971"/>
                    <a:pt x="3748659" y="682752"/>
                    <a:pt x="3560064" y="682752"/>
                  </a:cubicBezTo>
                  <a:lnTo>
                    <a:pt x="341376" y="682752"/>
                  </a:lnTo>
                  <a:cubicBezTo>
                    <a:pt x="152781" y="682752"/>
                    <a:pt x="0" y="529971"/>
                    <a:pt x="0" y="341376"/>
                  </a:cubicBezTo>
                  <a:close/>
                </a:path>
              </a:pathLst>
            </a:custGeom>
            <a:solidFill>
              <a:srgbClr val="3B82F6"/>
            </a:solidFill>
          </p:spPr>
        </p:sp>
      </p:grpSp>
      <p:grpSp>
        <p:nvGrpSpPr>
          <p:cNvPr name="Group 6" id="6"/>
          <p:cNvGrpSpPr/>
          <p:nvPr/>
        </p:nvGrpSpPr>
        <p:grpSpPr>
          <a:xfrm rot="0">
            <a:off x="1005840" y="585216"/>
            <a:ext cx="2926080" cy="512064"/>
            <a:chOff x="0" y="0"/>
            <a:chExt cx="3901440" cy="682752"/>
          </a:xfrm>
        </p:grpSpPr>
        <p:sp>
          <p:nvSpPr>
            <p:cNvPr name="Freeform 7" id="7"/>
            <p:cNvSpPr/>
            <p:nvPr/>
          </p:nvSpPr>
          <p:spPr>
            <a:xfrm flipH="false" flipV="false" rot="0">
              <a:off x="0" y="0"/>
              <a:ext cx="3901440" cy="682752"/>
            </a:xfrm>
            <a:custGeom>
              <a:avLst/>
              <a:gdLst/>
              <a:ahLst/>
              <a:cxnLst/>
              <a:rect r="r" b="b" t="t" l="l"/>
              <a:pathLst>
                <a:path h="682752" w="3901440">
                  <a:moveTo>
                    <a:pt x="0" y="0"/>
                  </a:moveTo>
                  <a:lnTo>
                    <a:pt x="3901440" y="0"/>
                  </a:lnTo>
                  <a:lnTo>
                    <a:pt x="3901440" y="682752"/>
                  </a:lnTo>
                  <a:lnTo>
                    <a:pt x="0" y="682752"/>
                  </a:lnTo>
                  <a:close/>
                </a:path>
              </a:pathLst>
            </a:custGeom>
            <a:blipFill>
              <a:blip r:embed="rId3">
                <a:alphaModFix amt="0"/>
              </a:blip>
              <a:stretch>
                <a:fillRect l="0" t="-61343" r="0" b="-61343"/>
              </a:stretch>
            </a:blipFill>
          </p:spPr>
        </p:sp>
        <p:sp>
          <p:nvSpPr>
            <p:cNvPr name="TextBox 8" id="8"/>
            <p:cNvSpPr txBox="true"/>
            <p:nvPr/>
          </p:nvSpPr>
          <p:spPr>
            <a:xfrm>
              <a:off x="0" y="-38100"/>
              <a:ext cx="3901440" cy="72085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ANALYSIS</a:t>
              </a:r>
            </a:p>
          </p:txBody>
        </p:sp>
      </p:grpSp>
      <p:grpSp>
        <p:nvGrpSpPr>
          <p:cNvPr name="Group 9" id="9"/>
          <p:cNvGrpSpPr/>
          <p:nvPr/>
        </p:nvGrpSpPr>
        <p:grpSpPr>
          <a:xfrm rot="0">
            <a:off x="1005840" y="1060704"/>
            <a:ext cx="16276320" cy="1550417"/>
            <a:chOff x="0" y="0"/>
            <a:chExt cx="21701760" cy="2067223"/>
          </a:xfrm>
        </p:grpSpPr>
        <p:sp>
          <p:nvSpPr>
            <p:cNvPr name="Freeform 10" id="10"/>
            <p:cNvSpPr/>
            <p:nvPr/>
          </p:nvSpPr>
          <p:spPr>
            <a:xfrm flipH="false" flipV="false" rot="0">
              <a:off x="0" y="0"/>
              <a:ext cx="21701761" cy="2067223"/>
            </a:xfrm>
            <a:custGeom>
              <a:avLst/>
              <a:gdLst/>
              <a:ahLst/>
              <a:cxnLst/>
              <a:rect r="r" b="b" t="t" l="l"/>
              <a:pathLst>
                <a:path h="2067223" w="21701761">
                  <a:moveTo>
                    <a:pt x="0" y="0"/>
                  </a:moveTo>
                  <a:lnTo>
                    <a:pt x="21701761" y="0"/>
                  </a:lnTo>
                  <a:lnTo>
                    <a:pt x="21701761" y="2067223"/>
                  </a:lnTo>
                  <a:lnTo>
                    <a:pt x="0" y="2067223"/>
                  </a:lnTo>
                  <a:close/>
                </a:path>
              </a:pathLst>
            </a:custGeom>
            <a:blipFill>
              <a:blip r:embed="rId3">
                <a:alphaModFix amt="0"/>
              </a:blip>
              <a:stretch>
                <a:fillRect l="0" t="-176245" r="0" b="-132863"/>
              </a:stretch>
            </a:blipFill>
          </p:spPr>
        </p:sp>
        <p:sp>
          <p:nvSpPr>
            <p:cNvPr name="TextBox 11" id="11"/>
            <p:cNvSpPr txBox="true"/>
            <p:nvPr/>
          </p:nvSpPr>
          <p:spPr>
            <a:xfrm>
              <a:off x="0" y="-76200"/>
              <a:ext cx="21701760" cy="2143423"/>
            </a:xfrm>
            <a:prstGeom prst="rect">
              <a:avLst/>
            </a:prstGeom>
          </p:spPr>
          <p:txBody>
            <a:bodyPr anchor="ctr" rtlCol="false" tIns="0" lIns="0" bIns="0" rIns="0"/>
            <a:lstStyle/>
            <a:p>
              <a:pPr algn="l">
                <a:lnSpc>
                  <a:spcPts val="5280"/>
                </a:lnSpc>
              </a:pPr>
              <a:r>
                <a:rPr lang="en-US" sz="4400" b="true">
                  <a:solidFill>
                    <a:srgbClr val="1A2744"/>
                  </a:solidFill>
                  <a:latin typeface="Calibri (MS) Bold"/>
                  <a:ea typeface="Calibri (MS) Bold"/>
                  <a:cs typeface="Calibri (MS) Bold"/>
                  <a:sym typeface="Calibri (MS) Bold"/>
                </a:rPr>
                <a:t>T</a:t>
              </a:r>
              <a:r>
                <a:rPr lang="en-US" sz="4400" b="true">
                  <a:solidFill>
                    <a:srgbClr val="1A2744"/>
                  </a:solidFill>
                  <a:latin typeface="Calibri (MS) Bold"/>
                  <a:ea typeface="Calibri (MS) Bold"/>
                  <a:cs typeface="Calibri (MS) Bold"/>
                  <a:sym typeface="Calibri (MS) Bold"/>
                </a:rPr>
                <a:t>ube Loss Explosion — Deep Dive Analysis</a:t>
              </a:r>
            </a:p>
            <a:p>
              <a:pPr algn="l">
                <a:lnSpc>
                  <a:spcPts val="5280"/>
                </a:lnSpc>
              </a:pPr>
            </a:p>
          </p:txBody>
        </p:sp>
      </p:grpSp>
      <p:grpSp>
        <p:nvGrpSpPr>
          <p:cNvPr name="Group 12" id="12"/>
          <p:cNvGrpSpPr/>
          <p:nvPr/>
        </p:nvGrpSpPr>
        <p:grpSpPr>
          <a:xfrm rot="0">
            <a:off x="1005840" y="1938528"/>
            <a:ext cx="16276320" cy="457200"/>
            <a:chOff x="0" y="0"/>
            <a:chExt cx="21701760" cy="609600"/>
          </a:xfrm>
        </p:grpSpPr>
        <p:sp>
          <p:nvSpPr>
            <p:cNvPr name="Freeform 13" id="13"/>
            <p:cNvSpPr/>
            <p:nvPr/>
          </p:nvSpPr>
          <p:spPr>
            <a:xfrm flipH="false" flipV="false" rot="0">
              <a:off x="0" y="0"/>
              <a:ext cx="21701761" cy="609600"/>
            </a:xfrm>
            <a:custGeom>
              <a:avLst/>
              <a:gdLst/>
              <a:ahLst/>
              <a:cxnLst/>
              <a:rect r="r" b="b" t="t" l="l"/>
              <a:pathLst>
                <a:path h="609600" w="21701761">
                  <a:moveTo>
                    <a:pt x="0" y="0"/>
                  </a:moveTo>
                  <a:lnTo>
                    <a:pt x="21701761" y="0"/>
                  </a:lnTo>
                  <a:lnTo>
                    <a:pt x="21701761" y="609600"/>
                  </a:lnTo>
                  <a:lnTo>
                    <a:pt x="0" y="609600"/>
                  </a:lnTo>
                  <a:close/>
                </a:path>
              </a:pathLst>
            </a:custGeom>
            <a:blipFill>
              <a:blip r:embed="rId3">
                <a:alphaModFix amt="0"/>
              </a:blip>
              <a:stretch>
                <a:fillRect l="0" t="-643667" r="0" b="-643667"/>
              </a:stretch>
            </a:blipFill>
          </p:spPr>
        </p:sp>
        <p:sp>
          <p:nvSpPr>
            <p:cNvPr name="TextBox 14" id="14"/>
            <p:cNvSpPr txBox="true"/>
            <p:nvPr/>
          </p:nvSpPr>
          <p:spPr>
            <a:xfrm>
              <a:off x="0" y="-47625"/>
              <a:ext cx="21701760" cy="657225"/>
            </a:xfrm>
            <a:prstGeom prst="rect">
              <a:avLst/>
            </a:prstGeom>
          </p:spPr>
          <p:txBody>
            <a:bodyPr anchor="ctr" rtlCol="false" tIns="0" lIns="0" bIns="0" rIns="0"/>
            <a:lstStyle/>
            <a:p>
              <a:pPr algn="l">
                <a:lnSpc>
                  <a:spcPts val="2640"/>
                </a:lnSpc>
              </a:pPr>
              <a:r>
                <a:rPr lang="en-US" sz="2200" i="true">
                  <a:solidFill>
                    <a:srgbClr val="64748B"/>
                  </a:solidFill>
                  <a:latin typeface="Calibri (MS) Italics"/>
                  <a:ea typeface="Calibri (MS) Italics"/>
                  <a:cs typeface="Calibri (MS) Italics"/>
                  <a:sym typeface="Calibri (MS) Italics"/>
                </a:rPr>
                <a:t>RNN Family vs SSM/Attention vs Probabilistic — 5 metrics on each axis</a:t>
              </a:r>
            </a:p>
          </p:txBody>
        </p:sp>
      </p:grpSp>
      <p:grpSp>
        <p:nvGrpSpPr>
          <p:cNvPr name="Group 15" id="15"/>
          <p:cNvGrpSpPr/>
          <p:nvPr/>
        </p:nvGrpSpPr>
        <p:grpSpPr>
          <a:xfrm rot="0">
            <a:off x="17190720" y="9646920"/>
            <a:ext cx="731520" cy="457200"/>
            <a:chOff x="0" y="0"/>
            <a:chExt cx="975360" cy="609600"/>
          </a:xfrm>
        </p:grpSpPr>
        <p:sp>
          <p:nvSpPr>
            <p:cNvPr name="Freeform 16" id="16"/>
            <p:cNvSpPr/>
            <p:nvPr/>
          </p:nvSpPr>
          <p:spPr>
            <a:xfrm flipH="false" flipV="false" rot="0">
              <a:off x="0" y="0"/>
              <a:ext cx="975360" cy="609600"/>
            </a:xfrm>
            <a:custGeom>
              <a:avLst/>
              <a:gdLst/>
              <a:ahLst/>
              <a:cxnLst/>
              <a:rect r="r" b="b" t="t" l="l"/>
              <a:pathLst>
                <a:path h="609600" w="975360">
                  <a:moveTo>
                    <a:pt x="0" y="0"/>
                  </a:moveTo>
                  <a:lnTo>
                    <a:pt x="975360" y="0"/>
                  </a:lnTo>
                  <a:lnTo>
                    <a:pt x="975360" y="609600"/>
                  </a:lnTo>
                  <a:lnTo>
                    <a:pt x="0" y="609600"/>
                  </a:lnTo>
                  <a:close/>
                </a:path>
              </a:pathLst>
            </a:custGeom>
            <a:blipFill>
              <a:blip r:embed="rId3">
                <a:alphaModFix amt="0"/>
              </a:blip>
              <a:stretch>
                <a:fillRect l="-30189" t="0" r="-30189" b="0"/>
              </a:stretch>
            </a:blipFill>
          </p:spPr>
        </p:sp>
        <p:sp>
          <p:nvSpPr>
            <p:cNvPr name="TextBox 17" id="17"/>
            <p:cNvSpPr txBox="true"/>
            <p:nvPr/>
          </p:nvSpPr>
          <p:spPr>
            <a:xfrm>
              <a:off x="0" y="-38100"/>
              <a:ext cx="975360" cy="647700"/>
            </a:xfrm>
            <a:prstGeom prst="rect">
              <a:avLst/>
            </a:prstGeom>
          </p:spPr>
          <p:txBody>
            <a:bodyPr anchor="ctr" rtlCol="false" tIns="0" lIns="0" bIns="0" rIns="0"/>
            <a:lstStyle/>
            <a:p>
              <a:pPr algn="r">
                <a:lnSpc>
                  <a:spcPts val="2160"/>
                </a:lnSpc>
              </a:pPr>
              <a:r>
                <a:rPr lang="en-US" sz="1800">
                  <a:solidFill>
                    <a:srgbClr val="64748B"/>
                  </a:solidFill>
                  <a:latin typeface="Calibri (MS)"/>
                  <a:ea typeface="Calibri (MS)"/>
                  <a:cs typeface="Calibri (MS)"/>
                  <a:sym typeface="Calibri (MS)"/>
                </a:rPr>
                <a:t>23</a:t>
              </a:r>
            </a:p>
          </p:txBody>
        </p:sp>
      </p:grpSp>
      <p:grpSp>
        <p:nvGrpSpPr>
          <p:cNvPr name="Group 18" id="18"/>
          <p:cNvGrpSpPr/>
          <p:nvPr/>
        </p:nvGrpSpPr>
        <p:grpSpPr>
          <a:xfrm rot="0">
            <a:off x="1005840" y="8741664"/>
            <a:ext cx="16276320" cy="1097280"/>
            <a:chOff x="0" y="0"/>
            <a:chExt cx="21701760" cy="1463040"/>
          </a:xfrm>
        </p:grpSpPr>
        <p:sp>
          <p:nvSpPr>
            <p:cNvPr name="Freeform 19" id="19"/>
            <p:cNvSpPr/>
            <p:nvPr/>
          </p:nvSpPr>
          <p:spPr>
            <a:xfrm flipH="false" flipV="false" rot="0">
              <a:off x="0" y="0"/>
              <a:ext cx="21701761" cy="1463040"/>
            </a:xfrm>
            <a:custGeom>
              <a:avLst/>
              <a:gdLst/>
              <a:ahLst/>
              <a:cxnLst/>
              <a:rect r="r" b="b" t="t" l="l"/>
              <a:pathLst>
                <a:path h="1463040" w="21701761">
                  <a:moveTo>
                    <a:pt x="0" y="292608"/>
                  </a:moveTo>
                  <a:cubicBezTo>
                    <a:pt x="0" y="131064"/>
                    <a:pt x="131064" y="0"/>
                    <a:pt x="292608" y="0"/>
                  </a:cubicBezTo>
                  <a:lnTo>
                    <a:pt x="21409152" y="0"/>
                  </a:lnTo>
                  <a:cubicBezTo>
                    <a:pt x="21570696" y="0"/>
                    <a:pt x="21701761" y="131064"/>
                    <a:pt x="21701761" y="292608"/>
                  </a:cubicBezTo>
                  <a:lnTo>
                    <a:pt x="21701761" y="1170432"/>
                  </a:lnTo>
                  <a:cubicBezTo>
                    <a:pt x="21701761" y="1331976"/>
                    <a:pt x="21570696" y="1463040"/>
                    <a:pt x="21409152" y="1463040"/>
                  </a:cubicBezTo>
                  <a:lnTo>
                    <a:pt x="292608" y="1463040"/>
                  </a:lnTo>
                  <a:cubicBezTo>
                    <a:pt x="131064" y="1463040"/>
                    <a:pt x="0" y="1331976"/>
                    <a:pt x="0" y="1170432"/>
                  </a:cubicBezTo>
                  <a:close/>
                </a:path>
              </a:pathLst>
            </a:custGeom>
            <a:solidFill>
              <a:srgbClr val="DBEAFE"/>
            </a:solidFill>
          </p:spPr>
        </p:sp>
      </p:grpSp>
      <p:grpSp>
        <p:nvGrpSpPr>
          <p:cNvPr name="Group 20" id="20"/>
          <p:cNvGrpSpPr/>
          <p:nvPr/>
        </p:nvGrpSpPr>
        <p:grpSpPr>
          <a:xfrm rot="0">
            <a:off x="1225296" y="8814816"/>
            <a:ext cx="15837408" cy="993949"/>
            <a:chOff x="0" y="0"/>
            <a:chExt cx="21116544" cy="1325265"/>
          </a:xfrm>
        </p:grpSpPr>
        <p:sp>
          <p:nvSpPr>
            <p:cNvPr name="Freeform 21" id="21"/>
            <p:cNvSpPr/>
            <p:nvPr/>
          </p:nvSpPr>
          <p:spPr>
            <a:xfrm flipH="false" flipV="false" rot="0">
              <a:off x="0" y="0"/>
              <a:ext cx="21116544" cy="1325265"/>
            </a:xfrm>
            <a:custGeom>
              <a:avLst/>
              <a:gdLst/>
              <a:ahLst/>
              <a:cxnLst/>
              <a:rect r="r" b="b" t="t" l="l"/>
              <a:pathLst>
                <a:path h="1325265" w="21116544">
                  <a:moveTo>
                    <a:pt x="0" y="0"/>
                  </a:moveTo>
                  <a:lnTo>
                    <a:pt x="21116544" y="0"/>
                  </a:lnTo>
                  <a:lnTo>
                    <a:pt x="21116544" y="1325265"/>
                  </a:lnTo>
                  <a:lnTo>
                    <a:pt x="0" y="1325265"/>
                  </a:lnTo>
                  <a:close/>
                </a:path>
              </a:pathLst>
            </a:custGeom>
            <a:blipFill>
              <a:blip r:embed="rId3">
                <a:alphaModFix amt="0"/>
              </a:blip>
              <a:stretch>
                <a:fillRect l="0" t="-262632" r="0" b="-258309"/>
              </a:stretch>
            </a:blipFill>
          </p:spPr>
        </p:sp>
        <p:sp>
          <p:nvSpPr>
            <p:cNvPr name="TextBox 22" id="22"/>
            <p:cNvSpPr txBox="true"/>
            <p:nvPr/>
          </p:nvSpPr>
          <p:spPr>
            <a:xfrm>
              <a:off x="0" y="-38100"/>
              <a:ext cx="21116544" cy="1363365"/>
            </a:xfrm>
            <a:prstGeom prst="rect">
              <a:avLst/>
            </a:prstGeom>
          </p:spPr>
          <p:txBody>
            <a:bodyPr anchor="ctr" rtlCol="false" tIns="0" lIns="0" bIns="0" rIns="0"/>
            <a:lstStyle/>
            <a:p>
              <a:pPr algn="l">
                <a:lnSpc>
                  <a:spcPts val="2400"/>
                </a:lnSpc>
              </a:pPr>
              <a:r>
                <a:rPr lang="en-US" sz="2000">
                  <a:solidFill>
                    <a:srgbClr val="334155"/>
                  </a:solidFill>
                  <a:latin typeface="Calibri (MS)"/>
                  <a:ea typeface="Calibri (MS)"/>
                  <a:cs typeface="Calibri (MS)"/>
                  <a:sym typeface="Calibri (MS)"/>
                </a:rPr>
                <a:t>Left: MPIW</a:t>
              </a:r>
              <a:r>
                <a:rPr lang="en-US" sz="2000">
                  <a:solidFill>
                    <a:srgbClr val="334155"/>
                  </a:solidFill>
                  <a:latin typeface="Calibri (MS)"/>
                  <a:ea typeface="Calibri (MS)"/>
                  <a:cs typeface="Calibri (MS)"/>
                  <a:sym typeface="Calibri (MS)"/>
                </a:rPr>
                <a:t> ratio (Tube/Quantile). Middle: PICP gain vs MPIW cost scatter. Right: WIS win count. Quantile dominates on WIS; Tube causes 2–18× interval widening.</a:t>
              </a:r>
            </a:p>
            <a:p>
              <a:pPr algn="l">
                <a:lnSpc>
                  <a:spcPts val="2400"/>
                </a:lnSpc>
              </a:pPr>
            </a:p>
          </p:txBody>
        </p:sp>
      </p:grpSp>
      <p:sp>
        <p:nvSpPr>
          <p:cNvPr name="Freeform 23" id="23"/>
          <p:cNvSpPr/>
          <p:nvPr/>
        </p:nvSpPr>
        <p:spPr>
          <a:xfrm flipH="false" flipV="false" rot="0">
            <a:off x="1028700" y="2611121"/>
            <a:ext cx="13056489" cy="5888516"/>
          </a:xfrm>
          <a:custGeom>
            <a:avLst/>
            <a:gdLst/>
            <a:ahLst/>
            <a:cxnLst/>
            <a:rect r="r" b="b" t="t" l="l"/>
            <a:pathLst>
              <a:path h="5888516" w="13056489">
                <a:moveTo>
                  <a:pt x="0" y="0"/>
                </a:moveTo>
                <a:lnTo>
                  <a:pt x="13056489" y="0"/>
                </a:lnTo>
                <a:lnTo>
                  <a:pt x="13056489" y="5888516"/>
                </a:lnTo>
                <a:lnTo>
                  <a:pt x="0" y="5888516"/>
                </a:lnTo>
                <a:lnTo>
                  <a:pt x="0" y="0"/>
                </a:lnTo>
                <a:close/>
              </a:path>
            </a:pathLst>
          </a:custGeom>
          <a:blipFill>
            <a:blip r:embed="rId4"/>
            <a:stretch>
              <a:fillRect l="0" t="-3657" r="0" b="0"/>
            </a:stretch>
          </a:blipFill>
        </p:spPr>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73152"/>
            <a:chOff x="0" y="0"/>
            <a:chExt cx="24384000" cy="97536"/>
          </a:xfrm>
        </p:grpSpPr>
        <p:sp>
          <p:nvSpPr>
            <p:cNvPr name="Freeform 3" id="3"/>
            <p:cNvSpPr/>
            <p:nvPr/>
          </p:nvSpPr>
          <p:spPr>
            <a:xfrm flipH="false" flipV="false" rot="0">
              <a:off x="0" y="0"/>
              <a:ext cx="24384000" cy="97536"/>
            </a:xfrm>
            <a:custGeom>
              <a:avLst/>
              <a:gdLst/>
              <a:ahLst/>
              <a:cxnLst/>
              <a:rect r="r" b="b" t="t" l="l"/>
              <a:pathLst>
                <a:path h="97536" w="24384000">
                  <a:moveTo>
                    <a:pt x="0" y="0"/>
                  </a:moveTo>
                  <a:lnTo>
                    <a:pt x="24384000" y="0"/>
                  </a:lnTo>
                  <a:lnTo>
                    <a:pt x="24384000" y="97536"/>
                  </a:lnTo>
                  <a:lnTo>
                    <a:pt x="0" y="97536"/>
                  </a:lnTo>
                  <a:close/>
                </a:path>
              </a:pathLst>
            </a:custGeom>
            <a:solidFill>
              <a:srgbClr val="3B82F6"/>
            </a:solidFill>
          </p:spPr>
        </p:sp>
      </p:grpSp>
      <p:grpSp>
        <p:nvGrpSpPr>
          <p:cNvPr name="Group 4" id="4"/>
          <p:cNvGrpSpPr/>
          <p:nvPr/>
        </p:nvGrpSpPr>
        <p:grpSpPr>
          <a:xfrm rot="0">
            <a:off x="1005840" y="585216"/>
            <a:ext cx="2926080" cy="512064"/>
            <a:chOff x="0" y="0"/>
            <a:chExt cx="3901440" cy="682752"/>
          </a:xfrm>
        </p:grpSpPr>
        <p:sp>
          <p:nvSpPr>
            <p:cNvPr name="Freeform 5" id="5"/>
            <p:cNvSpPr/>
            <p:nvPr/>
          </p:nvSpPr>
          <p:spPr>
            <a:xfrm flipH="false" flipV="false" rot="0">
              <a:off x="0" y="0"/>
              <a:ext cx="3901440" cy="682752"/>
            </a:xfrm>
            <a:custGeom>
              <a:avLst/>
              <a:gdLst/>
              <a:ahLst/>
              <a:cxnLst/>
              <a:rect r="r" b="b" t="t" l="l"/>
              <a:pathLst>
                <a:path h="682752" w="3901440">
                  <a:moveTo>
                    <a:pt x="0" y="341376"/>
                  </a:moveTo>
                  <a:cubicBezTo>
                    <a:pt x="0" y="152781"/>
                    <a:pt x="152781" y="0"/>
                    <a:pt x="341376" y="0"/>
                  </a:cubicBezTo>
                  <a:lnTo>
                    <a:pt x="3560064" y="0"/>
                  </a:lnTo>
                  <a:cubicBezTo>
                    <a:pt x="3748659" y="0"/>
                    <a:pt x="3901440" y="152781"/>
                    <a:pt x="3901440" y="341376"/>
                  </a:cubicBezTo>
                  <a:cubicBezTo>
                    <a:pt x="3901440" y="529971"/>
                    <a:pt x="3748659" y="682752"/>
                    <a:pt x="3560064" y="682752"/>
                  </a:cubicBezTo>
                  <a:lnTo>
                    <a:pt x="341376" y="682752"/>
                  </a:lnTo>
                  <a:cubicBezTo>
                    <a:pt x="152781" y="682752"/>
                    <a:pt x="0" y="529971"/>
                    <a:pt x="0" y="341376"/>
                  </a:cubicBezTo>
                  <a:close/>
                </a:path>
              </a:pathLst>
            </a:custGeom>
            <a:solidFill>
              <a:srgbClr val="3B82F6"/>
            </a:solidFill>
          </p:spPr>
        </p:sp>
      </p:grpSp>
      <p:grpSp>
        <p:nvGrpSpPr>
          <p:cNvPr name="Group 6" id="6"/>
          <p:cNvGrpSpPr/>
          <p:nvPr/>
        </p:nvGrpSpPr>
        <p:grpSpPr>
          <a:xfrm rot="0">
            <a:off x="1005840" y="585216"/>
            <a:ext cx="2926080" cy="512064"/>
            <a:chOff x="0" y="0"/>
            <a:chExt cx="3901440" cy="682752"/>
          </a:xfrm>
        </p:grpSpPr>
        <p:sp>
          <p:nvSpPr>
            <p:cNvPr name="Freeform 7" id="7"/>
            <p:cNvSpPr/>
            <p:nvPr/>
          </p:nvSpPr>
          <p:spPr>
            <a:xfrm flipH="false" flipV="false" rot="0">
              <a:off x="0" y="0"/>
              <a:ext cx="3901440" cy="682752"/>
            </a:xfrm>
            <a:custGeom>
              <a:avLst/>
              <a:gdLst/>
              <a:ahLst/>
              <a:cxnLst/>
              <a:rect r="r" b="b" t="t" l="l"/>
              <a:pathLst>
                <a:path h="682752" w="3901440">
                  <a:moveTo>
                    <a:pt x="0" y="0"/>
                  </a:moveTo>
                  <a:lnTo>
                    <a:pt x="3901440" y="0"/>
                  </a:lnTo>
                  <a:lnTo>
                    <a:pt x="3901440" y="682752"/>
                  </a:lnTo>
                  <a:lnTo>
                    <a:pt x="0" y="682752"/>
                  </a:lnTo>
                  <a:close/>
                </a:path>
              </a:pathLst>
            </a:custGeom>
            <a:blipFill>
              <a:blip r:embed="rId3">
                <a:alphaModFix amt="0"/>
              </a:blip>
              <a:stretch>
                <a:fillRect l="0" t="-61343" r="0" b="-61343"/>
              </a:stretch>
            </a:blipFill>
          </p:spPr>
        </p:sp>
        <p:sp>
          <p:nvSpPr>
            <p:cNvPr name="TextBox 8" id="8"/>
            <p:cNvSpPr txBox="true"/>
            <p:nvPr/>
          </p:nvSpPr>
          <p:spPr>
            <a:xfrm>
              <a:off x="0" y="-38100"/>
              <a:ext cx="3901440" cy="72085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ANALYSIS</a:t>
              </a:r>
            </a:p>
          </p:txBody>
        </p:sp>
      </p:grpSp>
      <p:grpSp>
        <p:nvGrpSpPr>
          <p:cNvPr name="Group 9" id="9"/>
          <p:cNvGrpSpPr/>
          <p:nvPr/>
        </p:nvGrpSpPr>
        <p:grpSpPr>
          <a:xfrm rot="0">
            <a:off x="1005840" y="1060704"/>
            <a:ext cx="16276320" cy="1550417"/>
            <a:chOff x="0" y="0"/>
            <a:chExt cx="21701760" cy="2067223"/>
          </a:xfrm>
        </p:grpSpPr>
        <p:sp>
          <p:nvSpPr>
            <p:cNvPr name="Freeform 10" id="10"/>
            <p:cNvSpPr/>
            <p:nvPr/>
          </p:nvSpPr>
          <p:spPr>
            <a:xfrm flipH="false" flipV="false" rot="0">
              <a:off x="0" y="0"/>
              <a:ext cx="21701761" cy="2067223"/>
            </a:xfrm>
            <a:custGeom>
              <a:avLst/>
              <a:gdLst/>
              <a:ahLst/>
              <a:cxnLst/>
              <a:rect r="r" b="b" t="t" l="l"/>
              <a:pathLst>
                <a:path h="2067223" w="21701761">
                  <a:moveTo>
                    <a:pt x="0" y="0"/>
                  </a:moveTo>
                  <a:lnTo>
                    <a:pt x="21701761" y="0"/>
                  </a:lnTo>
                  <a:lnTo>
                    <a:pt x="21701761" y="2067223"/>
                  </a:lnTo>
                  <a:lnTo>
                    <a:pt x="0" y="2067223"/>
                  </a:lnTo>
                  <a:close/>
                </a:path>
              </a:pathLst>
            </a:custGeom>
            <a:blipFill>
              <a:blip r:embed="rId3">
                <a:alphaModFix amt="0"/>
              </a:blip>
              <a:stretch>
                <a:fillRect l="0" t="-176245" r="0" b="-132863"/>
              </a:stretch>
            </a:blipFill>
          </p:spPr>
        </p:sp>
        <p:sp>
          <p:nvSpPr>
            <p:cNvPr name="TextBox 11" id="11"/>
            <p:cNvSpPr txBox="true"/>
            <p:nvPr/>
          </p:nvSpPr>
          <p:spPr>
            <a:xfrm>
              <a:off x="0" y="-76200"/>
              <a:ext cx="21701760" cy="2143423"/>
            </a:xfrm>
            <a:prstGeom prst="rect">
              <a:avLst/>
            </a:prstGeom>
          </p:spPr>
          <p:txBody>
            <a:bodyPr anchor="ctr" rtlCol="false" tIns="0" lIns="0" bIns="0" rIns="0"/>
            <a:lstStyle/>
            <a:p>
              <a:pPr algn="l">
                <a:lnSpc>
                  <a:spcPts val="5280"/>
                </a:lnSpc>
              </a:pPr>
              <a:r>
                <a:rPr lang="en-US" sz="4400" b="true">
                  <a:solidFill>
                    <a:srgbClr val="1A2744"/>
                  </a:solidFill>
                  <a:latin typeface="Calibri (MS) Bold"/>
                  <a:ea typeface="Calibri (MS) Bold"/>
                  <a:cs typeface="Calibri (MS) Bold"/>
                  <a:sym typeface="Calibri (MS) Bold"/>
                </a:rPr>
                <a:t>Pa</a:t>
              </a:r>
              <a:r>
                <a:rPr lang="en-US" sz="4400" b="true">
                  <a:solidFill>
                    <a:srgbClr val="1A2744"/>
                  </a:solidFill>
                  <a:latin typeface="Calibri (MS) Bold"/>
                  <a:ea typeface="Calibri (MS) Bold"/>
                  <a:cs typeface="Calibri (MS) Bold"/>
                  <a:sym typeface="Calibri (MS) Bold"/>
                </a:rPr>
                <a:t>reto Frontier — Coverage vs Sharpness</a:t>
              </a:r>
            </a:p>
            <a:p>
              <a:pPr algn="l">
                <a:lnSpc>
                  <a:spcPts val="5280"/>
                </a:lnSpc>
              </a:pPr>
            </a:p>
          </p:txBody>
        </p:sp>
      </p:grpSp>
      <p:grpSp>
        <p:nvGrpSpPr>
          <p:cNvPr name="Group 12" id="12"/>
          <p:cNvGrpSpPr/>
          <p:nvPr/>
        </p:nvGrpSpPr>
        <p:grpSpPr>
          <a:xfrm rot="0">
            <a:off x="1005840" y="1938528"/>
            <a:ext cx="16276320" cy="457200"/>
            <a:chOff x="0" y="0"/>
            <a:chExt cx="21701760" cy="609600"/>
          </a:xfrm>
        </p:grpSpPr>
        <p:sp>
          <p:nvSpPr>
            <p:cNvPr name="Freeform 13" id="13"/>
            <p:cNvSpPr/>
            <p:nvPr/>
          </p:nvSpPr>
          <p:spPr>
            <a:xfrm flipH="false" flipV="false" rot="0">
              <a:off x="0" y="0"/>
              <a:ext cx="21701761" cy="609600"/>
            </a:xfrm>
            <a:custGeom>
              <a:avLst/>
              <a:gdLst/>
              <a:ahLst/>
              <a:cxnLst/>
              <a:rect r="r" b="b" t="t" l="l"/>
              <a:pathLst>
                <a:path h="609600" w="21701761">
                  <a:moveTo>
                    <a:pt x="0" y="0"/>
                  </a:moveTo>
                  <a:lnTo>
                    <a:pt x="21701761" y="0"/>
                  </a:lnTo>
                  <a:lnTo>
                    <a:pt x="21701761" y="609600"/>
                  </a:lnTo>
                  <a:lnTo>
                    <a:pt x="0" y="609600"/>
                  </a:lnTo>
                  <a:close/>
                </a:path>
              </a:pathLst>
            </a:custGeom>
            <a:blipFill>
              <a:blip r:embed="rId3">
                <a:alphaModFix amt="0"/>
              </a:blip>
              <a:stretch>
                <a:fillRect l="0" t="-643667" r="0" b="-643667"/>
              </a:stretch>
            </a:blipFill>
          </p:spPr>
        </p:sp>
        <p:sp>
          <p:nvSpPr>
            <p:cNvPr name="TextBox 14" id="14"/>
            <p:cNvSpPr txBox="true"/>
            <p:nvPr/>
          </p:nvSpPr>
          <p:spPr>
            <a:xfrm>
              <a:off x="0" y="-47625"/>
              <a:ext cx="21701760" cy="657225"/>
            </a:xfrm>
            <a:prstGeom prst="rect">
              <a:avLst/>
            </a:prstGeom>
          </p:spPr>
          <p:txBody>
            <a:bodyPr anchor="ctr" rtlCol="false" tIns="0" lIns="0" bIns="0" rIns="0"/>
            <a:lstStyle/>
            <a:p>
              <a:pPr algn="l">
                <a:lnSpc>
                  <a:spcPts val="2640"/>
                </a:lnSpc>
              </a:pPr>
              <a:r>
                <a:rPr lang="en-US" sz="2200" i="true">
                  <a:solidFill>
                    <a:srgbClr val="64748B"/>
                  </a:solidFill>
                  <a:latin typeface="Calibri (MS) Italics"/>
                  <a:ea typeface="Calibri (MS) Italics"/>
                  <a:cs typeface="Calibri (MS) Italics"/>
                  <a:sym typeface="Calibri (MS) Italics"/>
                </a:rPr>
                <a:t>RNN Family vs SSM/Attention vs Probabilistic — 5 metrics on each axis</a:t>
              </a:r>
            </a:p>
          </p:txBody>
        </p:sp>
      </p:grpSp>
      <p:grpSp>
        <p:nvGrpSpPr>
          <p:cNvPr name="Group 15" id="15"/>
          <p:cNvGrpSpPr/>
          <p:nvPr/>
        </p:nvGrpSpPr>
        <p:grpSpPr>
          <a:xfrm rot="0">
            <a:off x="17190720" y="9646920"/>
            <a:ext cx="731520" cy="457200"/>
            <a:chOff x="0" y="0"/>
            <a:chExt cx="975360" cy="609600"/>
          </a:xfrm>
        </p:grpSpPr>
        <p:sp>
          <p:nvSpPr>
            <p:cNvPr name="Freeform 16" id="16"/>
            <p:cNvSpPr/>
            <p:nvPr/>
          </p:nvSpPr>
          <p:spPr>
            <a:xfrm flipH="false" flipV="false" rot="0">
              <a:off x="0" y="0"/>
              <a:ext cx="975360" cy="609600"/>
            </a:xfrm>
            <a:custGeom>
              <a:avLst/>
              <a:gdLst/>
              <a:ahLst/>
              <a:cxnLst/>
              <a:rect r="r" b="b" t="t" l="l"/>
              <a:pathLst>
                <a:path h="609600" w="975360">
                  <a:moveTo>
                    <a:pt x="0" y="0"/>
                  </a:moveTo>
                  <a:lnTo>
                    <a:pt x="975360" y="0"/>
                  </a:lnTo>
                  <a:lnTo>
                    <a:pt x="975360" y="609600"/>
                  </a:lnTo>
                  <a:lnTo>
                    <a:pt x="0" y="609600"/>
                  </a:lnTo>
                  <a:close/>
                </a:path>
              </a:pathLst>
            </a:custGeom>
            <a:blipFill>
              <a:blip r:embed="rId3">
                <a:alphaModFix amt="0"/>
              </a:blip>
              <a:stretch>
                <a:fillRect l="-30189" t="0" r="-30189" b="0"/>
              </a:stretch>
            </a:blipFill>
          </p:spPr>
        </p:sp>
        <p:sp>
          <p:nvSpPr>
            <p:cNvPr name="TextBox 17" id="17"/>
            <p:cNvSpPr txBox="true"/>
            <p:nvPr/>
          </p:nvSpPr>
          <p:spPr>
            <a:xfrm>
              <a:off x="0" y="-38100"/>
              <a:ext cx="975360" cy="647700"/>
            </a:xfrm>
            <a:prstGeom prst="rect">
              <a:avLst/>
            </a:prstGeom>
          </p:spPr>
          <p:txBody>
            <a:bodyPr anchor="ctr" rtlCol="false" tIns="0" lIns="0" bIns="0" rIns="0"/>
            <a:lstStyle/>
            <a:p>
              <a:pPr algn="r">
                <a:lnSpc>
                  <a:spcPts val="2160"/>
                </a:lnSpc>
              </a:pPr>
              <a:r>
                <a:rPr lang="en-US" sz="1800">
                  <a:solidFill>
                    <a:srgbClr val="64748B"/>
                  </a:solidFill>
                  <a:latin typeface="Calibri (MS)"/>
                  <a:ea typeface="Calibri (MS)"/>
                  <a:cs typeface="Calibri (MS)"/>
                  <a:sym typeface="Calibri (MS)"/>
                </a:rPr>
                <a:t>24</a:t>
              </a:r>
            </a:p>
          </p:txBody>
        </p:sp>
      </p:grpSp>
      <p:grpSp>
        <p:nvGrpSpPr>
          <p:cNvPr name="Group 18" id="18"/>
          <p:cNvGrpSpPr/>
          <p:nvPr/>
        </p:nvGrpSpPr>
        <p:grpSpPr>
          <a:xfrm rot="0">
            <a:off x="1005840" y="8741664"/>
            <a:ext cx="16276320" cy="1097280"/>
            <a:chOff x="0" y="0"/>
            <a:chExt cx="21701760" cy="1463040"/>
          </a:xfrm>
        </p:grpSpPr>
        <p:sp>
          <p:nvSpPr>
            <p:cNvPr name="Freeform 19" id="19"/>
            <p:cNvSpPr/>
            <p:nvPr/>
          </p:nvSpPr>
          <p:spPr>
            <a:xfrm flipH="false" flipV="false" rot="0">
              <a:off x="0" y="0"/>
              <a:ext cx="21701761" cy="1463040"/>
            </a:xfrm>
            <a:custGeom>
              <a:avLst/>
              <a:gdLst/>
              <a:ahLst/>
              <a:cxnLst/>
              <a:rect r="r" b="b" t="t" l="l"/>
              <a:pathLst>
                <a:path h="1463040" w="21701761">
                  <a:moveTo>
                    <a:pt x="0" y="292608"/>
                  </a:moveTo>
                  <a:cubicBezTo>
                    <a:pt x="0" y="131064"/>
                    <a:pt x="131064" y="0"/>
                    <a:pt x="292608" y="0"/>
                  </a:cubicBezTo>
                  <a:lnTo>
                    <a:pt x="21409152" y="0"/>
                  </a:lnTo>
                  <a:cubicBezTo>
                    <a:pt x="21570696" y="0"/>
                    <a:pt x="21701761" y="131064"/>
                    <a:pt x="21701761" y="292608"/>
                  </a:cubicBezTo>
                  <a:lnTo>
                    <a:pt x="21701761" y="1170432"/>
                  </a:lnTo>
                  <a:cubicBezTo>
                    <a:pt x="21701761" y="1331976"/>
                    <a:pt x="21570696" y="1463040"/>
                    <a:pt x="21409152" y="1463040"/>
                  </a:cubicBezTo>
                  <a:lnTo>
                    <a:pt x="292608" y="1463040"/>
                  </a:lnTo>
                  <a:cubicBezTo>
                    <a:pt x="131064" y="1463040"/>
                    <a:pt x="0" y="1331976"/>
                    <a:pt x="0" y="1170432"/>
                  </a:cubicBezTo>
                  <a:close/>
                </a:path>
              </a:pathLst>
            </a:custGeom>
            <a:solidFill>
              <a:srgbClr val="DBEAFE"/>
            </a:solidFill>
          </p:spPr>
        </p:sp>
      </p:grpSp>
      <p:grpSp>
        <p:nvGrpSpPr>
          <p:cNvPr name="Group 20" id="20"/>
          <p:cNvGrpSpPr/>
          <p:nvPr/>
        </p:nvGrpSpPr>
        <p:grpSpPr>
          <a:xfrm rot="0">
            <a:off x="1225296" y="8814816"/>
            <a:ext cx="15837408" cy="950976"/>
            <a:chOff x="0" y="0"/>
            <a:chExt cx="21116544" cy="1267968"/>
          </a:xfrm>
        </p:grpSpPr>
        <p:sp>
          <p:nvSpPr>
            <p:cNvPr name="Freeform 21" id="21"/>
            <p:cNvSpPr/>
            <p:nvPr/>
          </p:nvSpPr>
          <p:spPr>
            <a:xfrm flipH="false" flipV="false" rot="0">
              <a:off x="0" y="0"/>
              <a:ext cx="21116544" cy="1267968"/>
            </a:xfrm>
            <a:custGeom>
              <a:avLst/>
              <a:gdLst/>
              <a:ahLst/>
              <a:cxnLst/>
              <a:rect r="r" b="b" t="t" l="l"/>
              <a:pathLst>
                <a:path h="1267968" w="21116544">
                  <a:moveTo>
                    <a:pt x="0" y="0"/>
                  </a:moveTo>
                  <a:lnTo>
                    <a:pt x="21116544" y="0"/>
                  </a:lnTo>
                  <a:lnTo>
                    <a:pt x="21116544" y="1267968"/>
                  </a:lnTo>
                  <a:lnTo>
                    <a:pt x="0" y="1267968"/>
                  </a:lnTo>
                  <a:close/>
                </a:path>
              </a:pathLst>
            </a:custGeom>
            <a:blipFill>
              <a:blip r:embed="rId3">
                <a:alphaModFix amt="0"/>
              </a:blip>
              <a:stretch>
                <a:fillRect l="0" t="-274500" r="0" b="-274500"/>
              </a:stretch>
            </a:blipFill>
          </p:spPr>
        </p:sp>
        <p:sp>
          <p:nvSpPr>
            <p:cNvPr name="TextBox 22" id="22"/>
            <p:cNvSpPr txBox="true"/>
            <p:nvPr/>
          </p:nvSpPr>
          <p:spPr>
            <a:xfrm>
              <a:off x="0" y="-38100"/>
              <a:ext cx="21116544" cy="1306068"/>
            </a:xfrm>
            <a:prstGeom prst="rect">
              <a:avLst/>
            </a:prstGeom>
          </p:spPr>
          <p:txBody>
            <a:bodyPr anchor="ctr" rtlCol="false" tIns="0" lIns="0" bIns="0" rIns="0"/>
            <a:lstStyle/>
            <a:p>
              <a:pPr algn="l">
                <a:lnSpc>
                  <a:spcPts val="2400"/>
                </a:lnSpc>
              </a:pPr>
              <a:r>
                <a:rPr lang="en-US" sz="2000">
                  <a:solidFill>
                    <a:srgbClr val="334155"/>
                  </a:solidFill>
                  <a:latin typeface="Calibri (MS)"/>
                  <a:ea typeface="Calibri (MS)"/>
                  <a:cs typeface="Calibri (MS)"/>
                  <a:sym typeface="Calibri (MS)"/>
                </a:rPr>
                <a:t>On</a:t>
              </a:r>
              <a:r>
                <a:rPr lang="en-US" sz="2000">
                  <a:solidFill>
                    <a:srgbClr val="334155"/>
                  </a:solidFill>
                  <a:latin typeface="Calibri (MS)"/>
                  <a:ea typeface="Calibri (MS)"/>
                  <a:cs typeface="Calibri (MS)"/>
                  <a:sym typeface="Calibri (MS)"/>
                </a:rPr>
                <a:t>ly 4 non-dominated SLA models: GRU-Q, SimpleRNN-Q, SimpleRNN-T, MDN. All others are redundant. SWH frontier is tighter.</a:t>
              </a:r>
            </a:p>
            <a:p>
              <a:pPr algn="l">
                <a:lnSpc>
                  <a:spcPts val="2400"/>
                </a:lnSpc>
              </a:pPr>
            </a:p>
          </p:txBody>
        </p:sp>
      </p:grpSp>
      <p:sp>
        <p:nvSpPr>
          <p:cNvPr name="Freeform 23" id="23"/>
          <p:cNvSpPr/>
          <p:nvPr/>
        </p:nvSpPr>
        <p:spPr>
          <a:xfrm flipH="false" flipV="false" rot="0">
            <a:off x="1028700" y="2395728"/>
            <a:ext cx="13056489" cy="6103909"/>
          </a:xfrm>
          <a:custGeom>
            <a:avLst/>
            <a:gdLst/>
            <a:ahLst/>
            <a:cxnLst/>
            <a:rect r="r" b="b" t="t" l="l"/>
            <a:pathLst>
              <a:path h="6103909" w="13056489">
                <a:moveTo>
                  <a:pt x="0" y="0"/>
                </a:moveTo>
                <a:lnTo>
                  <a:pt x="13056489" y="0"/>
                </a:lnTo>
                <a:lnTo>
                  <a:pt x="13056489" y="6103909"/>
                </a:lnTo>
                <a:lnTo>
                  <a:pt x="0" y="6103909"/>
                </a:lnTo>
                <a:lnTo>
                  <a:pt x="0" y="0"/>
                </a:lnTo>
                <a:close/>
              </a:path>
            </a:pathLst>
          </a:custGeom>
          <a:blipFill>
            <a:blip r:embed="rId4"/>
            <a:stretch>
              <a:fillRect l="0" t="0" r="0" b="0"/>
            </a:stretch>
          </a:blipFill>
        </p:spPr>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73152"/>
            <a:chOff x="0" y="0"/>
            <a:chExt cx="24384000" cy="97536"/>
          </a:xfrm>
        </p:grpSpPr>
        <p:sp>
          <p:nvSpPr>
            <p:cNvPr name="Freeform 3" id="3"/>
            <p:cNvSpPr/>
            <p:nvPr/>
          </p:nvSpPr>
          <p:spPr>
            <a:xfrm flipH="false" flipV="false" rot="0">
              <a:off x="0" y="0"/>
              <a:ext cx="24384000" cy="97536"/>
            </a:xfrm>
            <a:custGeom>
              <a:avLst/>
              <a:gdLst/>
              <a:ahLst/>
              <a:cxnLst/>
              <a:rect r="r" b="b" t="t" l="l"/>
              <a:pathLst>
                <a:path h="97536" w="24384000">
                  <a:moveTo>
                    <a:pt x="0" y="0"/>
                  </a:moveTo>
                  <a:lnTo>
                    <a:pt x="24384000" y="0"/>
                  </a:lnTo>
                  <a:lnTo>
                    <a:pt x="24384000" y="97536"/>
                  </a:lnTo>
                  <a:lnTo>
                    <a:pt x="0" y="97536"/>
                  </a:lnTo>
                  <a:close/>
                </a:path>
              </a:pathLst>
            </a:custGeom>
            <a:solidFill>
              <a:srgbClr val="3B82F6"/>
            </a:solidFill>
          </p:spPr>
        </p:sp>
      </p:grpSp>
      <p:grpSp>
        <p:nvGrpSpPr>
          <p:cNvPr name="Group 4" id="4"/>
          <p:cNvGrpSpPr/>
          <p:nvPr/>
        </p:nvGrpSpPr>
        <p:grpSpPr>
          <a:xfrm rot="0">
            <a:off x="1005840" y="585216"/>
            <a:ext cx="2926080" cy="512064"/>
            <a:chOff x="0" y="0"/>
            <a:chExt cx="3901440" cy="682752"/>
          </a:xfrm>
        </p:grpSpPr>
        <p:sp>
          <p:nvSpPr>
            <p:cNvPr name="Freeform 5" id="5"/>
            <p:cNvSpPr/>
            <p:nvPr/>
          </p:nvSpPr>
          <p:spPr>
            <a:xfrm flipH="false" flipV="false" rot="0">
              <a:off x="0" y="0"/>
              <a:ext cx="3901440" cy="682752"/>
            </a:xfrm>
            <a:custGeom>
              <a:avLst/>
              <a:gdLst/>
              <a:ahLst/>
              <a:cxnLst/>
              <a:rect r="r" b="b" t="t" l="l"/>
              <a:pathLst>
                <a:path h="682752" w="3901440">
                  <a:moveTo>
                    <a:pt x="0" y="341376"/>
                  </a:moveTo>
                  <a:cubicBezTo>
                    <a:pt x="0" y="152781"/>
                    <a:pt x="152781" y="0"/>
                    <a:pt x="341376" y="0"/>
                  </a:cubicBezTo>
                  <a:lnTo>
                    <a:pt x="3560064" y="0"/>
                  </a:lnTo>
                  <a:cubicBezTo>
                    <a:pt x="3748659" y="0"/>
                    <a:pt x="3901440" y="152781"/>
                    <a:pt x="3901440" y="341376"/>
                  </a:cubicBezTo>
                  <a:cubicBezTo>
                    <a:pt x="3901440" y="529971"/>
                    <a:pt x="3748659" y="682752"/>
                    <a:pt x="3560064" y="682752"/>
                  </a:cubicBezTo>
                  <a:lnTo>
                    <a:pt x="341376" y="682752"/>
                  </a:lnTo>
                  <a:cubicBezTo>
                    <a:pt x="152781" y="682752"/>
                    <a:pt x="0" y="529971"/>
                    <a:pt x="0" y="341376"/>
                  </a:cubicBezTo>
                  <a:close/>
                </a:path>
              </a:pathLst>
            </a:custGeom>
            <a:solidFill>
              <a:srgbClr val="3B82F6"/>
            </a:solidFill>
          </p:spPr>
        </p:sp>
      </p:grpSp>
      <p:grpSp>
        <p:nvGrpSpPr>
          <p:cNvPr name="Group 6" id="6"/>
          <p:cNvGrpSpPr/>
          <p:nvPr/>
        </p:nvGrpSpPr>
        <p:grpSpPr>
          <a:xfrm rot="0">
            <a:off x="1005840" y="585216"/>
            <a:ext cx="2926080" cy="512064"/>
            <a:chOff x="0" y="0"/>
            <a:chExt cx="3901440" cy="682752"/>
          </a:xfrm>
        </p:grpSpPr>
        <p:sp>
          <p:nvSpPr>
            <p:cNvPr name="Freeform 7" id="7"/>
            <p:cNvSpPr/>
            <p:nvPr/>
          </p:nvSpPr>
          <p:spPr>
            <a:xfrm flipH="false" flipV="false" rot="0">
              <a:off x="0" y="0"/>
              <a:ext cx="3901440" cy="682752"/>
            </a:xfrm>
            <a:custGeom>
              <a:avLst/>
              <a:gdLst/>
              <a:ahLst/>
              <a:cxnLst/>
              <a:rect r="r" b="b" t="t" l="l"/>
              <a:pathLst>
                <a:path h="682752" w="3901440">
                  <a:moveTo>
                    <a:pt x="0" y="0"/>
                  </a:moveTo>
                  <a:lnTo>
                    <a:pt x="3901440" y="0"/>
                  </a:lnTo>
                  <a:lnTo>
                    <a:pt x="3901440" y="682752"/>
                  </a:lnTo>
                  <a:lnTo>
                    <a:pt x="0" y="682752"/>
                  </a:lnTo>
                  <a:close/>
                </a:path>
              </a:pathLst>
            </a:custGeom>
            <a:blipFill>
              <a:blip r:embed="rId3">
                <a:alphaModFix amt="0"/>
              </a:blip>
              <a:stretch>
                <a:fillRect l="0" t="-61343" r="0" b="-61343"/>
              </a:stretch>
            </a:blipFill>
          </p:spPr>
        </p:sp>
        <p:sp>
          <p:nvSpPr>
            <p:cNvPr name="TextBox 8" id="8"/>
            <p:cNvSpPr txBox="true"/>
            <p:nvPr/>
          </p:nvSpPr>
          <p:spPr>
            <a:xfrm>
              <a:off x="0" y="-38100"/>
              <a:ext cx="3901440" cy="72085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ANALYSIS</a:t>
              </a:r>
            </a:p>
          </p:txBody>
        </p:sp>
      </p:grpSp>
      <p:grpSp>
        <p:nvGrpSpPr>
          <p:cNvPr name="Group 9" id="9"/>
          <p:cNvGrpSpPr/>
          <p:nvPr/>
        </p:nvGrpSpPr>
        <p:grpSpPr>
          <a:xfrm rot="0">
            <a:off x="1005840" y="1060704"/>
            <a:ext cx="16276320" cy="1550417"/>
            <a:chOff x="0" y="0"/>
            <a:chExt cx="21701760" cy="2067223"/>
          </a:xfrm>
        </p:grpSpPr>
        <p:sp>
          <p:nvSpPr>
            <p:cNvPr name="Freeform 10" id="10"/>
            <p:cNvSpPr/>
            <p:nvPr/>
          </p:nvSpPr>
          <p:spPr>
            <a:xfrm flipH="false" flipV="false" rot="0">
              <a:off x="0" y="0"/>
              <a:ext cx="21701761" cy="2067223"/>
            </a:xfrm>
            <a:custGeom>
              <a:avLst/>
              <a:gdLst/>
              <a:ahLst/>
              <a:cxnLst/>
              <a:rect r="r" b="b" t="t" l="l"/>
              <a:pathLst>
                <a:path h="2067223" w="21701761">
                  <a:moveTo>
                    <a:pt x="0" y="0"/>
                  </a:moveTo>
                  <a:lnTo>
                    <a:pt x="21701761" y="0"/>
                  </a:lnTo>
                  <a:lnTo>
                    <a:pt x="21701761" y="2067223"/>
                  </a:lnTo>
                  <a:lnTo>
                    <a:pt x="0" y="2067223"/>
                  </a:lnTo>
                  <a:close/>
                </a:path>
              </a:pathLst>
            </a:custGeom>
            <a:blipFill>
              <a:blip r:embed="rId3">
                <a:alphaModFix amt="0"/>
              </a:blip>
              <a:stretch>
                <a:fillRect l="0" t="-176245" r="0" b="-132863"/>
              </a:stretch>
            </a:blipFill>
          </p:spPr>
        </p:sp>
        <p:sp>
          <p:nvSpPr>
            <p:cNvPr name="TextBox 11" id="11"/>
            <p:cNvSpPr txBox="true"/>
            <p:nvPr/>
          </p:nvSpPr>
          <p:spPr>
            <a:xfrm>
              <a:off x="0" y="-76200"/>
              <a:ext cx="21701760" cy="2143423"/>
            </a:xfrm>
            <a:prstGeom prst="rect">
              <a:avLst/>
            </a:prstGeom>
          </p:spPr>
          <p:txBody>
            <a:bodyPr anchor="ctr" rtlCol="false" tIns="0" lIns="0" bIns="0" rIns="0"/>
            <a:lstStyle/>
            <a:p>
              <a:pPr algn="l">
                <a:lnSpc>
                  <a:spcPts val="5280"/>
                </a:lnSpc>
              </a:pPr>
              <a:r>
                <a:rPr lang="en-US" sz="4400" b="true">
                  <a:solidFill>
                    <a:srgbClr val="1A2744"/>
                  </a:solidFill>
                  <a:latin typeface="Calibri (MS) Bold"/>
                  <a:ea typeface="Calibri (MS) Bold"/>
                  <a:cs typeface="Calibri (MS) Bold"/>
                  <a:sym typeface="Calibri (MS) Bold"/>
                </a:rPr>
                <a:t>Bo</a:t>
              </a:r>
              <a:r>
                <a:rPr lang="en-US" sz="4400" b="true">
                  <a:solidFill>
                    <a:srgbClr val="1A2744"/>
                  </a:solidFill>
                  <a:latin typeface="Calibri (MS) Bold"/>
                  <a:ea typeface="Calibri (MS) Bold"/>
                  <a:cs typeface="Calibri (MS) Bold"/>
                  <a:sym typeface="Calibri (MS) Bold"/>
                </a:rPr>
                <a:t>rda Count Composite Ranking — Best to Worst</a:t>
              </a:r>
            </a:p>
            <a:p>
              <a:pPr algn="l">
                <a:lnSpc>
                  <a:spcPts val="5280"/>
                </a:lnSpc>
              </a:pPr>
            </a:p>
          </p:txBody>
        </p:sp>
      </p:grpSp>
      <p:grpSp>
        <p:nvGrpSpPr>
          <p:cNvPr name="Group 12" id="12"/>
          <p:cNvGrpSpPr/>
          <p:nvPr/>
        </p:nvGrpSpPr>
        <p:grpSpPr>
          <a:xfrm rot="0">
            <a:off x="1005840" y="1938528"/>
            <a:ext cx="16276320" cy="457200"/>
            <a:chOff x="0" y="0"/>
            <a:chExt cx="21701760" cy="609600"/>
          </a:xfrm>
        </p:grpSpPr>
        <p:sp>
          <p:nvSpPr>
            <p:cNvPr name="Freeform 13" id="13"/>
            <p:cNvSpPr/>
            <p:nvPr/>
          </p:nvSpPr>
          <p:spPr>
            <a:xfrm flipH="false" flipV="false" rot="0">
              <a:off x="0" y="0"/>
              <a:ext cx="21701761" cy="609600"/>
            </a:xfrm>
            <a:custGeom>
              <a:avLst/>
              <a:gdLst/>
              <a:ahLst/>
              <a:cxnLst/>
              <a:rect r="r" b="b" t="t" l="l"/>
              <a:pathLst>
                <a:path h="609600" w="21701761">
                  <a:moveTo>
                    <a:pt x="0" y="0"/>
                  </a:moveTo>
                  <a:lnTo>
                    <a:pt x="21701761" y="0"/>
                  </a:lnTo>
                  <a:lnTo>
                    <a:pt x="21701761" y="609600"/>
                  </a:lnTo>
                  <a:lnTo>
                    <a:pt x="0" y="609600"/>
                  </a:lnTo>
                  <a:close/>
                </a:path>
              </a:pathLst>
            </a:custGeom>
            <a:blipFill>
              <a:blip r:embed="rId3">
                <a:alphaModFix amt="0"/>
              </a:blip>
              <a:stretch>
                <a:fillRect l="0" t="-643667" r="0" b="-643667"/>
              </a:stretch>
            </a:blipFill>
          </p:spPr>
        </p:sp>
        <p:sp>
          <p:nvSpPr>
            <p:cNvPr name="TextBox 14" id="14"/>
            <p:cNvSpPr txBox="true"/>
            <p:nvPr/>
          </p:nvSpPr>
          <p:spPr>
            <a:xfrm>
              <a:off x="0" y="-47625"/>
              <a:ext cx="21701760" cy="657225"/>
            </a:xfrm>
            <a:prstGeom prst="rect">
              <a:avLst/>
            </a:prstGeom>
          </p:spPr>
          <p:txBody>
            <a:bodyPr anchor="ctr" rtlCol="false" tIns="0" lIns="0" bIns="0" rIns="0"/>
            <a:lstStyle/>
            <a:p>
              <a:pPr algn="l">
                <a:lnSpc>
                  <a:spcPts val="2640"/>
                </a:lnSpc>
              </a:pPr>
              <a:r>
                <a:rPr lang="en-US" sz="2200" i="true">
                  <a:solidFill>
                    <a:srgbClr val="64748B"/>
                  </a:solidFill>
                  <a:latin typeface="Calibri (MS) Italics"/>
                  <a:ea typeface="Calibri (MS) Italics"/>
                  <a:cs typeface="Calibri (MS) Italics"/>
                  <a:sym typeface="Calibri (MS) Italics"/>
                </a:rPr>
                <a:t>RNN Family vs SSM/Attention vs Probabilistic — 5 metrics on each axis</a:t>
              </a:r>
            </a:p>
          </p:txBody>
        </p:sp>
      </p:grpSp>
      <p:grpSp>
        <p:nvGrpSpPr>
          <p:cNvPr name="Group 15" id="15"/>
          <p:cNvGrpSpPr/>
          <p:nvPr/>
        </p:nvGrpSpPr>
        <p:grpSpPr>
          <a:xfrm rot="0">
            <a:off x="17190720" y="9646920"/>
            <a:ext cx="731520" cy="457200"/>
            <a:chOff x="0" y="0"/>
            <a:chExt cx="975360" cy="609600"/>
          </a:xfrm>
        </p:grpSpPr>
        <p:sp>
          <p:nvSpPr>
            <p:cNvPr name="Freeform 16" id="16"/>
            <p:cNvSpPr/>
            <p:nvPr/>
          </p:nvSpPr>
          <p:spPr>
            <a:xfrm flipH="false" flipV="false" rot="0">
              <a:off x="0" y="0"/>
              <a:ext cx="975360" cy="609600"/>
            </a:xfrm>
            <a:custGeom>
              <a:avLst/>
              <a:gdLst/>
              <a:ahLst/>
              <a:cxnLst/>
              <a:rect r="r" b="b" t="t" l="l"/>
              <a:pathLst>
                <a:path h="609600" w="975360">
                  <a:moveTo>
                    <a:pt x="0" y="0"/>
                  </a:moveTo>
                  <a:lnTo>
                    <a:pt x="975360" y="0"/>
                  </a:lnTo>
                  <a:lnTo>
                    <a:pt x="975360" y="609600"/>
                  </a:lnTo>
                  <a:lnTo>
                    <a:pt x="0" y="609600"/>
                  </a:lnTo>
                  <a:close/>
                </a:path>
              </a:pathLst>
            </a:custGeom>
            <a:blipFill>
              <a:blip r:embed="rId3">
                <a:alphaModFix amt="0"/>
              </a:blip>
              <a:stretch>
                <a:fillRect l="-30189" t="0" r="-30189" b="0"/>
              </a:stretch>
            </a:blipFill>
          </p:spPr>
        </p:sp>
        <p:sp>
          <p:nvSpPr>
            <p:cNvPr name="TextBox 17" id="17"/>
            <p:cNvSpPr txBox="true"/>
            <p:nvPr/>
          </p:nvSpPr>
          <p:spPr>
            <a:xfrm>
              <a:off x="0" y="-38100"/>
              <a:ext cx="975360" cy="647700"/>
            </a:xfrm>
            <a:prstGeom prst="rect">
              <a:avLst/>
            </a:prstGeom>
          </p:spPr>
          <p:txBody>
            <a:bodyPr anchor="ctr" rtlCol="false" tIns="0" lIns="0" bIns="0" rIns="0"/>
            <a:lstStyle/>
            <a:p>
              <a:pPr algn="r">
                <a:lnSpc>
                  <a:spcPts val="2160"/>
                </a:lnSpc>
              </a:pPr>
              <a:r>
                <a:rPr lang="en-US" sz="1800">
                  <a:solidFill>
                    <a:srgbClr val="64748B"/>
                  </a:solidFill>
                  <a:latin typeface="Calibri (MS)"/>
                  <a:ea typeface="Calibri (MS)"/>
                  <a:cs typeface="Calibri (MS)"/>
                  <a:sym typeface="Calibri (MS)"/>
                </a:rPr>
                <a:t>25</a:t>
              </a:r>
            </a:p>
          </p:txBody>
        </p:sp>
      </p:grpSp>
      <p:grpSp>
        <p:nvGrpSpPr>
          <p:cNvPr name="Group 18" id="18"/>
          <p:cNvGrpSpPr/>
          <p:nvPr/>
        </p:nvGrpSpPr>
        <p:grpSpPr>
          <a:xfrm rot="0">
            <a:off x="1005840" y="8741664"/>
            <a:ext cx="16276320" cy="1097280"/>
            <a:chOff x="0" y="0"/>
            <a:chExt cx="21701760" cy="1463040"/>
          </a:xfrm>
        </p:grpSpPr>
        <p:sp>
          <p:nvSpPr>
            <p:cNvPr name="Freeform 19" id="19"/>
            <p:cNvSpPr/>
            <p:nvPr/>
          </p:nvSpPr>
          <p:spPr>
            <a:xfrm flipH="false" flipV="false" rot="0">
              <a:off x="0" y="0"/>
              <a:ext cx="21701761" cy="1463040"/>
            </a:xfrm>
            <a:custGeom>
              <a:avLst/>
              <a:gdLst/>
              <a:ahLst/>
              <a:cxnLst/>
              <a:rect r="r" b="b" t="t" l="l"/>
              <a:pathLst>
                <a:path h="1463040" w="21701761">
                  <a:moveTo>
                    <a:pt x="0" y="292608"/>
                  </a:moveTo>
                  <a:cubicBezTo>
                    <a:pt x="0" y="131064"/>
                    <a:pt x="131064" y="0"/>
                    <a:pt x="292608" y="0"/>
                  </a:cubicBezTo>
                  <a:lnTo>
                    <a:pt x="21409152" y="0"/>
                  </a:lnTo>
                  <a:cubicBezTo>
                    <a:pt x="21570696" y="0"/>
                    <a:pt x="21701761" y="131064"/>
                    <a:pt x="21701761" y="292608"/>
                  </a:cubicBezTo>
                  <a:lnTo>
                    <a:pt x="21701761" y="1170432"/>
                  </a:lnTo>
                  <a:cubicBezTo>
                    <a:pt x="21701761" y="1331976"/>
                    <a:pt x="21570696" y="1463040"/>
                    <a:pt x="21409152" y="1463040"/>
                  </a:cubicBezTo>
                  <a:lnTo>
                    <a:pt x="292608" y="1463040"/>
                  </a:lnTo>
                  <a:cubicBezTo>
                    <a:pt x="131064" y="1463040"/>
                    <a:pt x="0" y="1331976"/>
                    <a:pt x="0" y="1170432"/>
                  </a:cubicBezTo>
                  <a:close/>
                </a:path>
              </a:pathLst>
            </a:custGeom>
            <a:solidFill>
              <a:srgbClr val="DBEAFE"/>
            </a:solidFill>
          </p:spPr>
        </p:sp>
      </p:grpSp>
      <p:grpSp>
        <p:nvGrpSpPr>
          <p:cNvPr name="Group 20" id="20"/>
          <p:cNvGrpSpPr/>
          <p:nvPr/>
        </p:nvGrpSpPr>
        <p:grpSpPr>
          <a:xfrm rot="0">
            <a:off x="1225296" y="8814816"/>
            <a:ext cx="15837408" cy="950976"/>
            <a:chOff x="0" y="0"/>
            <a:chExt cx="21116544" cy="1267968"/>
          </a:xfrm>
        </p:grpSpPr>
        <p:sp>
          <p:nvSpPr>
            <p:cNvPr name="Freeform 21" id="21"/>
            <p:cNvSpPr/>
            <p:nvPr/>
          </p:nvSpPr>
          <p:spPr>
            <a:xfrm flipH="false" flipV="false" rot="0">
              <a:off x="0" y="0"/>
              <a:ext cx="21116544" cy="1267968"/>
            </a:xfrm>
            <a:custGeom>
              <a:avLst/>
              <a:gdLst/>
              <a:ahLst/>
              <a:cxnLst/>
              <a:rect r="r" b="b" t="t" l="l"/>
              <a:pathLst>
                <a:path h="1267968" w="21116544">
                  <a:moveTo>
                    <a:pt x="0" y="0"/>
                  </a:moveTo>
                  <a:lnTo>
                    <a:pt x="21116544" y="0"/>
                  </a:lnTo>
                  <a:lnTo>
                    <a:pt x="21116544" y="1267968"/>
                  </a:lnTo>
                  <a:lnTo>
                    <a:pt x="0" y="1267968"/>
                  </a:lnTo>
                  <a:close/>
                </a:path>
              </a:pathLst>
            </a:custGeom>
            <a:blipFill>
              <a:blip r:embed="rId3">
                <a:alphaModFix amt="0"/>
              </a:blip>
              <a:stretch>
                <a:fillRect l="0" t="-274500" r="0" b="-274500"/>
              </a:stretch>
            </a:blipFill>
          </p:spPr>
        </p:sp>
        <p:sp>
          <p:nvSpPr>
            <p:cNvPr name="TextBox 22" id="22"/>
            <p:cNvSpPr txBox="true"/>
            <p:nvPr/>
          </p:nvSpPr>
          <p:spPr>
            <a:xfrm>
              <a:off x="0" y="-38100"/>
              <a:ext cx="21116544" cy="1306068"/>
            </a:xfrm>
            <a:prstGeom prst="rect">
              <a:avLst/>
            </a:prstGeom>
          </p:spPr>
          <p:txBody>
            <a:bodyPr anchor="ctr" rtlCol="false" tIns="0" lIns="0" bIns="0" rIns="0"/>
            <a:lstStyle/>
            <a:p>
              <a:pPr algn="l">
                <a:lnSpc>
                  <a:spcPts val="2400"/>
                </a:lnSpc>
              </a:pPr>
              <a:r>
                <a:rPr lang="en-US" sz="2000">
                  <a:solidFill>
                    <a:srgbClr val="334155"/>
                  </a:solidFill>
                  <a:latin typeface="Calibri (MS)"/>
                  <a:ea typeface="Calibri (MS)"/>
                  <a:cs typeface="Calibri (MS)"/>
                  <a:sym typeface="Calibri (MS)"/>
                </a:rPr>
                <a:t>Su</a:t>
              </a:r>
              <a:r>
                <a:rPr lang="en-US" sz="2000">
                  <a:solidFill>
                    <a:srgbClr val="334155"/>
                  </a:solidFill>
                  <a:latin typeface="Calibri (MS)"/>
                  <a:ea typeface="Calibri (MS)"/>
                  <a:cs typeface="Calibri (MS)"/>
                  <a:sym typeface="Calibri (MS)"/>
                </a:rPr>
                <a:t>m of WIS ranks across 5 locations. SLA: GRU-Q #1, SimpleRNN-Q #2. SWH: MDN-GRU-K3 #1. Transformer/Mamba consistently bottom-ranked.</a:t>
              </a:r>
            </a:p>
            <a:p>
              <a:pPr algn="l">
                <a:lnSpc>
                  <a:spcPts val="2400"/>
                </a:lnSpc>
              </a:pPr>
            </a:p>
          </p:txBody>
        </p:sp>
      </p:grpSp>
      <p:sp>
        <p:nvSpPr>
          <p:cNvPr name="Freeform 23" id="23"/>
          <p:cNvSpPr/>
          <p:nvPr/>
        </p:nvSpPr>
        <p:spPr>
          <a:xfrm flipH="false" flipV="false" rot="0">
            <a:off x="1028700" y="2395728"/>
            <a:ext cx="13129221" cy="6137911"/>
          </a:xfrm>
          <a:custGeom>
            <a:avLst/>
            <a:gdLst/>
            <a:ahLst/>
            <a:cxnLst/>
            <a:rect r="r" b="b" t="t" l="l"/>
            <a:pathLst>
              <a:path h="6137911" w="13129221">
                <a:moveTo>
                  <a:pt x="0" y="0"/>
                </a:moveTo>
                <a:lnTo>
                  <a:pt x="13129221" y="0"/>
                </a:lnTo>
                <a:lnTo>
                  <a:pt x="13129221" y="6137911"/>
                </a:lnTo>
                <a:lnTo>
                  <a:pt x="0" y="6137911"/>
                </a:lnTo>
                <a:lnTo>
                  <a:pt x="0" y="0"/>
                </a:lnTo>
                <a:close/>
              </a:path>
            </a:pathLst>
          </a:custGeom>
          <a:blipFill>
            <a:blip r:embed="rId4"/>
            <a:stretch>
              <a:fillRect l="0" t="0" r="0" b="0"/>
            </a:stretch>
          </a:blipFill>
        </p:spPr>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73152"/>
            <a:chOff x="0" y="0"/>
            <a:chExt cx="24384000" cy="97536"/>
          </a:xfrm>
        </p:grpSpPr>
        <p:sp>
          <p:nvSpPr>
            <p:cNvPr name="Freeform 3" id="3"/>
            <p:cNvSpPr/>
            <p:nvPr/>
          </p:nvSpPr>
          <p:spPr>
            <a:xfrm flipH="false" flipV="false" rot="0">
              <a:off x="0" y="0"/>
              <a:ext cx="24384000" cy="97536"/>
            </a:xfrm>
            <a:custGeom>
              <a:avLst/>
              <a:gdLst/>
              <a:ahLst/>
              <a:cxnLst/>
              <a:rect r="r" b="b" t="t" l="l"/>
              <a:pathLst>
                <a:path h="97536" w="24384000">
                  <a:moveTo>
                    <a:pt x="0" y="0"/>
                  </a:moveTo>
                  <a:lnTo>
                    <a:pt x="24384000" y="0"/>
                  </a:lnTo>
                  <a:lnTo>
                    <a:pt x="24384000" y="97536"/>
                  </a:lnTo>
                  <a:lnTo>
                    <a:pt x="0" y="97536"/>
                  </a:lnTo>
                  <a:close/>
                </a:path>
              </a:pathLst>
            </a:custGeom>
            <a:solidFill>
              <a:srgbClr val="3B82F6"/>
            </a:solidFill>
          </p:spPr>
        </p:sp>
      </p:grpSp>
      <p:grpSp>
        <p:nvGrpSpPr>
          <p:cNvPr name="Group 4" id="4"/>
          <p:cNvGrpSpPr/>
          <p:nvPr/>
        </p:nvGrpSpPr>
        <p:grpSpPr>
          <a:xfrm rot="0">
            <a:off x="1005840" y="585216"/>
            <a:ext cx="2926080" cy="512064"/>
            <a:chOff x="0" y="0"/>
            <a:chExt cx="3901440" cy="682752"/>
          </a:xfrm>
        </p:grpSpPr>
        <p:sp>
          <p:nvSpPr>
            <p:cNvPr name="Freeform 5" id="5"/>
            <p:cNvSpPr/>
            <p:nvPr/>
          </p:nvSpPr>
          <p:spPr>
            <a:xfrm flipH="false" flipV="false" rot="0">
              <a:off x="0" y="0"/>
              <a:ext cx="3901440" cy="682752"/>
            </a:xfrm>
            <a:custGeom>
              <a:avLst/>
              <a:gdLst/>
              <a:ahLst/>
              <a:cxnLst/>
              <a:rect r="r" b="b" t="t" l="l"/>
              <a:pathLst>
                <a:path h="682752" w="3901440">
                  <a:moveTo>
                    <a:pt x="0" y="341376"/>
                  </a:moveTo>
                  <a:cubicBezTo>
                    <a:pt x="0" y="152781"/>
                    <a:pt x="152781" y="0"/>
                    <a:pt x="341376" y="0"/>
                  </a:cubicBezTo>
                  <a:lnTo>
                    <a:pt x="3560064" y="0"/>
                  </a:lnTo>
                  <a:cubicBezTo>
                    <a:pt x="3748659" y="0"/>
                    <a:pt x="3901440" y="152781"/>
                    <a:pt x="3901440" y="341376"/>
                  </a:cubicBezTo>
                  <a:cubicBezTo>
                    <a:pt x="3901440" y="529971"/>
                    <a:pt x="3748659" y="682752"/>
                    <a:pt x="3560064" y="682752"/>
                  </a:cubicBezTo>
                  <a:lnTo>
                    <a:pt x="341376" y="682752"/>
                  </a:lnTo>
                  <a:cubicBezTo>
                    <a:pt x="152781" y="682752"/>
                    <a:pt x="0" y="529971"/>
                    <a:pt x="0" y="341376"/>
                  </a:cubicBezTo>
                  <a:close/>
                </a:path>
              </a:pathLst>
            </a:custGeom>
            <a:solidFill>
              <a:srgbClr val="3B82F6"/>
            </a:solidFill>
          </p:spPr>
        </p:sp>
      </p:grpSp>
      <p:grpSp>
        <p:nvGrpSpPr>
          <p:cNvPr name="Group 6" id="6"/>
          <p:cNvGrpSpPr/>
          <p:nvPr/>
        </p:nvGrpSpPr>
        <p:grpSpPr>
          <a:xfrm rot="0">
            <a:off x="1005840" y="585216"/>
            <a:ext cx="2926080" cy="512064"/>
            <a:chOff x="0" y="0"/>
            <a:chExt cx="3901440" cy="682752"/>
          </a:xfrm>
        </p:grpSpPr>
        <p:sp>
          <p:nvSpPr>
            <p:cNvPr name="Freeform 7" id="7"/>
            <p:cNvSpPr/>
            <p:nvPr/>
          </p:nvSpPr>
          <p:spPr>
            <a:xfrm flipH="false" flipV="false" rot="0">
              <a:off x="0" y="0"/>
              <a:ext cx="3901440" cy="682752"/>
            </a:xfrm>
            <a:custGeom>
              <a:avLst/>
              <a:gdLst/>
              <a:ahLst/>
              <a:cxnLst/>
              <a:rect r="r" b="b" t="t" l="l"/>
              <a:pathLst>
                <a:path h="682752" w="3901440">
                  <a:moveTo>
                    <a:pt x="0" y="0"/>
                  </a:moveTo>
                  <a:lnTo>
                    <a:pt x="3901440" y="0"/>
                  </a:lnTo>
                  <a:lnTo>
                    <a:pt x="3901440" y="682752"/>
                  </a:lnTo>
                  <a:lnTo>
                    <a:pt x="0" y="682752"/>
                  </a:lnTo>
                  <a:close/>
                </a:path>
              </a:pathLst>
            </a:custGeom>
            <a:blipFill>
              <a:blip r:embed="rId3">
                <a:alphaModFix amt="0"/>
              </a:blip>
              <a:stretch>
                <a:fillRect l="0" t="-61343" r="0" b="-61343"/>
              </a:stretch>
            </a:blipFill>
          </p:spPr>
        </p:sp>
        <p:sp>
          <p:nvSpPr>
            <p:cNvPr name="TextBox 8" id="8"/>
            <p:cNvSpPr txBox="true"/>
            <p:nvPr/>
          </p:nvSpPr>
          <p:spPr>
            <a:xfrm>
              <a:off x="0" y="-38100"/>
              <a:ext cx="3901440" cy="72085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ANALYSIS</a:t>
              </a:r>
            </a:p>
          </p:txBody>
        </p:sp>
      </p:grpSp>
      <p:grpSp>
        <p:nvGrpSpPr>
          <p:cNvPr name="Group 9" id="9"/>
          <p:cNvGrpSpPr/>
          <p:nvPr/>
        </p:nvGrpSpPr>
        <p:grpSpPr>
          <a:xfrm rot="0">
            <a:off x="1005840" y="1060704"/>
            <a:ext cx="16276320" cy="1550417"/>
            <a:chOff x="0" y="0"/>
            <a:chExt cx="21701760" cy="2067223"/>
          </a:xfrm>
        </p:grpSpPr>
        <p:sp>
          <p:nvSpPr>
            <p:cNvPr name="Freeform 10" id="10"/>
            <p:cNvSpPr/>
            <p:nvPr/>
          </p:nvSpPr>
          <p:spPr>
            <a:xfrm flipH="false" flipV="false" rot="0">
              <a:off x="0" y="0"/>
              <a:ext cx="21701761" cy="2067223"/>
            </a:xfrm>
            <a:custGeom>
              <a:avLst/>
              <a:gdLst/>
              <a:ahLst/>
              <a:cxnLst/>
              <a:rect r="r" b="b" t="t" l="l"/>
              <a:pathLst>
                <a:path h="2067223" w="21701761">
                  <a:moveTo>
                    <a:pt x="0" y="0"/>
                  </a:moveTo>
                  <a:lnTo>
                    <a:pt x="21701761" y="0"/>
                  </a:lnTo>
                  <a:lnTo>
                    <a:pt x="21701761" y="2067223"/>
                  </a:lnTo>
                  <a:lnTo>
                    <a:pt x="0" y="2067223"/>
                  </a:lnTo>
                  <a:close/>
                </a:path>
              </a:pathLst>
            </a:custGeom>
            <a:blipFill>
              <a:blip r:embed="rId3">
                <a:alphaModFix amt="0"/>
              </a:blip>
              <a:stretch>
                <a:fillRect l="0" t="-176245" r="0" b="-132863"/>
              </a:stretch>
            </a:blipFill>
          </p:spPr>
        </p:sp>
        <p:sp>
          <p:nvSpPr>
            <p:cNvPr name="TextBox 11" id="11"/>
            <p:cNvSpPr txBox="true"/>
            <p:nvPr/>
          </p:nvSpPr>
          <p:spPr>
            <a:xfrm>
              <a:off x="0" y="-76200"/>
              <a:ext cx="21701760" cy="2143423"/>
            </a:xfrm>
            <a:prstGeom prst="rect">
              <a:avLst/>
            </a:prstGeom>
          </p:spPr>
          <p:txBody>
            <a:bodyPr anchor="ctr" rtlCol="false" tIns="0" lIns="0" bIns="0" rIns="0"/>
            <a:lstStyle/>
            <a:p>
              <a:pPr algn="l">
                <a:lnSpc>
                  <a:spcPts val="5280"/>
                </a:lnSpc>
              </a:pPr>
              <a:r>
                <a:rPr lang="en-US" sz="4400" b="true">
                  <a:solidFill>
                    <a:srgbClr val="1A2744"/>
                  </a:solidFill>
                  <a:latin typeface="Calibri (MS) Bold"/>
                  <a:ea typeface="Calibri (MS) Bold"/>
                  <a:cs typeface="Calibri (MS) Bold"/>
                  <a:sym typeface="Calibri (MS) Bold"/>
                </a:rPr>
                <a:t>T</a:t>
              </a:r>
              <a:r>
                <a:rPr lang="en-US" sz="4400" b="true">
                  <a:solidFill>
                    <a:srgbClr val="1A2744"/>
                  </a:solidFill>
                  <a:latin typeface="Calibri (MS) Bold"/>
                  <a:ea typeface="Calibri (MS) Bold"/>
                  <a:cs typeface="Calibri (MS) Bold"/>
                  <a:sym typeface="Calibri (MS) Bold"/>
                </a:rPr>
                <a:t>raining Time vs Accuracy — Computational Cost Trade-off</a:t>
              </a:r>
            </a:p>
            <a:p>
              <a:pPr algn="l">
                <a:lnSpc>
                  <a:spcPts val="5280"/>
                </a:lnSpc>
              </a:pPr>
            </a:p>
          </p:txBody>
        </p:sp>
      </p:grpSp>
      <p:grpSp>
        <p:nvGrpSpPr>
          <p:cNvPr name="Group 12" id="12"/>
          <p:cNvGrpSpPr/>
          <p:nvPr/>
        </p:nvGrpSpPr>
        <p:grpSpPr>
          <a:xfrm rot="0">
            <a:off x="1005840" y="1938528"/>
            <a:ext cx="16276320" cy="457200"/>
            <a:chOff x="0" y="0"/>
            <a:chExt cx="21701760" cy="609600"/>
          </a:xfrm>
        </p:grpSpPr>
        <p:sp>
          <p:nvSpPr>
            <p:cNvPr name="Freeform 13" id="13"/>
            <p:cNvSpPr/>
            <p:nvPr/>
          </p:nvSpPr>
          <p:spPr>
            <a:xfrm flipH="false" flipV="false" rot="0">
              <a:off x="0" y="0"/>
              <a:ext cx="21701761" cy="609600"/>
            </a:xfrm>
            <a:custGeom>
              <a:avLst/>
              <a:gdLst/>
              <a:ahLst/>
              <a:cxnLst/>
              <a:rect r="r" b="b" t="t" l="l"/>
              <a:pathLst>
                <a:path h="609600" w="21701761">
                  <a:moveTo>
                    <a:pt x="0" y="0"/>
                  </a:moveTo>
                  <a:lnTo>
                    <a:pt x="21701761" y="0"/>
                  </a:lnTo>
                  <a:lnTo>
                    <a:pt x="21701761" y="609600"/>
                  </a:lnTo>
                  <a:lnTo>
                    <a:pt x="0" y="609600"/>
                  </a:lnTo>
                  <a:close/>
                </a:path>
              </a:pathLst>
            </a:custGeom>
            <a:blipFill>
              <a:blip r:embed="rId3">
                <a:alphaModFix amt="0"/>
              </a:blip>
              <a:stretch>
                <a:fillRect l="0" t="-643667" r="0" b="-643667"/>
              </a:stretch>
            </a:blipFill>
          </p:spPr>
        </p:sp>
        <p:sp>
          <p:nvSpPr>
            <p:cNvPr name="TextBox 14" id="14"/>
            <p:cNvSpPr txBox="true"/>
            <p:nvPr/>
          </p:nvSpPr>
          <p:spPr>
            <a:xfrm>
              <a:off x="0" y="-47625"/>
              <a:ext cx="21701760" cy="657225"/>
            </a:xfrm>
            <a:prstGeom prst="rect">
              <a:avLst/>
            </a:prstGeom>
          </p:spPr>
          <p:txBody>
            <a:bodyPr anchor="ctr" rtlCol="false" tIns="0" lIns="0" bIns="0" rIns="0"/>
            <a:lstStyle/>
            <a:p>
              <a:pPr algn="l">
                <a:lnSpc>
                  <a:spcPts val="2640"/>
                </a:lnSpc>
              </a:pPr>
              <a:r>
                <a:rPr lang="en-US" sz="2200" i="true">
                  <a:solidFill>
                    <a:srgbClr val="64748B"/>
                  </a:solidFill>
                  <a:latin typeface="Calibri (MS) Italics"/>
                  <a:ea typeface="Calibri (MS) Italics"/>
                  <a:cs typeface="Calibri (MS) Italics"/>
                  <a:sym typeface="Calibri (MS) Italics"/>
                </a:rPr>
                <a:t>RNN Family vs SSM/Attention vs Probabilistic — 5 metrics on each axis</a:t>
              </a:r>
            </a:p>
          </p:txBody>
        </p:sp>
      </p:grpSp>
      <p:grpSp>
        <p:nvGrpSpPr>
          <p:cNvPr name="Group 15" id="15"/>
          <p:cNvGrpSpPr/>
          <p:nvPr/>
        </p:nvGrpSpPr>
        <p:grpSpPr>
          <a:xfrm rot="0">
            <a:off x="17190720" y="9646920"/>
            <a:ext cx="731520" cy="457200"/>
            <a:chOff x="0" y="0"/>
            <a:chExt cx="975360" cy="609600"/>
          </a:xfrm>
        </p:grpSpPr>
        <p:sp>
          <p:nvSpPr>
            <p:cNvPr name="Freeform 16" id="16"/>
            <p:cNvSpPr/>
            <p:nvPr/>
          </p:nvSpPr>
          <p:spPr>
            <a:xfrm flipH="false" flipV="false" rot="0">
              <a:off x="0" y="0"/>
              <a:ext cx="975360" cy="609600"/>
            </a:xfrm>
            <a:custGeom>
              <a:avLst/>
              <a:gdLst/>
              <a:ahLst/>
              <a:cxnLst/>
              <a:rect r="r" b="b" t="t" l="l"/>
              <a:pathLst>
                <a:path h="609600" w="975360">
                  <a:moveTo>
                    <a:pt x="0" y="0"/>
                  </a:moveTo>
                  <a:lnTo>
                    <a:pt x="975360" y="0"/>
                  </a:lnTo>
                  <a:lnTo>
                    <a:pt x="975360" y="609600"/>
                  </a:lnTo>
                  <a:lnTo>
                    <a:pt x="0" y="609600"/>
                  </a:lnTo>
                  <a:close/>
                </a:path>
              </a:pathLst>
            </a:custGeom>
            <a:blipFill>
              <a:blip r:embed="rId3">
                <a:alphaModFix amt="0"/>
              </a:blip>
              <a:stretch>
                <a:fillRect l="-30189" t="0" r="-30189" b="0"/>
              </a:stretch>
            </a:blipFill>
          </p:spPr>
        </p:sp>
        <p:sp>
          <p:nvSpPr>
            <p:cNvPr name="TextBox 17" id="17"/>
            <p:cNvSpPr txBox="true"/>
            <p:nvPr/>
          </p:nvSpPr>
          <p:spPr>
            <a:xfrm>
              <a:off x="0" y="-38100"/>
              <a:ext cx="975360" cy="647700"/>
            </a:xfrm>
            <a:prstGeom prst="rect">
              <a:avLst/>
            </a:prstGeom>
          </p:spPr>
          <p:txBody>
            <a:bodyPr anchor="ctr" rtlCol="false" tIns="0" lIns="0" bIns="0" rIns="0"/>
            <a:lstStyle/>
            <a:p>
              <a:pPr algn="r">
                <a:lnSpc>
                  <a:spcPts val="2160"/>
                </a:lnSpc>
              </a:pPr>
              <a:r>
                <a:rPr lang="en-US" sz="1800">
                  <a:solidFill>
                    <a:srgbClr val="64748B"/>
                  </a:solidFill>
                  <a:latin typeface="Calibri (MS)"/>
                  <a:ea typeface="Calibri (MS)"/>
                  <a:cs typeface="Calibri (MS)"/>
                  <a:sym typeface="Calibri (MS)"/>
                </a:rPr>
                <a:t>26</a:t>
              </a:r>
            </a:p>
          </p:txBody>
        </p:sp>
      </p:grpSp>
      <p:grpSp>
        <p:nvGrpSpPr>
          <p:cNvPr name="Group 18" id="18"/>
          <p:cNvGrpSpPr/>
          <p:nvPr/>
        </p:nvGrpSpPr>
        <p:grpSpPr>
          <a:xfrm rot="0">
            <a:off x="1005840" y="8741664"/>
            <a:ext cx="16276320" cy="1097280"/>
            <a:chOff x="0" y="0"/>
            <a:chExt cx="21701760" cy="1463040"/>
          </a:xfrm>
        </p:grpSpPr>
        <p:sp>
          <p:nvSpPr>
            <p:cNvPr name="Freeform 19" id="19"/>
            <p:cNvSpPr/>
            <p:nvPr/>
          </p:nvSpPr>
          <p:spPr>
            <a:xfrm flipH="false" flipV="false" rot="0">
              <a:off x="0" y="0"/>
              <a:ext cx="21701761" cy="1463040"/>
            </a:xfrm>
            <a:custGeom>
              <a:avLst/>
              <a:gdLst/>
              <a:ahLst/>
              <a:cxnLst/>
              <a:rect r="r" b="b" t="t" l="l"/>
              <a:pathLst>
                <a:path h="1463040" w="21701761">
                  <a:moveTo>
                    <a:pt x="0" y="292608"/>
                  </a:moveTo>
                  <a:cubicBezTo>
                    <a:pt x="0" y="131064"/>
                    <a:pt x="131064" y="0"/>
                    <a:pt x="292608" y="0"/>
                  </a:cubicBezTo>
                  <a:lnTo>
                    <a:pt x="21409152" y="0"/>
                  </a:lnTo>
                  <a:cubicBezTo>
                    <a:pt x="21570696" y="0"/>
                    <a:pt x="21701761" y="131064"/>
                    <a:pt x="21701761" y="292608"/>
                  </a:cubicBezTo>
                  <a:lnTo>
                    <a:pt x="21701761" y="1170432"/>
                  </a:lnTo>
                  <a:cubicBezTo>
                    <a:pt x="21701761" y="1331976"/>
                    <a:pt x="21570696" y="1463040"/>
                    <a:pt x="21409152" y="1463040"/>
                  </a:cubicBezTo>
                  <a:lnTo>
                    <a:pt x="292608" y="1463040"/>
                  </a:lnTo>
                  <a:cubicBezTo>
                    <a:pt x="131064" y="1463040"/>
                    <a:pt x="0" y="1331976"/>
                    <a:pt x="0" y="1170432"/>
                  </a:cubicBezTo>
                  <a:close/>
                </a:path>
              </a:pathLst>
            </a:custGeom>
            <a:solidFill>
              <a:srgbClr val="DBEAFE"/>
            </a:solidFill>
          </p:spPr>
        </p:sp>
      </p:grpSp>
      <p:grpSp>
        <p:nvGrpSpPr>
          <p:cNvPr name="Group 20" id="20"/>
          <p:cNvGrpSpPr/>
          <p:nvPr/>
        </p:nvGrpSpPr>
        <p:grpSpPr>
          <a:xfrm rot="0">
            <a:off x="1225296" y="8814816"/>
            <a:ext cx="15837408" cy="950976"/>
            <a:chOff x="0" y="0"/>
            <a:chExt cx="21116544" cy="1267968"/>
          </a:xfrm>
        </p:grpSpPr>
        <p:sp>
          <p:nvSpPr>
            <p:cNvPr name="Freeform 21" id="21"/>
            <p:cNvSpPr/>
            <p:nvPr/>
          </p:nvSpPr>
          <p:spPr>
            <a:xfrm flipH="false" flipV="false" rot="0">
              <a:off x="0" y="0"/>
              <a:ext cx="21116544" cy="1267968"/>
            </a:xfrm>
            <a:custGeom>
              <a:avLst/>
              <a:gdLst/>
              <a:ahLst/>
              <a:cxnLst/>
              <a:rect r="r" b="b" t="t" l="l"/>
              <a:pathLst>
                <a:path h="1267968" w="21116544">
                  <a:moveTo>
                    <a:pt x="0" y="0"/>
                  </a:moveTo>
                  <a:lnTo>
                    <a:pt x="21116544" y="0"/>
                  </a:lnTo>
                  <a:lnTo>
                    <a:pt x="21116544" y="1267968"/>
                  </a:lnTo>
                  <a:lnTo>
                    <a:pt x="0" y="1267968"/>
                  </a:lnTo>
                  <a:close/>
                </a:path>
              </a:pathLst>
            </a:custGeom>
            <a:blipFill>
              <a:blip r:embed="rId3">
                <a:alphaModFix amt="0"/>
              </a:blip>
              <a:stretch>
                <a:fillRect l="0" t="-274500" r="0" b="-274500"/>
              </a:stretch>
            </a:blipFill>
          </p:spPr>
        </p:sp>
        <p:sp>
          <p:nvSpPr>
            <p:cNvPr name="TextBox 22" id="22"/>
            <p:cNvSpPr txBox="true"/>
            <p:nvPr/>
          </p:nvSpPr>
          <p:spPr>
            <a:xfrm>
              <a:off x="0" y="-38100"/>
              <a:ext cx="21116544" cy="1306068"/>
            </a:xfrm>
            <a:prstGeom prst="rect">
              <a:avLst/>
            </a:prstGeom>
          </p:spPr>
          <p:txBody>
            <a:bodyPr anchor="ctr" rtlCol="false" tIns="0" lIns="0" bIns="0" rIns="0"/>
            <a:lstStyle/>
            <a:p>
              <a:pPr algn="l">
                <a:lnSpc>
                  <a:spcPts val="2400"/>
                </a:lnSpc>
              </a:pPr>
              <a:r>
                <a:rPr lang="en-US" sz="2000">
                  <a:solidFill>
                    <a:srgbClr val="334155"/>
                  </a:solidFill>
                  <a:latin typeface="Calibri (MS)"/>
                  <a:ea typeface="Calibri (MS)"/>
                  <a:cs typeface="Calibri (MS)"/>
                  <a:sym typeface="Calibri (MS)"/>
                </a:rPr>
                <a:t>G</a:t>
              </a:r>
              <a:r>
                <a:rPr lang="en-US" sz="2000">
                  <a:solidFill>
                    <a:srgbClr val="334155"/>
                  </a:solidFill>
                  <a:latin typeface="Calibri (MS)"/>
                  <a:ea typeface="Calibri (MS)"/>
                  <a:cs typeface="Calibri (MS)"/>
                  <a:sym typeface="Calibri (MS)"/>
                </a:rPr>
                <a:t>RU at ~10 min training delivers best WIS. SimpleRNN at 6 min is the most cost-effective. MDN at 3:46 is fast but over-covers.</a:t>
              </a:r>
            </a:p>
            <a:p>
              <a:pPr algn="l">
                <a:lnSpc>
                  <a:spcPts val="2400"/>
                </a:lnSpc>
              </a:pPr>
            </a:p>
          </p:txBody>
        </p:sp>
      </p:grpSp>
      <p:sp>
        <p:nvSpPr>
          <p:cNvPr name="Freeform 23" id="23"/>
          <p:cNvSpPr/>
          <p:nvPr/>
        </p:nvSpPr>
        <p:spPr>
          <a:xfrm flipH="false" flipV="false" rot="0">
            <a:off x="1028700" y="2395728"/>
            <a:ext cx="13047485" cy="6099699"/>
          </a:xfrm>
          <a:custGeom>
            <a:avLst/>
            <a:gdLst/>
            <a:ahLst/>
            <a:cxnLst/>
            <a:rect r="r" b="b" t="t" l="l"/>
            <a:pathLst>
              <a:path h="6099699" w="13047485">
                <a:moveTo>
                  <a:pt x="0" y="0"/>
                </a:moveTo>
                <a:lnTo>
                  <a:pt x="13047485" y="0"/>
                </a:lnTo>
                <a:lnTo>
                  <a:pt x="13047485" y="6099699"/>
                </a:lnTo>
                <a:lnTo>
                  <a:pt x="0" y="6099699"/>
                </a:lnTo>
                <a:lnTo>
                  <a:pt x="0" y="0"/>
                </a:lnTo>
                <a:close/>
              </a:path>
            </a:pathLst>
          </a:custGeom>
          <a:blipFill>
            <a:blip r:embed="rId4"/>
            <a:stretch>
              <a:fillRect l="0" t="0" r="0" b="0"/>
            </a:stretch>
          </a:blipFill>
        </p:spPr>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73152"/>
            <a:chOff x="0" y="0"/>
            <a:chExt cx="24384000" cy="97536"/>
          </a:xfrm>
        </p:grpSpPr>
        <p:sp>
          <p:nvSpPr>
            <p:cNvPr name="Freeform 3" id="3"/>
            <p:cNvSpPr/>
            <p:nvPr/>
          </p:nvSpPr>
          <p:spPr>
            <a:xfrm flipH="false" flipV="false" rot="0">
              <a:off x="0" y="0"/>
              <a:ext cx="24384000" cy="97536"/>
            </a:xfrm>
            <a:custGeom>
              <a:avLst/>
              <a:gdLst/>
              <a:ahLst/>
              <a:cxnLst/>
              <a:rect r="r" b="b" t="t" l="l"/>
              <a:pathLst>
                <a:path h="97536" w="24384000">
                  <a:moveTo>
                    <a:pt x="0" y="0"/>
                  </a:moveTo>
                  <a:lnTo>
                    <a:pt x="24384000" y="0"/>
                  </a:lnTo>
                  <a:lnTo>
                    <a:pt x="24384000" y="97536"/>
                  </a:lnTo>
                  <a:lnTo>
                    <a:pt x="0" y="97536"/>
                  </a:lnTo>
                  <a:close/>
                </a:path>
              </a:pathLst>
            </a:custGeom>
            <a:solidFill>
              <a:srgbClr val="3B82F6"/>
            </a:solidFill>
          </p:spPr>
        </p:sp>
      </p:grpSp>
      <p:grpSp>
        <p:nvGrpSpPr>
          <p:cNvPr name="Group 4" id="4"/>
          <p:cNvGrpSpPr/>
          <p:nvPr/>
        </p:nvGrpSpPr>
        <p:grpSpPr>
          <a:xfrm rot="0">
            <a:off x="1005840" y="585216"/>
            <a:ext cx="2926080" cy="512064"/>
            <a:chOff x="0" y="0"/>
            <a:chExt cx="3901440" cy="682752"/>
          </a:xfrm>
        </p:grpSpPr>
        <p:sp>
          <p:nvSpPr>
            <p:cNvPr name="Freeform 5" id="5"/>
            <p:cNvSpPr/>
            <p:nvPr/>
          </p:nvSpPr>
          <p:spPr>
            <a:xfrm flipH="false" flipV="false" rot="0">
              <a:off x="0" y="0"/>
              <a:ext cx="3901440" cy="682752"/>
            </a:xfrm>
            <a:custGeom>
              <a:avLst/>
              <a:gdLst/>
              <a:ahLst/>
              <a:cxnLst/>
              <a:rect r="r" b="b" t="t" l="l"/>
              <a:pathLst>
                <a:path h="682752" w="3901440">
                  <a:moveTo>
                    <a:pt x="0" y="341376"/>
                  </a:moveTo>
                  <a:cubicBezTo>
                    <a:pt x="0" y="152781"/>
                    <a:pt x="152781" y="0"/>
                    <a:pt x="341376" y="0"/>
                  </a:cubicBezTo>
                  <a:lnTo>
                    <a:pt x="3560064" y="0"/>
                  </a:lnTo>
                  <a:cubicBezTo>
                    <a:pt x="3748659" y="0"/>
                    <a:pt x="3901440" y="152781"/>
                    <a:pt x="3901440" y="341376"/>
                  </a:cubicBezTo>
                  <a:cubicBezTo>
                    <a:pt x="3901440" y="529971"/>
                    <a:pt x="3748659" y="682752"/>
                    <a:pt x="3560064" y="682752"/>
                  </a:cubicBezTo>
                  <a:lnTo>
                    <a:pt x="341376" y="682752"/>
                  </a:lnTo>
                  <a:cubicBezTo>
                    <a:pt x="152781" y="682752"/>
                    <a:pt x="0" y="529971"/>
                    <a:pt x="0" y="341376"/>
                  </a:cubicBezTo>
                  <a:close/>
                </a:path>
              </a:pathLst>
            </a:custGeom>
            <a:solidFill>
              <a:srgbClr val="3B82F6"/>
            </a:solidFill>
          </p:spPr>
        </p:sp>
      </p:grpSp>
      <p:grpSp>
        <p:nvGrpSpPr>
          <p:cNvPr name="Group 6" id="6"/>
          <p:cNvGrpSpPr/>
          <p:nvPr/>
        </p:nvGrpSpPr>
        <p:grpSpPr>
          <a:xfrm rot="0">
            <a:off x="1005840" y="585216"/>
            <a:ext cx="2926080" cy="512064"/>
            <a:chOff x="0" y="0"/>
            <a:chExt cx="3901440" cy="682752"/>
          </a:xfrm>
        </p:grpSpPr>
        <p:sp>
          <p:nvSpPr>
            <p:cNvPr name="Freeform 7" id="7"/>
            <p:cNvSpPr/>
            <p:nvPr/>
          </p:nvSpPr>
          <p:spPr>
            <a:xfrm flipH="false" flipV="false" rot="0">
              <a:off x="0" y="0"/>
              <a:ext cx="3901440" cy="682752"/>
            </a:xfrm>
            <a:custGeom>
              <a:avLst/>
              <a:gdLst/>
              <a:ahLst/>
              <a:cxnLst/>
              <a:rect r="r" b="b" t="t" l="l"/>
              <a:pathLst>
                <a:path h="682752" w="3901440">
                  <a:moveTo>
                    <a:pt x="0" y="0"/>
                  </a:moveTo>
                  <a:lnTo>
                    <a:pt x="3901440" y="0"/>
                  </a:lnTo>
                  <a:lnTo>
                    <a:pt x="3901440" y="682752"/>
                  </a:lnTo>
                  <a:lnTo>
                    <a:pt x="0" y="682752"/>
                  </a:lnTo>
                  <a:close/>
                </a:path>
              </a:pathLst>
            </a:custGeom>
            <a:blipFill>
              <a:blip r:embed="rId3">
                <a:alphaModFix amt="0"/>
              </a:blip>
              <a:stretch>
                <a:fillRect l="0" t="-61343" r="0" b="-61343"/>
              </a:stretch>
            </a:blipFill>
          </p:spPr>
        </p:sp>
        <p:sp>
          <p:nvSpPr>
            <p:cNvPr name="TextBox 8" id="8"/>
            <p:cNvSpPr txBox="true"/>
            <p:nvPr/>
          </p:nvSpPr>
          <p:spPr>
            <a:xfrm>
              <a:off x="0" y="-38100"/>
              <a:ext cx="3901440" cy="72085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FUTURE</a:t>
              </a:r>
            </a:p>
          </p:txBody>
        </p:sp>
      </p:grpSp>
      <p:grpSp>
        <p:nvGrpSpPr>
          <p:cNvPr name="Group 9" id="9"/>
          <p:cNvGrpSpPr/>
          <p:nvPr/>
        </p:nvGrpSpPr>
        <p:grpSpPr>
          <a:xfrm rot="0">
            <a:off x="1005840" y="1060704"/>
            <a:ext cx="16276320" cy="877824"/>
            <a:chOff x="0" y="0"/>
            <a:chExt cx="21701760" cy="1170432"/>
          </a:xfrm>
        </p:grpSpPr>
        <p:sp>
          <p:nvSpPr>
            <p:cNvPr name="Freeform 10" id="10"/>
            <p:cNvSpPr/>
            <p:nvPr/>
          </p:nvSpPr>
          <p:spPr>
            <a:xfrm flipH="false" flipV="false" rot="0">
              <a:off x="0" y="0"/>
              <a:ext cx="21701761" cy="1170432"/>
            </a:xfrm>
            <a:custGeom>
              <a:avLst/>
              <a:gdLst/>
              <a:ahLst/>
              <a:cxnLst/>
              <a:rect r="r" b="b" t="t" l="l"/>
              <a:pathLst>
                <a:path h="1170432" w="21701761">
                  <a:moveTo>
                    <a:pt x="0" y="0"/>
                  </a:moveTo>
                  <a:lnTo>
                    <a:pt x="21701761" y="0"/>
                  </a:lnTo>
                  <a:lnTo>
                    <a:pt x="21701761" y="1170432"/>
                  </a:lnTo>
                  <a:lnTo>
                    <a:pt x="0" y="1170432"/>
                  </a:lnTo>
                  <a:close/>
                </a:path>
              </a:pathLst>
            </a:custGeom>
            <a:blipFill>
              <a:blip r:embed="rId3">
                <a:alphaModFix amt="0"/>
              </a:blip>
              <a:stretch>
                <a:fillRect l="0" t="-311285" r="0" b="-311285"/>
              </a:stretch>
            </a:blipFill>
          </p:spPr>
        </p:sp>
        <p:sp>
          <p:nvSpPr>
            <p:cNvPr name="TextBox 11" id="11"/>
            <p:cNvSpPr txBox="true"/>
            <p:nvPr/>
          </p:nvSpPr>
          <p:spPr>
            <a:xfrm>
              <a:off x="0" y="-76200"/>
              <a:ext cx="21701760" cy="1246632"/>
            </a:xfrm>
            <a:prstGeom prst="rect">
              <a:avLst/>
            </a:prstGeom>
          </p:spPr>
          <p:txBody>
            <a:bodyPr anchor="ctr" rtlCol="false" tIns="0" lIns="0" bIns="0" rIns="0"/>
            <a:lstStyle/>
            <a:p>
              <a:pPr algn="l">
                <a:lnSpc>
                  <a:spcPts val="5280"/>
                </a:lnSpc>
              </a:pPr>
              <a:r>
                <a:rPr lang="en-US" sz="4400" b="true">
                  <a:solidFill>
                    <a:srgbClr val="1A2744"/>
                  </a:solidFill>
                  <a:latin typeface="Calibri (MS) Bold"/>
                  <a:ea typeface="Calibri (MS) Bold"/>
                  <a:cs typeface="Calibri (MS) Bold"/>
                  <a:sym typeface="Calibri (MS) Bold"/>
                </a:rPr>
                <a:t>Limitations &amp; Future Work</a:t>
              </a:r>
            </a:p>
          </p:txBody>
        </p:sp>
      </p:grpSp>
      <p:grpSp>
        <p:nvGrpSpPr>
          <p:cNvPr name="Group 12" id="12"/>
          <p:cNvGrpSpPr/>
          <p:nvPr/>
        </p:nvGrpSpPr>
        <p:grpSpPr>
          <a:xfrm rot="0">
            <a:off x="17190720" y="9646920"/>
            <a:ext cx="731520" cy="457200"/>
            <a:chOff x="0" y="0"/>
            <a:chExt cx="975360" cy="609600"/>
          </a:xfrm>
        </p:grpSpPr>
        <p:sp>
          <p:nvSpPr>
            <p:cNvPr name="Freeform 13" id="13"/>
            <p:cNvSpPr/>
            <p:nvPr/>
          </p:nvSpPr>
          <p:spPr>
            <a:xfrm flipH="false" flipV="false" rot="0">
              <a:off x="0" y="0"/>
              <a:ext cx="975360" cy="609600"/>
            </a:xfrm>
            <a:custGeom>
              <a:avLst/>
              <a:gdLst/>
              <a:ahLst/>
              <a:cxnLst/>
              <a:rect r="r" b="b" t="t" l="l"/>
              <a:pathLst>
                <a:path h="609600" w="975360">
                  <a:moveTo>
                    <a:pt x="0" y="0"/>
                  </a:moveTo>
                  <a:lnTo>
                    <a:pt x="975360" y="0"/>
                  </a:lnTo>
                  <a:lnTo>
                    <a:pt x="975360" y="609600"/>
                  </a:lnTo>
                  <a:lnTo>
                    <a:pt x="0" y="609600"/>
                  </a:lnTo>
                  <a:close/>
                </a:path>
              </a:pathLst>
            </a:custGeom>
            <a:blipFill>
              <a:blip r:embed="rId3">
                <a:alphaModFix amt="0"/>
              </a:blip>
              <a:stretch>
                <a:fillRect l="-30189" t="0" r="-30189" b="0"/>
              </a:stretch>
            </a:blipFill>
          </p:spPr>
        </p:sp>
        <p:sp>
          <p:nvSpPr>
            <p:cNvPr name="TextBox 14" id="14"/>
            <p:cNvSpPr txBox="true"/>
            <p:nvPr/>
          </p:nvSpPr>
          <p:spPr>
            <a:xfrm>
              <a:off x="0" y="-38100"/>
              <a:ext cx="975360" cy="647700"/>
            </a:xfrm>
            <a:prstGeom prst="rect">
              <a:avLst/>
            </a:prstGeom>
          </p:spPr>
          <p:txBody>
            <a:bodyPr anchor="ctr" rtlCol="false" tIns="0" lIns="0" bIns="0" rIns="0"/>
            <a:lstStyle/>
            <a:p>
              <a:pPr algn="r">
                <a:lnSpc>
                  <a:spcPts val="2160"/>
                </a:lnSpc>
              </a:pPr>
              <a:r>
                <a:rPr lang="en-US" sz="1800">
                  <a:solidFill>
                    <a:srgbClr val="64748B"/>
                  </a:solidFill>
                  <a:latin typeface="Calibri (MS)"/>
                  <a:ea typeface="Calibri (MS)"/>
                  <a:cs typeface="Calibri (MS)"/>
                  <a:sym typeface="Calibri (MS)"/>
                </a:rPr>
                <a:t>27</a:t>
              </a:r>
            </a:p>
          </p:txBody>
        </p:sp>
      </p:grpSp>
      <p:grpSp>
        <p:nvGrpSpPr>
          <p:cNvPr name="Group 15" id="15"/>
          <p:cNvGrpSpPr/>
          <p:nvPr/>
        </p:nvGrpSpPr>
        <p:grpSpPr>
          <a:xfrm rot="0">
            <a:off x="1005840" y="2194560"/>
            <a:ext cx="5212080" cy="3328416"/>
            <a:chOff x="0" y="0"/>
            <a:chExt cx="6949440" cy="4437888"/>
          </a:xfrm>
        </p:grpSpPr>
        <p:sp>
          <p:nvSpPr>
            <p:cNvPr name="Freeform 16" id="16"/>
            <p:cNvSpPr/>
            <p:nvPr/>
          </p:nvSpPr>
          <p:spPr>
            <a:xfrm flipH="false" flipV="false" rot="0">
              <a:off x="0" y="0"/>
              <a:ext cx="6949439" cy="4437888"/>
            </a:xfrm>
            <a:custGeom>
              <a:avLst/>
              <a:gdLst/>
              <a:ahLst/>
              <a:cxnLst/>
              <a:rect r="r" b="b" t="t" l="l"/>
              <a:pathLst>
                <a:path h="4437888" w="6949439">
                  <a:moveTo>
                    <a:pt x="0" y="292608"/>
                  </a:moveTo>
                  <a:cubicBezTo>
                    <a:pt x="0" y="130937"/>
                    <a:pt x="130937" y="0"/>
                    <a:pt x="292608" y="0"/>
                  </a:cubicBezTo>
                  <a:lnTo>
                    <a:pt x="6656832" y="0"/>
                  </a:lnTo>
                  <a:cubicBezTo>
                    <a:pt x="6818375" y="0"/>
                    <a:pt x="6949439" y="130937"/>
                    <a:pt x="6949439" y="292608"/>
                  </a:cubicBezTo>
                  <a:lnTo>
                    <a:pt x="6949439" y="4145280"/>
                  </a:lnTo>
                  <a:cubicBezTo>
                    <a:pt x="6949439" y="4306824"/>
                    <a:pt x="6818502" y="4437888"/>
                    <a:pt x="6656832" y="4437888"/>
                  </a:cubicBezTo>
                  <a:lnTo>
                    <a:pt x="292608" y="4437888"/>
                  </a:lnTo>
                  <a:cubicBezTo>
                    <a:pt x="130937" y="4437888"/>
                    <a:pt x="0" y="4306951"/>
                    <a:pt x="0" y="4145280"/>
                  </a:cubicBezTo>
                  <a:close/>
                </a:path>
              </a:pathLst>
            </a:custGeom>
            <a:solidFill>
              <a:srgbClr val="EFF6FF"/>
            </a:solidFill>
          </p:spPr>
        </p:sp>
      </p:grpSp>
      <p:grpSp>
        <p:nvGrpSpPr>
          <p:cNvPr name="Group 17" id="17"/>
          <p:cNvGrpSpPr/>
          <p:nvPr/>
        </p:nvGrpSpPr>
        <p:grpSpPr>
          <a:xfrm rot="0">
            <a:off x="1152144" y="2340864"/>
            <a:ext cx="4919472" cy="548640"/>
            <a:chOff x="0" y="0"/>
            <a:chExt cx="6559296" cy="731520"/>
          </a:xfrm>
        </p:grpSpPr>
        <p:sp>
          <p:nvSpPr>
            <p:cNvPr name="Freeform 18" id="18"/>
            <p:cNvSpPr/>
            <p:nvPr/>
          </p:nvSpPr>
          <p:spPr>
            <a:xfrm flipH="false" flipV="false" rot="0">
              <a:off x="0" y="0"/>
              <a:ext cx="6559296" cy="731520"/>
            </a:xfrm>
            <a:custGeom>
              <a:avLst/>
              <a:gdLst/>
              <a:ahLst/>
              <a:cxnLst/>
              <a:rect r="r" b="b" t="t" l="l"/>
              <a:pathLst>
                <a:path h="731520" w="6559296">
                  <a:moveTo>
                    <a:pt x="0" y="146304"/>
                  </a:moveTo>
                  <a:cubicBezTo>
                    <a:pt x="0" y="65532"/>
                    <a:pt x="65532" y="0"/>
                    <a:pt x="146304" y="0"/>
                  </a:cubicBezTo>
                  <a:lnTo>
                    <a:pt x="6412992" y="0"/>
                  </a:lnTo>
                  <a:cubicBezTo>
                    <a:pt x="6493764" y="0"/>
                    <a:pt x="6559296" y="65532"/>
                    <a:pt x="6559296" y="146304"/>
                  </a:cubicBezTo>
                  <a:lnTo>
                    <a:pt x="6559296" y="585216"/>
                  </a:lnTo>
                  <a:cubicBezTo>
                    <a:pt x="6559296" y="665988"/>
                    <a:pt x="6493764" y="731520"/>
                    <a:pt x="6412992" y="731520"/>
                  </a:cubicBezTo>
                  <a:lnTo>
                    <a:pt x="146304" y="731520"/>
                  </a:lnTo>
                  <a:cubicBezTo>
                    <a:pt x="65532" y="731520"/>
                    <a:pt x="0" y="665988"/>
                    <a:pt x="0" y="585216"/>
                  </a:cubicBezTo>
                  <a:close/>
                </a:path>
              </a:pathLst>
            </a:custGeom>
            <a:solidFill>
              <a:srgbClr val="3B82F6"/>
            </a:solidFill>
          </p:spPr>
        </p:sp>
      </p:grpSp>
      <p:grpSp>
        <p:nvGrpSpPr>
          <p:cNvPr name="Group 19" id="19"/>
          <p:cNvGrpSpPr/>
          <p:nvPr/>
        </p:nvGrpSpPr>
        <p:grpSpPr>
          <a:xfrm rot="0">
            <a:off x="1152144" y="2340864"/>
            <a:ext cx="4919472" cy="548640"/>
            <a:chOff x="0" y="0"/>
            <a:chExt cx="6559296" cy="731520"/>
          </a:xfrm>
        </p:grpSpPr>
        <p:sp>
          <p:nvSpPr>
            <p:cNvPr name="Freeform 20" id="20"/>
            <p:cNvSpPr/>
            <p:nvPr/>
          </p:nvSpPr>
          <p:spPr>
            <a:xfrm flipH="false" flipV="false" rot="0">
              <a:off x="0" y="0"/>
              <a:ext cx="6559296" cy="731520"/>
            </a:xfrm>
            <a:custGeom>
              <a:avLst/>
              <a:gdLst/>
              <a:ahLst/>
              <a:cxnLst/>
              <a:rect r="r" b="b" t="t" l="l"/>
              <a:pathLst>
                <a:path h="731520" w="6559296">
                  <a:moveTo>
                    <a:pt x="0" y="0"/>
                  </a:moveTo>
                  <a:lnTo>
                    <a:pt x="6559296" y="0"/>
                  </a:lnTo>
                  <a:lnTo>
                    <a:pt x="6559296" y="731520"/>
                  </a:lnTo>
                  <a:lnTo>
                    <a:pt x="0" y="731520"/>
                  </a:lnTo>
                  <a:close/>
                </a:path>
              </a:pathLst>
            </a:custGeom>
            <a:blipFill>
              <a:blip r:embed="rId3">
                <a:alphaModFix amt="0"/>
              </a:blip>
              <a:stretch>
                <a:fillRect l="0" t="-124715" r="0" b="-124715"/>
              </a:stretch>
            </a:blipFill>
          </p:spPr>
        </p:sp>
        <p:sp>
          <p:nvSpPr>
            <p:cNvPr name="TextBox 21" id="21"/>
            <p:cNvSpPr txBox="true"/>
            <p:nvPr/>
          </p:nvSpPr>
          <p:spPr>
            <a:xfrm>
              <a:off x="0" y="-38100"/>
              <a:ext cx="6559296" cy="769620"/>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Longer Training Period</a:t>
              </a:r>
            </a:p>
          </p:txBody>
        </p:sp>
      </p:grpSp>
      <p:grpSp>
        <p:nvGrpSpPr>
          <p:cNvPr name="Group 22" id="22"/>
          <p:cNvGrpSpPr/>
          <p:nvPr/>
        </p:nvGrpSpPr>
        <p:grpSpPr>
          <a:xfrm rot="0">
            <a:off x="1225296" y="3072384"/>
            <a:ext cx="4773168" cy="2286000"/>
            <a:chOff x="0" y="0"/>
            <a:chExt cx="6364224" cy="3048000"/>
          </a:xfrm>
        </p:grpSpPr>
        <p:sp>
          <p:nvSpPr>
            <p:cNvPr name="Freeform 23" id="23"/>
            <p:cNvSpPr/>
            <p:nvPr/>
          </p:nvSpPr>
          <p:spPr>
            <a:xfrm flipH="false" flipV="false" rot="0">
              <a:off x="0" y="0"/>
              <a:ext cx="6364224" cy="3048000"/>
            </a:xfrm>
            <a:custGeom>
              <a:avLst/>
              <a:gdLst/>
              <a:ahLst/>
              <a:cxnLst/>
              <a:rect r="r" b="b" t="t" l="l"/>
              <a:pathLst>
                <a:path h="3048000" w="6364224">
                  <a:moveTo>
                    <a:pt x="0" y="0"/>
                  </a:moveTo>
                  <a:lnTo>
                    <a:pt x="6364224" y="0"/>
                  </a:lnTo>
                  <a:lnTo>
                    <a:pt x="6364224" y="3048000"/>
                  </a:lnTo>
                  <a:lnTo>
                    <a:pt x="0" y="3048000"/>
                  </a:lnTo>
                  <a:close/>
                </a:path>
              </a:pathLst>
            </a:custGeom>
            <a:blipFill>
              <a:blip r:embed="rId3">
                <a:alphaModFix amt="0"/>
              </a:blip>
              <a:stretch>
                <a:fillRect l="-11448" t="0" r="-11448" b="0"/>
              </a:stretch>
            </a:blipFill>
          </p:spPr>
        </p:sp>
        <p:sp>
          <p:nvSpPr>
            <p:cNvPr name="TextBox 24" id="24"/>
            <p:cNvSpPr txBox="true"/>
            <p:nvPr/>
          </p:nvSpPr>
          <p:spPr>
            <a:xfrm>
              <a:off x="0" y="-38100"/>
              <a:ext cx="6364224" cy="3086100"/>
            </a:xfrm>
            <a:prstGeom prst="rect">
              <a:avLst/>
            </a:prstGeom>
          </p:spPr>
          <p:txBody>
            <a:bodyPr anchor="ctr" rtlCol="false" tIns="0" lIns="0" bIns="0" rIns="0"/>
            <a:lstStyle/>
            <a:p>
              <a:pPr algn="l">
                <a:lnSpc>
                  <a:spcPts val="2400"/>
                </a:lnSpc>
              </a:pPr>
              <a:r>
                <a:rPr lang="en-US" sz="2000">
                  <a:solidFill>
                    <a:srgbClr val="334155"/>
                  </a:solidFill>
                  <a:latin typeface="Calibri (MS)"/>
                  <a:ea typeface="Calibri (MS)"/>
                  <a:cs typeface="Calibri (MS)"/>
                  <a:sym typeface="Calibri (MS)"/>
                </a:rPr>
                <a:t>3 years misses ENSO/IOD multi-year cycles. Extend to 10+ years of daily data for capturing interannual climate variability.</a:t>
              </a:r>
            </a:p>
          </p:txBody>
        </p:sp>
      </p:grpSp>
      <p:grpSp>
        <p:nvGrpSpPr>
          <p:cNvPr name="Group 25" id="25"/>
          <p:cNvGrpSpPr/>
          <p:nvPr/>
        </p:nvGrpSpPr>
        <p:grpSpPr>
          <a:xfrm rot="0">
            <a:off x="6675120" y="2194560"/>
            <a:ext cx="5212080" cy="3328416"/>
            <a:chOff x="0" y="0"/>
            <a:chExt cx="6949440" cy="4437888"/>
          </a:xfrm>
        </p:grpSpPr>
        <p:sp>
          <p:nvSpPr>
            <p:cNvPr name="Freeform 26" id="26"/>
            <p:cNvSpPr/>
            <p:nvPr/>
          </p:nvSpPr>
          <p:spPr>
            <a:xfrm flipH="false" flipV="false" rot="0">
              <a:off x="0" y="0"/>
              <a:ext cx="6949439" cy="4437888"/>
            </a:xfrm>
            <a:custGeom>
              <a:avLst/>
              <a:gdLst/>
              <a:ahLst/>
              <a:cxnLst/>
              <a:rect r="r" b="b" t="t" l="l"/>
              <a:pathLst>
                <a:path h="4437888" w="6949439">
                  <a:moveTo>
                    <a:pt x="0" y="292608"/>
                  </a:moveTo>
                  <a:cubicBezTo>
                    <a:pt x="0" y="130937"/>
                    <a:pt x="130937" y="0"/>
                    <a:pt x="292608" y="0"/>
                  </a:cubicBezTo>
                  <a:lnTo>
                    <a:pt x="6656832" y="0"/>
                  </a:lnTo>
                  <a:cubicBezTo>
                    <a:pt x="6818375" y="0"/>
                    <a:pt x="6949439" y="130937"/>
                    <a:pt x="6949439" y="292608"/>
                  </a:cubicBezTo>
                  <a:lnTo>
                    <a:pt x="6949439" y="4145280"/>
                  </a:lnTo>
                  <a:cubicBezTo>
                    <a:pt x="6949439" y="4306824"/>
                    <a:pt x="6818502" y="4437888"/>
                    <a:pt x="6656832" y="4437888"/>
                  </a:cubicBezTo>
                  <a:lnTo>
                    <a:pt x="292608" y="4437888"/>
                  </a:lnTo>
                  <a:cubicBezTo>
                    <a:pt x="130937" y="4437888"/>
                    <a:pt x="0" y="4306951"/>
                    <a:pt x="0" y="4145280"/>
                  </a:cubicBezTo>
                  <a:close/>
                </a:path>
              </a:pathLst>
            </a:custGeom>
            <a:solidFill>
              <a:srgbClr val="EFF6FF"/>
            </a:solidFill>
          </p:spPr>
        </p:sp>
      </p:grpSp>
      <p:grpSp>
        <p:nvGrpSpPr>
          <p:cNvPr name="Group 27" id="27"/>
          <p:cNvGrpSpPr/>
          <p:nvPr/>
        </p:nvGrpSpPr>
        <p:grpSpPr>
          <a:xfrm rot="0">
            <a:off x="6821424" y="2340864"/>
            <a:ext cx="4919472" cy="548640"/>
            <a:chOff x="0" y="0"/>
            <a:chExt cx="6559296" cy="731520"/>
          </a:xfrm>
        </p:grpSpPr>
        <p:sp>
          <p:nvSpPr>
            <p:cNvPr name="Freeform 28" id="28"/>
            <p:cNvSpPr/>
            <p:nvPr/>
          </p:nvSpPr>
          <p:spPr>
            <a:xfrm flipH="false" flipV="false" rot="0">
              <a:off x="0" y="0"/>
              <a:ext cx="6559296" cy="731520"/>
            </a:xfrm>
            <a:custGeom>
              <a:avLst/>
              <a:gdLst/>
              <a:ahLst/>
              <a:cxnLst/>
              <a:rect r="r" b="b" t="t" l="l"/>
              <a:pathLst>
                <a:path h="731520" w="6559296">
                  <a:moveTo>
                    <a:pt x="0" y="146304"/>
                  </a:moveTo>
                  <a:cubicBezTo>
                    <a:pt x="0" y="65532"/>
                    <a:pt x="65532" y="0"/>
                    <a:pt x="146304" y="0"/>
                  </a:cubicBezTo>
                  <a:lnTo>
                    <a:pt x="6412992" y="0"/>
                  </a:lnTo>
                  <a:cubicBezTo>
                    <a:pt x="6493764" y="0"/>
                    <a:pt x="6559296" y="65532"/>
                    <a:pt x="6559296" y="146304"/>
                  </a:cubicBezTo>
                  <a:lnTo>
                    <a:pt x="6559296" y="585216"/>
                  </a:lnTo>
                  <a:cubicBezTo>
                    <a:pt x="6559296" y="665988"/>
                    <a:pt x="6493764" y="731520"/>
                    <a:pt x="6412992" y="731520"/>
                  </a:cubicBezTo>
                  <a:lnTo>
                    <a:pt x="146304" y="731520"/>
                  </a:lnTo>
                  <a:cubicBezTo>
                    <a:pt x="65532" y="731520"/>
                    <a:pt x="0" y="665988"/>
                    <a:pt x="0" y="585216"/>
                  </a:cubicBezTo>
                  <a:close/>
                </a:path>
              </a:pathLst>
            </a:custGeom>
            <a:solidFill>
              <a:srgbClr val="3B82F6"/>
            </a:solidFill>
          </p:spPr>
        </p:sp>
      </p:grpSp>
      <p:grpSp>
        <p:nvGrpSpPr>
          <p:cNvPr name="Group 29" id="29"/>
          <p:cNvGrpSpPr/>
          <p:nvPr/>
        </p:nvGrpSpPr>
        <p:grpSpPr>
          <a:xfrm rot="0">
            <a:off x="6821424" y="2340864"/>
            <a:ext cx="4919472" cy="548640"/>
            <a:chOff x="0" y="0"/>
            <a:chExt cx="6559296" cy="731520"/>
          </a:xfrm>
        </p:grpSpPr>
        <p:sp>
          <p:nvSpPr>
            <p:cNvPr name="Freeform 30" id="30"/>
            <p:cNvSpPr/>
            <p:nvPr/>
          </p:nvSpPr>
          <p:spPr>
            <a:xfrm flipH="false" flipV="false" rot="0">
              <a:off x="0" y="0"/>
              <a:ext cx="6559296" cy="731520"/>
            </a:xfrm>
            <a:custGeom>
              <a:avLst/>
              <a:gdLst/>
              <a:ahLst/>
              <a:cxnLst/>
              <a:rect r="r" b="b" t="t" l="l"/>
              <a:pathLst>
                <a:path h="731520" w="6559296">
                  <a:moveTo>
                    <a:pt x="0" y="0"/>
                  </a:moveTo>
                  <a:lnTo>
                    <a:pt x="6559296" y="0"/>
                  </a:lnTo>
                  <a:lnTo>
                    <a:pt x="6559296" y="731520"/>
                  </a:lnTo>
                  <a:lnTo>
                    <a:pt x="0" y="731520"/>
                  </a:lnTo>
                  <a:close/>
                </a:path>
              </a:pathLst>
            </a:custGeom>
            <a:blipFill>
              <a:blip r:embed="rId3">
                <a:alphaModFix amt="0"/>
              </a:blip>
              <a:stretch>
                <a:fillRect l="0" t="-124715" r="0" b="-124715"/>
              </a:stretch>
            </a:blipFill>
          </p:spPr>
        </p:sp>
        <p:sp>
          <p:nvSpPr>
            <p:cNvPr name="TextBox 31" id="31"/>
            <p:cNvSpPr txBox="true"/>
            <p:nvPr/>
          </p:nvSpPr>
          <p:spPr>
            <a:xfrm>
              <a:off x="0" y="-38100"/>
              <a:ext cx="6559296" cy="769620"/>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Multi-Step Forecasting</a:t>
              </a:r>
            </a:p>
          </p:txBody>
        </p:sp>
      </p:grpSp>
      <p:grpSp>
        <p:nvGrpSpPr>
          <p:cNvPr name="Group 32" id="32"/>
          <p:cNvGrpSpPr/>
          <p:nvPr/>
        </p:nvGrpSpPr>
        <p:grpSpPr>
          <a:xfrm rot="0">
            <a:off x="6894576" y="3072384"/>
            <a:ext cx="4773168" cy="2286000"/>
            <a:chOff x="0" y="0"/>
            <a:chExt cx="6364224" cy="3048000"/>
          </a:xfrm>
        </p:grpSpPr>
        <p:sp>
          <p:nvSpPr>
            <p:cNvPr name="Freeform 33" id="33"/>
            <p:cNvSpPr/>
            <p:nvPr/>
          </p:nvSpPr>
          <p:spPr>
            <a:xfrm flipH="false" flipV="false" rot="0">
              <a:off x="0" y="0"/>
              <a:ext cx="6364224" cy="3048000"/>
            </a:xfrm>
            <a:custGeom>
              <a:avLst/>
              <a:gdLst/>
              <a:ahLst/>
              <a:cxnLst/>
              <a:rect r="r" b="b" t="t" l="l"/>
              <a:pathLst>
                <a:path h="3048000" w="6364224">
                  <a:moveTo>
                    <a:pt x="0" y="0"/>
                  </a:moveTo>
                  <a:lnTo>
                    <a:pt x="6364224" y="0"/>
                  </a:lnTo>
                  <a:lnTo>
                    <a:pt x="6364224" y="3048000"/>
                  </a:lnTo>
                  <a:lnTo>
                    <a:pt x="0" y="3048000"/>
                  </a:lnTo>
                  <a:close/>
                </a:path>
              </a:pathLst>
            </a:custGeom>
            <a:blipFill>
              <a:blip r:embed="rId3">
                <a:alphaModFix amt="0"/>
              </a:blip>
              <a:stretch>
                <a:fillRect l="-11448" t="0" r="-11448" b="0"/>
              </a:stretch>
            </a:blipFill>
          </p:spPr>
        </p:sp>
        <p:sp>
          <p:nvSpPr>
            <p:cNvPr name="TextBox 34" id="34"/>
            <p:cNvSpPr txBox="true"/>
            <p:nvPr/>
          </p:nvSpPr>
          <p:spPr>
            <a:xfrm>
              <a:off x="0" y="-38100"/>
              <a:ext cx="6364224" cy="3086100"/>
            </a:xfrm>
            <a:prstGeom prst="rect">
              <a:avLst/>
            </a:prstGeom>
          </p:spPr>
          <p:txBody>
            <a:bodyPr anchor="ctr" rtlCol="false" tIns="0" lIns="0" bIns="0" rIns="0"/>
            <a:lstStyle/>
            <a:p>
              <a:pPr algn="l">
                <a:lnSpc>
                  <a:spcPts val="2400"/>
                </a:lnSpc>
              </a:pPr>
              <a:r>
                <a:rPr lang="en-US" sz="2000">
                  <a:solidFill>
                    <a:srgbClr val="334155"/>
                  </a:solidFill>
                  <a:latin typeface="Calibri (MS)"/>
                  <a:ea typeface="Calibri (MS)"/>
                  <a:cs typeface="Calibri (MS)"/>
                  <a:sym typeface="Calibri (MS)"/>
                </a:rPr>
                <a:t>Current: next-day prediction (1-step). 3–7 day probabilistic horizon for maritime planning.</a:t>
              </a:r>
            </a:p>
          </p:txBody>
        </p:sp>
      </p:grpSp>
      <p:grpSp>
        <p:nvGrpSpPr>
          <p:cNvPr name="Group 35" id="35"/>
          <p:cNvGrpSpPr/>
          <p:nvPr/>
        </p:nvGrpSpPr>
        <p:grpSpPr>
          <a:xfrm rot="0">
            <a:off x="12344400" y="2194560"/>
            <a:ext cx="5212080" cy="3328416"/>
            <a:chOff x="0" y="0"/>
            <a:chExt cx="6949440" cy="4437888"/>
          </a:xfrm>
        </p:grpSpPr>
        <p:sp>
          <p:nvSpPr>
            <p:cNvPr name="Freeform 36" id="36"/>
            <p:cNvSpPr/>
            <p:nvPr/>
          </p:nvSpPr>
          <p:spPr>
            <a:xfrm flipH="false" flipV="false" rot="0">
              <a:off x="0" y="0"/>
              <a:ext cx="6949439" cy="4437888"/>
            </a:xfrm>
            <a:custGeom>
              <a:avLst/>
              <a:gdLst/>
              <a:ahLst/>
              <a:cxnLst/>
              <a:rect r="r" b="b" t="t" l="l"/>
              <a:pathLst>
                <a:path h="4437888" w="6949439">
                  <a:moveTo>
                    <a:pt x="0" y="292608"/>
                  </a:moveTo>
                  <a:cubicBezTo>
                    <a:pt x="0" y="130937"/>
                    <a:pt x="130937" y="0"/>
                    <a:pt x="292608" y="0"/>
                  </a:cubicBezTo>
                  <a:lnTo>
                    <a:pt x="6656832" y="0"/>
                  </a:lnTo>
                  <a:cubicBezTo>
                    <a:pt x="6818375" y="0"/>
                    <a:pt x="6949439" y="130937"/>
                    <a:pt x="6949439" y="292608"/>
                  </a:cubicBezTo>
                  <a:lnTo>
                    <a:pt x="6949439" y="4145280"/>
                  </a:lnTo>
                  <a:cubicBezTo>
                    <a:pt x="6949439" y="4306824"/>
                    <a:pt x="6818502" y="4437888"/>
                    <a:pt x="6656832" y="4437888"/>
                  </a:cubicBezTo>
                  <a:lnTo>
                    <a:pt x="292608" y="4437888"/>
                  </a:lnTo>
                  <a:cubicBezTo>
                    <a:pt x="130937" y="4437888"/>
                    <a:pt x="0" y="4306951"/>
                    <a:pt x="0" y="4145280"/>
                  </a:cubicBezTo>
                  <a:close/>
                </a:path>
              </a:pathLst>
            </a:custGeom>
            <a:solidFill>
              <a:srgbClr val="EFF6FF"/>
            </a:solidFill>
          </p:spPr>
        </p:sp>
      </p:grpSp>
      <p:grpSp>
        <p:nvGrpSpPr>
          <p:cNvPr name="Group 37" id="37"/>
          <p:cNvGrpSpPr/>
          <p:nvPr/>
        </p:nvGrpSpPr>
        <p:grpSpPr>
          <a:xfrm rot="0">
            <a:off x="12490704" y="2340864"/>
            <a:ext cx="4919472" cy="548640"/>
            <a:chOff x="0" y="0"/>
            <a:chExt cx="6559296" cy="731520"/>
          </a:xfrm>
        </p:grpSpPr>
        <p:sp>
          <p:nvSpPr>
            <p:cNvPr name="Freeform 38" id="38"/>
            <p:cNvSpPr/>
            <p:nvPr/>
          </p:nvSpPr>
          <p:spPr>
            <a:xfrm flipH="false" flipV="false" rot="0">
              <a:off x="0" y="0"/>
              <a:ext cx="6559296" cy="731520"/>
            </a:xfrm>
            <a:custGeom>
              <a:avLst/>
              <a:gdLst/>
              <a:ahLst/>
              <a:cxnLst/>
              <a:rect r="r" b="b" t="t" l="l"/>
              <a:pathLst>
                <a:path h="731520" w="6559296">
                  <a:moveTo>
                    <a:pt x="0" y="146304"/>
                  </a:moveTo>
                  <a:cubicBezTo>
                    <a:pt x="0" y="65532"/>
                    <a:pt x="65532" y="0"/>
                    <a:pt x="146304" y="0"/>
                  </a:cubicBezTo>
                  <a:lnTo>
                    <a:pt x="6412992" y="0"/>
                  </a:lnTo>
                  <a:cubicBezTo>
                    <a:pt x="6493764" y="0"/>
                    <a:pt x="6559296" y="65532"/>
                    <a:pt x="6559296" y="146304"/>
                  </a:cubicBezTo>
                  <a:lnTo>
                    <a:pt x="6559296" y="585216"/>
                  </a:lnTo>
                  <a:cubicBezTo>
                    <a:pt x="6559296" y="665988"/>
                    <a:pt x="6493764" y="731520"/>
                    <a:pt x="6412992" y="731520"/>
                  </a:cubicBezTo>
                  <a:lnTo>
                    <a:pt x="146304" y="731520"/>
                  </a:lnTo>
                  <a:cubicBezTo>
                    <a:pt x="65532" y="731520"/>
                    <a:pt x="0" y="665988"/>
                    <a:pt x="0" y="585216"/>
                  </a:cubicBezTo>
                  <a:close/>
                </a:path>
              </a:pathLst>
            </a:custGeom>
            <a:solidFill>
              <a:srgbClr val="3B82F6"/>
            </a:solidFill>
          </p:spPr>
        </p:sp>
      </p:grpSp>
      <p:grpSp>
        <p:nvGrpSpPr>
          <p:cNvPr name="Group 39" id="39"/>
          <p:cNvGrpSpPr/>
          <p:nvPr/>
        </p:nvGrpSpPr>
        <p:grpSpPr>
          <a:xfrm rot="0">
            <a:off x="12490704" y="2340864"/>
            <a:ext cx="4919472" cy="548640"/>
            <a:chOff x="0" y="0"/>
            <a:chExt cx="6559296" cy="731520"/>
          </a:xfrm>
        </p:grpSpPr>
        <p:sp>
          <p:nvSpPr>
            <p:cNvPr name="Freeform 40" id="40"/>
            <p:cNvSpPr/>
            <p:nvPr/>
          </p:nvSpPr>
          <p:spPr>
            <a:xfrm flipH="false" flipV="false" rot="0">
              <a:off x="0" y="0"/>
              <a:ext cx="6559296" cy="731520"/>
            </a:xfrm>
            <a:custGeom>
              <a:avLst/>
              <a:gdLst/>
              <a:ahLst/>
              <a:cxnLst/>
              <a:rect r="r" b="b" t="t" l="l"/>
              <a:pathLst>
                <a:path h="731520" w="6559296">
                  <a:moveTo>
                    <a:pt x="0" y="0"/>
                  </a:moveTo>
                  <a:lnTo>
                    <a:pt x="6559296" y="0"/>
                  </a:lnTo>
                  <a:lnTo>
                    <a:pt x="6559296" y="731520"/>
                  </a:lnTo>
                  <a:lnTo>
                    <a:pt x="0" y="731520"/>
                  </a:lnTo>
                  <a:close/>
                </a:path>
              </a:pathLst>
            </a:custGeom>
            <a:blipFill>
              <a:blip r:embed="rId3">
                <a:alphaModFix amt="0"/>
              </a:blip>
              <a:stretch>
                <a:fillRect l="0" t="-124715" r="0" b="-124715"/>
              </a:stretch>
            </a:blipFill>
          </p:spPr>
        </p:sp>
        <p:sp>
          <p:nvSpPr>
            <p:cNvPr name="TextBox 41" id="41"/>
            <p:cNvSpPr txBox="true"/>
            <p:nvPr/>
          </p:nvSpPr>
          <p:spPr>
            <a:xfrm>
              <a:off x="0" y="-38100"/>
              <a:ext cx="6559296" cy="769620"/>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Exogenous Inputs</a:t>
              </a:r>
            </a:p>
          </p:txBody>
        </p:sp>
      </p:grpSp>
      <p:grpSp>
        <p:nvGrpSpPr>
          <p:cNvPr name="Group 42" id="42"/>
          <p:cNvGrpSpPr/>
          <p:nvPr/>
        </p:nvGrpSpPr>
        <p:grpSpPr>
          <a:xfrm rot="0">
            <a:off x="12563856" y="3072384"/>
            <a:ext cx="4773168" cy="2286000"/>
            <a:chOff x="0" y="0"/>
            <a:chExt cx="6364224" cy="3048000"/>
          </a:xfrm>
        </p:grpSpPr>
        <p:sp>
          <p:nvSpPr>
            <p:cNvPr name="Freeform 43" id="43"/>
            <p:cNvSpPr/>
            <p:nvPr/>
          </p:nvSpPr>
          <p:spPr>
            <a:xfrm flipH="false" flipV="false" rot="0">
              <a:off x="0" y="0"/>
              <a:ext cx="6364224" cy="3048000"/>
            </a:xfrm>
            <a:custGeom>
              <a:avLst/>
              <a:gdLst/>
              <a:ahLst/>
              <a:cxnLst/>
              <a:rect r="r" b="b" t="t" l="l"/>
              <a:pathLst>
                <a:path h="3048000" w="6364224">
                  <a:moveTo>
                    <a:pt x="0" y="0"/>
                  </a:moveTo>
                  <a:lnTo>
                    <a:pt x="6364224" y="0"/>
                  </a:lnTo>
                  <a:lnTo>
                    <a:pt x="6364224" y="3048000"/>
                  </a:lnTo>
                  <a:lnTo>
                    <a:pt x="0" y="3048000"/>
                  </a:lnTo>
                  <a:close/>
                </a:path>
              </a:pathLst>
            </a:custGeom>
            <a:blipFill>
              <a:blip r:embed="rId3">
                <a:alphaModFix amt="0"/>
              </a:blip>
              <a:stretch>
                <a:fillRect l="-11448" t="0" r="-11448" b="0"/>
              </a:stretch>
            </a:blipFill>
          </p:spPr>
        </p:sp>
        <p:sp>
          <p:nvSpPr>
            <p:cNvPr name="TextBox 44" id="44"/>
            <p:cNvSpPr txBox="true"/>
            <p:nvPr/>
          </p:nvSpPr>
          <p:spPr>
            <a:xfrm>
              <a:off x="0" y="-38100"/>
              <a:ext cx="6364224" cy="3086100"/>
            </a:xfrm>
            <a:prstGeom prst="rect">
              <a:avLst/>
            </a:prstGeom>
          </p:spPr>
          <p:txBody>
            <a:bodyPr anchor="ctr" rtlCol="false" tIns="0" lIns="0" bIns="0" rIns="0"/>
            <a:lstStyle/>
            <a:p>
              <a:pPr algn="l">
                <a:lnSpc>
                  <a:spcPts val="2400"/>
                </a:lnSpc>
              </a:pPr>
              <a:r>
                <a:rPr lang="en-US" sz="2000">
                  <a:solidFill>
                    <a:srgbClr val="334155"/>
                  </a:solidFill>
                  <a:latin typeface="Calibri (MS)"/>
                  <a:ea typeface="Calibri (MS)"/>
                  <a:cs typeface="Calibri (MS)"/>
                  <a:sym typeface="Calibri (MS)"/>
                </a:rPr>
                <a:t>Add wind stress, SST, current velocity as model inputs. Much of SLA's predictive information resides in forcing fields, not SLA history.</a:t>
              </a:r>
            </a:p>
          </p:txBody>
        </p:sp>
      </p:grpSp>
      <p:grpSp>
        <p:nvGrpSpPr>
          <p:cNvPr name="Group 45" id="45"/>
          <p:cNvGrpSpPr/>
          <p:nvPr/>
        </p:nvGrpSpPr>
        <p:grpSpPr>
          <a:xfrm rot="0">
            <a:off x="1005840" y="5943600"/>
            <a:ext cx="5212080" cy="3328416"/>
            <a:chOff x="0" y="0"/>
            <a:chExt cx="6949440" cy="4437888"/>
          </a:xfrm>
        </p:grpSpPr>
        <p:sp>
          <p:nvSpPr>
            <p:cNvPr name="Freeform 46" id="46"/>
            <p:cNvSpPr/>
            <p:nvPr/>
          </p:nvSpPr>
          <p:spPr>
            <a:xfrm flipH="false" flipV="false" rot="0">
              <a:off x="0" y="0"/>
              <a:ext cx="6949439" cy="4437888"/>
            </a:xfrm>
            <a:custGeom>
              <a:avLst/>
              <a:gdLst/>
              <a:ahLst/>
              <a:cxnLst/>
              <a:rect r="r" b="b" t="t" l="l"/>
              <a:pathLst>
                <a:path h="4437888" w="6949439">
                  <a:moveTo>
                    <a:pt x="0" y="292608"/>
                  </a:moveTo>
                  <a:cubicBezTo>
                    <a:pt x="0" y="130937"/>
                    <a:pt x="130937" y="0"/>
                    <a:pt x="292608" y="0"/>
                  </a:cubicBezTo>
                  <a:lnTo>
                    <a:pt x="6656832" y="0"/>
                  </a:lnTo>
                  <a:cubicBezTo>
                    <a:pt x="6818375" y="0"/>
                    <a:pt x="6949439" y="130937"/>
                    <a:pt x="6949439" y="292608"/>
                  </a:cubicBezTo>
                  <a:lnTo>
                    <a:pt x="6949439" y="4145280"/>
                  </a:lnTo>
                  <a:cubicBezTo>
                    <a:pt x="6949439" y="4306824"/>
                    <a:pt x="6818502" y="4437888"/>
                    <a:pt x="6656832" y="4437888"/>
                  </a:cubicBezTo>
                  <a:lnTo>
                    <a:pt x="292608" y="4437888"/>
                  </a:lnTo>
                  <a:cubicBezTo>
                    <a:pt x="130937" y="4437888"/>
                    <a:pt x="0" y="4306951"/>
                    <a:pt x="0" y="4145280"/>
                  </a:cubicBezTo>
                  <a:close/>
                </a:path>
              </a:pathLst>
            </a:custGeom>
            <a:solidFill>
              <a:srgbClr val="EFF6FF"/>
            </a:solidFill>
          </p:spPr>
        </p:sp>
      </p:grpSp>
      <p:grpSp>
        <p:nvGrpSpPr>
          <p:cNvPr name="Group 47" id="47"/>
          <p:cNvGrpSpPr/>
          <p:nvPr/>
        </p:nvGrpSpPr>
        <p:grpSpPr>
          <a:xfrm rot="0">
            <a:off x="1152144" y="6089904"/>
            <a:ext cx="4919472" cy="548640"/>
            <a:chOff x="0" y="0"/>
            <a:chExt cx="6559296" cy="731520"/>
          </a:xfrm>
        </p:grpSpPr>
        <p:sp>
          <p:nvSpPr>
            <p:cNvPr name="Freeform 48" id="48"/>
            <p:cNvSpPr/>
            <p:nvPr/>
          </p:nvSpPr>
          <p:spPr>
            <a:xfrm flipH="false" flipV="false" rot="0">
              <a:off x="0" y="0"/>
              <a:ext cx="6559296" cy="731520"/>
            </a:xfrm>
            <a:custGeom>
              <a:avLst/>
              <a:gdLst/>
              <a:ahLst/>
              <a:cxnLst/>
              <a:rect r="r" b="b" t="t" l="l"/>
              <a:pathLst>
                <a:path h="731520" w="6559296">
                  <a:moveTo>
                    <a:pt x="0" y="146304"/>
                  </a:moveTo>
                  <a:cubicBezTo>
                    <a:pt x="0" y="65532"/>
                    <a:pt x="65532" y="0"/>
                    <a:pt x="146304" y="0"/>
                  </a:cubicBezTo>
                  <a:lnTo>
                    <a:pt x="6412992" y="0"/>
                  </a:lnTo>
                  <a:cubicBezTo>
                    <a:pt x="6493764" y="0"/>
                    <a:pt x="6559296" y="65532"/>
                    <a:pt x="6559296" y="146304"/>
                  </a:cubicBezTo>
                  <a:lnTo>
                    <a:pt x="6559296" y="585216"/>
                  </a:lnTo>
                  <a:cubicBezTo>
                    <a:pt x="6559296" y="665988"/>
                    <a:pt x="6493764" y="731520"/>
                    <a:pt x="6412992" y="731520"/>
                  </a:cubicBezTo>
                  <a:lnTo>
                    <a:pt x="146304" y="731520"/>
                  </a:lnTo>
                  <a:cubicBezTo>
                    <a:pt x="65532" y="731520"/>
                    <a:pt x="0" y="665988"/>
                    <a:pt x="0" y="585216"/>
                  </a:cubicBezTo>
                  <a:close/>
                </a:path>
              </a:pathLst>
            </a:custGeom>
            <a:solidFill>
              <a:srgbClr val="60A5FA"/>
            </a:solidFill>
          </p:spPr>
        </p:sp>
      </p:grpSp>
      <p:grpSp>
        <p:nvGrpSpPr>
          <p:cNvPr name="Group 49" id="49"/>
          <p:cNvGrpSpPr/>
          <p:nvPr/>
        </p:nvGrpSpPr>
        <p:grpSpPr>
          <a:xfrm rot="0">
            <a:off x="1152144" y="6089904"/>
            <a:ext cx="4919472" cy="548640"/>
            <a:chOff x="0" y="0"/>
            <a:chExt cx="6559296" cy="731520"/>
          </a:xfrm>
        </p:grpSpPr>
        <p:sp>
          <p:nvSpPr>
            <p:cNvPr name="Freeform 50" id="50"/>
            <p:cNvSpPr/>
            <p:nvPr/>
          </p:nvSpPr>
          <p:spPr>
            <a:xfrm flipH="false" flipV="false" rot="0">
              <a:off x="0" y="0"/>
              <a:ext cx="6559296" cy="731520"/>
            </a:xfrm>
            <a:custGeom>
              <a:avLst/>
              <a:gdLst/>
              <a:ahLst/>
              <a:cxnLst/>
              <a:rect r="r" b="b" t="t" l="l"/>
              <a:pathLst>
                <a:path h="731520" w="6559296">
                  <a:moveTo>
                    <a:pt x="0" y="0"/>
                  </a:moveTo>
                  <a:lnTo>
                    <a:pt x="6559296" y="0"/>
                  </a:lnTo>
                  <a:lnTo>
                    <a:pt x="6559296" y="731520"/>
                  </a:lnTo>
                  <a:lnTo>
                    <a:pt x="0" y="731520"/>
                  </a:lnTo>
                  <a:close/>
                </a:path>
              </a:pathLst>
            </a:custGeom>
            <a:blipFill>
              <a:blip r:embed="rId3">
                <a:alphaModFix amt="0"/>
              </a:blip>
              <a:stretch>
                <a:fillRect l="0" t="-124715" r="0" b="-124715"/>
              </a:stretch>
            </a:blipFill>
          </p:spPr>
        </p:sp>
        <p:sp>
          <p:nvSpPr>
            <p:cNvPr name="TextBox 51" id="51"/>
            <p:cNvSpPr txBox="true"/>
            <p:nvPr/>
          </p:nvSpPr>
          <p:spPr>
            <a:xfrm>
              <a:off x="0" y="-38100"/>
              <a:ext cx="6559296" cy="769620"/>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Spatial Forecasting</a:t>
              </a:r>
            </a:p>
          </p:txBody>
        </p:sp>
      </p:grpSp>
      <p:grpSp>
        <p:nvGrpSpPr>
          <p:cNvPr name="Group 52" id="52"/>
          <p:cNvGrpSpPr/>
          <p:nvPr/>
        </p:nvGrpSpPr>
        <p:grpSpPr>
          <a:xfrm rot="0">
            <a:off x="1225296" y="6821424"/>
            <a:ext cx="4773168" cy="2286000"/>
            <a:chOff x="0" y="0"/>
            <a:chExt cx="6364224" cy="3048000"/>
          </a:xfrm>
        </p:grpSpPr>
        <p:sp>
          <p:nvSpPr>
            <p:cNvPr name="Freeform 53" id="53"/>
            <p:cNvSpPr/>
            <p:nvPr/>
          </p:nvSpPr>
          <p:spPr>
            <a:xfrm flipH="false" flipV="false" rot="0">
              <a:off x="0" y="0"/>
              <a:ext cx="6364224" cy="3048000"/>
            </a:xfrm>
            <a:custGeom>
              <a:avLst/>
              <a:gdLst/>
              <a:ahLst/>
              <a:cxnLst/>
              <a:rect r="r" b="b" t="t" l="l"/>
              <a:pathLst>
                <a:path h="3048000" w="6364224">
                  <a:moveTo>
                    <a:pt x="0" y="0"/>
                  </a:moveTo>
                  <a:lnTo>
                    <a:pt x="6364224" y="0"/>
                  </a:lnTo>
                  <a:lnTo>
                    <a:pt x="6364224" y="3048000"/>
                  </a:lnTo>
                  <a:lnTo>
                    <a:pt x="0" y="3048000"/>
                  </a:lnTo>
                  <a:close/>
                </a:path>
              </a:pathLst>
            </a:custGeom>
            <a:blipFill>
              <a:blip r:embed="rId3">
                <a:alphaModFix amt="0"/>
              </a:blip>
              <a:stretch>
                <a:fillRect l="-11448" t="0" r="-11448" b="0"/>
              </a:stretch>
            </a:blipFill>
          </p:spPr>
        </p:sp>
        <p:sp>
          <p:nvSpPr>
            <p:cNvPr name="TextBox 54" id="54"/>
            <p:cNvSpPr txBox="true"/>
            <p:nvPr/>
          </p:nvSpPr>
          <p:spPr>
            <a:xfrm>
              <a:off x="0" y="-38100"/>
              <a:ext cx="6364224" cy="3086100"/>
            </a:xfrm>
            <a:prstGeom prst="rect">
              <a:avLst/>
            </a:prstGeom>
          </p:spPr>
          <p:txBody>
            <a:bodyPr anchor="ctr" rtlCol="false" tIns="0" lIns="0" bIns="0" rIns="0"/>
            <a:lstStyle/>
            <a:p>
              <a:pPr algn="l">
                <a:lnSpc>
                  <a:spcPts val="2400"/>
                </a:lnSpc>
              </a:pPr>
              <a:r>
                <a:rPr lang="en-US" sz="2000">
                  <a:solidFill>
                    <a:srgbClr val="334155"/>
                  </a:solidFill>
                  <a:latin typeface="Calibri (MS)"/>
                  <a:ea typeface="Calibri (MS)"/>
                  <a:cs typeface="Calibri (MS)"/>
                  <a:sym typeface="Calibri (MS)"/>
                </a:rPr>
                <a:t>Predict 2D SLA/SWH fields (not just 5 points) using ConvLSTM or Graph Neural Networks for regional coverage.</a:t>
              </a:r>
            </a:p>
          </p:txBody>
        </p:sp>
      </p:grpSp>
      <p:grpSp>
        <p:nvGrpSpPr>
          <p:cNvPr name="Group 55" id="55"/>
          <p:cNvGrpSpPr/>
          <p:nvPr/>
        </p:nvGrpSpPr>
        <p:grpSpPr>
          <a:xfrm rot="0">
            <a:off x="6675120" y="5943600"/>
            <a:ext cx="5212080" cy="3328416"/>
            <a:chOff x="0" y="0"/>
            <a:chExt cx="6949440" cy="4437888"/>
          </a:xfrm>
        </p:grpSpPr>
        <p:sp>
          <p:nvSpPr>
            <p:cNvPr name="Freeform 56" id="56"/>
            <p:cNvSpPr/>
            <p:nvPr/>
          </p:nvSpPr>
          <p:spPr>
            <a:xfrm flipH="false" flipV="false" rot="0">
              <a:off x="0" y="0"/>
              <a:ext cx="6949439" cy="4437888"/>
            </a:xfrm>
            <a:custGeom>
              <a:avLst/>
              <a:gdLst/>
              <a:ahLst/>
              <a:cxnLst/>
              <a:rect r="r" b="b" t="t" l="l"/>
              <a:pathLst>
                <a:path h="4437888" w="6949439">
                  <a:moveTo>
                    <a:pt x="0" y="292608"/>
                  </a:moveTo>
                  <a:cubicBezTo>
                    <a:pt x="0" y="130937"/>
                    <a:pt x="130937" y="0"/>
                    <a:pt x="292608" y="0"/>
                  </a:cubicBezTo>
                  <a:lnTo>
                    <a:pt x="6656832" y="0"/>
                  </a:lnTo>
                  <a:cubicBezTo>
                    <a:pt x="6818375" y="0"/>
                    <a:pt x="6949439" y="130937"/>
                    <a:pt x="6949439" y="292608"/>
                  </a:cubicBezTo>
                  <a:lnTo>
                    <a:pt x="6949439" y="4145280"/>
                  </a:lnTo>
                  <a:cubicBezTo>
                    <a:pt x="6949439" y="4306824"/>
                    <a:pt x="6818502" y="4437888"/>
                    <a:pt x="6656832" y="4437888"/>
                  </a:cubicBezTo>
                  <a:lnTo>
                    <a:pt x="292608" y="4437888"/>
                  </a:lnTo>
                  <a:cubicBezTo>
                    <a:pt x="130937" y="4437888"/>
                    <a:pt x="0" y="4306951"/>
                    <a:pt x="0" y="4145280"/>
                  </a:cubicBezTo>
                  <a:close/>
                </a:path>
              </a:pathLst>
            </a:custGeom>
            <a:solidFill>
              <a:srgbClr val="EFF6FF"/>
            </a:solidFill>
          </p:spPr>
        </p:sp>
      </p:grpSp>
      <p:grpSp>
        <p:nvGrpSpPr>
          <p:cNvPr name="Group 57" id="57"/>
          <p:cNvGrpSpPr/>
          <p:nvPr/>
        </p:nvGrpSpPr>
        <p:grpSpPr>
          <a:xfrm rot="0">
            <a:off x="6821424" y="6089904"/>
            <a:ext cx="4919472" cy="548640"/>
            <a:chOff x="0" y="0"/>
            <a:chExt cx="6559296" cy="731520"/>
          </a:xfrm>
        </p:grpSpPr>
        <p:sp>
          <p:nvSpPr>
            <p:cNvPr name="Freeform 58" id="58"/>
            <p:cNvSpPr/>
            <p:nvPr/>
          </p:nvSpPr>
          <p:spPr>
            <a:xfrm flipH="false" flipV="false" rot="0">
              <a:off x="0" y="0"/>
              <a:ext cx="6559296" cy="731520"/>
            </a:xfrm>
            <a:custGeom>
              <a:avLst/>
              <a:gdLst/>
              <a:ahLst/>
              <a:cxnLst/>
              <a:rect r="r" b="b" t="t" l="l"/>
              <a:pathLst>
                <a:path h="731520" w="6559296">
                  <a:moveTo>
                    <a:pt x="0" y="146304"/>
                  </a:moveTo>
                  <a:cubicBezTo>
                    <a:pt x="0" y="65532"/>
                    <a:pt x="65532" y="0"/>
                    <a:pt x="146304" y="0"/>
                  </a:cubicBezTo>
                  <a:lnTo>
                    <a:pt x="6412992" y="0"/>
                  </a:lnTo>
                  <a:cubicBezTo>
                    <a:pt x="6493764" y="0"/>
                    <a:pt x="6559296" y="65532"/>
                    <a:pt x="6559296" y="146304"/>
                  </a:cubicBezTo>
                  <a:lnTo>
                    <a:pt x="6559296" y="585216"/>
                  </a:lnTo>
                  <a:cubicBezTo>
                    <a:pt x="6559296" y="665988"/>
                    <a:pt x="6493764" y="731520"/>
                    <a:pt x="6412992" y="731520"/>
                  </a:cubicBezTo>
                  <a:lnTo>
                    <a:pt x="146304" y="731520"/>
                  </a:lnTo>
                  <a:cubicBezTo>
                    <a:pt x="65532" y="731520"/>
                    <a:pt x="0" y="665988"/>
                    <a:pt x="0" y="585216"/>
                  </a:cubicBezTo>
                  <a:close/>
                </a:path>
              </a:pathLst>
            </a:custGeom>
            <a:solidFill>
              <a:srgbClr val="60A5FA"/>
            </a:solidFill>
          </p:spPr>
        </p:sp>
      </p:grpSp>
      <p:grpSp>
        <p:nvGrpSpPr>
          <p:cNvPr name="Group 59" id="59"/>
          <p:cNvGrpSpPr/>
          <p:nvPr/>
        </p:nvGrpSpPr>
        <p:grpSpPr>
          <a:xfrm rot="0">
            <a:off x="6821424" y="6089904"/>
            <a:ext cx="4919472" cy="548640"/>
            <a:chOff x="0" y="0"/>
            <a:chExt cx="6559296" cy="731520"/>
          </a:xfrm>
        </p:grpSpPr>
        <p:sp>
          <p:nvSpPr>
            <p:cNvPr name="Freeform 60" id="60"/>
            <p:cNvSpPr/>
            <p:nvPr/>
          </p:nvSpPr>
          <p:spPr>
            <a:xfrm flipH="false" flipV="false" rot="0">
              <a:off x="0" y="0"/>
              <a:ext cx="6559296" cy="731520"/>
            </a:xfrm>
            <a:custGeom>
              <a:avLst/>
              <a:gdLst/>
              <a:ahLst/>
              <a:cxnLst/>
              <a:rect r="r" b="b" t="t" l="l"/>
              <a:pathLst>
                <a:path h="731520" w="6559296">
                  <a:moveTo>
                    <a:pt x="0" y="0"/>
                  </a:moveTo>
                  <a:lnTo>
                    <a:pt x="6559296" y="0"/>
                  </a:lnTo>
                  <a:lnTo>
                    <a:pt x="6559296" y="731520"/>
                  </a:lnTo>
                  <a:lnTo>
                    <a:pt x="0" y="731520"/>
                  </a:lnTo>
                  <a:close/>
                </a:path>
              </a:pathLst>
            </a:custGeom>
            <a:blipFill>
              <a:blip r:embed="rId3">
                <a:alphaModFix amt="0"/>
              </a:blip>
              <a:stretch>
                <a:fillRect l="0" t="-124715" r="0" b="-124715"/>
              </a:stretch>
            </a:blipFill>
          </p:spPr>
        </p:sp>
        <p:sp>
          <p:nvSpPr>
            <p:cNvPr name="TextBox 61" id="61"/>
            <p:cNvSpPr txBox="true"/>
            <p:nvPr/>
          </p:nvSpPr>
          <p:spPr>
            <a:xfrm>
              <a:off x="0" y="-38100"/>
              <a:ext cx="6559296" cy="769620"/>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Advanced Uncertainty</a:t>
              </a:r>
            </a:p>
          </p:txBody>
        </p:sp>
      </p:grpSp>
      <p:grpSp>
        <p:nvGrpSpPr>
          <p:cNvPr name="Group 62" id="62"/>
          <p:cNvGrpSpPr/>
          <p:nvPr/>
        </p:nvGrpSpPr>
        <p:grpSpPr>
          <a:xfrm rot="0">
            <a:off x="6894576" y="6821424"/>
            <a:ext cx="4773168" cy="2286000"/>
            <a:chOff x="0" y="0"/>
            <a:chExt cx="6364224" cy="3048000"/>
          </a:xfrm>
        </p:grpSpPr>
        <p:sp>
          <p:nvSpPr>
            <p:cNvPr name="Freeform 63" id="63"/>
            <p:cNvSpPr/>
            <p:nvPr/>
          </p:nvSpPr>
          <p:spPr>
            <a:xfrm flipH="false" flipV="false" rot="0">
              <a:off x="0" y="0"/>
              <a:ext cx="6364224" cy="3048000"/>
            </a:xfrm>
            <a:custGeom>
              <a:avLst/>
              <a:gdLst/>
              <a:ahLst/>
              <a:cxnLst/>
              <a:rect r="r" b="b" t="t" l="l"/>
              <a:pathLst>
                <a:path h="3048000" w="6364224">
                  <a:moveTo>
                    <a:pt x="0" y="0"/>
                  </a:moveTo>
                  <a:lnTo>
                    <a:pt x="6364224" y="0"/>
                  </a:lnTo>
                  <a:lnTo>
                    <a:pt x="6364224" y="3048000"/>
                  </a:lnTo>
                  <a:lnTo>
                    <a:pt x="0" y="3048000"/>
                  </a:lnTo>
                  <a:close/>
                </a:path>
              </a:pathLst>
            </a:custGeom>
            <a:blipFill>
              <a:blip r:embed="rId3">
                <a:alphaModFix amt="0"/>
              </a:blip>
              <a:stretch>
                <a:fillRect l="-11448" t="0" r="-11448" b="0"/>
              </a:stretch>
            </a:blipFill>
          </p:spPr>
        </p:sp>
        <p:sp>
          <p:nvSpPr>
            <p:cNvPr name="TextBox 64" id="64"/>
            <p:cNvSpPr txBox="true"/>
            <p:nvPr/>
          </p:nvSpPr>
          <p:spPr>
            <a:xfrm>
              <a:off x="0" y="-38100"/>
              <a:ext cx="6364224" cy="3086100"/>
            </a:xfrm>
            <a:prstGeom prst="rect">
              <a:avLst/>
            </a:prstGeom>
          </p:spPr>
          <p:txBody>
            <a:bodyPr anchor="ctr" rtlCol="false" tIns="0" lIns="0" bIns="0" rIns="0"/>
            <a:lstStyle/>
            <a:p>
              <a:pPr algn="l">
                <a:lnSpc>
                  <a:spcPts val="2400"/>
                </a:lnSpc>
              </a:pPr>
              <a:r>
                <a:rPr lang="en-US" sz="2000">
                  <a:solidFill>
                    <a:srgbClr val="334155"/>
                  </a:solidFill>
                  <a:latin typeface="Calibri (MS)"/>
                  <a:ea typeface="Calibri (MS)"/>
                  <a:cs typeface="Calibri (MS)"/>
                  <a:sym typeface="Calibri (MS)"/>
                </a:rPr>
                <a:t>Normalising flows, diffusion models, or conformal prediction wrappers for distribution-free calibration guarantees.</a:t>
              </a:r>
            </a:p>
          </p:txBody>
        </p:sp>
      </p:grpSp>
      <p:grpSp>
        <p:nvGrpSpPr>
          <p:cNvPr name="Group 65" id="65"/>
          <p:cNvGrpSpPr/>
          <p:nvPr/>
        </p:nvGrpSpPr>
        <p:grpSpPr>
          <a:xfrm rot="0">
            <a:off x="12344400" y="5943600"/>
            <a:ext cx="5212080" cy="3328416"/>
            <a:chOff x="0" y="0"/>
            <a:chExt cx="6949440" cy="4437888"/>
          </a:xfrm>
        </p:grpSpPr>
        <p:sp>
          <p:nvSpPr>
            <p:cNvPr name="Freeform 66" id="66"/>
            <p:cNvSpPr/>
            <p:nvPr/>
          </p:nvSpPr>
          <p:spPr>
            <a:xfrm flipH="false" flipV="false" rot="0">
              <a:off x="0" y="0"/>
              <a:ext cx="6949439" cy="4437888"/>
            </a:xfrm>
            <a:custGeom>
              <a:avLst/>
              <a:gdLst/>
              <a:ahLst/>
              <a:cxnLst/>
              <a:rect r="r" b="b" t="t" l="l"/>
              <a:pathLst>
                <a:path h="4437888" w="6949439">
                  <a:moveTo>
                    <a:pt x="0" y="292608"/>
                  </a:moveTo>
                  <a:cubicBezTo>
                    <a:pt x="0" y="130937"/>
                    <a:pt x="130937" y="0"/>
                    <a:pt x="292608" y="0"/>
                  </a:cubicBezTo>
                  <a:lnTo>
                    <a:pt x="6656832" y="0"/>
                  </a:lnTo>
                  <a:cubicBezTo>
                    <a:pt x="6818375" y="0"/>
                    <a:pt x="6949439" y="130937"/>
                    <a:pt x="6949439" y="292608"/>
                  </a:cubicBezTo>
                  <a:lnTo>
                    <a:pt x="6949439" y="4145280"/>
                  </a:lnTo>
                  <a:cubicBezTo>
                    <a:pt x="6949439" y="4306824"/>
                    <a:pt x="6818502" y="4437888"/>
                    <a:pt x="6656832" y="4437888"/>
                  </a:cubicBezTo>
                  <a:lnTo>
                    <a:pt x="292608" y="4437888"/>
                  </a:lnTo>
                  <a:cubicBezTo>
                    <a:pt x="130937" y="4437888"/>
                    <a:pt x="0" y="4306951"/>
                    <a:pt x="0" y="4145280"/>
                  </a:cubicBezTo>
                  <a:close/>
                </a:path>
              </a:pathLst>
            </a:custGeom>
            <a:solidFill>
              <a:srgbClr val="EFF6FF"/>
            </a:solidFill>
          </p:spPr>
        </p:sp>
      </p:grpSp>
      <p:grpSp>
        <p:nvGrpSpPr>
          <p:cNvPr name="Group 67" id="67"/>
          <p:cNvGrpSpPr/>
          <p:nvPr/>
        </p:nvGrpSpPr>
        <p:grpSpPr>
          <a:xfrm rot="0">
            <a:off x="12490704" y="6089904"/>
            <a:ext cx="4919472" cy="548640"/>
            <a:chOff x="0" y="0"/>
            <a:chExt cx="6559296" cy="731520"/>
          </a:xfrm>
        </p:grpSpPr>
        <p:sp>
          <p:nvSpPr>
            <p:cNvPr name="Freeform 68" id="68"/>
            <p:cNvSpPr/>
            <p:nvPr/>
          </p:nvSpPr>
          <p:spPr>
            <a:xfrm flipH="false" flipV="false" rot="0">
              <a:off x="0" y="0"/>
              <a:ext cx="6559296" cy="731520"/>
            </a:xfrm>
            <a:custGeom>
              <a:avLst/>
              <a:gdLst/>
              <a:ahLst/>
              <a:cxnLst/>
              <a:rect r="r" b="b" t="t" l="l"/>
              <a:pathLst>
                <a:path h="731520" w="6559296">
                  <a:moveTo>
                    <a:pt x="0" y="146304"/>
                  </a:moveTo>
                  <a:cubicBezTo>
                    <a:pt x="0" y="65532"/>
                    <a:pt x="65532" y="0"/>
                    <a:pt x="146304" y="0"/>
                  </a:cubicBezTo>
                  <a:lnTo>
                    <a:pt x="6412992" y="0"/>
                  </a:lnTo>
                  <a:cubicBezTo>
                    <a:pt x="6493764" y="0"/>
                    <a:pt x="6559296" y="65532"/>
                    <a:pt x="6559296" y="146304"/>
                  </a:cubicBezTo>
                  <a:lnTo>
                    <a:pt x="6559296" y="585216"/>
                  </a:lnTo>
                  <a:cubicBezTo>
                    <a:pt x="6559296" y="665988"/>
                    <a:pt x="6493764" y="731520"/>
                    <a:pt x="6412992" y="731520"/>
                  </a:cubicBezTo>
                  <a:lnTo>
                    <a:pt x="146304" y="731520"/>
                  </a:lnTo>
                  <a:cubicBezTo>
                    <a:pt x="65532" y="731520"/>
                    <a:pt x="0" y="665988"/>
                    <a:pt x="0" y="585216"/>
                  </a:cubicBezTo>
                  <a:close/>
                </a:path>
              </a:pathLst>
            </a:custGeom>
            <a:solidFill>
              <a:srgbClr val="60A5FA"/>
            </a:solidFill>
          </p:spPr>
        </p:sp>
      </p:grpSp>
      <p:grpSp>
        <p:nvGrpSpPr>
          <p:cNvPr name="Group 69" id="69"/>
          <p:cNvGrpSpPr/>
          <p:nvPr/>
        </p:nvGrpSpPr>
        <p:grpSpPr>
          <a:xfrm rot="0">
            <a:off x="12490704" y="6089904"/>
            <a:ext cx="4919472" cy="548640"/>
            <a:chOff x="0" y="0"/>
            <a:chExt cx="6559296" cy="731520"/>
          </a:xfrm>
        </p:grpSpPr>
        <p:sp>
          <p:nvSpPr>
            <p:cNvPr name="Freeform 70" id="70"/>
            <p:cNvSpPr/>
            <p:nvPr/>
          </p:nvSpPr>
          <p:spPr>
            <a:xfrm flipH="false" flipV="false" rot="0">
              <a:off x="0" y="0"/>
              <a:ext cx="6559296" cy="731520"/>
            </a:xfrm>
            <a:custGeom>
              <a:avLst/>
              <a:gdLst/>
              <a:ahLst/>
              <a:cxnLst/>
              <a:rect r="r" b="b" t="t" l="l"/>
              <a:pathLst>
                <a:path h="731520" w="6559296">
                  <a:moveTo>
                    <a:pt x="0" y="0"/>
                  </a:moveTo>
                  <a:lnTo>
                    <a:pt x="6559296" y="0"/>
                  </a:lnTo>
                  <a:lnTo>
                    <a:pt x="6559296" y="731520"/>
                  </a:lnTo>
                  <a:lnTo>
                    <a:pt x="0" y="731520"/>
                  </a:lnTo>
                  <a:close/>
                </a:path>
              </a:pathLst>
            </a:custGeom>
            <a:blipFill>
              <a:blip r:embed="rId3">
                <a:alphaModFix amt="0"/>
              </a:blip>
              <a:stretch>
                <a:fillRect l="0" t="-124715" r="0" b="-124715"/>
              </a:stretch>
            </a:blipFill>
          </p:spPr>
        </p:sp>
        <p:sp>
          <p:nvSpPr>
            <p:cNvPr name="TextBox 71" id="71"/>
            <p:cNvSpPr txBox="true"/>
            <p:nvPr/>
          </p:nvSpPr>
          <p:spPr>
            <a:xfrm>
              <a:off x="0" y="-38100"/>
              <a:ext cx="6559296" cy="769620"/>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Operational Deployment</a:t>
              </a:r>
            </a:p>
          </p:txBody>
        </p:sp>
      </p:grpSp>
      <p:grpSp>
        <p:nvGrpSpPr>
          <p:cNvPr name="Group 72" id="72"/>
          <p:cNvGrpSpPr/>
          <p:nvPr/>
        </p:nvGrpSpPr>
        <p:grpSpPr>
          <a:xfrm rot="0">
            <a:off x="12563856" y="6821424"/>
            <a:ext cx="4773168" cy="2286000"/>
            <a:chOff x="0" y="0"/>
            <a:chExt cx="6364224" cy="3048000"/>
          </a:xfrm>
        </p:grpSpPr>
        <p:sp>
          <p:nvSpPr>
            <p:cNvPr name="Freeform 73" id="73"/>
            <p:cNvSpPr/>
            <p:nvPr/>
          </p:nvSpPr>
          <p:spPr>
            <a:xfrm flipH="false" flipV="false" rot="0">
              <a:off x="0" y="0"/>
              <a:ext cx="6364224" cy="3048000"/>
            </a:xfrm>
            <a:custGeom>
              <a:avLst/>
              <a:gdLst/>
              <a:ahLst/>
              <a:cxnLst/>
              <a:rect r="r" b="b" t="t" l="l"/>
              <a:pathLst>
                <a:path h="3048000" w="6364224">
                  <a:moveTo>
                    <a:pt x="0" y="0"/>
                  </a:moveTo>
                  <a:lnTo>
                    <a:pt x="6364224" y="0"/>
                  </a:lnTo>
                  <a:lnTo>
                    <a:pt x="6364224" y="3048000"/>
                  </a:lnTo>
                  <a:lnTo>
                    <a:pt x="0" y="3048000"/>
                  </a:lnTo>
                  <a:close/>
                </a:path>
              </a:pathLst>
            </a:custGeom>
            <a:blipFill>
              <a:blip r:embed="rId3">
                <a:alphaModFix amt="0"/>
              </a:blip>
              <a:stretch>
                <a:fillRect l="-11448" t="0" r="-11448" b="0"/>
              </a:stretch>
            </a:blipFill>
          </p:spPr>
        </p:sp>
        <p:sp>
          <p:nvSpPr>
            <p:cNvPr name="TextBox 74" id="74"/>
            <p:cNvSpPr txBox="true"/>
            <p:nvPr/>
          </p:nvSpPr>
          <p:spPr>
            <a:xfrm>
              <a:off x="0" y="-38100"/>
              <a:ext cx="6364224" cy="3086100"/>
            </a:xfrm>
            <a:prstGeom prst="rect">
              <a:avLst/>
            </a:prstGeom>
          </p:spPr>
          <p:txBody>
            <a:bodyPr anchor="ctr" rtlCol="false" tIns="0" lIns="0" bIns="0" rIns="0"/>
            <a:lstStyle/>
            <a:p>
              <a:pPr algn="l">
                <a:lnSpc>
                  <a:spcPts val="2400"/>
                </a:lnSpc>
              </a:pPr>
              <a:r>
                <a:rPr lang="en-US" sz="2000">
                  <a:solidFill>
                    <a:srgbClr val="334155"/>
                  </a:solidFill>
                  <a:latin typeface="Calibri (MS)"/>
                  <a:ea typeface="Calibri (MS)"/>
                  <a:cs typeface="Calibri (MS)"/>
                  <a:sym typeface="Calibri (MS)"/>
                </a:rPr>
                <a:t>Real-time ingestion of CMEMS data, automated retraining, and API integration for port/energy decision systems.</a:t>
              </a:r>
            </a:p>
          </p:txBody>
        </p:sp>
      </p:gr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73152"/>
            <a:chOff x="0" y="0"/>
            <a:chExt cx="24384000" cy="97536"/>
          </a:xfrm>
        </p:grpSpPr>
        <p:sp>
          <p:nvSpPr>
            <p:cNvPr name="Freeform 3" id="3"/>
            <p:cNvSpPr/>
            <p:nvPr/>
          </p:nvSpPr>
          <p:spPr>
            <a:xfrm flipH="false" flipV="false" rot="0">
              <a:off x="0" y="0"/>
              <a:ext cx="24384000" cy="97536"/>
            </a:xfrm>
            <a:custGeom>
              <a:avLst/>
              <a:gdLst/>
              <a:ahLst/>
              <a:cxnLst/>
              <a:rect r="r" b="b" t="t" l="l"/>
              <a:pathLst>
                <a:path h="97536" w="24384000">
                  <a:moveTo>
                    <a:pt x="0" y="0"/>
                  </a:moveTo>
                  <a:lnTo>
                    <a:pt x="24384000" y="0"/>
                  </a:lnTo>
                  <a:lnTo>
                    <a:pt x="24384000" y="97536"/>
                  </a:lnTo>
                  <a:lnTo>
                    <a:pt x="0" y="97536"/>
                  </a:lnTo>
                  <a:close/>
                </a:path>
              </a:pathLst>
            </a:custGeom>
            <a:solidFill>
              <a:srgbClr val="3B82F6"/>
            </a:solidFill>
          </p:spPr>
        </p:sp>
      </p:grpSp>
      <p:grpSp>
        <p:nvGrpSpPr>
          <p:cNvPr name="Group 4" id="4"/>
          <p:cNvGrpSpPr/>
          <p:nvPr/>
        </p:nvGrpSpPr>
        <p:grpSpPr>
          <a:xfrm rot="0">
            <a:off x="1005840" y="585216"/>
            <a:ext cx="2926080" cy="512064"/>
            <a:chOff x="0" y="0"/>
            <a:chExt cx="3901440" cy="682752"/>
          </a:xfrm>
        </p:grpSpPr>
        <p:sp>
          <p:nvSpPr>
            <p:cNvPr name="Freeform 5" id="5"/>
            <p:cNvSpPr/>
            <p:nvPr/>
          </p:nvSpPr>
          <p:spPr>
            <a:xfrm flipH="false" flipV="false" rot="0">
              <a:off x="0" y="0"/>
              <a:ext cx="3901440" cy="682752"/>
            </a:xfrm>
            <a:custGeom>
              <a:avLst/>
              <a:gdLst/>
              <a:ahLst/>
              <a:cxnLst/>
              <a:rect r="r" b="b" t="t" l="l"/>
              <a:pathLst>
                <a:path h="682752" w="3901440">
                  <a:moveTo>
                    <a:pt x="0" y="341376"/>
                  </a:moveTo>
                  <a:cubicBezTo>
                    <a:pt x="0" y="152781"/>
                    <a:pt x="152781" y="0"/>
                    <a:pt x="341376" y="0"/>
                  </a:cubicBezTo>
                  <a:lnTo>
                    <a:pt x="3560064" y="0"/>
                  </a:lnTo>
                  <a:cubicBezTo>
                    <a:pt x="3748659" y="0"/>
                    <a:pt x="3901440" y="152781"/>
                    <a:pt x="3901440" y="341376"/>
                  </a:cubicBezTo>
                  <a:cubicBezTo>
                    <a:pt x="3901440" y="529971"/>
                    <a:pt x="3748659" y="682752"/>
                    <a:pt x="3560064" y="682752"/>
                  </a:cubicBezTo>
                  <a:lnTo>
                    <a:pt x="341376" y="682752"/>
                  </a:lnTo>
                  <a:cubicBezTo>
                    <a:pt x="152781" y="682752"/>
                    <a:pt x="0" y="529971"/>
                    <a:pt x="0" y="341376"/>
                  </a:cubicBezTo>
                  <a:close/>
                </a:path>
              </a:pathLst>
            </a:custGeom>
            <a:solidFill>
              <a:srgbClr val="3B82F6"/>
            </a:solidFill>
          </p:spPr>
        </p:sp>
      </p:grpSp>
      <p:grpSp>
        <p:nvGrpSpPr>
          <p:cNvPr name="Group 6" id="6"/>
          <p:cNvGrpSpPr/>
          <p:nvPr/>
        </p:nvGrpSpPr>
        <p:grpSpPr>
          <a:xfrm rot="0">
            <a:off x="1005840" y="585216"/>
            <a:ext cx="2926080" cy="512064"/>
            <a:chOff x="0" y="0"/>
            <a:chExt cx="3901440" cy="682752"/>
          </a:xfrm>
        </p:grpSpPr>
        <p:sp>
          <p:nvSpPr>
            <p:cNvPr name="Freeform 7" id="7"/>
            <p:cNvSpPr/>
            <p:nvPr/>
          </p:nvSpPr>
          <p:spPr>
            <a:xfrm flipH="false" flipV="false" rot="0">
              <a:off x="0" y="0"/>
              <a:ext cx="3901440" cy="682752"/>
            </a:xfrm>
            <a:custGeom>
              <a:avLst/>
              <a:gdLst/>
              <a:ahLst/>
              <a:cxnLst/>
              <a:rect r="r" b="b" t="t" l="l"/>
              <a:pathLst>
                <a:path h="682752" w="3901440">
                  <a:moveTo>
                    <a:pt x="0" y="0"/>
                  </a:moveTo>
                  <a:lnTo>
                    <a:pt x="3901440" y="0"/>
                  </a:lnTo>
                  <a:lnTo>
                    <a:pt x="3901440" y="682752"/>
                  </a:lnTo>
                  <a:lnTo>
                    <a:pt x="0" y="682752"/>
                  </a:lnTo>
                  <a:close/>
                </a:path>
              </a:pathLst>
            </a:custGeom>
            <a:blipFill>
              <a:blip r:embed="rId3">
                <a:alphaModFix amt="0"/>
              </a:blip>
              <a:stretch>
                <a:fillRect l="0" t="-61343" r="0" b="-61343"/>
              </a:stretch>
            </a:blipFill>
          </p:spPr>
        </p:sp>
        <p:sp>
          <p:nvSpPr>
            <p:cNvPr name="TextBox 8" id="8"/>
            <p:cNvSpPr txBox="true"/>
            <p:nvPr/>
          </p:nvSpPr>
          <p:spPr>
            <a:xfrm>
              <a:off x="0" y="-38100"/>
              <a:ext cx="3901440" cy="72085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REFERENCES</a:t>
              </a:r>
            </a:p>
          </p:txBody>
        </p:sp>
      </p:grpSp>
      <p:grpSp>
        <p:nvGrpSpPr>
          <p:cNvPr name="Group 9" id="9"/>
          <p:cNvGrpSpPr/>
          <p:nvPr/>
        </p:nvGrpSpPr>
        <p:grpSpPr>
          <a:xfrm rot="0">
            <a:off x="1005840" y="1060704"/>
            <a:ext cx="16276320" cy="877824"/>
            <a:chOff x="0" y="0"/>
            <a:chExt cx="21701760" cy="1170432"/>
          </a:xfrm>
        </p:grpSpPr>
        <p:sp>
          <p:nvSpPr>
            <p:cNvPr name="Freeform 10" id="10"/>
            <p:cNvSpPr/>
            <p:nvPr/>
          </p:nvSpPr>
          <p:spPr>
            <a:xfrm flipH="false" flipV="false" rot="0">
              <a:off x="0" y="0"/>
              <a:ext cx="21701761" cy="1170432"/>
            </a:xfrm>
            <a:custGeom>
              <a:avLst/>
              <a:gdLst/>
              <a:ahLst/>
              <a:cxnLst/>
              <a:rect r="r" b="b" t="t" l="l"/>
              <a:pathLst>
                <a:path h="1170432" w="21701761">
                  <a:moveTo>
                    <a:pt x="0" y="0"/>
                  </a:moveTo>
                  <a:lnTo>
                    <a:pt x="21701761" y="0"/>
                  </a:lnTo>
                  <a:lnTo>
                    <a:pt x="21701761" y="1170432"/>
                  </a:lnTo>
                  <a:lnTo>
                    <a:pt x="0" y="1170432"/>
                  </a:lnTo>
                  <a:close/>
                </a:path>
              </a:pathLst>
            </a:custGeom>
            <a:blipFill>
              <a:blip r:embed="rId3">
                <a:alphaModFix amt="0"/>
              </a:blip>
              <a:stretch>
                <a:fillRect l="0" t="-311285" r="0" b="-311285"/>
              </a:stretch>
            </a:blipFill>
          </p:spPr>
        </p:sp>
        <p:sp>
          <p:nvSpPr>
            <p:cNvPr name="TextBox 11" id="11"/>
            <p:cNvSpPr txBox="true"/>
            <p:nvPr/>
          </p:nvSpPr>
          <p:spPr>
            <a:xfrm>
              <a:off x="0" y="-76200"/>
              <a:ext cx="21701760" cy="1246632"/>
            </a:xfrm>
            <a:prstGeom prst="rect">
              <a:avLst/>
            </a:prstGeom>
          </p:spPr>
          <p:txBody>
            <a:bodyPr anchor="ctr" rtlCol="false" tIns="0" lIns="0" bIns="0" rIns="0"/>
            <a:lstStyle/>
            <a:p>
              <a:pPr algn="l">
                <a:lnSpc>
                  <a:spcPts val="5280"/>
                </a:lnSpc>
              </a:pPr>
              <a:r>
                <a:rPr lang="en-US" sz="4400" b="true">
                  <a:solidFill>
                    <a:srgbClr val="1A2744"/>
                  </a:solidFill>
                  <a:latin typeface="Calibri (MS) Bold"/>
                  <a:ea typeface="Calibri (MS) Bold"/>
                  <a:cs typeface="Calibri (MS) Bold"/>
                  <a:sym typeface="Calibri (MS) Bold"/>
                </a:rPr>
                <a:t>Key References &amp; Bibliography</a:t>
              </a:r>
            </a:p>
          </p:txBody>
        </p:sp>
      </p:grpSp>
      <p:grpSp>
        <p:nvGrpSpPr>
          <p:cNvPr name="Group 12" id="12"/>
          <p:cNvGrpSpPr/>
          <p:nvPr/>
        </p:nvGrpSpPr>
        <p:grpSpPr>
          <a:xfrm rot="0">
            <a:off x="17190720" y="9646920"/>
            <a:ext cx="731520" cy="457200"/>
            <a:chOff x="0" y="0"/>
            <a:chExt cx="975360" cy="609600"/>
          </a:xfrm>
        </p:grpSpPr>
        <p:sp>
          <p:nvSpPr>
            <p:cNvPr name="Freeform 13" id="13"/>
            <p:cNvSpPr/>
            <p:nvPr/>
          </p:nvSpPr>
          <p:spPr>
            <a:xfrm flipH="false" flipV="false" rot="0">
              <a:off x="0" y="0"/>
              <a:ext cx="975360" cy="609600"/>
            </a:xfrm>
            <a:custGeom>
              <a:avLst/>
              <a:gdLst/>
              <a:ahLst/>
              <a:cxnLst/>
              <a:rect r="r" b="b" t="t" l="l"/>
              <a:pathLst>
                <a:path h="609600" w="975360">
                  <a:moveTo>
                    <a:pt x="0" y="0"/>
                  </a:moveTo>
                  <a:lnTo>
                    <a:pt x="975360" y="0"/>
                  </a:lnTo>
                  <a:lnTo>
                    <a:pt x="975360" y="609600"/>
                  </a:lnTo>
                  <a:lnTo>
                    <a:pt x="0" y="609600"/>
                  </a:lnTo>
                  <a:close/>
                </a:path>
              </a:pathLst>
            </a:custGeom>
            <a:blipFill>
              <a:blip r:embed="rId3">
                <a:alphaModFix amt="0"/>
              </a:blip>
              <a:stretch>
                <a:fillRect l="-30189" t="0" r="-30189" b="0"/>
              </a:stretch>
            </a:blipFill>
          </p:spPr>
        </p:sp>
        <p:sp>
          <p:nvSpPr>
            <p:cNvPr name="TextBox 14" id="14"/>
            <p:cNvSpPr txBox="true"/>
            <p:nvPr/>
          </p:nvSpPr>
          <p:spPr>
            <a:xfrm>
              <a:off x="0" y="-38100"/>
              <a:ext cx="975360" cy="647700"/>
            </a:xfrm>
            <a:prstGeom prst="rect">
              <a:avLst/>
            </a:prstGeom>
          </p:spPr>
          <p:txBody>
            <a:bodyPr anchor="ctr" rtlCol="false" tIns="0" lIns="0" bIns="0" rIns="0"/>
            <a:lstStyle/>
            <a:p>
              <a:pPr algn="r">
                <a:lnSpc>
                  <a:spcPts val="2160"/>
                </a:lnSpc>
              </a:pPr>
              <a:r>
                <a:rPr lang="en-US" sz="1800">
                  <a:solidFill>
                    <a:srgbClr val="64748B"/>
                  </a:solidFill>
                  <a:latin typeface="Calibri (MS)"/>
                  <a:ea typeface="Calibri (MS)"/>
                  <a:cs typeface="Calibri (MS)"/>
                  <a:sym typeface="Calibri (MS)"/>
                </a:rPr>
                <a:t>28</a:t>
              </a:r>
            </a:p>
          </p:txBody>
        </p:sp>
      </p:grpSp>
      <p:grpSp>
        <p:nvGrpSpPr>
          <p:cNvPr name="Group 15" id="15"/>
          <p:cNvGrpSpPr/>
          <p:nvPr/>
        </p:nvGrpSpPr>
        <p:grpSpPr>
          <a:xfrm rot="0">
            <a:off x="1005840" y="2194560"/>
            <a:ext cx="16276320" cy="7498080"/>
            <a:chOff x="0" y="0"/>
            <a:chExt cx="21701760" cy="9997440"/>
          </a:xfrm>
        </p:grpSpPr>
        <p:sp>
          <p:nvSpPr>
            <p:cNvPr name="Freeform 16" id="16"/>
            <p:cNvSpPr/>
            <p:nvPr/>
          </p:nvSpPr>
          <p:spPr>
            <a:xfrm flipH="false" flipV="false" rot="0">
              <a:off x="0" y="0"/>
              <a:ext cx="21701761" cy="9997439"/>
            </a:xfrm>
            <a:custGeom>
              <a:avLst/>
              <a:gdLst/>
              <a:ahLst/>
              <a:cxnLst/>
              <a:rect r="r" b="b" t="t" l="l"/>
              <a:pathLst>
                <a:path h="9997439" w="21701761">
                  <a:moveTo>
                    <a:pt x="0" y="292608"/>
                  </a:moveTo>
                  <a:cubicBezTo>
                    <a:pt x="0" y="131064"/>
                    <a:pt x="131064" y="0"/>
                    <a:pt x="292608" y="0"/>
                  </a:cubicBezTo>
                  <a:lnTo>
                    <a:pt x="21409152" y="0"/>
                  </a:lnTo>
                  <a:cubicBezTo>
                    <a:pt x="21570823" y="0"/>
                    <a:pt x="21701761" y="131064"/>
                    <a:pt x="21701761" y="292608"/>
                  </a:cubicBezTo>
                  <a:lnTo>
                    <a:pt x="21701761" y="9704832"/>
                  </a:lnTo>
                  <a:cubicBezTo>
                    <a:pt x="21701761" y="9866502"/>
                    <a:pt x="21570696" y="9997439"/>
                    <a:pt x="21409152" y="9997439"/>
                  </a:cubicBezTo>
                  <a:lnTo>
                    <a:pt x="292608" y="9997439"/>
                  </a:lnTo>
                  <a:cubicBezTo>
                    <a:pt x="131064" y="9997440"/>
                    <a:pt x="0" y="9866376"/>
                    <a:pt x="0" y="9704832"/>
                  </a:cubicBezTo>
                  <a:close/>
                </a:path>
              </a:pathLst>
            </a:custGeom>
            <a:solidFill>
              <a:srgbClr val="EFF6FF"/>
            </a:solidFill>
          </p:spPr>
        </p:sp>
      </p:grpSp>
      <p:grpSp>
        <p:nvGrpSpPr>
          <p:cNvPr name="Group 17" id="17"/>
          <p:cNvGrpSpPr/>
          <p:nvPr/>
        </p:nvGrpSpPr>
        <p:grpSpPr>
          <a:xfrm rot="0">
            <a:off x="1280160" y="2377440"/>
            <a:ext cx="15727680" cy="548640"/>
            <a:chOff x="0" y="0"/>
            <a:chExt cx="20970240" cy="731520"/>
          </a:xfrm>
        </p:grpSpPr>
        <p:sp>
          <p:nvSpPr>
            <p:cNvPr name="Freeform 18" id="18"/>
            <p:cNvSpPr/>
            <p:nvPr/>
          </p:nvSpPr>
          <p:spPr>
            <a:xfrm flipH="false" flipV="false" rot="0">
              <a:off x="0" y="0"/>
              <a:ext cx="20970239" cy="731520"/>
            </a:xfrm>
            <a:custGeom>
              <a:avLst/>
              <a:gdLst/>
              <a:ahLst/>
              <a:cxnLst/>
              <a:rect r="r" b="b" t="t" l="l"/>
              <a:pathLst>
                <a:path h="731520" w="20970239">
                  <a:moveTo>
                    <a:pt x="0" y="0"/>
                  </a:moveTo>
                  <a:lnTo>
                    <a:pt x="20970239" y="0"/>
                  </a:lnTo>
                  <a:lnTo>
                    <a:pt x="20970239" y="731520"/>
                  </a:lnTo>
                  <a:lnTo>
                    <a:pt x="0" y="731520"/>
                  </a:lnTo>
                  <a:close/>
                </a:path>
              </a:pathLst>
            </a:custGeom>
            <a:blipFill>
              <a:blip r:embed="rId3">
                <a:alphaModFix amt="0"/>
              </a:blip>
              <a:stretch>
                <a:fillRect l="0" t="-508571" r="0" b="-508571"/>
              </a:stretch>
            </a:blipFill>
          </p:spPr>
        </p:sp>
        <p:sp>
          <p:nvSpPr>
            <p:cNvPr name="TextBox 19" id="19"/>
            <p:cNvSpPr txBox="true"/>
            <p:nvPr/>
          </p:nvSpPr>
          <p:spPr>
            <a:xfrm>
              <a:off x="0" y="-38100"/>
              <a:ext cx="20970240" cy="769620"/>
            </a:xfrm>
            <a:prstGeom prst="rect">
              <a:avLst/>
            </a:prstGeom>
          </p:spPr>
          <p:txBody>
            <a:bodyPr anchor="ctr" rtlCol="false" tIns="0" lIns="0" bIns="0" rIns="0"/>
            <a:lstStyle/>
            <a:p>
              <a:pPr algn="l">
                <a:lnSpc>
                  <a:spcPts val="2160"/>
                </a:lnSpc>
              </a:pPr>
              <a:r>
                <a:rPr lang="en-US" sz="1800" b="true">
                  <a:solidFill>
                    <a:srgbClr val="3B82F6"/>
                  </a:solidFill>
                  <a:latin typeface="Calibri (MS) Bold"/>
                  <a:ea typeface="Calibri (MS) Bold"/>
                  <a:cs typeface="Calibri (MS) Bold"/>
                  <a:sym typeface="Calibri (MS) Bold"/>
                </a:rPr>
                <a:t>[1]  Pritamanand et al. (2023) — Tube Loss for Probabilistic Forecasting. GitHub.</a:t>
              </a:r>
            </a:p>
          </p:txBody>
        </p:sp>
      </p:grpSp>
      <p:grpSp>
        <p:nvGrpSpPr>
          <p:cNvPr name="Group 20" id="20"/>
          <p:cNvGrpSpPr/>
          <p:nvPr/>
        </p:nvGrpSpPr>
        <p:grpSpPr>
          <a:xfrm rot="0">
            <a:off x="1280160" y="2980944"/>
            <a:ext cx="15727680" cy="622139"/>
            <a:chOff x="0" y="0"/>
            <a:chExt cx="20970240" cy="829518"/>
          </a:xfrm>
        </p:grpSpPr>
        <p:sp>
          <p:nvSpPr>
            <p:cNvPr name="Freeform 21" id="21"/>
            <p:cNvSpPr/>
            <p:nvPr/>
          </p:nvSpPr>
          <p:spPr>
            <a:xfrm flipH="false" flipV="false" rot="0">
              <a:off x="0" y="0"/>
              <a:ext cx="20970239" cy="829518"/>
            </a:xfrm>
            <a:custGeom>
              <a:avLst/>
              <a:gdLst/>
              <a:ahLst/>
              <a:cxnLst/>
              <a:rect r="r" b="b" t="t" l="l"/>
              <a:pathLst>
                <a:path h="829518" w="20970239">
                  <a:moveTo>
                    <a:pt x="0" y="0"/>
                  </a:moveTo>
                  <a:lnTo>
                    <a:pt x="20970239" y="0"/>
                  </a:lnTo>
                  <a:lnTo>
                    <a:pt x="20970239" y="829518"/>
                  </a:lnTo>
                  <a:lnTo>
                    <a:pt x="0" y="829518"/>
                  </a:lnTo>
                  <a:close/>
                </a:path>
              </a:pathLst>
            </a:custGeom>
            <a:blipFill>
              <a:blip r:embed="rId3">
                <a:alphaModFix amt="0"/>
              </a:blip>
              <a:stretch>
                <a:fillRect l="0" t="-448489" r="0" b="-436675"/>
              </a:stretch>
            </a:blipFill>
          </p:spPr>
        </p:sp>
        <p:sp>
          <p:nvSpPr>
            <p:cNvPr name="TextBox 22" id="22"/>
            <p:cNvSpPr txBox="true"/>
            <p:nvPr/>
          </p:nvSpPr>
          <p:spPr>
            <a:xfrm>
              <a:off x="0" y="-38100"/>
              <a:ext cx="20970240" cy="867618"/>
            </a:xfrm>
            <a:prstGeom prst="rect">
              <a:avLst/>
            </a:prstGeom>
          </p:spPr>
          <p:txBody>
            <a:bodyPr anchor="ctr" rtlCol="false" tIns="0" lIns="0" bIns="0" rIns="0"/>
            <a:lstStyle/>
            <a:p>
              <a:pPr algn="l">
                <a:lnSpc>
                  <a:spcPts val="2160"/>
                </a:lnSpc>
              </a:pPr>
              <a:r>
                <a:rPr lang="en-US" sz="1800" b="true">
                  <a:solidFill>
                    <a:srgbClr val="3B82F6"/>
                  </a:solidFill>
                  <a:latin typeface="Calibri (MS) Bold"/>
                  <a:ea typeface="Calibri (MS) Bold"/>
                  <a:cs typeface="Calibri (MS) Bold"/>
                  <a:sym typeface="Calibri (MS) Bold"/>
                </a:rPr>
                <a:t>[2]  P. Anand, T. Bandyopadhyay, and S. Chandra, “Tube Loss: A Novel Approach for Prediction Interval Estimation and probabilistic forecasting,” arXiv preprint   arXiv:2412.06853, 2024.</a:t>
              </a:r>
            </a:p>
          </p:txBody>
        </p:sp>
      </p:grpSp>
      <p:grpSp>
        <p:nvGrpSpPr>
          <p:cNvPr name="Group 23" id="23"/>
          <p:cNvGrpSpPr/>
          <p:nvPr/>
        </p:nvGrpSpPr>
        <p:grpSpPr>
          <a:xfrm rot="0">
            <a:off x="1280160" y="3584448"/>
            <a:ext cx="15727680" cy="548640"/>
            <a:chOff x="0" y="0"/>
            <a:chExt cx="20970240" cy="731520"/>
          </a:xfrm>
        </p:grpSpPr>
        <p:sp>
          <p:nvSpPr>
            <p:cNvPr name="Freeform 24" id="24"/>
            <p:cNvSpPr/>
            <p:nvPr/>
          </p:nvSpPr>
          <p:spPr>
            <a:xfrm flipH="false" flipV="false" rot="0">
              <a:off x="0" y="0"/>
              <a:ext cx="20970239" cy="731520"/>
            </a:xfrm>
            <a:custGeom>
              <a:avLst/>
              <a:gdLst/>
              <a:ahLst/>
              <a:cxnLst/>
              <a:rect r="r" b="b" t="t" l="l"/>
              <a:pathLst>
                <a:path h="731520" w="20970239">
                  <a:moveTo>
                    <a:pt x="0" y="0"/>
                  </a:moveTo>
                  <a:lnTo>
                    <a:pt x="20970239" y="0"/>
                  </a:lnTo>
                  <a:lnTo>
                    <a:pt x="20970239" y="731520"/>
                  </a:lnTo>
                  <a:lnTo>
                    <a:pt x="0" y="731520"/>
                  </a:lnTo>
                  <a:close/>
                </a:path>
              </a:pathLst>
            </a:custGeom>
            <a:blipFill>
              <a:blip r:embed="rId3">
                <a:alphaModFix amt="0"/>
              </a:blip>
              <a:stretch>
                <a:fillRect l="0" t="-508571" r="0" b="-508571"/>
              </a:stretch>
            </a:blipFill>
          </p:spPr>
        </p:sp>
        <p:sp>
          <p:nvSpPr>
            <p:cNvPr name="TextBox 25" id="25"/>
            <p:cNvSpPr txBox="true"/>
            <p:nvPr/>
          </p:nvSpPr>
          <p:spPr>
            <a:xfrm>
              <a:off x="0" y="-38100"/>
              <a:ext cx="20970240" cy="769620"/>
            </a:xfrm>
            <a:prstGeom prst="rect">
              <a:avLst/>
            </a:prstGeom>
          </p:spPr>
          <p:txBody>
            <a:bodyPr anchor="ctr" rtlCol="false" tIns="0" lIns="0" bIns="0" rIns="0"/>
            <a:lstStyle/>
            <a:p>
              <a:pPr algn="l">
                <a:lnSpc>
                  <a:spcPts val="2160"/>
                </a:lnSpc>
              </a:pPr>
              <a:r>
                <a:rPr lang="en-US" sz="1800" b="true">
                  <a:solidFill>
                    <a:srgbClr val="3B82F6"/>
                  </a:solidFill>
                  <a:latin typeface="Calibri (MS) Bold"/>
                  <a:ea typeface="Calibri (MS) Bold"/>
                  <a:cs typeface="Calibri (MS) Bold"/>
                  <a:sym typeface="Calibri (MS) Bold"/>
                </a:rPr>
                <a:t>[3]  </a:t>
              </a:r>
              <a:r>
                <a:rPr lang="en-US" sz="1800">
                  <a:solidFill>
                    <a:srgbClr val="334155"/>
                  </a:solidFill>
                  <a:latin typeface="Calibri (MS)"/>
                  <a:ea typeface="Calibri (MS)"/>
                  <a:cs typeface="Calibri (MS)"/>
                  <a:sym typeface="Calibri (MS)"/>
                </a:rPr>
                <a:t>Vaswani et al. (2017) — Attention Is All You Need. NeurIPS.</a:t>
              </a:r>
            </a:p>
          </p:txBody>
        </p:sp>
      </p:grpSp>
      <p:grpSp>
        <p:nvGrpSpPr>
          <p:cNvPr name="Group 26" id="26"/>
          <p:cNvGrpSpPr/>
          <p:nvPr/>
        </p:nvGrpSpPr>
        <p:grpSpPr>
          <a:xfrm rot="0">
            <a:off x="1280160" y="4187952"/>
            <a:ext cx="15727680" cy="548640"/>
            <a:chOff x="0" y="0"/>
            <a:chExt cx="20970240" cy="731520"/>
          </a:xfrm>
        </p:grpSpPr>
        <p:sp>
          <p:nvSpPr>
            <p:cNvPr name="Freeform 27" id="27"/>
            <p:cNvSpPr/>
            <p:nvPr/>
          </p:nvSpPr>
          <p:spPr>
            <a:xfrm flipH="false" flipV="false" rot="0">
              <a:off x="0" y="0"/>
              <a:ext cx="20970239" cy="731520"/>
            </a:xfrm>
            <a:custGeom>
              <a:avLst/>
              <a:gdLst/>
              <a:ahLst/>
              <a:cxnLst/>
              <a:rect r="r" b="b" t="t" l="l"/>
              <a:pathLst>
                <a:path h="731520" w="20970239">
                  <a:moveTo>
                    <a:pt x="0" y="0"/>
                  </a:moveTo>
                  <a:lnTo>
                    <a:pt x="20970239" y="0"/>
                  </a:lnTo>
                  <a:lnTo>
                    <a:pt x="20970239" y="731520"/>
                  </a:lnTo>
                  <a:lnTo>
                    <a:pt x="0" y="731520"/>
                  </a:lnTo>
                  <a:close/>
                </a:path>
              </a:pathLst>
            </a:custGeom>
            <a:blipFill>
              <a:blip r:embed="rId3">
                <a:alphaModFix amt="0"/>
              </a:blip>
              <a:stretch>
                <a:fillRect l="0" t="-508571" r="0" b="-508571"/>
              </a:stretch>
            </a:blipFill>
          </p:spPr>
        </p:sp>
        <p:sp>
          <p:nvSpPr>
            <p:cNvPr name="TextBox 28" id="28"/>
            <p:cNvSpPr txBox="true"/>
            <p:nvPr/>
          </p:nvSpPr>
          <p:spPr>
            <a:xfrm>
              <a:off x="0" y="-38100"/>
              <a:ext cx="20970240" cy="769620"/>
            </a:xfrm>
            <a:prstGeom prst="rect">
              <a:avLst/>
            </a:prstGeom>
          </p:spPr>
          <p:txBody>
            <a:bodyPr anchor="ctr" rtlCol="false" tIns="0" lIns="0" bIns="0" rIns="0"/>
            <a:lstStyle/>
            <a:p>
              <a:pPr algn="l">
                <a:lnSpc>
                  <a:spcPts val="2160"/>
                </a:lnSpc>
              </a:pPr>
              <a:r>
                <a:rPr lang="en-US" sz="1800" b="true">
                  <a:solidFill>
                    <a:srgbClr val="3B82F6"/>
                  </a:solidFill>
                  <a:latin typeface="Calibri (MS) Bold"/>
                  <a:ea typeface="Calibri (MS) Bold"/>
                  <a:cs typeface="Calibri (MS) Bold"/>
                  <a:sym typeface="Calibri (MS) Bold"/>
                </a:rPr>
                <a:t>[4]  </a:t>
              </a:r>
              <a:r>
                <a:rPr lang="en-US" sz="1800">
                  <a:solidFill>
                    <a:srgbClr val="334155"/>
                  </a:solidFill>
                  <a:latin typeface="Calibri (MS)"/>
                  <a:ea typeface="Calibri (MS)"/>
                  <a:cs typeface="Calibri (MS)"/>
                  <a:sym typeface="Calibri (MS)"/>
                </a:rPr>
                <a:t>Gu &amp; Dao (2023) — Mamba: Selective State Spaces. arXiv:2312.00752.</a:t>
              </a:r>
            </a:p>
          </p:txBody>
        </p:sp>
      </p:grpSp>
      <p:grpSp>
        <p:nvGrpSpPr>
          <p:cNvPr name="Group 29" id="29"/>
          <p:cNvGrpSpPr/>
          <p:nvPr/>
        </p:nvGrpSpPr>
        <p:grpSpPr>
          <a:xfrm rot="0">
            <a:off x="1280160" y="4791456"/>
            <a:ext cx="15727680" cy="548640"/>
            <a:chOff x="0" y="0"/>
            <a:chExt cx="20970240" cy="731520"/>
          </a:xfrm>
        </p:grpSpPr>
        <p:sp>
          <p:nvSpPr>
            <p:cNvPr name="Freeform 30" id="30"/>
            <p:cNvSpPr/>
            <p:nvPr/>
          </p:nvSpPr>
          <p:spPr>
            <a:xfrm flipH="false" flipV="false" rot="0">
              <a:off x="0" y="0"/>
              <a:ext cx="20970239" cy="731520"/>
            </a:xfrm>
            <a:custGeom>
              <a:avLst/>
              <a:gdLst/>
              <a:ahLst/>
              <a:cxnLst/>
              <a:rect r="r" b="b" t="t" l="l"/>
              <a:pathLst>
                <a:path h="731520" w="20970239">
                  <a:moveTo>
                    <a:pt x="0" y="0"/>
                  </a:moveTo>
                  <a:lnTo>
                    <a:pt x="20970239" y="0"/>
                  </a:lnTo>
                  <a:lnTo>
                    <a:pt x="20970239" y="731520"/>
                  </a:lnTo>
                  <a:lnTo>
                    <a:pt x="0" y="731520"/>
                  </a:lnTo>
                  <a:close/>
                </a:path>
              </a:pathLst>
            </a:custGeom>
            <a:blipFill>
              <a:blip r:embed="rId3">
                <a:alphaModFix amt="0"/>
              </a:blip>
              <a:stretch>
                <a:fillRect l="0" t="-508571" r="0" b="-508571"/>
              </a:stretch>
            </a:blipFill>
          </p:spPr>
        </p:sp>
        <p:sp>
          <p:nvSpPr>
            <p:cNvPr name="TextBox 31" id="31"/>
            <p:cNvSpPr txBox="true"/>
            <p:nvPr/>
          </p:nvSpPr>
          <p:spPr>
            <a:xfrm>
              <a:off x="0" y="-38100"/>
              <a:ext cx="20970240" cy="769620"/>
            </a:xfrm>
            <a:prstGeom prst="rect">
              <a:avLst/>
            </a:prstGeom>
          </p:spPr>
          <p:txBody>
            <a:bodyPr anchor="ctr" rtlCol="false" tIns="0" lIns="0" bIns="0" rIns="0"/>
            <a:lstStyle/>
            <a:p>
              <a:pPr algn="l">
                <a:lnSpc>
                  <a:spcPts val="2160"/>
                </a:lnSpc>
              </a:pPr>
              <a:r>
                <a:rPr lang="en-US" sz="1800" b="true">
                  <a:solidFill>
                    <a:srgbClr val="3B82F6"/>
                  </a:solidFill>
                  <a:latin typeface="Calibri (MS) Bold"/>
                  <a:ea typeface="Calibri (MS) Bold"/>
                  <a:cs typeface="Calibri (MS) Bold"/>
                  <a:sym typeface="Calibri (MS) Bold"/>
                </a:rPr>
                <a:t>[5]  </a:t>
              </a:r>
              <a:r>
                <a:rPr lang="en-US" sz="1800">
                  <a:solidFill>
                    <a:srgbClr val="334155"/>
                  </a:solidFill>
                  <a:latin typeface="Calibri (MS)"/>
                  <a:ea typeface="Calibri (MS)"/>
                  <a:cs typeface="Calibri (MS)"/>
                  <a:sym typeface="Calibri (MS)"/>
                </a:rPr>
                <a:t>Salinas et al. (2020) — DeepAR: Probabilistic Forecasting with Autoregressive RNNs. IJF.</a:t>
              </a:r>
            </a:p>
          </p:txBody>
        </p:sp>
      </p:grpSp>
      <p:grpSp>
        <p:nvGrpSpPr>
          <p:cNvPr name="Group 32" id="32"/>
          <p:cNvGrpSpPr/>
          <p:nvPr/>
        </p:nvGrpSpPr>
        <p:grpSpPr>
          <a:xfrm rot="0">
            <a:off x="1280160" y="5394960"/>
            <a:ext cx="15727680" cy="548640"/>
            <a:chOff x="0" y="0"/>
            <a:chExt cx="20970240" cy="731520"/>
          </a:xfrm>
        </p:grpSpPr>
        <p:sp>
          <p:nvSpPr>
            <p:cNvPr name="Freeform 33" id="33"/>
            <p:cNvSpPr/>
            <p:nvPr/>
          </p:nvSpPr>
          <p:spPr>
            <a:xfrm flipH="false" flipV="false" rot="0">
              <a:off x="0" y="0"/>
              <a:ext cx="20970239" cy="731520"/>
            </a:xfrm>
            <a:custGeom>
              <a:avLst/>
              <a:gdLst/>
              <a:ahLst/>
              <a:cxnLst/>
              <a:rect r="r" b="b" t="t" l="l"/>
              <a:pathLst>
                <a:path h="731520" w="20970239">
                  <a:moveTo>
                    <a:pt x="0" y="0"/>
                  </a:moveTo>
                  <a:lnTo>
                    <a:pt x="20970239" y="0"/>
                  </a:lnTo>
                  <a:lnTo>
                    <a:pt x="20970239" y="731520"/>
                  </a:lnTo>
                  <a:lnTo>
                    <a:pt x="0" y="731520"/>
                  </a:lnTo>
                  <a:close/>
                </a:path>
              </a:pathLst>
            </a:custGeom>
            <a:blipFill>
              <a:blip r:embed="rId3">
                <a:alphaModFix amt="0"/>
              </a:blip>
              <a:stretch>
                <a:fillRect l="0" t="-508571" r="0" b="-508571"/>
              </a:stretch>
            </a:blipFill>
          </p:spPr>
        </p:sp>
        <p:sp>
          <p:nvSpPr>
            <p:cNvPr name="TextBox 34" id="34"/>
            <p:cNvSpPr txBox="true"/>
            <p:nvPr/>
          </p:nvSpPr>
          <p:spPr>
            <a:xfrm>
              <a:off x="0" y="-38100"/>
              <a:ext cx="20970240" cy="769620"/>
            </a:xfrm>
            <a:prstGeom prst="rect">
              <a:avLst/>
            </a:prstGeom>
          </p:spPr>
          <p:txBody>
            <a:bodyPr anchor="ctr" rtlCol="false" tIns="0" lIns="0" bIns="0" rIns="0"/>
            <a:lstStyle/>
            <a:p>
              <a:pPr algn="l">
                <a:lnSpc>
                  <a:spcPts val="2160"/>
                </a:lnSpc>
              </a:pPr>
              <a:r>
                <a:rPr lang="en-US" sz="1800" b="true">
                  <a:solidFill>
                    <a:srgbClr val="3B82F6"/>
                  </a:solidFill>
                  <a:latin typeface="Calibri (MS) Bold"/>
                  <a:ea typeface="Calibri (MS) Bold"/>
                  <a:cs typeface="Calibri (MS) Bold"/>
                  <a:sym typeface="Calibri (MS) Bold"/>
                </a:rPr>
                <a:t>[6]  </a:t>
              </a:r>
              <a:r>
                <a:rPr lang="en-US" sz="1800">
                  <a:solidFill>
                    <a:srgbClr val="334155"/>
                  </a:solidFill>
                  <a:latin typeface="Calibri (MS)"/>
                  <a:ea typeface="Calibri (MS)"/>
                  <a:cs typeface="Calibri (MS)"/>
                  <a:sym typeface="Calibri (MS)"/>
                </a:rPr>
                <a:t>Bishop (1994) — Mixture Density Networks. Aston University Technical Report.</a:t>
              </a:r>
            </a:p>
          </p:txBody>
        </p:sp>
      </p:grpSp>
      <p:grpSp>
        <p:nvGrpSpPr>
          <p:cNvPr name="Group 35" id="35"/>
          <p:cNvGrpSpPr/>
          <p:nvPr/>
        </p:nvGrpSpPr>
        <p:grpSpPr>
          <a:xfrm rot="0">
            <a:off x="1280160" y="5998464"/>
            <a:ext cx="15727680" cy="548640"/>
            <a:chOff x="0" y="0"/>
            <a:chExt cx="20970240" cy="731520"/>
          </a:xfrm>
        </p:grpSpPr>
        <p:sp>
          <p:nvSpPr>
            <p:cNvPr name="Freeform 36" id="36"/>
            <p:cNvSpPr/>
            <p:nvPr/>
          </p:nvSpPr>
          <p:spPr>
            <a:xfrm flipH="false" flipV="false" rot="0">
              <a:off x="0" y="0"/>
              <a:ext cx="20970239" cy="731520"/>
            </a:xfrm>
            <a:custGeom>
              <a:avLst/>
              <a:gdLst/>
              <a:ahLst/>
              <a:cxnLst/>
              <a:rect r="r" b="b" t="t" l="l"/>
              <a:pathLst>
                <a:path h="731520" w="20970239">
                  <a:moveTo>
                    <a:pt x="0" y="0"/>
                  </a:moveTo>
                  <a:lnTo>
                    <a:pt x="20970239" y="0"/>
                  </a:lnTo>
                  <a:lnTo>
                    <a:pt x="20970239" y="731520"/>
                  </a:lnTo>
                  <a:lnTo>
                    <a:pt x="0" y="731520"/>
                  </a:lnTo>
                  <a:close/>
                </a:path>
              </a:pathLst>
            </a:custGeom>
            <a:blipFill>
              <a:blip r:embed="rId3">
                <a:alphaModFix amt="0"/>
              </a:blip>
              <a:stretch>
                <a:fillRect l="0" t="-508571" r="0" b="-508571"/>
              </a:stretch>
            </a:blipFill>
          </p:spPr>
        </p:sp>
        <p:sp>
          <p:nvSpPr>
            <p:cNvPr name="TextBox 37" id="37"/>
            <p:cNvSpPr txBox="true"/>
            <p:nvPr/>
          </p:nvSpPr>
          <p:spPr>
            <a:xfrm>
              <a:off x="0" y="-38100"/>
              <a:ext cx="20970240" cy="769620"/>
            </a:xfrm>
            <a:prstGeom prst="rect">
              <a:avLst/>
            </a:prstGeom>
          </p:spPr>
          <p:txBody>
            <a:bodyPr anchor="ctr" rtlCol="false" tIns="0" lIns="0" bIns="0" rIns="0"/>
            <a:lstStyle/>
            <a:p>
              <a:pPr algn="l">
                <a:lnSpc>
                  <a:spcPts val="2160"/>
                </a:lnSpc>
              </a:pPr>
              <a:r>
                <a:rPr lang="en-US" sz="1800" b="true">
                  <a:solidFill>
                    <a:srgbClr val="3B82F6"/>
                  </a:solidFill>
                  <a:latin typeface="Calibri (MS) Bold"/>
                  <a:ea typeface="Calibri (MS) Bold"/>
                  <a:cs typeface="Calibri (MS) Bold"/>
                  <a:sym typeface="Calibri (MS) Bold"/>
                </a:rPr>
                <a:t>[7]  </a:t>
              </a:r>
              <a:r>
                <a:rPr lang="en-US" sz="1800">
                  <a:solidFill>
                    <a:srgbClr val="334155"/>
                  </a:solidFill>
                  <a:latin typeface="Calibri (MS)"/>
                  <a:ea typeface="Calibri (MS)"/>
                  <a:cs typeface="Calibri (MS)"/>
                  <a:sym typeface="Calibri (MS)"/>
                </a:rPr>
                <a:t>Khosravi et al. (2011) — Neural Network Prediction Intervals. IEEE Trans. Neural Netw.</a:t>
              </a:r>
            </a:p>
          </p:txBody>
        </p:sp>
      </p:grpSp>
      <p:grpSp>
        <p:nvGrpSpPr>
          <p:cNvPr name="Group 38" id="38"/>
          <p:cNvGrpSpPr/>
          <p:nvPr/>
        </p:nvGrpSpPr>
        <p:grpSpPr>
          <a:xfrm rot="0">
            <a:off x="1261110" y="6601968"/>
            <a:ext cx="15727680" cy="548640"/>
            <a:chOff x="0" y="0"/>
            <a:chExt cx="20970240" cy="731520"/>
          </a:xfrm>
        </p:grpSpPr>
        <p:sp>
          <p:nvSpPr>
            <p:cNvPr name="Freeform 39" id="39"/>
            <p:cNvSpPr/>
            <p:nvPr/>
          </p:nvSpPr>
          <p:spPr>
            <a:xfrm flipH="false" flipV="false" rot="0">
              <a:off x="0" y="0"/>
              <a:ext cx="20970239" cy="731520"/>
            </a:xfrm>
            <a:custGeom>
              <a:avLst/>
              <a:gdLst/>
              <a:ahLst/>
              <a:cxnLst/>
              <a:rect r="r" b="b" t="t" l="l"/>
              <a:pathLst>
                <a:path h="731520" w="20970239">
                  <a:moveTo>
                    <a:pt x="0" y="0"/>
                  </a:moveTo>
                  <a:lnTo>
                    <a:pt x="20970239" y="0"/>
                  </a:lnTo>
                  <a:lnTo>
                    <a:pt x="20970239" y="731520"/>
                  </a:lnTo>
                  <a:lnTo>
                    <a:pt x="0" y="731520"/>
                  </a:lnTo>
                  <a:close/>
                </a:path>
              </a:pathLst>
            </a:custGeom>
            <a:blipFill>
              <a:blip r:embed="rId3">
                <a:alphaModFix amt="0"/>
              </a:blip>
              <a:stretch>
                <a:fillRect l="0" t="-508571" r="0" b="-508571"/>
              </a:stretch>
            </a:blipFill>
          </p:spPr>
        </p:sp>
        <p:sp>
          <p:nvSpPr>
            <p:cNvPr name="TextBox 40" id="40"/>
            <p:cNvSpPr txBox="true"/>
            <p:nvPr/>
          </p:nvSpPr>
          <p:spPr>
            <a:xfrm>
              <a:off x="0" y="-38100"/>
              <a:ext cx="20970240" cy="769620"/>
            </a:xfrm>
            <a:prstGeom prst="rect">
              <a:avLst/>
            </a:prstGeom>
          </p:spPr>
          <p:txBody>
            <a:bodyPr anchor="ctr" rtlCol="false" tIns="0" lIns="0" bIns="0" rIns="0"/>
            <a:lstStyle/>
            <a:p>
              <a:pPr algn="l">
                <a:lnSpc>
                  <a:spcPts val="2160"/>
                </a:lnSpc>
              </a:pPr>
              <a:r>
                <a:rPr lang="en-US" sz="1800" b="true">
                  <a:solidFill>
                    <a:srgbClr val="3B82F6"/>
                  </a:solidFill>
                  <a:latin typeface="Calibri (MS) Bold"/>
                  <a:ea typeface="Calibri (MS) Bold"/>
                  <a:cs typeface="Calibri (MS) Bold"/>
                  <a:sym typeface="Calibri (MS) Bold"/>
                </a:rPr>
                <a:t>[8]  </a:t>
              </a:r>
              <a:r>
                <a:rPr lang="en-US" sz="1800">
                  <a:solidFill>
                    <a:srgbClr val="334155"/>
                  </a:solidFill>
                  <a:latin typeface="Calibri (MS)"/>
                  <a:ea typeface="Calibri (MS)"/>
                  <a:cs typeface="Calibri (MS)"/>
                  <a:sym typeface="Calibri (MS)"/>
                </a:rPr>
                <a:t>Hochreiter &amp; Schmidhuber (1997) — Long Short-Term Memory. Neural Computation.</a:t>
              </a:r>
            </a:p>
          </p:txBody>
        </p:sp>
      </p:grpSp>
      <p:grpSp>
        <p:nvGrpSpPr>
          <p:cNvPr name="Group 41" id="41"/>
          <p:cNvGrpSpPr/>
          <p:nvPr/>
        </p:nvGrpSpPr>
        <p:grpSpPr>
          <a:xfrm rot="0">
            <a:off x="1280160" y="7205472"/>
            <a:ext cx="15727680" cy="548640"/>
            <a:chOff x="0" y="0"/>
            <a:chExt cx="20970240" cy="731520"/>
          </a:xfrm>
        </p:grpSpPr>
        <p:sp>
          <p:nvSpPr>
            <p:cNvPr name="Freeform 42" id="42"/>
            <p:cNvSpPr/>
            <p:nvPr/>
          </p:nvSpPr>
          <p:spPr>
            <a:xfrm flipH="false" flipV="false" rot="0">
              <a:off x="0" y="0"/>
              <a:ext cx="20970239" cy="731520"/>
            </a:xfrm>
            <a:custGeom>
              <a:avLst/>
              <a:gdLst/>
              <a:ahLst/>
              <a:cxnLst/>
              <a:rect r="r" b="b" t="t" l="l"/>
              <a:pathLst>
                <a:path h="731520" w="20970239">
                  <a:moveTo>
                    <a:pt x="0" y="0"/>
                  </a:moveTo>
                  <a:lnTo>
                    <a:pt x="20970239" y="0"/>
                  </a:lnTo>
                  <a:lnTo>
                    <a:pt x="20970239" y="731520"/>
                  </a:lnTo>
                  <a:lnTo>
                    <a:pt x="0" y="731520"/>
                  </a:lnTo>
                  <a:close/>
                </a:path>
              </a:pathLst>
            </a:custGeom>
            <a:blipFill>
              <a:blip r:embed="rId3">
                <a:alphaModFix amt="0"/>
              </a:blip>
              <a:stretch>
                <a:fillRect l="0" t="-508571" r="0" b="-508571"/>
              </a:stretch>
            </a:blipFill>
          </p:spPr>
        </p:sp>
        <p:sp>
          <p:nvSpPr>
            <p:cNvPr name="TextBox 43" id="43"/>
            <p:cNvSpPr txBox="true"/>
            <p:nvPr/>
          </p:nvSpPr>
          <p:spPr>
            <a:xfrm>
              <a:off x="0" y="-38100"/>
              <a:ext cx="20970240" cy="769620"/>
            </a:xfrm>
            <a:prstGeom prst="rect">
              <a:avLst/>
            </a:prstGeom>
          </p:spPr>
          <p:txBody>
            <a:bodyPr anchor="ctr" rtlCol="false" tIns="0" lIns="0" bIns="0" rIns="0"/>
            <a:lstStyle/>
            <a:p>
              <a:pPr algn="l">
                <a:lnSpc>
                  <a:spcPts val="2160"/>
                </a:lnSpc>
              </a:pPr>
              <a:r>
                <a:rPr lang="en-US" sz="1800" b="true">
                  <a:solidFill>
                    <a:srgbClr val="3B82F6"/>
                  </a:solidFill>
                  <a:latin typeface="Calibri (MS) Bold"/>
                  <a:ea typeface="Calibri (MS) Bold"/>
                  <a:cs typeface="Calibri (MS) Bold"/>
                  <a:sym typeface="Calibri (MS) Bold"/>
                </a:rPr>
                <a:t>[9]   </a:t>
              </a:r>
              <a:r>
                <a:rPr lang="en-US" sz="1800">
                  <a:solidFill>
                    <a:srgbClr val="334155"/>
                  </a:solidFill>
                  <a:latin typeface="Calibri (MS)"/>
                  <a:ea typeface="Calibri (MS)"/>
                  <a:cs typeface="Calibri (MS)"/>
                  <a:sym typeface="Calibri (MS)"/>
                </a:rPr>
                <a:t>Cho et al. (2014) — GRU: Learning Phrase Representations. EMNLP.</a:t>
              </a:r>
            </a:p>
          </p:txBody>
        </p:sp>
      </p:grpSp>
      <p:grpSp>
        <p:nvGrpSpPr>
          <p:cNvPr name="Group 44" id="44"/>
          <p:cNvGrpSpPr/>
          <p:nvPr/>
        </p:nvGrpSpPr>
        <p:grpSpPr>
          <a:xfrm rot="0">
            <a:off x="1280160" y="7808976"/>
            <a:ext cx="15727680" cy="548640"/>
            <a:chOff x="0" y="0"/>
            <a:chExt cx="20970240" cy="731520"/>
          </a:xfrm>
        </p:grpSpPr>
        <p:sp>
          <p:nvSpPr>
            <p:cNvPr name="Freeform 45" id="45"/>
            <p:cNvSpPr/>
            <p:nvPr/>
          </p:nvSpPr>
          <p:spPr>
            <a:xfrm flipH="false" flipV="false" rot="0">
              <a:off x="0" y="0"/>
              <a:ext cx="20970239" cy="731520"/>
            </a:xfrm>
            <a:custGeom>
              <a:avLst/>
              <a:gdLst/>
              <a:ahLst/>
              <a:cxnLst/>
              <a:rect r="r" b="b" t="t" l="l"/>
              <a:pathLst>
                <a:path h="731520" w="20970239">
                  <a:moveTo>
                    <a:pt x="0" y="0"/>
                  </a:moveTo>
                  <a:lnTo>
                    <a:pt x="20970239" y="0"/>
                  </a:lnTo>
                  <a:lnTo>
                    <a:pt x="20970239" y="731520"/>
                  </a:lnTo>
                  <a:lnTo>
                    <a:pt x="0" y="731520"/>
                  </a:lnTo>
                  <a:close/>
                </a:path>
              </a:pathLst>
            </a:custGeom>
            <a:blipFill>
              <a:blip r:embed="rId3">
                <a:alphaModFix amt="0"/>
              </a:blip>
              <a:stretch>
                <a:fillRect l="0" t="-508571" r="0" b="-508571"/>
              </a:stretch>
            </a:blipFill>
          </p:spPr>
        </p:sp>
        <p:sp>
          <p:nvSpPr>
            <p:cNvPr name="TextBox 46" id="46"/>
            <p:cNvSpPr txBox="true"/>
            <p:nvPr/>
          </p:nvSpPr>
          <p:spPr>
            <a:xfrm>
              <a:off x="0" y="-38100"/>
              <a:ext cx="20970240" cy="769620"/>
            </a:xfrm>
            <a:prstGeom prst="rect">
              <a:avLst/>
            </a:prstGeom>
          </p:spPr>
          <p:txBody>
            <a:bodyPr anchor="ctr" rtlCol="false" tIns="0" lIns="0" bIns="0" rIns="0"/>
            <a:lstStyle/>
            <a:p>
              <a:pPr algn="l">
                <a:lnSpc>
                  <a:spcPts val="2160"/>
                </a:lnSpc>
              </a:pPr>
              <a:r>
                <a:rPr lang="en-US" sz="1800" b="true">
                  <a:solidFill>
                    <a:srgbClr val="3B82F6"/>
                  </a:solidFill>
                  <a:latin typeface="Calibri (MS) Bold"/>
                  <a:ea typeface="Calibri (MS) Bold"/>
                  <a:cs typeface="Calibri (MS) Bold"/>
                  <a:sym typeface="Calibri (MS) Bold"/>
                </a:rPr>
                <a:t>[10]  </a:t>
              </a:r>
              <a:r>
                <a:rPr lang="en-US" sz="1800">
                  <a:solidFill>
                    <a:srgbClr val="334155"/>
                  </a:solidFill>
                  <a:latin typeface="Calibri (MS)"/>
                  <a:ea typeface="Calibri (MS)"/>
                  <a:cs typeface="Calibri (MS)"/>
                  <a:sym typeface="Calibri (MS)"/>
                </a:rPr>
                <a:t>Zeng et al. (2023) — Are Transformers Effective for Time Series? AAAI.</a:t>
              </a:r>
            </a:p>
          </p:txBody>
        </p:sp>
      </p:grpSp>
      <p:grpSp>
        <p:nvGrpSpPr>
          <p:cNvPr name="Group 47" id="47"/>
          <p:cNvGrpSpPr/>
          <p:nvPr/>
        </p:nvGrpSpPr>
        <p:grpSpPr>
          <a:xfrm rot="0">
            <a:off x="1280160" y="8412480"/>
            <a:ext cx="15727680" cy="548640"/>
            <a:chOff x="0" y="0"/>
            <a:chExt cx="20970240" cy="731520"/>
          </a:xfrm>
        </p:grpSpPr>
        <p:sp>
          <p:nvSpPr>
            <p:cNvPr name="Freeform 48" id="48"/>
            <p:cNvSpPr/>
            <p:nvPr/>
          </p:nvSpPr>
          <p:spPr>
            <a:xfrm flipH="false" flipV="false" rot="0">
              <a:off x="0" y="0"/>
              <a:ext cx="20970239" cy="731520"/>
            </a:xfrm>
            <a:custGeom>
              <a:avLst/>
              <a:gdLst/>
              <a:ahLst/>
              <a:cxnLst/>
              <a:rect r="r" b="b" t="t" l="l"/>
              <a:pathLst>
                <a:path h="731520" w="20970239">
                  <a:moveTo>
                    <a:pt x="0" y="0"/>
                  </a:moveTo>
                  <a:lnTo>
                    <a:pt x="20970239" y="0"/>
                  </a:lnTo>
                  <a:lnTo>
                    <a:pt x="20970239" y="731520"/>
                  </a:lnTo>
                  <a:lnTo>
                    <a:pt x="0" y="731520"/>
                  </a:lnTo>
                  <a:close/>
                </a:path>
              </a:pathLst>
            </a:custGeom>
            <a:blipFill>
              <a:blip r:embed="rId3">
                <a:alphaModFix amt="0"/>
              </a:blip>
              <a:stretch>
                <a:fillRect l="0" t="-508571" r="0" b="-508571"/>
              </a:stretch>
            </a:blipFill>
          </p:spPr>
        </p:sp>
        <p:sp>
          <p:nvSpPr>
            <p:cNvPr name="TextBox 49" id="49"/>
            <p:cNvSpPr txBox="true"/>
            <p:nvPr/>
          </p:nvSpPr>
          <p:spPr>
            <a:xfrm>
              <a:off x="0" y="-38100"/>
              <a:ext cx="20970240" cy="769620"/>
            </a:xfrm>
            <a:prstGeom prst="rect">
              <a:avLst/>
            </a:prstGeom>
          </p:spPr>
          <p:txBody>
            <a:bodyPr anchor="ctr" rtlCol="false" tIns="0" lIns="0" bIns="0" rIns="0"/>
            <a:lstStyle/>
            <a:p>
              <a:pPr algn="l">
                <a:lnSpc>
                  <a:spcPts val="2160"/>
                </a:lnSpc>
              </a:pPr>
              <a:r>
                <a:rPr lang="en-US" sz="1800" b="true">
                  <a:solidFill>
                    <a:srgbClr val="3B82F6"/>
                  </a:solidFill>
                  <a:latin typeface="Calibri (MS) Bold"/>
                  <a:ea typeface="Calibri (MS) Bold"/>
                  <a:cs typeface="Calibri (MS) Bold"/>
                  <a:sym typeface="Calibri (MS) Bold"/>
                </a:rPr>
                <a:t>[11]  </a:t>
              </a:r>
              <a:r>
                <a:rPr lang="en-US" sz="1800">
                  <a:solidFill>
                    <a:srgbClr val="334155"/>
                  </a:solidFill>
                  <a:latin typeface="Calibri (MS)"/>
                  <a:ea typeface="Calibri (MS)"/>
                  <a:cs typeface="Calibri (MS)"/>
                  <a:sym typeface="Calibri (MS)"/>
                </a:rPr>
                <a:t>Angelopoulos &amp; Bates (2022) — Conformal Prediction. arXiv:2107.07511.</a:t>
              </a:r>
            </a:p>
          </p:txBody>
        </p:sp>
      </p:grpSp>
      <p:grpSp>
        <p:nvGrpSpPr>
          <p:cNvPr name="Group 50" id="50"/>
          <p:cNvGrpSpPr/>
          <p:nvPr/>
        </p:nvGrpSpPr>
        <p:grpSpPr>
          <a:xfrm rot="0">
            <a:off x="1280160" y="9015984"/>
            <a:ext cx="15727680" cy="548640"/>
            <a:chOff x="0" y="0"/>
            <a:chExt cx="20970240" cy="731520"/>
          </a:xfrm>
        </p:grpSpPr>
        <p:sp>
          <p:nvSpPr>
            <p:cNvPr name="Freeform 51" id="51"/>
            <p:cNvSpPr/>
            <p:nvPr/>
          </p:nvSpPr>
          <p:spPr>
            <a:xfrm flipH="false" flipV="false" rot="0">
              <a:off x="0" y="0"/>
              <a:ext cx="20970239" cy="731520"/>
            </a:xfrm>
            <a:custGeom>
              <a:avLst/>
              <a:gdLst/>
              <a:ahLst/>
              <a:cxnLst/>
              <a:rect r="r" b="b" t="t" l="l"/>
              <a:pathLst>
                <a:path h="731520" w="20970239">
                  <a:moveTo>
                    <a:pt x="0" y="0"/>
                  </a:moveTo>
                  <a:lnTo>
                    <a:pt x="20970239" y="0"/>
                  </a:lnTo>
                  <a:lnTo>
                    <a:pt x="20970239" y="731520"/>
                  </a:lnTo>
                  <a:lnTo>
                    <a:pt x="0" y="731520"/>
                  </a:lnTo>
                  <a:close/>
                </a:path>
              </a:pathLst>
            </a:custGeom>
            <a:blipFill>
              <a:blip r:embed="rId3">
                <a:alphaModFix amt="0"/>
              </a:blip>
              <a:stretch>
                <a:fillRect l="0" t="-508571" r="0" b="-508571"/>
              </a:stretch>
            </a:blipFill>
          </p:spPr>
        </p:sp>
        <p:sp>
          <p:nvSpPr>
            <p:cNvPr name="TextBox 52" id="52"/>
            <p:cNvSpPr txBox="true"/>
            <p:nvPr/>
          </p:nvSpPr>
          <p:spPr>
            <a:xfrm>
              <a:off x="0" y="-38100"/>
              <a:ext cx="20970240" cy="769620"/>
            </a:xfrm>
            <a:prstGeom prst="rect">
              <a:avLst/>
            </a:prstGeom>
          </p:spPr>
          <p:txBody>
            <a:bodyPr anchor="ctr" rtlCol="false" tIns="0" lIns="0" bIns="0" rIns="0"/>
            <a:lstStyle/>
            <a:p>
              <a:pPr algn="l">
                <a:lnSpc>
                  <a:spcPts val="2160"/>
                </a:lnSpc>
              </a:pPr>
              <a:r>
                <a:rPr lang="en-US" sz="1800" b="true">
                  <a:solidFill>
                    <a:srgbClr val="3B82F6"/>
                  </a:solidFill>
                  <a:latin typeface="Calibri (MS) Bold"/>
                  <a:ea typeface="Calibri (MS) Bold"/>
                  <a:cs typeface="Calibri (MS) Bold"/>
                  <a:sym typeface="Calibri (MS) Bold"/>
                </a:rPr>
                <a:t>[12]  </a:t>
              </a:r>
              <a:r>
                <a:rPr lang="en-US" sz="1800">
                  <a:solidFill>
                    <a:srgbClr val="334155"/>
                  </a:solidFill>
                  <a:latin typeface="Calibri (MS)"/>
                  <a:ea typeface="Calibri (MS)"/>
                  <a:cs typeface="Calibri (MS)"/>
                  <a:sym typeface="Calibri (MS)"/>
                </a:rPr>
                <a:t>Copernicus Marine Service (2024) — SEALEVEL_GLO_PHY_L4_MY_008_047.</a:t>
              </a:r>
            </a:p>
          </p:txBody>
        </p:sp>
      </p:gr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9222" r="0" b="-9222"/>
            </a:stretch>
          </a:blipFill>
        </p:spPr>
      </p:sp>
      <p:grpSp>
        <p:nvGrpSpPr>
          <p:cNvPr name="Group 3" id="3"/>
          <p:cNvGrpSpPr/>
          <p:nvPr/>
        </p:nvGrpSpPr>
        <p:grpSpPr>
          <a:xfrm rot="0">
            <a:off x="0" y="0"/>
            <a:ext cx="18288000" cy="109728"/>
            <a:chOff x="0" y="0"/>
            <a:chExt cx="24384000" cy="146304"/>
          </a:xfrm>
        </p:grpSpPr>
        <p:sp>
          <p:nvSpPr>
            <p:cNvPr name="Freeform 4" id="4"/>
            <p:cNvSpPr/>
            <p:nvPr/>
          </p:nvSpPr>
          <p:spPr>
            <a:xfrm flipH="false" flipV="false" rot="0">
              <a:off x="0" y="0"/>
              <a:ext cx="24384000" cy="146304"/>
            </a:xfrm>
            <a:custGeom>
              <a:avLst/>
              <a:gdLst/>
              <a:ahLst/>
              <a:cxnLst/>
              <a:rect r="r" b="b" t="t" l="l"/>
              <a:pathLst>
                <a:path h="146304" w="24384000">
                  <a:moveTo>
                    <a:pt x="0" y="0"/>
                  </a:moveTo>
                  <a:lnTo>
                    <a:pt x="24384000" y="0"/>
                  </a:lnTo>
                  <a:lnTo>
                    <a:pt x="24384000" y="146304"/>
                  </a:lnTo>
                  <a:lnTo>
                    <a:pt x="0" y="146304"/>
                  </a:lnTo>
                  <a:close/>
                </a:path>
              </a:pathLst>
            </a:custGeom>
            <a:solidFill>
              <a:srgbClr val="3B82F6"/>
            </a:solidFill>
          </p:spPr>
        </p:sp>
      </p:grpSp>
      <p:grpSp>
        <p:nvGrpSpPr>
          <p:cNvPr name="Group 5" id="5"/>
          <p:cNvGrpSpPr/>
          <p:nvPr/>
        </p:nvGrpSpPr>
        <p:grpSpPr>
          <a:xfrm rot="0">
            <a:off x="0" y="3680460"/>
            <a:ext cx="18288000" cy="1583680"/>
            <a:chOff x="0" y="0"/>
            <a:chExt cx="24384000" cy="2111573"/>
          </a:xfrm>
        </p:grpSpPr>
        <p:sp>
          <p:nvSpPr>
            <p:cNvPr name="Freeform 6" id="6"/>
            <p:cNvSpPr/>
            <p:nvPr/>
          </p:nvSpPr>
          <p:spPr>
            <a:xfrm flipH="false" flipV="false" rot="0">
              <a:off x="0" y="0"/>
              <a:ext cx="24384000" cy="2111573"/>
            </a:xfrm>
            <a:custGeom>
              <a:avLst/>
              <a:gdLst/>
              <a:ahLst/>
              <a:cxnLst/>
              <a:rect r="r" b="b" t="t" l="l"/>
              <a:pathLst>
                <a:path h="2111573" w="24384000">
                  <a:moveTo>
                    <a:pt x="0" y="0"/>
                  </a:moveTo>
                  <a:lnTo>
                    <a:pt x="24384000" y="0"/>
                  </a:lnTo>
                  <a:lnTo>
                    <a:pt x="24384000" y="2111573"/>
                  </a:lnTo>
                  <a:lnTo>
                    <a:pt x="0" y="2111573"/>
                  </a:lnTo>
                  <a:close/>
                </a:path>
              </a:pathLst>
            </a:custGeom>
            <a:blipFill>
              <a:blip r:embed="rId4">
                <a:alphaModFix amt="0"/>
              </a:blip>
              <a:stretch>
                <a:fillRect l="0" t="-178817" r="0" b="-171200"/>
              </a:stretch>
            </a:blipFill>
            <a:ln w="66675" cap="sq">
              <a:solidFill>
                <a:srgbClr val="FFFFFF"/>
              </a:solidFill>
              <a:prstDash val="solid"/>
              <a:miter/>
            </a:ln>
          </p:spPr>
        </p:sp>
        <p:sp>
          <p:nvSpPr>
            <p:cNvPr name="TextBox 7" id="7"/>
            <p:cNvSpPr txBox="true"/>
            <p:nvPr/>
          </p:nvSpPr>
          <p:spPr>
            <a:xfrm>
              <a:off x="0" y="-142875"/>
              <a:ext cx="24384000" cy="2254448"/>
            </a:xfrm>
            <a:prstGeom prst="rect">
              <a:avLst/>
            </a:prstGeom>
          </p:spPr>
          <p:txBody>
            <a:bodyPr anchor="ctr" rtlCol="false" tIns="0" lIns="0" bIns="0" rIns="0"/>
            <a:lstStyle/>
            <a:p>
              <a:pPr algn="ctr">
                <a:lnSpc>
                  <a:spcPts val="8640"/>
                </a:lnSpc>
              </a:pPr>
              <a:r>
                <a:rPr lang="en-US" b="true" sz="7200">
                  <a:solidFill>
                    <a:srgbClr val="FFFFFF"/>
                  </a:solidFill>
                  <a:latin typeface="Calibri (MS) Bold"/>
                  <a:ea typeface="Calibri (MS) Bold"/>
                  <a:cs typeface="Calibri (MS) Bold"/>
                  <a:sym typeface="Calibri (MS) Bold"/>
                </a:rPr>
                <a:t>Thank You</a:t>
              </a:r>
            </a:p>
          </p:txBody>
        </p:sp>
      </p:grpSp>
      <p:grpSp>
        <p:nvGrpSpPr>
          <p:cNvPr name="Group 8" id="8"/>
          <p:cNvGrpSpPr/>
          <p:nvPr/>
        </p:nvGrpSpPr>
        <p:grpSpPr>
          <a:xfrm rot="0">
            <a:off x="17190720" y="9646920"/>
            <a:ext cx="731520" cy="457200"/>
            <a:chOff x="0" y="0"/>
            <a:chExt cx="975360" cy="609600"/>
          </a:xfrm>
        </p:grpSpPr>
        <p:sp>
          <p:nvSpPr>
            <p:cNvPr name="Freeform 9" id="9"/>
            <p:cNvSpPr/>
            <p:nvPr/>
          </p:nvSpPr>
          <p:spPr>
            <a:xfrm flipH="false" flipV="false" rot="0">
              <a:off x="0" y="0"/>
              <a:ext cx="975360" cy="609600"/>
            </a:xfrm>
            <a:custGeom>
              <a:avLst/>
              <a:gdLst/>
              <a:ahLst/>
              <a:cxnLst/>
              <a:rect r="r" b="b" t="t" l="l"/>
              <a:pathLst>
                <a:path h="609600" w="975360">
                  <a:moveTo>
                    <a:pt x="0" y="0"/>
                  </a:moveTo>
                  <a:lnTo>
                    <a:pt x="975360" y="0"/>
                  </a:lnTo>
                  <a:lnTo>
                    <a:pt x="975360" y="609600"/>
                  </a:lnTo>
                  <a:lnTo>
                    <a:pt x="0" y="609600"/>
                  </a:lnTo>
                  <a:close/>
                </a:path>
              </a:pathLst>
            </a:custGeom>
            <a:blipFill>
              <a:blip r:embed="rId4">
                <a:alphaModFix amt="0"/>
              </a:blip>
              <a:stretch>
                <a:fillRect l="-30189" t="0" r="-30189" b="0"/>
              </a:stretch>
            </a:blipFill>
          </p:spPr>
        </p:sp>
        <p:sp>
          <p:nvSpPr>
            <p:cNvPr name="TextBox 10" id="10"/>
            <p:cNvSpPr txBox="true"/>
            <p:nvPr/>
          </p:nvSpPr>
          <p:spPr>
            <a:xfrm>
              <a:off x="0" y="-38100"/>
              <a:ext cx="975360" cy="647700"/>
            </a:xfrm>
            <a:prstGeom prst="rect">
              <a:avLst/>
            </a:prstGeom>
          </p:spPr>
          <p:txBody>
            <a:bodyPr anchor="ctr" rtlCol="false" tIns="0" lIns="0" bIns="0" rIns="0"/>
            <a:lstStyle/>
            <a:p>
              <a:pPr algn="r">
                <a:lnSpc>
                  <a:spcPts val="2160"/>
                </a:lnSpc>
              </a:pPr>
              <a:r>
                <a:rPr lang="en-US" sz="1800">
                  <a:solidFill>
                    <a:srgbClr val="64748B"/>
                  </a:solidFill>
                  <a:latin typeface="Calibri (MS)"/>
                  <a:ea typeface="Calibri (MS)"/>
                  <a:cs typeface="Calibri (MS)"/>
                  <a:sym typeface="Calibri (MS)"/>
                </a:rPr>
                <a:t>29</a:t>
              </a:r>
            </a:p>
          </p:txBody>
        </p:sp>
      </p:grpSp>
      <p:grpSp>
        <p:nvGrpSpPr>
          <p:cNvPr name="Group 11" id="11"/>
          <p:cNvGrpSpPr/>
          <p:nvPr/>
        </p:nvGrpSpPr>
        <p:grpSpPr>
          <a:xfrm rot="0">
            <a:off x="1828800" y="5873681"/>
            <a:ext cx="14630400" cy="1828800"/>
            <a:chOff x="0" y="0"/>
            <a:chExt cx="19507200" cy="2438400"/>
          </a:xfrm>
        </p:grpSpPr>
        <p:sp>
          <p:nvSpPr>
            <p:cNvPr name="Freeform 12" id="12"/>
            <p:cNvSpPr/>
            <p:nvPr/>
          </p:nvSpPr>
          <p:spPr>
            <a:xfrm flipH="false" flipV="false" rot="0">
              <a:off x="0" y="0"/>
              <a:ext cx="19507200" cy="2438400"/>
            </a:xfrm>
            <a:custGeom>
              <a:avLst/>
              <a:gdLst/>
              <a:ahLst/>
              <a:cxnLst/>
              <a:rect r="r" b="b" t="t" l="l"/>
              <a:pathLst>
                <a:path h="2438400" w="19507200">
                  <a:moveTo>
                    <a:pt x="0" y="0"/>
                  </a:moveTo>
                  <a:lnTo>
                    <a:pt x="19507200" y="0"/>
                  </a:lnTo>
                  <a:lnTo>
                    <a:pt x="19507200" y="2438400"/>
                  </a:lnTo>
                  <a:lnTo>
                    <a:pt x="0" y="2438400"/>
                  </a:lnTo>
                  <a:close/>
                </a:path>
              </a:pathLst>
            </a:custGeom>
            <a:blipFill>
              <a:blip r:embed="rId4">
                <a:alphaModFix amt="0"/>
              </a:blip>
              <a:stretch>
                <a:fillRect l="0" t="-105880" r="0" b="-105880"/>
              </a:stretch>
            </a:blipFill>
          </p:spPr>
        </p:sp>
        <p:sp>
          <p:nvSpPr>
            <p:cNvPr name="TextBox 13" id="13"/>
            <p:cNvSpPr txBox="true"/>
            <p:nvPr/>
          </p:nvSpPr>
          <p:spPr>
            <a:xfrm>
              <a:off x="0" y="-38100"/>
              <a:ext cx="19507200" cy="2476500"/>
            </a:xfrm>
            <a:prstGeom prst="rect">
              <a:avLst/>
            </a:prstGeom>
          </p:spPr>
          <p:txBody>
            <a:bodyPr anchor="ctr" rtlCol="false" tIns="0" lIns="0" bIns="0" rIns="0"/>
            <a:lstStyle/>
            <a:p>
              <a:pPr algn="ctr">
                <a:lnSpc>
                  <a:spcPts val="2879"/>
                </a:lnSpc>
              </a:pPr>
              <a:r>
                <a:rPr lang="en-US" sz="2400" b="true">
                  <a:solidFill>
                    <a:srgbClr val="FEFEFE"/>
                  </a:solidFill>
                  <a:latin typeface="Calibri (MS) Bold"/>
                  <a:ea typeface="Calibri (MS) Bold"/>
                  <a:cs typeface="Calibri (MS) Bold"/>
                  <a:sym typeface="Calibri (MS) Bold"/>
                </a:rPr>
                <a:t>Bhavya Boda (202301037)  ·  Tirth Gandhi (202301016)</a:t>
              </a:r>
            </a:p>
            <a:p>
              <a:pPr algn="ctr">
                <a:lnSpc>
                  <a:spcPts val="2879"/>
                </a:lnSpc>
              </a:pPr>
              <a:r>
                <a:rPr lang="en-US" sz="2400" b="true">
                  <a:solidFill>
                    <a:srgbClr val="FEFEFE"/>
                  </a:solidFill>
                  <a:latin typeface="Calibri (MS) Bold"/>
                  <a:ea typeface="Calibri (MS) Bold"/>
                  <a:cs typeface="Calibri (MS) Bold"/>
                  <a:sym typeface="Calibri (MS) Bold"/>
                </a:rPr>
                <a:t>Faculty Mentor: Prof. Pritam Anand  ·  DA-IICT  ·  May 2026</a:t>
              </a:r>
            </a:p>
            <a:p>
              <a:pPr algn="ctr">
                <a:lnSpc>
                  <a:spcPts val="2879"/>
                </a:lnSpc>
              </a:pPr>
              <a:r>
                <a:rPr lang="en-US" sz="2400" b="true">
                  <a:solidFill>
                    <a:srgbClr val="FEFEFE"/>
                  </a:solidFill>
                  <a:latin typeface="Calibri (MS) Bold"/>
                  <a:ea typeface="Calibri (MS) Bold"/>
                  <a:cs typeface="Calibri (MS) Bold"/>
                  <a:sym typeface="Calibri (MS) Bold"/>
                </a:rPr>
                <a:t>Code: github.com/Bhavya-2805/Ocean-Probabilistic-Forecasting</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DAHJQgYR31Y</dc:identifier>
  <dcterms:modified xsi:type="dcterms:W3CDTF">2011-08-01T06:04:30Z</dcterms:modified>
  <cp:revision>1</cp:revision>
  <dc:title>BMP_Final_Presentation.pptx</dc:title>
</cp:coreProperties>
</file>